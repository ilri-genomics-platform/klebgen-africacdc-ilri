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Yesterday we listed the resistance genes in every isolate. Today we ask whether those genes predict what the lab measured, what that means for the WHO empiric regimens for neonatal sepsis, and, in the afternoon, where the genes live: on the chromosome or on plasmids that can move between lineages.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the interpretation half of Module 4 in the morning, then the first half of Module 5. Day 5 morning (shaded rows) finishes Module 5: plasmids shared between lineages, and the genes around a resistance gene. Day 5 afternoon is the course pipeline, which has its own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to 3 are Module 4 (Day 4 morning); 4 and 5 are Module 5, part 1 (Day 4 afternoon); 6 and 7 are Module 5, part 2 (Day 5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The lab tested these isolates by disc diffusion. We turn yesterday's gene lists into predicted S or R calls and count how often the two agree, and how they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 is still the reference standard for treatment decisions: it measures what the bacterium does, not what genes it has. Our isolates were tested by disc diffusion, so we have S, I or R per drug rather than MICs. A genome finds every known determinant in one test, but it can only predict the phenotype from what is in the database. The MBC (the lowest concentration that kills 99.9% of bacteria) is rarely measured in routine labs and is not used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many studies, WGS predicts the phenotype well, but not equally well for every drug. The 2013 E. coli and K. pneumoniae ESBL study reported a very major error rate of 1.2% and a major error rate of 2.1%; we define those terms in a few slides and then calculate them for our own isolates. Note that most of these studies used MICs; we have disc diffusion, which is noisier.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code from the Day 4 page, not from the slides: the slides wrap some lines to fit. na = "NA" makes the text NA a missing value, so isolates without a result for a drug are not counted as S or R. AMRFinderPlus version 4 calls the gene column "Element symbol"; version 3 called it "Gene symbol". any_of() lets the same script work with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are deliberately simple: any gene whose Subclass mentions the drug or its class predicts resistance. Real interpretation tools use expert rules, such as which beta-lactamases hydrolyse which drugs, and which aac(6') variants affect amikacin. Ask the group: what would this rule get wrong? We will see the answer in the disagreements.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it one line at a time; print the intermediate table after each step if the group is new to R. relationship = "many-to-many" tells dplyr we expect many rules and many genes per isolate, which silences a warning. An isolate with no AMRFinderPlus hits gets an NA Subclass; na.rm = TRUE makes that FALSE, so it is predicted S. The genes column is empty for S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AST table is wide: one column per disc. pivot_longer turns it long so it has the same shape as pred, and the two can be joined on sample and ast_column. Intermediate results are dropped because a genotype only predicts S or R; mention that this choice changes the denominators. Missing AST (NA) also drops out here, which matters for the two NDM-1 isolates.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terms come from the evaluation of AST devices: the reference is the lab phenotype and the genome is the test. count() tallies results per drug; pivot_wider turns the tally into one row per drug, and values_fill = 0 writes 0 where a drug has no errors of a type. This is the agreement table you hand in today. Ask: for which drug do you expect most errors, and of which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15 minutes. The genes column from step 3 is the starting point: for a major error, which gene drove the R call, and is it known to cross the breakpoint? For a very major error, there is no gene, so think about chromosomal mechanisms (porin loss in ompK35 and ompK36, efflux) and about the lab. The last card is ours: the rules we wrote are crude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BHB7VE: in the published results it carries aph(3')-VI and aac(6')-Ib'; ask trainees to check what their own AMRFinderPlus run found before revealing that. The NDM-1 point is about surveillance practice: missing AST is common, and the genome then carries the evidence. Because inner_join drops missing AST, these isolates do not appear in the agreement table at all for meropenem.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Empiric therapy is given before any culture result exists, so it depends on knowing which resistance is common locally. We reuse the predictions from Session 1 to ask which regimen would fail for each isolate, and then ask what that number can and cannot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recap of Day 3: SHV in K. pneumoniae and LEN in K. variicola make ampicillin useless, so the first-line regimen relies on gentamicin. Check the WHO guidance current in your country; these labels follow the WHO recommendations for neonatal sepsis used in the course. Ciprofloxacin is in the prediction rules but not in a neonatal regimen, so it drops out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comment in the course code reminds you that ampicillin is intrinsically resistant in KpSC, which is why the first-line column is simply the gentamicin prediction. Ask the room to predict the ranking of the four regimens before running it. Then compare with the AST: would the percentages from the lab results be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group first: why can't you report these percentages as a failure rate? Collect answers, then reveal the three reasons. Then the regimen summary trainees write today should include one sentence saying why the percentages are not prevalence. This is the same point as ST39 on Day 3: a training set is built to teach, not to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starts Module 5. So far we have asked which genes an isolate carries. Now we ask where they are: on the chromosome, inherited with the lineage, or on a plasmid that can move to other lineages and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Mobility works at three levels: plasmids move between cells; transposons and insertion sequences move genes between plasmids and the chromosome. Two plasmids with the same replicon cannot usually be kept stably in one cell (incompatibility, the origin of the Inc name). A cell can carry several plasmids with different replicons, and one plasmid can carry more than one replicon, as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pairings are typical in Enterobacterales, not fixed rules: the same gene can sit on different plasmids, and the same plasmid backbone can carry different genes. The question at the bottom is the thread through this afternoon and tomorrow, when we compare plasmids with Mash.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PlasmidFinder is the quick web tool many labs already use; it is a good first look and its replicon names match what MOB-suite reports. Virulence gene screening (VirulenceFinder, VFDB) was covered on Day 3 through Kleborate, so it is not repeated here. MOB-suite goes further by grouping contigs into plasmids, which is what lets us link a resistance gene to a particular plasmid.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Predicted mobility is conjugative, mobilizable or non-mobilizable, based on the transfer genes found: a relaxase, mate-pair formation genes, and an origin of transfer. The cluster ID is useful later: plasmids in different isolates with the same primary cluster ID are similar, which is a first hint of a shared plasmid. With a closed hybrid assembly, each plasmid is usually one circular contig, so the grouping step is easy; with short reads it is the hard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mob_recon twice on the same isolate, once on the hybrid assembly and once on the short-read assembly, is the comparison for Session 4. use_precomputed copies the other two hybrids and the short-read results for every isolate, which tomorrow's session also uses. If the pick pattern looks cryptic: ^ and $ anchor the whole header name, and the brackets in rep_type(s) are escaped.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We compare what MOB-suite recovered from the two kinds of assembly, then place each resistance gene on a plasmid or on the chromosome using the closed hybrid assemblies.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Resistance genes very often sit between copies of IS26 or other insertion sequences, which is exactly where short-read assemblies break. So the contig carrying the gene often has no neighbours we can trust. Small plasmids are lost from hybrids because Nanopore library preparation and read-length filtering favour long molecules, and assemblers may then drop the few small-plasmid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after trainees have filled in their own table, not before. Small plasmids without a replicon listed here had no replicon call in the published table. Sizes from MOB-suite on the hybrid should be close to these; on short reads the sizes are the sum of the contigs MOB-suite assigned, which can be well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--organism here on purpose: point-mutation checks need the whole chromosome context and are not the question; we only want acquired genes and their location. 2&gt;/dev/null hides the progress messages. The awk header search works whether the column is called Element symbol or Gene symbol, the same issue as in the R code this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answer key: trainees bring their findings to the debrief. Question 2 matters for surveillance because a plasmid spreading between lineages calls for a different response from a single clone spreading: infection control alone may not stop it. Question 3 links back to convergence on Day 3: virulence genes on a plasmid can move into a resistant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very major error (missed resistance): a patient could be given a drug that does not work. 2: aac(6')-Ib-cr modifies amikacin only weakly, often not enough to cross the breakpoint; our simple rule calls it R, giving a major error. 3: you cannot tell; the contig ends at the IS repeats, so its neighbours are unknown. Long reads resolve this. 4: Nanopore library preparation and read-length filtering favour long DNA molecules, so small plasmids are under-represented in long reads and assemblers may drop them. Always check a hybrid against the short-read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starts where Day 4 stopped: CHI11E (ST39) and CNS1F1 (ST45) both carry a ~143 kb IncFII(K)/IncR plasmid. This session scales the question up to all 29 isolates with MOB-suite clusters, then checks the two plasmids directly with Mash.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can happen at once: a successful clone carrying a plasmid that also moves into other lineages. A plasmid outbreak changes the response: infection control must target the shared environment and practices, not one strain. Today we use the short-read MOB-suite results for all 29 isolates, so remember yesterday's caveat: short-read plasmid reconstructions can be split or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steps. The loop reads each isolate's mobtyper_results.txt, keeps four columns, drops the header line (tail -n +2) and puts the sample name in the first column with awk. Then join adds the ST from column 7 of the metadata (both inputs must be sorted on the sample name), awk moves the ST to the front, and the final sort orders rows by cluster ID so plasmids of one cluster sit together. less -S scrolls sideways instead of wrapping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Mash compares the k-mers (short substrings) of two sequences and estimates the proportion of differing bases. The files are renamed with the isolate prefix because every isolate's MOB-suite output uses the same plasmid_ file names. awk '$1 &lt; $2' keeps each pair once and drops self-comparisons; sort -k3,3g puts the most similar pairs first. A very small distance between plasmids from two STs suggests the plasmid moved between lineages; a full answer needs an alignment of the two plasmids.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zooms in from whole plasmids to the few kilobases around one resistance gene. The neighbours of a gene tell us how it moves and whether two isolates share the same mobile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drawing is a schematic, not to scale and not from our isolates. blaCTX-M-15 is commonly found downstream of ISEcp1, which mobilised it from the chromosome of Kluyvera; IS26 copies on either side can move a gene as a unit. In the hands-on, look for these elements and for other resistance genes in the 10 kb either side of blaCTX-M-15 in CHI11E.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uses the Bakta light database (version 6); check it with cat $SHARED/databases/bakta/db-light/version.json. Annotating one plasmid takes a few minutes; a whole genome takes much longer, which is why we annotate only the plasmid. In the Bakta .tsv, column 3 is the start, 4 the stop, 5 the strand, 7 the gene name and 8 the product. The printed columns are start, stop, strand, gene and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there may be a plasmid outbreak: the resistance is spreading by plasmid transfer between bacteria, not by one clone. Typing by ST alone would miss it, and infection-control actions would need to target the shared environment and practices rather than one strain. 2: the same gene can sit in different contexts. An identical context (same IS element, same neighbouring genes, same plasmid backbone) in different isolates is evidence of a shared mobile element; different contexts suggest independent acquisitions.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afternoon moves on to the course pipeline: it runs everything done by hand so far, including MOB-suite, in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we know how far the gene lists predict the lab results, what they imply for empiric therapy, where the key resistance genes sit in three closed genomes, whether plasmids are shared between lineages, and what surrounds blaCTX-M-15.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doi.org/10.3390/antibiotics11040427" TargetMode="Externa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doi.org/10.3389/fpubh.2019.00242" TargetMode="Externa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cge.food.dtu.dk/services/PlasmidFinder/" TargetMode="External"/><Relationship Id="rId2" Type="http://schemas.openxmlformats.org/officeDocument/2006/relationships/hyperlink" Target="https://github.com/phac-nml/mob-suite" TargetMode="External"/><Relationship Id="rId3" Type="http://schemas.openxmlformats.org/officeDocument/2006/relationships/image" Target="../media/image-21-1.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proksee.ca" TargetMode="External"/><Relationship Id="rId2" Type="http://schemas.openxmlformats.org/officeDocument/2006/relationships/hyperlink" Target="https://github.com/gamcil/clinker" TargetMode="External"/><Relationship Id="rId3" Type="http://schemas.openxmlformats.org/officeDocument/2006/relationships/image" Target="../media/image-36-1.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2.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doi.org/10.3390/antibiotics11040427" TargetMode="External"/><Relationship Id="rId2" Type="http://schemas.openxmlformats.org/officeDocument/2006/relationships/hyperlink" Target="https://doi.org/10.3389/fpubh.2019.00242" TargetMode="External"/><Relationship Id="rId3" Type="http://schemas.openxmlformats.org/officeDocument/2006/relationships/hyperlink" Target="https://www.eucast.org/expert_rules_and_expected_phenotypes" TargetMode="External"/><Relationship Id="rId4" Type="http://schemas.openxmlformats.org/officeDocument/2006/relationships/hyperlink" Target="https://github.com/phac-nml/mob-suite" TargetMode="External"/><Relationship Id="rId5" Type="http://schemas.openxmlformats.org/officeDocument/2006/relationships/hyperlink" Target="https://cge.food.dtu.dk/services/PlasmidFinder/" TargetMode="External"/><Relationship Id="rId6" Type="http://schemas.openxmlformats.org/officeDocument/2006/relationships/hyperlink" Target="https://github.com/ncbi/amr/wiki" TargetMode="External"/><Relationship Id="rId7" Type="http://schemas.openxmlformats.org/officeDocument/2006/relationships/hyperlink" Target="https://mash.readthedocs.io" TargetMode="External"/><Relationship Id="rId8" Type="http://schemas.openxmlformats.org/officeDocument/2006/relationships/hyperlink" Target="https://github.com/oschwengers/bakta" TargetMode="External"/><Relationship Id="rId9" Type="http://schemas.openxmlformats.org/officeDocument/2006/relationships/hyperlink" Target="https://proksee.ca" TargetMode="External"/><Relationship Id="rId10" Type="http://schemas.openxmlformats.org/officeDocument/2006/relationships/hyperlink" Target="https://github.com/gamcil/clinker" TargetMode="External"/><Relationship Id="rId11" Type="http://schemas.openxmlformats.org/officeDocument/2006/relationships/hyperlink" Target="https://r4ds.hadley.nz" TargetMode="External"/><Relationship Id="rId12" Type="http://schemas.openxmlformats.org/officeDocument/2006/relationships/image" Target="../media/image-39-1.png"/><Relationship Id="rId13" Type="http://schemas.openxmlformats.org/officeDocument/2006/relationships/slideLayout" Target="../slideLayouts/slideLayout2.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91F15"/>
        </a:solidFill>
      </p:bgPr>
    </p:bg>
    <p:spTree>
      <p:nvGrpSpPr>
        <p:cNvPr id="1" name=""/>
        <p:cNvGrpSpPr/>
        <p:nvPr/>
      </p:nvGrpSpPr>
      <p:grpSpPr>
        <a:xfrm>
          <a:off x="0" y="0"/>
          <a:ext cx="0" cy="0"/>
          <a:chOff x="0" y="0"/>
          <a:chExt cx="0" cy="0"/>
        </a:xfrm>
      </p:grpSpPr>
      <p:pic>
        <p:nvPicPr>
          <p:cNvPr id="2" name="Image 0" descr="Pastoralists walking with their cattle at dawn">    </p:cNvPr>
          <p:cNvPicPr>
            <a:picLocks noChangeAspect="1"/>
          </p:cNvPicPr>
          <p:nvPr/>
        </p:nvPicPr>
        <p:blipFill>
          <a:blip r:embed="rId1"/>
          <a:srcRect l="0" r="0" t="0" b="0"/>
          <a:stretch/>
        </p:blipFill>
        <p:spPr>
          <a:xfrm>
            <a:off x="6096000" y="0"/>
            <a:ext cx="6096000" cy="6858000"/>
          </a:xfrm>
          <a:prstGeom prst="rect">
            <a:avLst/>
          </a:prstGeom>
        </p:spPr>
      </p:pic>
      <p:pic>
        <p:nvPicPr>
          <p:cNvPr id="3" name="Image 1" descr="ILRI and CGIAR logos">    </p:cNvPr>
          <p:cNvPicPr>
            <a:picLocks noChangeAspect="1"/>
          </p:cNvPicPr>
          <p:nvPr/>
        </p:nvPicPr>
        <p:blipFill>
          <a:blip r:embed="rId2"/>
          <a:srcRect l="-36" r="-36" t="0" b="0"/>
          <a:stretch/>
        </p:blipFill>
        <p:spPr>
          <a:xfrm>
            <a:off x="368300" y="336550"/>
            <a:ext cx="2984500" cy="806450"/>
          </a:xfrm>
          <a:prstGeom prst="rect">
            <a:avLst/>
          </a:prstGeom>
        </p:spPr>
      </p:pic>
      <p:sp>
        <p:nvSpPr>
          <p:cNvPr id="4" name="Text 0"/>
          <p:cNvSpPr/>
          <p:nvPr/>
        </p:nvSpPr>
        <p:spPr>
          <a:xfrm>
            <a:off x="0" y="219462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FCE00"/>
                </a:solidFill>
                <a:latin typeface="Carlito" pitchFamily="34" charset="0"/>
                <a:ea typeface="Carlito" pitchFamily="34" charset="-122"/>
                <a:cs typeface="Carlito" pitchFamily="34" charset="-120"/>
              </a:rPr>
              <a:t>MODULES 4–5 · DAYS 4–5</a:t>
            </a:r>
            <a:endParaRPr lang="en-US" sz="1600" dirty="0"/>
          </a:p>
        </p:txBody>
      </p:sp>
      <p:sp>
        <p:nvSpPr>
          <p:cNvPr id="5" name="Text 1"/>
          <p:cNvSpPr/>
          <p:nvPr>
            <p:ph type="title"/>
          </p:nvPr>
        </p:nvSpPr>
        <p:spPr>
          <a:xfrm>
            <a:off x="0" y="2682280"/>
            <a:ext cx="12557760"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9F2EA"/>
                </a:solidFill>
                <a:latin typeface="Carlito" pitchFamily="34" charset="0"/>
                <a:ea typeface="Carlito" pitchFamily="34" charset="-122"/>
                <a:cs typeface="Carlito" pitchFamily="34" charset="-120"/>
              </a:rPr>
              <a:t>Will treatment work?</a:t>
            </a:r>
            <a:endParaRPr lang="en-US" sz="5600" dirty="0"/>
          </a:p>
        </p:txBody>
      </p:sp>
      <p:sp>
        <p:nvSpPr>
          <p:cNvPr id="6" name="Text 2"/>
          <p:cNvSpPr/>
          <p:nvPr/>
        </p:nvSpPr>
        <p:spPr>
          <a:xfrm>
            <a:off x="0" y="363220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9F2EA"/>
                </a:solidFill>
                <a:latin typeface="Carlito" pitchFamily="34" charset="0"/>
                <a:ea typeface="Carlito" pitchFamily="34" charset="-122"/>
                <a:cs typeface="Carlito" pitchFamily="34" charset="-120"/>
              </a:rPr>
              <a:t>Genotype versus phenotype, empiric therapy, and the plasmids that carry resistance</a:t>
            </a:r>
            <a:endParaRPr lang="en-US" sz="2000" dirty="0"/>
          </a:p>
        </p:txBody>
      </p:sp>
      <p:sp>
        <p:nvSpPr>
          <p:cNvPr id="7" name="Text 3"/>
          <p:cNvSpPr/>
          <p:nvPr/>
        </p:nvSpPr>
        <p:spPr>
          <a:xfrm>
            <a:off x="0" y="4165600"/>
            <a:ext cx="125577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D3C9"/>
                </a:solidFill>
                <a:latin typeface="Carlito" pitchFamily="34" charset="0"/>
                <a:ea typeface="Carlito" pitchFamily="34" charset="-122"/>
                <a:cs typeface="Carlito" pitchFamily="34" charset="-120"/>
              </a:rPr>
              <a:t>Neonatal AMR genomic surveillance of </a:t>
            </a:r>
            <a:r>
              <a:rPr lang="en-US" sz="1400" i="1" dirty="0">
                <a:solidFill>
                  <a:srgbClr val="F1D3C9"/>
                </a:solidFill>
                <a:latin typeface="Carlito" pitchFamily="34" charset="0"/>
                <a:ea typeface="Carlito" pitchFamily="34" charset="-122"/>
                <a:cs typeface="Carlito" pitchFamily="34" charset="-120"/>
              </a:rPr>
              <a:t>K. pneumoniae</a:t>
            </a:r>
            <a:r>
              <a:rPr lang="en-US" sz="1400" dirty="0">
                <a:solidFill>
                  <a:srgbClr val="F1D3C9"/>
                </a:solidFill>
                <a:latin typeface="Carlito" pitchFamily="34" charset="0"/>
                <a:ea typeface="Carlito" pitchFamily="34" charset="-122"/>
                <a:cs typeface="Carlito" pitchFamily="34" charset="-120"/>
              </a:rPr>
              <a:t> and </a:t>
            </a:r>
            <a:r>
              <a:rPr lang="en-US" sz="1400" i="1" dirty="0">
                <a:solidFill>
                  <a:srgbClr val="F1D3C9"/>
                </a:solidFill>
                <a:latin typeface="Carlito" pitchFamily="34" charset="0"/>
                <a:ea typeface="Carlito" pitchFamily="34" charset="-122"/>
                <a:cs typeface="Carlito" pitchFamily="34" charset="-120"/>
              </a:rPr>
              <a:t>E. coli</a:t>
            </a:r>
            <a:endParaRPr lang="en-US" sz="1400" dirty="0"/>
          </a:p>
          <a:p>
            <a:pPr algn="l" indent="0" marL="0">
              <a:lnSpc>
                <a:spcPts val="1960"/>
              </a:lnSpc>
              <a:buNone/>
            </a:pPr>
            <a:r>
              <a:rPr lang="en-US" sz="1400" dirty="0">
                <a:solidFill>
                  <a:srgbClr val="F1D3C9"/>
                </a:solidFill>
                <a:latin typeface="Carlito" pitchFamily="34" charset="0"/>
                <a:ea typeface="Carlito" pitchFamily="34" charset="-122"/>
                <a:cs typeface="Carlito" pitchFamily="34" charset="-120"/>
              </a:rPr>
              <a:t>KlebGen training · Africa CDC and ILRI</a:t>
            </a:r>
            <a:endParaRPr lang="en-US" sz="1400" dirty="0"/>
          </a:p>
        </p:txBody>
      </p:sp>
      <p:sp>
        <p:nvSpPr>
          <p:cNvPr id="8" name="Text 4"/>
          <p:cNvSpPr/>
          <p:nvPr/>
        </p:nvSpPr>
        <p:spPr>
          <a:xfrm>
            <a:off x="425450" y="62890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B5A8"/>
                </a:solidFill>
                <a:latin typeface="Carlito" pitchFamily="34" charset="0"/>
                <a:ea typeface="Carlito" pitchFamily="34" charset="-122"/>
                <a:cs typeface="Carlito" pitchFamily="34" charset="-120"/>
              </a:rPr>
              <a:t>Module 4 · Genotype, phenotype and plasmids | Day 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Days 4–5 at a glance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6690"/>
          <a:ext cx="10553700" cy="2702074"/>
        </p:xfrm>
        <a:graphic>
          <a:graphicData uri="http://schemas.openxmlformats.org/drawingml/2006/table">
            <a:tbl>
              <a:tblPr/>
              <a:tblGrid>
                <a:gridCol w="1688592"/>
                <a:gridCol w="1794129"/>
                <a:gridCol w="5804535"/>
                <a:gridCol w="1266444"/>
              </a:tblGrid>
              <a:tr h="386011">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Day · session</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Time</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Topic</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Module</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Day 4 · 1</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09:00–10:30</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Genotype versus phenotype: how far can we trust predictions?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4</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Day 4 · 2</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11:00–12:30</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From genes to empiric therapy for neonatal sepsis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4</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Day 4 · 3</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13:30–15:00</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Plasmids, replicons and mobility; MOB-suite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5</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Day 4 · 4</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15:30–17:00</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Which plasmid carries which gene? Short-read versus hybrid</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5</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Day 5 · 1</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09:00–10:30</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Plasmid clusters: is the same plasmid in different lineages?</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5</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Day 5 · 2</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11:00–12:30</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Genetic context of a resistance gene (Bakta annotation)</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5</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sp>
        <p:nvSpPr>
          <p:cNvPr id="5" name="Shape 2"/>
          <p:cNvSpPr/>
          <p:nvPr/>
        </p:nvSpPr>
        <p:spPr>
          <a:xfrm>
            <a:off x="812800" y="4627364"/>
            <a:ext cx="10566400" cy="835620"/>
          </a:xfrm>
          <a:prstGeom prst="roundRect">
            <a:avLst>
              <a:gd name="adj" fmla="val 9119"/>
            </a:avLst>
          </a:prstGeom>
          <a:solidFill>
            <a:srgbClr val="273003"/>
          </a:solidFill>
          <a:ln/>
        </p:spPr>
      </p:sp>
      <p:sp>
        <p:nvSpPr>
          <p:cNvPr id="6" name="Text 3"/>
          <p:cNvSpPr/>
          <p:nvPr/>
        </p:nvSpPr>
        <p:spPr>
          <a:xfrm>
            <a:off x="1066800" y="4911824"/>
            <a:ext cx="1282402"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FFCE00"/>
                </a:solidFill>
                <a:latin typeface="Carlito" pitchFamily="34" charset="0"/>
                <a:ea typeface="Carlito" pitchFamily="34" charset="-122"/>
                <a:cs typeface="Carlito" pitchFamily="34" charset="-120"/>
              </a:rPr>
              <a:t>You will produce</a:t>
            </a:r>
            <a:endParaRPr lang="en-US" sz="1500" dirty="0"/>
          </a:p>
        </p:txBody>
      </p:sp>
      <p:sp>
        <p:nvSpPr>
          <p:cNvPr id="7" name="Text 4"/>
          <p:cNvSpPr/>
          <p:nvPr/>
        </p:nvSpPr>
        <p:spPr>
          <a:xfrm>
            <a:off x="2450802" y="4805164"/>
            <a:ext cx="893463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9F2EA"/>
                </a:solidFill>
                <a:latin typeface="Carlito" pitchFamily="34" charset="0"/>
                <a:ea typeface="Carlito" pitchFamily="34" charset="-122"/>
                <a:cs typeface="Carlito" pitchFamily="34" charset="-120"/>
              </a:rPr>
              <a:t>a genotype–phenotype agreement table, a regimen summary, a plasmid table for the three hybrids, and a plasmid-sharing table</a:t>
            </a:r>
            <a:endParaRPr lang="en-US" sz="1400" dirty="0"/>
          </a:p>
        </p:txBody>
      </p:sp>
      <p:pic>
        <p:nvPicPr>
          <p:cNvPr id="8"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9" name="Text 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2EA"/>
        </a:solidFill>
      </p:bgPr>
    </p:bg>
    <p:spTree>
      <p:nvGrpSpPr>
        <p:cNvPr id="1" name=""/>
        <p:cNvGrpSpPr/>
        <p:nvPr/>
      </p:nvGrpSpPr>
      <p:grpSpPr>
        <a:xfrm>
          <a:off x="0" y="0"/>
          <a:ext cx="0" cy="0"/>
          <a:chOff x="0" y="0"/>
          <a:chExt cx="0" cy="0"/>
        </a:xfrm>
      </p:grpSpPr>
      <p:sp>
        <p:nvSpPr>
          <p:cNvPr id="2" name="Shape 0"/>
          <p:cNvSpPr/>
          <p:nvPr/>
        </p:nvSpPr>
        <p:spPr>
          <a:xfrm>
            <a:off x="336550" y="692150"/>
            <a:ext cx="4076700" cy="5334000"/>
          </a:xfrm>
          <a:prstGeom prst="rect">
            <a:avLst/>
          </a:prstGeom>
          <a:solidFill>
            <a:srgbClr val="273003"/>
          </a:solidFill>
          <a:ln/>
        </p:spPr>
      </p:sp>
      <p:sp>
        <p:nvSpPr>
          <p:cNvPr id="3" name="Text 1"/>
          <p:cNvSpPr/>
          <p:nvPr>
            <p:ph type="title"/>
          </p:nvPr>
        </p:nvSpPr>
        <p:spPr>
          <a:xfrm>
            <a:off x="742950" y="1098550"/>
            <a:ext cx="3361817" cy="153407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2EA"/>
                </a:solidFill>
                <a:latin typeface="Carlito" pitchFamily="34" charset="0"/>
                <a:ea typeface="Carlito" pitchFamily="34" charset="-122"/>
                <a:cs typeface="Carlito" pitchFamily="34" charset="-120"/>
              </a:rPr>
              <a:t>By the end of these sessions you can</a:t>
            </a:r>
            <a:endParaRPr lang="en-US" sz="3600" dirty="0"/>
          </a:p>
        </p:txBody>
      </p:sp>
      <p:sp>
        <p:nvSpPr>
          <p:cNvPr id="4" name="Text 2"/>
          <p:cNvSpPr/>
          <p:nvPr/>
        </p:nvSpPr>
        <p:spPr>
          <a:xfrm>
            <a:off x="742950" y="4873079"/>
            <a:ext cx="336181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2CA6E"/>
                </a:solidFill>
                <a:latin typeface="Carlito" pitchFamily="34" charset="0"/>
                <a:ea typeface="Carlito" pitchFamily="34" charset="-122"/>
                <a:cs typeface="Carlito" pitchFamily="34" charset="-120"/>
              </a:rPr>
              <a:t>1–3: Module 4, Day 4 morning</a:t>
            </a:r>
            <a:endParaRPr lang="en-US" sz="1400" dirty="0"/>
          </a:p>
          <a:p>
            <a:pPr algn="l" indent="0" marL="0">
              <a:lnSpc>
                <a:spcPts val="1960"/>
              </a:lnSpc>
              <a:buNone/>
            </a:pPr>
            <a:r>
              <a:rPr lang="en-US" sz="1400" dirty="0">
                <a:solidFill>
                  <a:srgbClr val="C2CA6E"/>
                </a:solidFill>
                <a:latin typeface="Carlito" pitchFamily="34" charset="0"/>
                <a:ea typeface="Carlito" pitchFamily="34" charset="-122"/>
                <a:cs typeface="Carlito" pitchFamily="34" charset="-120"/>
              </a:rPr>
              <a:t>4–5: Module 5, Day 4 afternoon</a:t>
            </a:r>
            <a:endParaRPr lang="en-US" sz="1400" dirty="0"/>
          </a:p>
          <a:p>
            <a:pPr algn="l" indent="0" marL="0">
              <a:lnSpc>
                <a:spcPts val="1960"/>
              </a:lnSpc>
              <a:buNone/>
            </a:pPr>
            <a:r>
              <a:rPr lang="en-US" sz="1400" dirty="0">
                <a:solidFill>
                  <a:srgbClr val="C2CA6E"/>
                </a:solidFill>
                <a:latin typeface="Carlito" pitchFamily="34" charset="0"/>
                <a:ea typeface="Carlito" pitchFamily="34" charset="-122"/>
                <a:cs typeface="Carlito" pitchFamily="34" charset="-120"/>
              </a:rPr>
              <a:t>6–7: Module 5, Day 5 morning</a:t>
            </a:r>
            <a:endParaRPr lang="en-US" sz="1400" dirty="0"/>
          </a:p>
        </p:txBody>
      </p:sp>
      <p:sp>
        <p:nvSpPr>
          <p:cNvPr id="5" name="Shape 3"/>
          <p:cNvSpPr/>
          <p:nvPr/>
        </p:nvSpPr>
        <p:spPr>
          <a:xfrm>
            <a:off x="0" y="2279749"/>
            <a:ext cx="12192000" cy="0"/>
          </a:xfrm>
          <a:prstGeom prst="line">
            <a:avLst/>
          </a:prstGeom>
          <a:noFill/>
          <a:ln w="12700">
            <a:solidFill>
              <a:srgbClr val="D9CDBF"/>
            </a:solidFill>
            <a:prstDash val="solid"/>
          </a:ln>
        </p:spPr>
      </p:sp>
      <p:sp>
        <p:nvSpPr>
          <p:cNvPr id="6" name="Text 4"/>
          <p:cNvSpPr/>
          <p:nvPr/>
        </p:nvSpPr>
        <p:spPr>
          <a:xfrm>
            <a:off x="0" y="1933079"/>
            <a:ext cx="166688"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891F15"/>
                </a:solidFill>
                <a:latin typeface="Carlito" pitchFamily="34" charset="0"/>
                <a:ea typeface="Carlito" pitchFamily="34" charset="-122"/>
                <a:cs typeface="Carlito" pitchFamily="34" charset="-120"/>
              </a:rPr>
              <a:t>1</a:t>
            </a:r>
            <a:endParaRPr lang="en-US" sz="1800" dirty="0"/>
          </a:p>
        </p:txBody>
      </p:sp>
      <p:sp>
        <p:nvSpPr>
          <p:cNvPr id="7" name="Text 5"/>
          <p:cNvSpPr/>
          <p:nvPr/>
        </p:nvSpPr>
        <p:spPr>
          <a:xfrm>
            <a:off x="268288" y="1933079"/>
            <a:ext cx="8571548"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Predict susceptibility from AMR genes and measure agreement with lab AST (very major and major errors).</a:t>
            </a:r>
            <a:endParaRPr lang="en-US" sz="1300" dirty="0"/>
          </a:p>
        </p:txBody>
      </p:sp>
      <p:sp>
        <p:nvSpPr>
          <p:cNvPr id="8" name="Shape 6"/>
          <p:cNvSpPr/>
          <p:nvPr/>
        </p:nvSpPr>
        <p:spPr>
          <a:xfrm>
            <a:off x="0" y="2721670"/>
            <a:ext cx="12192000" cy="0"/>
          </a:xfrm>
          <a:prstGeom prst="line">
            <a:avLst/>
          </a:prstGeom>
          <a:noFill/>
          <a:ln w="12700">
            <a:solidFill>
              <a:srgbClr val="D9CDBF"/>
            </a:solidFill>
            <a:prstDash val="solid"/>
          </a:ln>
        </p:spPr>
      </p:sp>
      <p:sp>
        <p:nvSpPr>
          <p:cNvPr id="9" name="Text 7"/>
          <p:cNvSpPr/>
          <p:nvPr/>
        </p:nvSpPr>
        <p:spPr>
          <a:xfrm>
            <a:off x="0" y="2374999"/>
            <a:ext cx="166688"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891F15"/>
                </a:solidFill>
                <a:latin typeface="Carlito" pitchFamily="34" charset="0"/>
                <a:ea typeface="Carlito" pitchFamily="34" charset="-122"/>
                <a:cs typeface="Carlito" pitchFamily="34" charset="-120"/>
              </a:rPr>
              <a:t>2</a:t>
            </a:r>
            <a:endParaRPr lang="en-US" sz="1800" dirty="0"/>
          </a:p>
        </p:txBody>
      </p:sp>
      <p:sp>
        <p:nvSpPr>
          <p:cNvPr id="10" name="Text 8"/>
          <p:cNvSpPr/>
          <p:nvPr/>
        </p:nvSpPr>
        <p:spPr>
          <a:xfrm>
            <a:off x="268288" y="2374999"/>
            <a:ext cx="467594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Explain disagreements between genotype and phenotype.</a:t>
            </a:r>
            <a:endParaRPr lang="en-US" sz="1300" dirty="0"/>
          </a:p>
        </p:txBody>
      </p:sp>
      <p:sp>
        <p:nvSpPr>
          <p:cNvPr id="11" name="Shape 9"/>
          <p:cNvSpPr/>
          <p:nvPr/>
        </p:nvSpPr>
        <p:spPr>
          <a:xfrm>
            <a:off x="0" y="3163590"/>
            <a:ext cx="12192000" cy="0"/>
          </a:xfrm>
          <a:prstGeom prst="line">
            <a:avLst/>
          </a:prstGeom>
          <a:noFill/>
          <a:ln w="12700">
            <a:solidFill>
              <a:srgbClr val="D9CDBF"/>
            </a:solidFill>
            <a:prstDash val="solid"/>
          </a:ln>
        </p:spPr>
      </p:sp>
      <p:sp>
        <p:nvSpPr>
          <p:cNvPr id="12" name="Text 10"/>
          <p:cNvSpPr/>
          <p:nvPr/>
        </p:nvSpPr>
        <p:spPr>
          <a:xfrm>
            <a:off x="0" y="2816920"/>
            <a:ext cx="166688"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891F15"/>
                </a:solidFill>
                <a:latin typeface="Carlito" pitchFamily="34" charset="0"/>
                <a:ea typeface="Carlito" pitchFamily="34" charset="-122"/>
                <a:cs typeface="Carlito" pitchFamily="34" charset="-120"/>
              </a:rPr>
              <a:t>3</a:t>
            </a:r>
            <a:endParaRPr lang="en-US" sz="1800" dirty="0"/>
          </a:p>
        </p:txBody>
      </p:sp>
      <p:sp>
        <p:nvSpPr>
          <p:cNvPr id="13" name="Text 11"/>
          <p:cNvSpPr/>
          <p:nvPr/>
        </p:nvSpPr>
        <p:spPr>
          <a:xfrm>
            <a:off x="268288" y="2816920"/>
            <a:ext cx="931515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Estimate how often WHO-recommended empiric neonatal regimens would fail, and say why that estimate is limited.</a:t>
            </a:r>
            <a:endParaRPr lang="en-US" sz="1300" dirty="0"/>
          </a:p>
        </p:txBody>
      </p:sp>
      <p:sp>
        <p:nvSpPr>
          <p:cNvPr id="14" name="Shape 12"/>
          <p:cNvSpPr/>
          <p:nvPr/>
        </p:nvSpPr>
        <p:spPr>
          <a:xfrm>
            <a:off x="0" y="3605510"/>
            <a:ext cx="12192000" cy="0"/>
          </a:xfrm>
          <a:prstGeom prst="line">
            <a:avLst/>
          </a:prstGeom>
          <a:noFill/>
          <a:ln w="12700">
            <a:solidFill>
              <a:srgbClr val="D9CDBF"/>
            </a:solidFill>
            <a:prstDash val="solid"/>
          </a:ln>
        </p:spPr>
      </p:sp>
      <p:sp>
        <p:nvSpPr>
          <p:cNvPr id="15" name="Text 13"/>
          <p:cNvSpPr/>
          <p:nvPr/>
        </p:nvSpPr>
        <p:spPr>
          <a:xfrm>
            <a:off x="0" y="3258840"/>
            <a:ext cx="166688"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891F15"/>
                </a:solidFill>
                <a:latin typeface="Carlito" pitchFamily="34" charset="0"/>
                <a:ea typeface="Carlito" pitchFamily="34" charset="-122"/>
                <a:cs typeface="Carlito" pitchFamily="34" charset="-120"/>
              </a:rPr>
              <a:t>4</a:t>
            </a:r>
            <a:endParaRPr lang="en-US" sz="1800" dirty="0"/>
          </a:p>
        </p:txBody>
      </p:sp>
      <p:sp>
        <p:nvSpPr>
          <p:cNvPr id="16" name="Text 14"/>
          <p:cNvSpPr/>
          <p:nvPr/>
        </p:nvSpPr>
        <p:spPr>
          <a:xfrm>
            <a:off x="268288" y="3258840"/>
            <a:ext cx="721435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Reconstruct plasmids with MOB-suite and say which plasmid carries each resistance gene.</a:t>
            </a:r>
            <a:endParaRPr lang="en-US" sz="1300" dirty="0"/>
          </a:p>
        </p:txBody>
      </p:sp>
      <p:sp>
        <p:nvSpPr>
          <p:cNvPr id="17" name="Shape 15"/>
          <p:cNvSpPr/>
          <p:nvPr/>
        </p:nvSpPr>
        <p:spPr>
          <a:xfrm>
            <a:off x="0" y="4047430"/>
            <a:ext cx="12192000" cy="0"/>
          </a:xfrm>
          <a:prstGeom prst="line">
            <a:avLst/>
          </a:prstGeom>
          <a:noFill/>
          <a:ln w="12700">
            <a:solidFill>
              <a:srgbClr val="D9CDBF"/>
            </a:solidFill>
            <a:prstDash val="solid"/>
          </a:ln>
        </p:spPr>
      </p:sp>
      <p:sp>
        <p:nvSpPr>
          <p:cNvPr id="18" name="Text 16"/>
          <p:cNvSpPr/>
          <p:nvPr/>
        </p:nvSpPr>
        <p:spPr>
          <a:xfrm>
            <a:off x="0" y="3700760"/>
            <a:ext cx="166688"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891F15"/>
                </a:solidFill>
                <a:latin typeface="Carlito" pitchFamily="34" charset="0"/>
                <a:ea typeface="Carlito" pitchFamily="34" charset="-122"/>
                <a:cs typeface="Carlito" pitchFamily="34" charset="-120"/>
              </a:rPr>
              <a:t>5</a:t>
            </a:r>
            <a:endParaRPr lang="en-US" sz="1800" dirty="0"/>
          </a:p>
        </p:txBody>
      </p:sp>
      <p:sp>
        <p:nvSpPr>
          <p:cNvPr id="19" name="Text 17"/>
          <p:cNvSpPr/>
          <p:nvPr/>
        </p:nvSpPr>
        <p:spPr>
          <a:xfrm>
            <a:off x="268288" y="3700760"/>
            <a:ext cx="523666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Explain why short-read assemblies rarely give complete plasmids.</a:t>
            </a:r>
            <a:endParaRPr lang="en-US" sz="1300" dirty="0"/>
          </a:p>
        </p:txBody>
      </p:sp>
      <p:sp>
        <p:nvSpPr>
          <p:cNvPr id="20" name="Shape 18"/>
          <p:cNvSpPr/>
          <p:nvPr/>
        </p:nvSpPr>
        <p:spPr>
          <a:xfrm>
            <a:off x="0" y="4489351"/>
            <a:ext cx="12192000" cy="0"/>
          </a:xfrm>
          <a:prstGeom prst="line">
            <a:avLst/>
          </a:prstGeom>
          <a:noFill/>
          <a:ln w="12700">
            <a:solidFill>
              <a:srgbClr val="D9CDBF"/>
            </a:solidFill>
            <a:prstDash val="solid"/>
          </a:ln>
        </p:spPr>
      </p:sp>
      <p:sp>
        <p:nvSpPr>
          <p:cNvPr id="21" name="Text 19"/>
          <p:cNvSpPr/>
          <p:nvPr/>
        </p:nvSpPr>
        <p:spPr>
          <a:xfrm>
            <a:off x="0" y="4142680"/>
            <a:ext cx="166688"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891F15"/>
                </a:solidFill>
                <a:latin typeface="Carlito" pitchFamily="34" charset="0"/>
                <a:ea typeface="Carlito" pitchFamily="34" charset="-122"/>
                <a:cs typeface="Carlito" pitchFamily="34" charset="-120"/>
              </a:rPr>
              <a:t>6</a:t>
            </a:r>
            <a:endParaRPr lang="en-US" sz="1800" dirty="0"/>
          </a:p>
        </p:txBody>
      </p:sp>
      <p:sp>
        <p:nvSpPr>
          <p:cNvPr id="22" name="Text 20"/>
          <p:cNvSpPr/>
          <p:nvPr/>
        </p:nvSpPr>
        <p:spPr>
          <a:xfrm>
            <a:off x="268288" y="4142680"/>
            <a:ext cx="6677978"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Group plasmids into clusters and find plasmids shared between lineages or species.</a:t>
            </a:r>
            <a:endParaRPr lang="en-US" sz="1300" dirty="0"/>
          </a:p>
        </p:txBody>
      </p:sp>
      <p:sp>
        <p:nvSpPr>
          <p:cNvPr id="23" name="Text 21"/>
          <p:cNvSpPr/>
          <p:nvPr/>
        </p:nvSpPr>
        <p:spPr>
          <a:xfrm>
            <a:off x="0" y="4584601"/>
            <a:ext cx="166688"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891F15"/>
                </a:solidFill>
                <a:latin typeface="Carlito" pitchFamily="34" charset="0"/>
                <a:ea typeface="Carlito" pitchFamily="34" charset="-122"/>
                <a:cs typeface="Carlito" pitchFamily="34" charset="-120"/>
              </a:rPr>
              <a:t>7</a:t>
            </a:r>
            <a:endParaRPr lang="en-US" sz="1800" dirty="0"/>
          </a:p>
        </p:txBody>
      </p:sp>
      <p:sp>
        <p:nvSpPr>
          <p:cNvPr id="24" name="Text 22"/>
          <p:cNvSpPr/>
          <p:nvPr/>
        </p:nvSpPr>
        <p:spPr>
          <a:xfrm>
            <a:off x="268288" y="4584601"/>
            <a:ext cx="591633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Annotate a plasmid and describe the genetic context of a resistance gene.</a:t>
            </a:r>
            <a:endParaRPr lang="en-US" sz="1300" dirty="0"/>
          </a:p>
        </p:txBody>
      </p:sp>
      <p:sp>
        <p:nvSpPr>
          <p:cNvPr id="25" name="Text 23"/>
          <p:cNvSpPr/>
          <p:nvPr/>
        </p:nvSpPr>
        <p:spPr>
          <a:xfrm>
            <a:off x="812800" y="6024959"/>
            <a:ext cx="340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26"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91F1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410700" y="704850"/>
            <a:ext cx="2781300" cy="54483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FCE00"/>
                </a:solidFill>
                <a:latin typeface="Carlito" pitchFamily="34" charset="0"/>
                <a:ea typeface="Carlito" pitchFamily="34" charset="-122"/>
                <a:cs typeface="Carlito" pitchFamily="34" charset="-120"/>
              </a:rPr>
              <a:t>SESSION 1 · 09:00–10:30 · MODULE 4</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9F2EA"/>
                </a:solidFill>
                <a:latin typeface="Carlito" pitchFamily="34" charset="0"/>
                <a:ea typeface="Carlito" pitchFamily="34" charset="-122"/>
                <a:cs typeface="Carlito" pitchFamily="34" charset="-120"/>
              </a:rPr>
              <a:t>Genotype versus phenotype</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1D3C9"/>
                </a:solidFill>
                <a:latin typeface="Carlito" pitchFamily="34" charset="0"/>
                <a:ea typeface="Carlito" pitchFamily="34" charset="-122"/>
                <a:cs typeface="Carlito" pitchFamily="34" charset="-120"/>
              </a:rPr>
              <a:t>How far can we trust resistance predicted from genes?</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B5A8"/>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3B5A8"/>
                </a:solidFill>
                <a:latin typeface="Carlito" pitchFamily="34" charset="0"/>
                <a:ea typeface="Carlito" pitchFamily="34" charset="-122"/>
                <a:cs typeface="Carli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Detecting resistance in the lab: AST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5461000" cy="3702050"/>
          </a:xfrm>
          <a:prstGeom prst="roundRect">
            <a:avLst>
              <a:gd name="adj" fmla="val 2058"/>
            </a:avLst>
          </a:prstGeom>
          <a:solidFill>
            <a:srgbClr val="FFFFFF"/>
          </a:solidFill>
          <a:ln/>
        </p:spPr>
      </p:sp>
      <p:pic>
        <p:nvPicPr>
          <p:cNvPr id="5" name="Image 0" descr="Methods of antimicrobial susceptibility testing: phenotypic methods (dilution, diffusion, gradient test, chromogenic media, automated devices, 20 to 48 hours), molecular methods (PCR, qPCR, cycle sequencing, NGS, hours to days) and MALDI-TOF mass spectrometry (several hours)">    </p:cNvPr>
          <p:cNvPicPr>
            <a:picLocks noChangeAspect="1"/>
          </p:cNvPicPr>
          <p:nvPr/>
        </p:nvPicPr>
        <p:blipFill>
          <a:blip r:embed="rId1"/>
          <a:srcRect l="-21" r="-21" t="0" b="0"/>
          <a:stretch/>
        </p:blipFill>
        <p:spPr>
          <a:xfrm>
            <a:off x="812800" y="1709390"/>
            <a:ext cx="5461000" cy="3702050"/>
          </a:xfrm>
          <a:prstGeom prst="roundRect">
            <a:avLst>
              <a:gd name="adj" fmla="val 2058"/>
            </a:avLst>
          </a:prstGeom>
        </p:spPr>
      </p:pic>
      <p:sp>
        <p:nvSpPr>
          <p:cNvPr id="6" name="Text 3"/>
          <p:cNvSpPr/>
          <p:nvPr/>
        </p:nvSpPr>
        <p:spPr>
          <a:xfrm>
            <a:off x="812800" y="5487640"/>
            <a:ext cx="5624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Gajic I, et al. </a:t>
            </a:r>
            <a:r>
              <a:rPr lang="en-US" sz="1200" i="1" dirty="0">
                <a:solidFill>
                  <a:srgbClr val="6B6460"/>
                </a:solidFill>
                <a:latin typeface="Carlito" pitchFamily="34" charset="0"/>
                <a:ea typeface="Carlito" pitchFamily="34" charset="-122"/>
                <a:cs typeface="Carlito" pitchFamily="34" charset="-120"/>
              </a:rPr>
              <a:t>Antibiotics</a:t>
            </a:r>
            <a:r>
              <a:rPr lang="en-US" sz="1200" dirty="0">
                <a:solidFill>
                  <a:srgbClr val="6B6460"/>
                </a:solidFill>
                <a:latin typeface="Carlito" pitchFamily="34" charset="0"/>
                <a:ea typeface="Carlito" pitchFamily="34" charset="-122"/>
                <a:cs typeface="Carlito" pitchFamily="34" charset="-120"/>
              </a:rPr>
              <a:t> 2022. </a:t>
            </a:r>
            <a:r>
              <a:rPr lang="en-US" sz="1200" u="sng" dirty="0">
                <a:solidFill>
                  <a:srgbClr val="6B6460"/>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doi:10.3390/antibiotics11040427</a:t>
            </a:r>
            <a:endParaRPr lang="en-US" sz="1200" dirty="0"/>
          </a:p>
        </p:txBody>
      </p:sp>
      <p:sp>
        <p:nvSpPr>
          <p:cNvPr id="7" name="Shape 4"/>
          <p:cNvSpPr/>
          <p:nvPr/>
        </p:nvSpPr>
        <p:spPr>
          <a:xfrm>
            <a:off x="6654800" y="1709390"/>
            <a:ext cx="0" cy="759420"/>
          </a:xfrm>
          <a:prstGeom prst="line">
            <a:avLst/>
          </a:prstGeom>
          <a:noFill/>
          <a:ln w="50800">
            <a:solidFill>
              <a:srgbClr val="891F15"/>
            </a:solidFill>
            <a:prstDash val="solid"/>
          </a:ln>
        </p:spPr>
      </p:sp>
      <p:sp>
        <p:nvSpPr>
          <p:cNvPr id="8" name="Text 5"/>
          <p:cNvSpPr/>
          <p:nvPr/>
        </p:nvSpPr>
        <p:spPr>
          <a:xfrm>
            <a:off x="6832600" y="1709390"/>
            <a:ext cx="468299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Phenotypic AST</a:t>
            </a:r>
            <a:endParaRPr lang="en-US" sz="1500" dirty="0"/>
          </a:p>
        </p:txBody>
      </p:sp>
      <p:sp>
        <p:nvSpPr>
          <p:cNvPr id="9" name="Text 6"/>
          <p:cNvSpPr/>
          <p:nvPr/>
        </p:nvSpPr>
        <p:spPr>
          <a:xfrm>
            <a:off x="6832600" y="1988790"/>
            <a:ext cx="468299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Grows the bacterium with the antibiotic and measures the response. </a:t>
            </a:r>
            <a:r>
              <a:rPr lang="en-US" sz="1400" b="1" dirty="0">
                <a:solidFill>
                  <a:srgbClr val="3A322C"/>
                </a:solidFill>
                <a:latin typeface="Carlito" pitchFamily="34" charset="0"/>
                <a:ea typeface="Carlito" pitchFamily="34" charset="-122"/>
                <a:cs typeface="Carlito" pitchFamily="34" charset="-120"/>
              </a:rPr>
              <a:t>MIC</a:t>
            </a:r>
            <a:r>
              <a:rPr lang="en-US" sz="1400" dirty="0">
                <a:solidFill>
                  <a:srgbClr val="3A322C"/>
                </a:solidFill>
                <a:latin typeface="Carlito" pitchFamily="34" charset="0"/>
                <a:ea typeface="Carlito" pitchFamily="34" charset="-122"/>
                <a:cs typeface="Carlito" pitchFamily="34" charset="-120"/>
              </a:rPr>
              <a:t>: the lowest concentration that inhibits growth.</a:t>
            </a:r>
            <a:endParaRPr lang="en-US" sz="1400" dirty="0"/>
          </a:p>
        </p:txBody>
      </p:sp>
      <p:sp>
        <p:nvSpPr>
          <p:cNvPr id="10" name="Shape 7"/>
          <p:cNvSpPr/>
          <p:nvPr/>
        </p:nvSpPr>
        <p:spPr>
          <a:xfrm>
            <a:off x="6654800" y="2646611"/>
            <a:ext cx="0" cy="759420"/>
          </a:xfrm>
          <a:prstGeom prst="line">
            <a:avLst/>
          </a:prstGeom>
          <a:noFill/>
          <a:ln w="50800">
            <a:solidFill>
              <a:srgbClr val="891F15"/>
            </a:solidFill>
            <a:prstDash val="solid"/>
          </a:ln>
        </p:spPr>
      </p:sp>
      <p:sp>
        <p:nvSpPr>
          <p:cNvPr id="11" name="Text 8"/>
          <p:cNvSpPr/>
          <p:nvPr/>
        </p:nvSpPr>
        <p:spPr>
          <a:xfrm>
            <a:off x="6832600" y="2646611"/>
            <a:ext cx="468299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Disc diffusion (this study)</a:t>
            </a:r>
            <a:endParaRPr lang="en-US" sz="1500" dirty="0"/>
          </a:p>
        </p:txBody>
      </p:sp>
      <p:sp>
        <p:nvSpPr>
          <p:cNvPr id="12" name="Text 9"/>
          <p:cNvSpPr/>
          <p:nvPr/>
        </p:nvSpPr>
        <p:spPr>
          <a:xfrm>
            <a:off x="6832600" y="2926011"/>
            <a:ext cx="468299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Zone diameter around a disc, read as </a:t>
            </a:r>
            <a:r>
              <a:rPr lang="en-US" sz="1400" b="1" dirty="0">
                <a:solidFill>
                  <a:srgbClr val="3A322C"/>
                </a:solidFill>
                <a:latin typeface="Carlito" pitchFamily="34" charset="0"/>
                <a:ea typeface="Carlito" pitchFamily="34" charset="-122"/>
                <a:cs typeface="Carlito" pitchFamily="34" charset="-120"/>
              </a:rPr>
              <a:t>S, I or R</a:t>
            </a:r>
            <a:r>
              <a:rPr lang="en-US" sz="1400" dirty="0">
                <a:solidFill>
                  <a:srgbClr val="3A322C"/>
                </a:solidFill>
                <a:latin typeface="Carlito" pitchFamily="34" charset="0"/>
                <a:ea typeface="Carlito" pitchFamily="34" charset="-122"/>
                <a:cs typeface="Carlito" pitchFamily="34" charset="-120"/>
              </a:rPr>
              <a:t> against clinical breakpoints (EUCAST or CLSI).</a:t>
            </a:r>
            <a:endParaRPr lang="en-US" sz="1400" dirty="0"/>
          </a:p>
        </p:txBody>
      </p:sp>
      <p:sp>
        <p:nvSpPr>
          <p:cNvPr id="13" name="Shape 10"/>
          <p:cNvSpPr/>
          <p:nvPr/>
        </p:nvSpPr>
        <p:spPr>
          <a:xfrm>
            <a:off x="6654800" y="3583831"/>
            <a:ext cx="0" cy="999430"/>
          </a:xfrm>
          <a:prstGeom prst="line">
            <a:avLst/>
          </a:prstGeom>
          <a:noFill/>
          <a:ln w="50800">
            <a:solidFill>
              <a:srgbClr val="273003"/>
            </a:solidFill>
            <a:prstDash val="solid"/>
          </a:ln>
        </p:spPr>
      </p:sp>
      <p:sp>
        <p:nvSpPr>
          <p:cNvPr id="14" name="Text 11"/>
          <p:cNvSpPr/>
          <p:nvPr/>
        </p:nvSpPr>
        <p:spPr>
          <a:xfrm>
            <a:off x="6832600" y="3583831"/>
            <a:ext cx="468299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Molecular AST</a:t>
            </a:r>
            <a:endParaRPr lang="en-US" sz="1500" dirty="0"/>
          </a:p>
        </p:txBody>
      </p:sp>
      <p:sp>
        <p:nvSpPr>
          <p:cNvPr id="15" name="Text 12"/>
          <p:cNvSpPr/>
          <p:nvPr/>
        </p:nvSpPr>
        <p:spPr>
          <a:xfrm>
            <a:off x="6832600" y="3863231"/>
            <a:ext cx="4682998"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Detects resistance </a:t>
            </a:r>
            <a:r>
              <a:rPr lang="en-US" sz="1400" b="1" dirty="0">
                <a:solidFill>
                  <a:srgbClr val="3A322C"/>
                </a:solidFill>
                <a:latin typeface="Carlito" pitchFamily="34" charset="0"/>
                <a:ea typeface="Carlito" pitchFamily="34" charset="-122"/>
                <a:cs typeface="Carlito" pitchFamily="34" charset="-120"/>
              </a:rPr>
              <a:t>determinants</a:t>
            </a:r>
            <a:r>
              <a:rPr lang="en-US" sz="1400" dirty="0">
                <a:solidFill>
                  <a:srgbClr val="3A322C"/>
                </a:solidFill>
                <a:latin typeface="Carlito" pitchFamily="34" charset="0"/>
                <a:ea typeface="Carlito" pitchFamily="34" charset="-122"/>
                <a:cs typeface="Carlito" pitchFamily="34" charset="-120"/>
              </a:rPr>
              <a:t>. PCR targets a few genes in hours; WGS screens for all known ones, but only predicts the phenotype.</a:t>
            </a:r>
            <a:endParaRPr lang="en-US" sz="1400" dirty="0"/>
          </a:p>
        </p:txBody>
      </p:sp>
      <p:pic>
        <p:nvPicPr>
          <p:cNvPr id="16" name="Image 1" descr="ILRI and CGIAR logos">    </p:cNvPr>
          <p:cNvPicPr>
            <a:picLocks noChangeAspect="1"/>
          </p:cNvPicPr>
          <p:nvPr/>
        </p:nvPicPr>
        <p:blipFill>
          <a:blip r:embed="rId3"/>
          <a:srcRect l="-56" r="-56" t="0" b="0"/>
          <a:stretch/>
        </p:blipFill>
        <p:spPr>
          <a:xfrm>
            <a:off x="10033000" y="254000"/>
            <a:ext cx="1346200" cy="381000"/>
          </a:xfrm>
          <a:prstGeom prst="rect">
            <a:avLst/>
          </a:prstGeom>
        </p:spPr>
      </p:pic>
      <p:sp>
        <p:nvSpPr>
          <p:cNvPr id="17"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8" name="Text 1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How well do genes predict AST?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6223000" cy="4064000"/>
          </a:xfrm>
          <a:prstGeom prst="roundRect">
            <a:avLst>
              <a:gd name="adj" fmla="val 1875"/>
            </a:avLst>
          </a:prstGeom>
          <a:solidFill>
            <a:srgbClr val="FFFFFF"/>
          </a:solidFill>
          <a:ln/>
        </p:spPr>
      </p:sp>
      <p:pic>
        <p:nvPicPr>
          <p:cNvPr id="5" name="Image 0" descr="Table of published studies from 2013 to 2019 comparing WGS-predicted and phenotypic resistance across pathogens, with concordance, sensitivity and specificity">    </p:cNvPr>
          <p:cNvPicPr>
            <a:picLocks noChangeAspect="1"/>
          </p:cNvPicPr>
          <p:nvPr/>
        </p:nvPicPr>
        <p:blipFill>
          <a:blip r:embed="rId1"/>
          <a:srcRect l="0" r="0" t="-11" b="-11"/>
          <a:stretch/>
        </p:blipFill>
        <p:spPr>
          <a:xfrm>
            <a:off x="812800" y="1709390"/>
            <a:ext cx="6223000" cy="4064000"/>
          </a:xfrm>
          <a:prstGeom prst="roundRect">
            <a:avLst>
              <a:gd name="adj" fmla="val 1875"/>
            </a:avLst>
          </a:prstGeom>
        </p:spPr>
      </p:pic>
      <p:sp>
        <p:nvSpPr>
          <p:cNvPr id="6" name="Text 3"/>
          <p:cNvSpPr/>
          <p:nvPr/>
        </p:nvSpPr>
        <p:spPr>
          <a:xfrm>
            <a:off x="7391400" y="1709390"/>
            <a:ext cx="410743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891F15"/>
                </a:solidFill>
                <a:latin typeface="Carlito" pitchFamily="34" charset="0"/>
                <a:ea typeface="Carlito" pitchFamily="34" charset="-122"/>
                <a:cs typeface="Carlito" pitchFamily="34" charset="-120"/>
              </a:rPr>
              <a:t>&gt;96%</a:t>
            </a:r>
            <a:endParaRPr lang="en-US" sz="3200" dirty="0"/>
          </a:p>
        </p:txBody>
      </p:sp>
      <p:sp>
        <p:nvSpPr>
          <p:cNvPr id="7" name="Text 4"/>
          <p:cNvSpPr/>
          <p:nvPr/>
        </p:nvSpPr>
        <p:spPr>
          <a:xfrm>
            <a:off x="7391400" y="2181820"/>
            <a:ext cx="410743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concordance between acquired genes or mutations and MIC</a:t>
            </a:r>
            <a:endParaRPr lang="en-US" sz="1300" dirty="0"/>
          </a:p>
        </p:txBody>
      </p:sp>
      <p:sp>
        <p:nvSpPr>
          <p:cNvPr id="8" name="Text 5"/>
          <p:cNvSpPr/>
          <p:nvPr/>
        </p:nvSpPr>
        <p:spPr>
          <a:xfrm>
            <a:off x="7391400" y="2763441"/>
            <a:ext cx="410743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891F15"/>
                </a:solidFill>
                <a:latin typeface="Carlito" pitchFamily="34" charset="0"/>
                <a:ea typeface="Carlito" pitchFamily="34" charset="-122"/>
                <a:cs typeface="Carlito" pitchFamily="34" charset="-120"/>
              </a:rPr>
              <a:t>&gt;87% · &gt;97%</a:t>
            </a:r>
            <a:endParaRPr lang="en-US" sz="3200" dirty="0"/>
          </a:p>
        </p:txBody>
      </p:sp>
      <p:sp>
        <p:nvSpPr>
          <p:cNvPr id="9" name="Text 6"/>
          <p:cNvSpPr/>
          <p:nvPr/>
        </p:nvSpPr>
        <p:spPr>
          <a:xfrm>
            <a:off x="7391400" y="3235871"/>
            <a:ext cx="410743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sensitivity and specificity, depending on species</a:t>
            </a:r>
            <a:endParaRPr lang="en-US" sz="1300" dirty="0"/>
          </a:p>
        </p:txBody>
      </p:sp>
      <p:sp>
        <p:nvSpPr>
          <p:cNvPr id="10" name="Shape 7"/>
          <p:cNvSpPr/>
          <p:nvPr/>
        </p:nvSpPr>
        <p:spPr>
          <a:xfrm>
            <a:off x="7416800" y="3602881"/>
            <a:ext cx="0" cy="668536"/>
          </a:xfrm>
          <a:prstGeom prst="line">
            <a:avLst/>
          </a:prstGeom>
          <a:noFill/>
          <a:ln w="50800">
            <a:solidFill>
              <a:srgbClr val="273003"/>
            </a:solidFill>
            <a:prstDash val="solid"/>
          </a:ln>
        </p:spPr>
      </p:sp>
      <p:sp>
        <p:nvSpPr>
          <p:cNvPr id="11" name="Text 8"/>
          <p:cNvSpPr/>
          <p:nvPr/>
        </p:nvSpPr>
        <p:spPr>
          <a:xfrm>
            <a:off x="7569200" y="3602881"/>
            <a:ext cx="392430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Agreement is lower for some drugs, including </a:t>
            </a:r>
            <a:r>
              <a:rPr lang="en-US" sz="1300" b="1" dirty="0">
                <a:solidFill>
                  <a:srgbClr val="3A322C"/>
                </a:solidFill>
                <a:latin typeface="Carlito" pitchFamily="34" charset="0"/>
                <a:ea typeface="Carlito" pitchFamily="34" charset="-122"/>
                <a:cs typeface="Carlito" pitchFamily="34" charset="-120"/>
              </a:rPr>
              <a:t>aminoglycosides</a:t>
            </a:r>
            <a:r>
              <a:rPr lang="en-US" sz="1300" dirty="0">
                <a:solidFill>
                  <a:srgbClr val="3A322C"/>
                </a:solidFill>
                <a:latin typeface="Carlito" pitchFamily="34" charset="0"/>
                <a:ea typeface="Carlito" pitchFamily="34" charset="-122"/>
                <a:cs typeface="Carlito" pitchFamily="34" charset="-120"/>
              </a:rPr>
              <a:t> and </a:t>
            </a:r>
            <a:r>
              <a:rPr lang="en-US" sz="1300" b="1" dirty="0">
                <a:solidFill>
                  <a:srgbClr val="3A322C"/>
                </a:solidFill>
                <a:latin typeface="Carlito" pitchFamily="34" charset="0"/>
                <a:ea typeface="Carlito" pitchFamily="34" charset="-122"/>
                <a:cs typeface="Carlito" pitchFamily="34" charset="-120"/>
              </a:rPr>
              <a:t>β-lactams</a:t>
            </a:r>
            <a:r>
              <a:rPr lang="en-US" sz="1300" dirty="0">
                <a:solidFill>
                  <a:srgbClr val="3A322C"/>
                </a:solidFill>
                <a:latin typeface="Carlito" pitchFamily="34" charset="0"/>
                <a:ea typeface="Carlito" pitchFamily="34" charset="-122"/>
                <a:cs typeface="Carlito" pitchFamily="34" charset="-120"/>
              </a:rPr>
              <a:t>: the drugs of the neonatal regimens.</a:t>
            </a:r>
            <a:endParaRPr lang="en-US" sz="1300" dirty="0"/>
          </a:p>
        </p:txBody>
      </p:sp>
      <p:sp>
        <p:nvSpPr>
          <p:cNvPr id="12" name="Text 9"/>
          <p:cNvSpPr/>
          <p:nvPr/>
        </p:nvSpPr>
        <p:spPr>
          <a:xfrm>
            <a:off x="7391400" y="4423817"/>
            <a:ext cx="410743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6460"/>
                </a:solidFill>
                <a:latin typeface="Carlito" pitchFamily="34" charset="0"/>
                <a:ea typeface="Carlito" pitchFamily="34" charset="-122"/>
                <a:cs typeface="Carlito" pitchFamily="34" charset="-120"/>
              </a:rPr>
              <a:t>Hendriksen RS, et al. </a:t>
            </a:r>
            <a:r>
              <a:rPr lang="en-US" sz="1200" i="1" dirty="0">
                <a:solidFill>
                  <a:srgbClr val="6B6460"/>
                </a:solidFill>
                <a:latin typeface="Carlito" pitchFamily="34" charset="0"/>
                <a:ea typeface="Carlito" pitchFamily="34" charset="-122"/>
                <a:cs typeface="Carlito" pitchFamily="34" charset="-120"/>
              </a:rPr>
              <a:t>Front Public Health</a:t>
            </a:r>
            <a:r>
              <a:rPr lang="en-US" sz="1200" dirty="0">
                <a:solidFill>
                  <a:srgbClr val="6B6460"/>
                </a:solidFill>
                <a:latin typeface="Carlito" pitchFamily="34" charset="0"/>
                <a:ea typeface="Carlito" pitchFamily="34" charset="-122"/>
                <a:cs typeface="Carlito" pitchFamily="34" charset="-120"/>
              </a:rPr>
              <a:t> 2019. </a:t>
            </a:r>
            <a:r>
              <a:rPr lang="en-US" sz="1200" u="sng" dirty="0">
                <a:solidFill>
                  <a:srgbClr val="6B6460"/>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doi:10.3389/fpubh.2019.00242</a:t>
            </a:r>
            <a:endParaRPr lang="en-US" sz="1200" dirty="0"/>
          </a:p>
        </p:txBody>
      </p:sp>
      <p:pic>
        <p:nvPicPr>
          <p:cNvPr id="13" name="Image 1" descr="ILRI and CGIAR logos">    </p:cNvPr>
          <p:cNvPicPr>
            <a:picLocks noChangeAspect="1"/>
          </p:cNvPicPr>
          <p:nvPr/>
        </p:nvPicPr>
        <p:blipFill>
          <a:blip r:embed="rId3"/>
          <a:srcRect l="-56" r="-56" t="0" b="0"/>
          <a:stretch/>
        </p:blipFill>
        <p:spPr>
          <a:xfrm>
            <a:off x="10033000" y="254000"/>
            <a:ext cx="1346200" cy="381000"/>
          </a:xfrm>
          <a:prstGeom prst="rect">
            <a:avLst/>
          </a:prstGeom>
        </p:spPr>
      </p:pic>
      <p:sp>
        <p:nvSpPr>
          <p:cNvPr id="14"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5"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R, step 1: read the three tables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83990"/>
            <a:ext cx="6604000" cy="2488803"/>
          </a:xfrm>
          <a:prstGeom prst="roundRect">
            <a:avLst>
              <a:gd name="adj" fmla="val 3062"/>
            </a:avLst>
          </a:prstGeom>
          <a:solidFill>
            <a:srgbClr val="273003"/>
          </a:solidFill>
          <a:ln/>
        </p:spPr>
        <p:txBody>
          <a:bodyPr wrap="square" lIns="206282" tIns="155482" rIns="21878" bIns="130082" rtlCol="0" anchor="t">
            <a:normAutofit/>
          </a:bodyPr>
          <a:lstStyle/>
          <a:p>
            <a:pPr algn="l" indent="0" marL="0">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shell: use_tools r; cd $COURSE; R</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library(tidyverse)</a:t>
            </a:r>
            <a:endParaRPr lang="en-US" sz="1200" dirty="0"/>
          </a:p>
          <a:p>
            <a:pPr algn="l" indent="0" marL="0">
              <a:lnSpc>
                <a:spcPts val="1680"/>
              </a:lnSpc>
              <a:buNone/>
            </a:pP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meta &lt;- read_tsv("training_data/metadata_compact.tsv")</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ast  &lt;- read_tsv("training_data/ast_compact.tsv", na = "NA")</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amr  &lt;- read_tsv("results/04_amr/amrfinderplus_all.tsv") |&gt;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rename(sample = Name,</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gene = any_of(c("Element symbol",</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"Gene symbol"))) |&gt;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select(sample, gene, Class, Subclass)</a:t>
            </a:r>
            <a:endParaRPr lang="en-US" sz="1200" dirty="0"/>
          </a:p>
        </p:txBody>
      </p:sp>
      <p:sp>
        <p:nvSpPr>
          <p:cNvPr id="5" name="Text 3"/>
          <p:cNvSpPr/>
          <p:nvPr/>
        </p:nvSpPr>
        <p:spPr>
          <a:xfrm>
            <a:off x="7670800" y="1683990"/>
            <a:ext cx="381965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library(tidyverse)</a:t>
            </a:r>
            <a:r>
              <a:rPr lang="en-US" sz="1300" dirty="0">
                <a:solidFill>
                  <a:srgbClr val="3A322C"/>
                </a:solidFill>
                <a:latin typeface="Carlito" pitchFamily="34" charset="0"/>
                <a:ea typeface="Carlito" pitchFamily="34" charset="-122"/>
                <a:cs typeface="Carlito" pitchFamily="34" charset="-120"/>
              </a:rPr>
              <a:t> loads readr, dplyr, tidyr and stringr together.</a:t>
            </a:r>
            <a:endParaRPr lang="en-US" sz="1300" dirty="0"/>
          </a:p>
        </p:txBody>
      </p:sp>
      <p:sp>
        <p:nvSpPr>
          <p:cNvPr id="6" name="Text 4"/>
          <p:cNvSpPr/>
          <p:nvPr/>
        </p:nvSpPr>
        <p:spPr>
          <a:xfrm>
            <a:off x="7670800" y="2256681"/>
            <a:ext cx="381965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meta</a:t>
            </a:r>
            <a:r>
              <a:rPr lang="en-US" sz="1300" dirty="0">
                <a:solidFill>
                  <a:srgbClr val="3A322C"/>
                </a:solidFill>
                <a:latin typeface="Carlito" pitchFamily="34" charset="0"/>
                <a:ea typeface="Carlito" pitchFamily="34" charset="-122"/>
                <a:cs typeface="Carlito" pitchFamily="34" charset="-120"/>
              </a:rPr>
              <a:t>: one row per isolate. </a:t>
            </a:r>
            <a:r>
              <a:rPr lang="en-US" sz="1300" b="1" dirty="0">
                <a:solidFill>
                  <a:srgbClr val="3A322C"/>
                </a:solidFill>
                <a:latin typeface="Carlito" pitchFamily="34" charset="0"/>
                <a:ea typeface="Carlito" pitchFamily="34" charset="-122"/>
                <a:cs typeface="Carlito" pitchFamily="34" charset="-120"/>
              </a:rPr>
              <a:t>ast</a:t>
            </a:r>
            <a:r>
              <a:rPr lang="en-US" sz="1300" dirty="0">
                <a:solidFill>
                  <a:srgbClr val="3A322C"/>
                </a:solidFill>
                <a:latin typeface="Carlito" pitchFamily="34" charset="0"/>
                <a:ea typeface="Carlito" pitchFamily="34" charset="-122"/>
                <a:cs typeface="Carlito" pitchFamily="34" charset="-120"/>
              </a:rPr>
              <a:t>: one column per disc, values S, I or R. </a:t>
            </a:r>
            <a:r>
              <a:rPr lang="en-US" sz="1300" b="1" dirty="0">
                <a:solidFill>
                  <a:srgbClr val="3A322C"/>
                </a:solidFill>
                <a:latin typeface="Carlito" pitchFamily="34" charset="0"/>
                <a:ea typeface="Carlito" pitchFamily="34" charset="-122"/>
                <a:cs typeface="Carlito" pitchFamily="34" charset="-120"/>
              </a:rPr>
              <a:t>amr</a:t>
            </a:r>
            <a:r>
              <a:rPr lang="en-US" sz="1300" dirty="0">
                <a:solidFill>
                  <a:srgbClr val="3A322C"/>
                </a:solidFill>
                <a:latin typeface="Carlito" pitchFamily="34" charset="0"/>
                <a:ea typeface="Carlito" pitchFamily="34" charset="-122"/>
                <a:cs typeface="Carlito" pitchFamily="34" charset="-120"/>
              </a:rPr>
              <a:t>: one row per gene found.</a:t>
            </a:r>
            <a:endParaRPr lang="en-US" sz="1300" dirty="0"/>
          </a:p>
        </p:txBody>
      </p:sp>
      <p:sp>
        <p:nvSpPr>
          <p:cNvPr id="7" name="Text 5"/>
          <p:cNvSpPr/>
          <p:nvPr/>
        </p:nvSpPr>
        <p:spPr>
          <a:xfrm>
            <a:off x="7670800" y="2829371"/>
            <a:ext cx="3819652"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|&gt;</a:t>
            </a:r>
            <a:r>
              <a:rPr lang="en-US" sz="1300" dirty="0">
                <a:solidFill>
                  <a:srgbClr val="3A322C"/>
                </a:solidFill>
                <a:latin typeface="Carlito" pitchFamily="34" charset="0"/>
                <a:ea typeface="Carlito" pitchFamily="34" charset="-122"/>
                <a:cs typeface="Carlito" pitchFamily="34" charset="-120"/>
              </a:rPr>
              <a:t> passes the result on to the next function.</a:t>
            </a:r>
            <a:endParaRPr lang="en-US" sz="1300" dirty="0"/>
          </a:p>
        </p:txBody>
      </p:sp>
      <p:sp>
        <p:nvSpPr>
          <p:cNvPr id="8" name="Text 6"/>
          <p:cNvSpPr/>
          <p:nvPr/>
        </p:nvSpPr>
        <p:spPr>
          <a:xfrm>
            <a:off x="7670800" y="3179217"/>
            <a:ext cx="381965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any_of()</a:t>
            </a:r>
            <a:r>
              <a:rPr lang="en-US" sz="1300" dirty="0">
                <a:solidFill>
                  <a:srgbClr val="3A322C"/>
                </a:solidFill>
                <a:latin typeface="Carlito" pitchFamily="34" charset="0"/>
                <a:ea typeface="Carlito" pitchFamily="34" charset="-122"/>
                <a:cs typeface="Carlito" pitchFamily="34" charset="-120"/>
              </a:rPr>
              <a:t> renames whichever gene column exists: its name differs between AMRFinderPlus versions.</a:t>
            </a:r>
            <a:endParaRPr lang="en-US" sz="1300" dirty="0"/>
          </a:p>
        </p:txBody>
      </p:sp>
      <p:sp>
        <p:nvSpPr>
          <p:cNvPr id="9" name="Text 7"/>
          <p:cNvSpPr/>
          <p:nvPr/>
        </p:nvSpPr>
        <p:spPr>
          <a:xfrm>
            <a:off x="7670800" y="3751907"/>
            <a:ext cx="381965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Subclass</a:t>
            </a:r>
            <a:r>
              <a:rPr lang="en-US" sz="1300" dirty="0">
                <a:solidFill>
                  <a:srgbClr val="3A322C"/>
                </a:solidFill>
                <a:latin typeface="Carlito" pitchFamily="34" charset="0"/>
                <a:ea typeface="Carlito" pitchFamily="34" charset="-122"/>
                <a:cs typeface="Carlito" pitchFamily="34" charset="-120"/>
              </a:rPr>
              <a:t> names the drugs a gene affects, e.g. GENTAMICIN.</a:t>
            </a:r>
            <a:endParaRPr lang="en-US" sz="1300" dirty="0"/>
          </a:p>
        </p:txBody>
      </p:sp>
      <p:pic>
        <p:nvPicPr>
          <p:cNvPr id="10"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1"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R, step 2: the prediction rules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83990"/>
            <a:ext cx="10566400" cy="2275483"/>
          </a:xfrm>
          <a:prstGeom prst="roundRect">
            <a:avLst>
              <a:gd name="adj" fmla="val 3349"/>
            </a:avLst>
          </a:prstGeom>
          <a:solidFill>
            <a:srgbClr val="273003"/>
          </a:solidFill>
          <a:ln/>
        </p:spPr>
        <p:txBody>
          <a:bodyPr wrap="square" lIns="206282" tIns="155482" rIns="0" bIns="130082" rtlCol="0" anchor="t">
            <a:normAutofit/>
          </a:bodyPr>
          <a:lstStyle/>
          <a:p>
            <a:pPr algn="l" indent="0" marL="0">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An isolate is predicted R if any hit's Subclass matches the pattern</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rules &lt;- tribble(</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~drug,           ~ast_column,                    ~pattern,</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"Gentamicin",    "Gentamicin 10",                "GENTAMICIN",</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"Ceftriaxone",   "Cefpodoxime 10 (Ceftriaxone)", "CEPHALOSPORIN|CARBAPENEM",</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"Meropenem",     "Meropenem 10",                 "CARBAPENEM",</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"Amikacin",      "Amikacin 30",                  "AMIKACIN",</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"Ciprofloxacin", "Ciprofloxacin 5",              "QUINOLONE"</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812800" y="4188073"/>
            <a:ext cx="3403600" cy="1014611"/>
          </a:xfrm>
          <a:prstGeom prst="roundRect">
            <a:avLst>
              <a:gd name="adj" fmla="val 5007"/>
            </a:avLst>
          </a:prstGeom>
          <a:solidFill>
            <a:srgbClr val="FFFFFF"/>
          </a:solidFill>
          <a:ln/>
        </p:spPr>
      </p:sp>
      <p:sp>
        <p:nvSpPr>
          <p:cNvPr id="6" name="Shape 4"/>
          <p:cNvSpPr/>
          <p:nvPr/>
        </p:nvSpPr>
        <p:spPr>
          <a:xfrm>
            <a:off x="812800" y="4188073"/>
            <a:ext cx="3403600" cy="1014611"/>
          </a:xfrm>
          <a:custGeom>
            <a:avLst/>
            <a:gdLst/>
            <a:ahLst/>
            <a:cxnLst/>
            <a:rect l="l" t="t" r="r" b="b"/>
            <a:pathLst>
              <a:path w="3403600"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891F15"/>
          </a:solidFill>
          <a:ln/>
        </p:spPr>
      </p:sp>
      <p:sp>
        <p:nvSpPr>
          <p:cNvPr id="7" name="Text 5"/>
          <p:cNvSpPr/>
          <p:nvPr/>
        </p:nvSpPr>
        <p:spPr>
          <a:xfrm>
            <a:off x="1041400" y="4340473"/>
            <a:ext cx="308711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tribble()</a:t>
            </a:r>
            <a:endParaRPr lang="en-US" sz="1400" dirty="0"/>
          </a:p>
        </p:txBody>
      </p:sp>
      <p:sp>
        <p:nvSpPr>
          <p:cNvPr id="8" name="Text 6"/>
          <p:cNvSpPr/>
          <p:nvPr/>
        </p:nvSpPr>
        <p:spPr>
          <a:xfrm>
            <a:off x="1041400" y="4604593"/>
            <a:ext cx="308711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A small table typed row by row: one rule per drug.</a:t>
            </a:r>
            <a:endParaRPr lang="en-US" sz="1300" dirty="0"/>
          </a:p>
        </p:txBody>
      </p:sp>
      <p:sp>
        <p:nvSpPr>
          <p:cNvPr id="9" name="Shape 7"/>
          <p:cNvSpPr/>
          <p:nvPr/>
        </p:nvSpPr>
        <p:spPr>
          <a:xfrm>
            <a:off x="4394200" y="4188073"/>
            <a:ext cx="3403600" cy="1014611"/>
          </a:xfrm>
          <a:prstGeom prst="roundRect">
            <a:avLst>
              <a:gd name="adj" fmla="val 5007"/>
            </a:avLst>
          </a:prstGeom>
          <a:solidFill>
            <a:srgbClr val="FFFFFF"/>
          </a:solidFill>
          <a:ln/>
        </p:spPr>
      </p:sp>
      <p:sp>
        <p:nvSpPr>
          <p:cNvPr id="10" name="Shape 8"/>
          <p:cNvSpPr/>
          <p:nvPr/>
        </p:nvSpPr>
        <p:spPr>
          <a:xfrm>
            <a:off x="4394200" y="4188073"/>
            <a:ext cx="3403600" cy="1014611"/>
          </a:xfrm>
          <a:custGeom>
            <a:avLst/>
            <a:gdLst/>
            <a:ahLst/>
            <a:cxnLst/>
            <a:rect l="l" t="t" r="r" b="b"/>
            <a:pathLst>
              <a:path w="3403600"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891F15"/>
          </a:solidFill>
          <a:ln/>
        </p:spPr>
      </p:sp>
      <p:sp>
        <p:nvSpPr>
          <p:cNvPr id="11" name="Text 9"/>
          <p:cNvSpPr/>
          <p:nvPr/>
        </p:nvSpPr>
        <p:spPr>
          <a:xfrm>
            <a:off x="4622800" y="4340473"/>
            <a:ext cx="308711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ast_column</a:t>
            </a:r>
            <a:endParaRPr lang="en-US" sz="1400" dirty="0"/>
          </a:p>
        </p:txBody>
      </p:sp>
      <p:sp>
        <p:nvSpPr>
          <p:cNvPr id="12" name="Text 10"/>
          <p:cNvSpPr/>
          <p:nvPr/>
        </p:nvSpPr>
        <p:spPr>
          <a:xfrm>
            <a:off x="4622800" y="4604593"/>
            <a:ext cx="308711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The matching disc in the AST table. Cefpodoxime stands in for ceftriaxone.</a:t>
            </a:r>
            <a:endParaRPr lang="en-US" sz="1300" dirty="0"/>
          </a:p>
        </p:txBody>
      </p:sp>
      <p:sp>
        <p:nvSpPr>
          <p:cNvPr id="13" name="Shape 11"/>
          <p:cNvSpPr/>
          <p:nvPr/>
        </p:nvSpPr>
        <p:spPr>
          <a:xfrm>
            <a:off x="7975600" y="4188073"/>
            <a:ext cx="3403600" cy="1014611"/>
          </a:xfrm>
          <a:prstGeom prst="roundRect">
            <a:avLst>
              <a:gd name="adj" fmla="val 5007"/>
            </a:avLst>
          </a:prstGeom>
          <a:solidFill>
            <a:srgbClr val="FFFFFF"/>
          </a:solidFill>
          <a:ln/>
        </p:spPr>
      </p:sp>
      <p:sp>
        <p:nvSpPr>
          <p:cNvPr id="14" name="Shape 12"/>
          <p:cNvSpPr/>
          <p:nvPr/>
        </p:nvSpPr>
        <p:spPr>
          <a:xfrm>
            <a:off x="7975600" y="4188073"/>
            <a:ext cx="3403600" cy="1014611"/>
          </a:xfrm>
          <a:custGeom>
            <a:avLst/>
            <a:gdLst/>
            <a:ahLst/>
            <a:cxnLst/>
            <a:rect l="l" t="t" r="r" b="b"/>
            <a:pathLst>
              <a:path w="3403600"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273003"/>
          </a:solidFill>
          <a:ln/>
        </p:spPr>
      </p:sp>
      <p:sp>
        <p:nvSpPr>
          <p:cNvPr id="15" name="Text 13"/>
          <p:cNvSpPr/>
          <p:nvPr/>
        </p:nvSpPr>
        <p:spPr>
          <a:xfrm>
            <a:off x="8204200" y="4340473"/>
            <a:ext cx="308711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pattern</a:t>
            </a:r>
            <a:endParaRPr lang="en-US" sz="1400" dirty="0"/>
          </a:p>
        </p:txBody>
      </p:sp>
      <p:sp>
        <p:nvSpPr>
          <p:cNvPr id="16" name="Text 14"/>
          <p:cNvSpPr/>
          <p:nvPr/>
        </p:nvSpPr>
        <p:spPr>
          <a:xfrm>
            <a:off x="8204200" y="4604593"/>
            <a:ext cx="308711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A regular expression: </a:t>
            </a:r>
            <a:r>
              <a:rPr lang="en-US" sz="1300" b="1" dirty="0">
                <a:solidFill>
                  <a:srgbClr val="3A322C"/>
                </a:solidFill>
                <a:latin typeface="Carlito" pitchFamily="34" charset="0"/>
                <a:ea typeface="Carlito" pitchFamily="34" charset="-122"/>
                <a:cs typeface="Carlito" pitchFamily="34" charset="-120"/>
              </a:rPr>
              <a:t>|</a:t>
            </a:r>
            <a:r>
              <a:rPr lang="en-US" sz="1300" dirty="0">
                <a:solidFill>
                  <a:srgbClr val="3A322C"/>
                </a:solidFill>
                <a:latin typeface="Carlito" pitchFamily="34" charset="0"/>
                <a:ea typeface="Carlito" pitchFamily="34" charset="-122"/>
                <a:cs typeface="Carlito" pitchFamily="34" charset="-120"/>
              </a:rPr>
              <a:t> means "or". Carbapenemases also break ceftriaxone.</a:t>
            </a:r>
            <a:endParaRPr lang="en-US" sz="1300" dirty="0"/>
          </a:p>
        </p:txBody>
      </p:sp>
      <p:pic>
        <p:nvPicPr>
          <p:cNvPr id="17"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8"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R, step 3: predict R or 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83990"/>
            <a:ext cx="6350000" cy="3128764"/>
          </a:xfrm>
          <a:prstGeom prst="roundRect">
            <a:avLst>
              <a:gd name="adj" fmla="val 2435"/>
            </a:avLst>
          </a:prstGeom>
          <a:solidFill>
            <a:srgbClr val="273003"/>
          </a:solidFill>
          <a:ln/>
        </p:spPr>
        <p:txBody>
          <a:bodyPr wrap="square" lIns="206282" tIns="155482" rIns="29498" bIns="130082" rtlCol="0" anchor="t">
            <a:normAutofit/>
          </a:bodyPr>
          <a:lstStyle/>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pred &lt;- rules |&gt;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crossing(sample = meta$sample) |&gt;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left_join(amr, by = "sample",</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relationship = "many-to-many") |&gt;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group_by(drug, ast_column, sample) |&gt;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summarise(</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hit   = any(str_detect(Subclass, pattern),</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na.rm = TRUE),</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genes = paste(unique(gene[which(</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str_detect(Subclass, pattern))]),</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collapse = ";"),</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.groups = "drop") |&gt;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mutate(genotype = if_else(hit, "R", "S"))</a:t>
            </a:r>
            <a:endParaRPr lang="en-US" sz="1200" dirty="0"/>
          </a:p>
        </p:txBody>
      </p:sp>
      <p:sp>
        <p:nvSpPr>
          <p:cNvPr id="5" name="Text 3"/>
          <p:cNvSpPr/>
          <p:nvPr/>
        </p:nvSpPr>
        <p:spPr>
          <a:xfrm>
            <a:off x="7416800" y="1683990"/>
            <a:ext cx="408127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crossing()</a:t>
            </a:r>
            <a:r>
              <a:rPr lang="en-US" sz="1300" dirty="0">
                <a:solidFill>
                  <a:srgbClr val="3A322C"/>
                </a:solidFill>
                <a:latin typeface="Carlito" pitchFamily="34" charset="0"/>
                <a:ea typeface="Carlito" pitchFamily="34" charset="-122"/>
                <a:cs typeface="Carlito" pitchFamily="34" charset="-120"/>
              </a:rPr>
              <a:t>: every drug with every isolate, 5 × 29 = 145 rows.</a:t>
            </a:r>
            <a:endParaRPr lang="en-US" sz="1300" dirty="0"/>
          </a:p>
        </p:txBody>
      </p:sp>
      <p:sp>
        <p:nvSpPr>
          <p:cNvPr id="6" name="Text 4"/>
          <p:cNvSpPr/>
          <p:nvPr/>
        </p:nvSpPr>
        <p:spPr>
          <a:xfrm>
            <a:off x="7416800" y="2256681"/>
            <a:ext cx="408127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left_join()</a:t>
            </a:r>
            <a:r>
              <a:rPr lang="en-US" sz="1300" dirty="0">
                <a:solidFill>
                  <a:srgbClr val="3A322C"/>
                </a:solidFill>
                <a:latin typeface="Carlito" pitchFamily="34" charset="0"/>
                <a:ea typeface="Carlito" pitchFamily="34" charset="-122"/>
                <a:cs typeface="Carlito" pitchFamily="34" charset="-120"/>
              </a:rPr>
              <a:t>: adds each isolate's genes; one row per drug, isolate and gene.</a:t>
            </a:r>
            <a:endParaRPr lang="en-US" sz="1300" dirty="0"/>
          </a:p>
        </p:txBody>
      </p:sp>
      <p:sp>
        <p:nvSpPr>
          <p:cNvPr id="7" name="Text 5"/>
          <p:cNvSpPr/>
          <p:nvPr/>
        </p:nvSpPr>
        <p:spPr>
          <a:xfrm>
            <a:off x="7416800" y="2829371"/>
            <a:ext cx="408127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summarise()</a:t>
            </a:r>
            <a:r>
              <a:rPr lang="en-US" sz="1300" dirty="0">
                <a:solidFill>
                  <a:srgbClr val="3A322C"/>
                </a:solidFill>
                <a:latin typeface="Carlito" pitchFamily="34" charset="0"/>
                <a:ea typeface="Carlito" pitchFamily="34" charset="-122"/>
                <a:cs typeface="Carlito" pitchFamily="34" charset="-120"/>
              </a:rPr>
              <a:t>: back to one row per drug and isolate. </a:t>
            </a:r>
            <a:r>
              <a:rPr lang="en-US" sz="1300" b="1" dirty="0">
                <a:solidFill>
                  <a:srgbClr val="3A322C"/>
                </a:solidFill>
                <a:latin typeface="Carlito" pitchFamily="34" charset="0"/>
                <a:ea typeface="Carlito" pitchFamily="34" charset="-122"/>
                <a:cs typeface="Carlito" pitchFamily="34" charset="-120"/>
              </a:rPr>
              <a:t>hit</a:t>
            </a:r>
            <a:r>
              <a:rPr lang="en-US" sz="1300" dirty="0">
                <a:solidFill>
                  <a:srgbClr val="3A322C"/>
                </a:solidFill>
                <a:latin typeface="Carlito" pitchFamily="34" charset="0"/>
                <a:ea typeface="Carlito" pitchFamily="34" charset="-122"/>
                <a:cs typeface="Carlito" pitchFamily="34" charset="-120"/>
              </a:rPr>
              <a:t> is TRUE if any gene matches.</a:t>
            </a:r>
            <a:endParaRPr lang="en-US" sz="1300" dirty="0"/>
          </a:p>
        </p:txBody>
      </p:sp>
      <p:sp>
        <p:nvSpPr>
          <p:cNvPr id="8" name="Text 6"/>
          <p:cNvSpPr/>
          <p:nvPr/>
        </p:nvSpPr>
        <p:spPr>
          <a:xfrm>
            <a:off x="7416800" y="3402062"/>
            <a:ext cx="408127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genes</a:t>
            </a:r>
            <a:r>
              <a:rPr lang="en-US" sz="1300" dirty="0">
                <a:solidFill>
                  <a:srgbClr val="3A322C"/>
                </a:solidFill>
                <a:latin typeface="Carlito" pitchFamily="34" charset="0"/>
                <a:ea typeface="Carlito" pitchFamily="34" charset="-122"/>
                <a:cs typeface="Carlito" pitchFamily="34" charset="-120"/>
              </a:rPr>
              <a:t> keeps the genes behind each call, for explaining disagreements.</a:t>
            </a:r>
            <a:endParaRPr lang="en-US" sz="1300" dirty="0"/>
          </a:p>
        </p:txBody>
      </p:sp>
      <p:sp>
        <p:nvSpPr>
          <p:cNvPr id="9" name="Text 7"/>
          <p:cNvSpPr/>
          <p:nvPr/>
        </p:nvSpPr>
        <p:spPr>
          <a:xfrm>
            <a:off x="7416800" y="3974753"/>
            <a:ext cx="4081272"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if_else()</a:t>
            </a:r>
            <a:r>
              <a:rPr lang="en-US" sz="1300" dirty="0">
                <a:solidFill>
                  <a:srgbClr val="3A322C"/>
                </a:solidFill>
                <a:latin typeface="Carlito" pitchFamily="34" charset="0"/>
                <a:ea typeface="Carlito" pitchFamily="34" charset="-122"/>
                <a:cs typeface="Carlito" pitchFamily="34" charset="-120"/>
              </a:rPr>
              <a:t>: hit → "R", no hit → "S".</a:t>
            </a:r>
            <a:endParaRPr lang="en-US" sz="1300" dirty="0"/>
          </a:p>
        </p:txBody>
      </p:sp>
      <p:pic>
        <p:nvPicPr>
          <p:cNvPr id="10"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1"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R, step 4: compare with AST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58590"/>
            <a:ext cx="10566400" cy="2773561"/>
          </a:xfrm>
          <a:prstGeom prst="roundRect">
            <a:avLst>
              <a:gd name="adj" fmla="val 2747"/>
            </a:avLst>
          </a:prstGeom>
          <a:solidFill>
            <a:srgbClr val="273003"/>
          </a:solidFill>
          <a:ln/>
        </p:spPr>
        <p:txBody>
          <a:bodyPr wrap="square" lIns="206282" tIns="130082" rIns="0" bIns="104682" rtlCol="0" anchor="t">
            <a:normAutofit/>
          </a:bodyPr>
          <a:lstStyle/>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ast_long &lt;- ast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pivot_longer(-sample, names_to = "ast_column", values_to = "phenotype")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filter(phenotype %in% c("S", "R"))          </a:t>
            </a:r>
            <a:r>
              <a:rPr lang="en-US" sz="1200" dirty="0">
                <a:solidFill>
                  <a:srgbClr val="C2CA6E"/>
                </a:solidFill>
                <a:latin typeface="JetBrains Mono" pitchFamily="49" charset="0"/>
                <a:ea typeface="JetBrains Mono" pitchFamily="49" charset="-122"/>
                <a:cs typeface="JetBrains Mono" pitchFamily="49" charset="-120"/>
              </a:rPr>
              <a:t># intermediate (I) results left out</a:t>
            </a:r>
            <a:endParaRPr lang="en-US" sz="1200" dirty="0"/>
          </a:p>
          <a:p>
            <a:pPr algn="l" indent="0" marL="0">
              <a:lnSpc>
                <a:spcPts val="1620"/>
              </a:lnSpc>
              <a:buNone/>
            </a:pP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cmp &lt;- pred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inner_join(ast_long, by = c("sample", "ast_column"))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mutate(result = case_when(</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genotype == phenotype              ~ "agree",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genotype == "S" &amp; phenotype == "R" ~ "very major error (missed resistance)",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genotype == "R" &amp; phenotype == "S" ~ "major error (false resistance)"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write_tsv(cmp, "results/04_amr/genotype_vs_phenotype.tsv")</a:t>
            </a:r>
            <a:endParaRPr lang="en-US" sz="1200" dirty="0"/>
          </a:p>
        </p:txBody>
      </p:sp>
      <p:sp>
        <p:nvSpPr>
          <p:cNvPr id="5" name="Text 3"/>
          <p:cNvSpPr/>
          <p:nvPr/>
        </p:nvSpPr>
        <p:spPr>
          <a:xfrm>
            <a:off x="812800" y="4635351"/>
            <a:ext cx="3403600" cy="683220"/>
          </a:xfrm>
          <a:prstGeom prst="roundRect">
            <a:avLst>
              <a:gd name="adj" fmla="val 7435"/>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b="1" dirty="0">
                <a:solidFill>
                  <a:srgbClr val="3A322C"/>
                </a:solidFill>
                <a:latin typeface="Carlito" pitchFamily="34" charset="0"/>
                <a:ea typeface="Carlito" pitchFamily="34" charset="-122"/>
                <a:cs typeface="Carlito" pitchFamily="34" charset="-120"/>
              </a:rPr>
              <a:t>pivot_longer()</a:t>
            </a:r>
            <a:r>
              <a:rPr lang="en-US" sz="1300" dirty="0">
                <a:solidFill>
                  <a:srgbClr val="3A322C"/>
                </a:solidFill>
                <a:latin typeface="Carlito" pitchFamily="34" charset="0"/>
                <a:ea typeface="Carlito" pitchFamily="34" charset="-122"/>
                <a:cs typeface="Carlito" pitchFamily="34" charset="-120"/>
              </a:rPr>
              <a:t>: one row per isolate and disc, like pred</a:t>
            </a:r>
            <a:endParaRPr lang="en-US" sz="1300" dirty="0"/>
          </a:p>
        </p:txBody>
      </p:sp>
      <p:sp>
        <p:nvSpPr>
          <p:cNvPr id="6" name="Shape 4"/>
          <p:cNvSpPr/>
          <p:nvPr/>
        </p:nvSpPr>
        <p:spPr>
          <a:xfrm>
            <a:off x="812800" y="4635351"/>
            <a:ext cx="3403600" cy="683220"/>
          </a:xfrm>
          <a:custGeom>
            <a:avLst/>
            <a:gdLst/>
            <a:ahLst/>
            <a:cxnLst/>
            <a:rect l="l" t="t" r="r" b="b"/>
            <a:pathLst>
              <a:path w="3403600" h="683220">
                <a:moveTo>
                  <a:pt x="50800" y="683220"/>
                </a:moveTo>
                <a:lnTo>
                  <a:pt x="50800" y="683220"/>
                </a:lnTo>
                <a:arcTo hR="50800" wR="50800" stAng="5400000" swAng="5400000"/>
                <a:lnTo>
                  <a:pt x="0" y="50800"/>
                </a:lnTo>
                <a:arcTo hR="50800" wR="50800" stAng="10800000" swAng="5400000"/>
                <a:lnTo>
                  <a:pt x="50800" y="0"/>
                </a:lnTo>
                <a:lnTo>
                  <a:pt x="50800" y="683220"/>
                </a:lnTo>
                <a:close/>
              </a:path>
            </a:pathLst>
          </a:custGeom>
          <a:solidFill>
            <a:srgbClr val="891F15"/>
          </a:solidFill>
          <a:ln/>
        </p:spPr>
      </p:sp>
      <p:sp>
        <p:nvSpPr>
          <p:cNvPr id="7" name="Text 5"/>
          <p:cNvSpPr/>
          <p:nvPr/>
        </p:nvSpPr>
        <p:spPr>
          <a:xfrm>
            <a:off x="4394200" y="4635351"/>
            <a:ext cx="3403600" cy="683220"/>
          </a:xfrm>
          <a:prstGeom prst="roundRect">
            <a:avLst>
              <a:gd name="adj" fmla="val 7435"/>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b="1" dirty="0">
                <a:solidFill>
                  <a:srgbClr val="3A322C"/>
                </a:solidFill>
                <a:latin typeface="Carlito" pitchFamily="34" charset="0"/>
                <a:ea typeface="Carlito" pitchFamily="34" charset="-122"/>
                <a:cs typeface="Carlito" pitchFamily="34" charset="-120"/>
              </a:rPr>
              <a:t>inner_join()</a:t>
            </a:r>
            <a:r>
              <a:rPr lang="en-US" sz="1300" dirty="0">
                <a:solidFill>
                  <a:srgbClr val="3A322C"/>
                </a:solidFill>
                <a:latin typeface="Carlito" pitchFamily="34" charset="0"/>
                <a:ea typeface="Carlito" pitchFamily="34" charset="-122"/>
                <a:cs typeface="Carlito" pitchFamily="34" charset="-120"/>
              </a:rPr>
              <a:t>: keeps only pairs with both a prediction and an AST result</a:t>
            </a:r>
            <a:endParaRPr lang="en-US" sz="1300" dirty="0"/>
          </a:p>
        </p:txBody>
      </p:sp>
      <p:sp>
        <p:nvSpPr>
          <p:cNvPr id="8" name="Shape 6"/>
          <p:cNvSpPr/>
          <p:nvPr/>
        </p:nvSpPr>
        <p:spPr>
          <a:xfrm>
            <a:off x="4394200" y="4635351"/>
            <a:ext cx="3403600" cy="683220"/>
          </a:xfrm>
          <a:custGeom>
            <a:avLst/>
            <a:gdLst/>
            <a:ahLst/>
            <a:cxnLst/>
            <a:rect l="l" t="t" r="r" b="b"/>
            <a:pathLst>
              <a:path w="3403600" h="683220">
                <a:moveTo>
                  <a:pt x="50800" y="683220"/>
                </a:moveTo>
                <a:lnTo>
                  <a:pt x="50800" y="683220"/>
                </a:lnTo>
                <a:arcTo hR="50800" wR="50800" stAng="5400000" swAng="5400000"/>
                <a:lnTo>
                  <a:pt x="0" y="50800"/>
                </a:lnTo>
                <a:arcTo hR="50800" wR="50800" stAng="10800000" swAng="5400000"/>
                <a:lnTo>
                  <a:pt x="50800" y="0"/>
                </a:lnTo>
                <a:lnTo>
                  <a:pt x="50800" y="683220"/>
                </a:lnTo>
                <a:close/>
              </a:path>
            </a:pathLst>
          </a:custGeom>
          <a:solidFill>
            <a:srgbClr val="891F15"/>
          </a:solidFill>
          <a:ln/>
        </p:spPr>
      </p:sp>
      <p:sp>
        <p:nvSpPr>
          <p:cNvPr id="9" name="Text 7"/>
          <p:cNvSpPr/>
          <p:nvPr/>
        </p:nvSpPr>
        <p:spPr>
          <a:xfrm>
            <a:off x="7975600" y="4635351"/>
            <a:ext cx="3403600" cy="683220"/>
          </a:xfrm>
          <a:prstGeom prst="roundRect">
            <a:avLst>
              <a:gd name="adj" fmla="val 7435"/>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b="1" dirty="0">
                <a:solidFill>
                  <a:srgbClr val="3A322C"/>
                </a:solidFill>
                <a:latin typeface="Carlito" pitchFamily="34" charset="0"/>
                <a:ea typeface="Carlito" pitchFamily="34" charset="-122"/>
                <a:cs typeface="Carlito" pitchFamily="34" charset="-120"/>
              </a:rPr>
              <a:t>case_when()</a:t>
            </a:r>
            <a:r>
              <a:rPr lang="en-US" sz="1300" dirty="0">
                <a:solidFill>
                  <a:srgbClr val="3A322C"/>
                </a:solidFill>
                <a:latin typeface="Carlito" pitchFamily="34" charset="0"/>
                <a:ea typeface="Carlito" pitchFamily="34" charset="-122"/>
                <a:cs typeface="Carlito" pitchFamily="34" charset="-120"/>
              </a:rPr>
              <a:t>: labels each pair, first matching rule wins</a:t>
            </a:r>
            <a:endParaRPr lang="en-US" sz="1300" dirty="0"/>
          </a:p>
        </p:txBody>
      </p:sp>
      <p:sp>
        <p:nvSpPr>
          <p:cNvPr id="10" name="Shape 8"/>
          <p:cNvSpPr/>
          <p:nvPr/>
        </p:nvSpPr>
        <p:spPr>
          <a:xfrm>
            <a:off x="7975600" y="4635351"/>
            <a:ext cx="3403600" cy="683220"/>
          </a:xfrm>
          <a:custGeom>
            <a:avLst/>
            <a:gdLst/>
            <a:ahLst/>
            <a:cxnLst/>
            <a:rect l="l" t="t" r="r" b="b"/>
            <a:pathLst>
              <a:path w="3403600" h="683220">
                <a:moveTo>
                  <a:pt x="50800" y="683220"/>
                </a:moveTo>
                <a:lnTo>
                  <a:pt x="50800" y="683220"/>
                </a:lnTo>
                <a:arcTo hR="50800" wR="50800" stAng="5400000" swAng="5400000"/>
                <a:lnTo>
                  <a:pt x="0" y="50800"/>
                </a:lnTo>
                <a:arcTo hR="50800" wR="50800" stAng="10800000" swAng="5400000"/>
                <a:lnTo>
                  <a:pt x="50800" y="0"/>
                </a:lnTo>
                <a:lnTo>
                  <a:pt x="50800" y="683220"/>
                </a:lnTo>
                <a:close/>
              </a:path>
            </a:pathLst>
          </a:custGeom>
          <a:solidFill>
            <a:srgbClr val="273003"/>
          </a:solidFill>
          <a:ln/>
        </p:spPr>
      </p:sp>
      <p:pic>
        <p:nvPicPr>
          <p:cNvPr id="11"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Very major and major errors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2254758" y="1683990"/>
            <a:ext cx="2145284"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D2637"/>
                </a:solidFill>
                <a:latin typeface="Carlito" pitchFamily="34" charset="0"/>
                <a:ea typeface="Carlito" pitchFamily="34" charset="-122"/>
                <a:cs typeface="Carlito" pitchFamily="34" charset="-120"/>
              </a:rPr>
              <a:t>AST: R</a:t>
            </a:r>
            <a:endParaRPr lang="en-US" sz="1400" dirty="0"/>
          </a:p>
        </p:txBody>
      </p:sp>
      <p:sp>
        <p:nvSpPr>
          <p:cNvPr id="5" name="Text 3"/>
          <p:cNvSpPr/>
          <p:nvPr/>
        </p:nvSpPr>
        <p:spPr>
          <a:xfrm>
            <a:off x="4413758" y="1683990"/>
            <a:ext cx="2145284"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D2637"/>
                </a:solidFill>
                <a:latin typeface="Carlito" pitchFamily="34" charset="0"/>
                <a:ea typeface="Carlito" pitchFamily="34" charset="-122"/>
                <a:cs typeface="Carlito" pitchFamily="34" charset="-120"/>
              </a:rPr>
              <a:t>AST: S</a:t>
            </a:r>
            <a:endParaRPr lang="en-US" sz="1400" dirty="0"/>
          </a:p>
        </p:txBody>
      </p:sp>
      <p:sp>
        <p:nvSpPr>
          <p:cNvPr id="6" name="Text 4"/>
          <p:cNvSpPr/>
          <p:nvPr/>
        </p:nvSpPr>
        <p:spPr>
          <a:xfrm>
            <a:off x="812800" y="2364680"/>
            <a:ext cx="1447800" cy="5207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2637"/>
                </a:solidFill>
                <a:latin typeface="Carlito" pitchFamily="34" charset="0"/>
                <a:ea typeface="Carlito" pitchFamily="34" charset="-122"/>
                <a:cs typeface="Carlito" pitchFamily="34" charset="-120"/>
              </a:rPr>
              <a:t>Genome: R</a:t>
            </a:r>
            <a:endParaRPr lang="en-US" sz="1400" dirty="0"/>
          </a:p>
        </p:txBody>
      </p:sp>
      <p:sp>
        <p:nvSpPr>
          <p:cNvPr id="7" name="Text 5"/>
          <p:cNvSpPr/>
          <p:nvPr/>
        </p:nvSpPr>
        <p:spPr>
          <a:xfrm>
            <a:off x="2286000" y="2009080"/>
            <a:ext cx="2082800" cy="850900"/>
          </a:xfrm>
          <a:prstGeom prst="roundRect">
            <a:avLst>
              <a:gd name="adj" fmla="val 5970"/>
            </a:avLst>
          </a:prstGeom>
          <a:solidFill>
            <a:srgbClr val="E5E8C6"/>
          </a:solidFill>
          <a:ln/>
        </p:spPr>
        <p:txBody>
          <a:bodyPr wrap="square" lIns="137013" tIns="239121" rIns="137013" bIns="213721" rtlCol="0" anchor="t">
            <a:normAutofit/>
          </a:bodyPr>
          <a:lstStyle/>
          <a:p>
            <a:pPr algn="ctr" indent="0" marL="0">
              <a:lnSpc>
                <a:spcPts val="1950"/>
              </a:lnSpc>
              <a:buNone/>
            </a:pPr>
            <a:r>
              <a:rPr lang="en-US" sz="1500" b="1" dirty="0">
                <a:solidFill>
                  <a:srgbClr val="273003"/>
                </a:solidFill>
                <a:latin typeface="Carlito" pitchFamily="34" charset="0"/>
                <a:ea typeface="Carlito" pitchFamily="34" charset="-122"/>
                <a:cs typeface="Carlito" pitchFamily="34" charset="-120"/>
              </a:rPr>
              <a:t>Agree</a:t>
            </a:r>
            <a:endParaRPr lang="en-US" sz="1500" dirty="0"/>
          </a:p>
        </p:txBody>
      </p:sp>
      <p:sp>
        <p:nvSpPr>
          <p:cNvPr id="8" name="Text 6"/>
          <p:cNvSpPr/>
          <p:nvPr/>
        </p:nvSpPr>
        <p:spPr>
          <a:xfrm>
            <a:off x="4445000" y="2009080"/>
            <a:ext cx="2082800" cy="850900"/>
          </a:xfrm>
          <a:prstGeom prst="roundRect">
            <a:avLst>
              <a:gd name="adj" fmla="val 5970"/>
            </a:avLst>
          </a:prstGeom>
          <a:solidFill>
            <a:srgbClr val="FFF1B8"/>
          </a:solidFill>
          <a:ln/>
        </p:spPr>
        <p:txBody>
          <a:bodyPr wrap="square" lIns="137013" tIns="162921" rIns="137013" bIns="137521" rtlCol="0" anchor="t">
            <a:normAutofit/>
          </a:bodyPr>
          <a:lstStyle/>
          <a:p>
            <a:pPr algn="ctr" indent="0" marL="0">
              <a:lnSpc>
                <a:spcPts val="1950"/>
              </a:lnSpc>
              <a:buNone/>
            </a:pPr>
            <a:r>
              <a:rPr lang="en-US" sz="1500" b="1" dirty="0">
                <a:solidFill>
                  <a:srgbClr val="3A322C"/>
                </a:solidFill>
                <a:latin typeface="Carlito" pitchFamily="34" charset="0"/>
                <a:ea typeface="Carlito" pitchFamily="34" charset="-122"/>
                <a:cs typeface="Carlito" pitchFamily="34" charset="-120"/>
              </a:rPr>
              <a:t>Major error</a:t>
            </a:r>
            <a:endParaRPr lang="en-US" sz="1500" dirty="0"/>
          </a:p>
          <a:p>
            <a:pPr algn="ctr" indent="0" marL="0">
              <a:lnSpc>
                <a:spcPts val="1950"/>
              </a:lnSpc>
              <a:buNone/>
            </a:pPr>
            <a:r>
              <a:rPr lang="en-US" sz="1500" dirty="0">
                <a:solidFill>
                  <a:srgbClr val="3A322C"/>
                </a:solidFill>
                <a:latin typeface="Carlito" pitchFamily="34" charset="0"/>
                <a:ea typeface="Carlito" pitchFamily="34" charset="-122"/>
                <a:cs typeface="Carlito" pitchFamily="34" charset="-120"/>
              </a:rPr>
              <a:t>false resistance</a:t>
            </a:r>
            <a:endParaRPr lang="en-US" sz="1500" dirty="0"/>
          </a:p>
        </p:txBody>
      </p:sp>
      <p:sp>
        <p:nvSpPr>
          <p:cNvPr id="9" name="Text 7"/>
          <p:cNvSpPr/>
          <p:nvPr/>
        </p:nvSpPr>
        <p:spPr>
          <a:xfrm>
            <a:off x="812800" y="3291780"/>
            <a:ext cx="1447800" cy="5207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D2637"/>
                </a:solidFill>
                <a:latin typeface="Carlito" pitchFamily="34" charset="0"/>
                <a:ea typeface="Carlito" pitchFamily="34" charset="-122"/>
                <a:cs typeface="Carlito" pitchFamily="34" charset="-120"/>
              </a:rPr>
              <a:t>Genome: S</a:t>
            </a:r>
            <a:endParaRPr lang="en-US" sz="1400" dirty="0"/>
          </a:p>
        </p:txBody>
      </p:sp>
      <p:sp>
        <p:nvSpPr>
          <p:cNvPr id="10" name="Text 8"/>
          <p:cNvSpPr/>
          <p:nvPr/>
        </p:nvSpPr>
        <p:spPr>
          <a:xfrm>
            <a:off x="2286000" y="2936180"/>
            <a:ext cx="2082800" cy="850900"/>
          </a:xfrm>
          <a:prstGeom prst="roundRect">
            <a:avLst>
              <a:gd name="adj" fmla="val 5970"/>
            </a:avLst>
          </a:prstGeom>
          <a:solidFill>
            <a:srgbClr val="891F15"/>
          </a:solidFill>
          <a:ln/>
        </p:spPr>
        <p:txBody>
          <a:bodyPr wrap="square" lIns="137013" tIns="162921" rIns="137013" bIns="137521" rtlCol="0" anchor="t">
            <a:normAutofit/>
          </a:bodyPr>
          <a:lstStyle/>
          <a:p>
            <a:pPr algn="ctr" indent="0" marL="0">
              <a:lnSpc>
                <a:spcPts val="1950"/>
              </a:lnSpc>
              <a:buNone/>
            </a:pPr>
            <a:r>
              <a:rPr lang="en-US" sz="1500" b="1" dirty="0">
                <a:solidFill>
                  <a:srgbClr val="F9F2EA"/>
                </a:solidFill>
                <a:latin typeface="Carlito" pitchFamily="34" charset="0"/>
                <a:ea typeface="Carlito" pitchFamily="34" charset="-122"/>
                <a:cs typeface="Carlito" pitchFamily="34" charset="-120"/>
              </a:rPr>
              <a:t>Very major error</a:t>
            </a:r>
            <a:endParaRPr lang="en-US" sz="1500" dirty="0"/>
          </a:p>
          <a:p>
            <a:pPr algn="ctr" indent="0" marL="0">
              <a:lnSpc>
                <a:spcPts val="1950"/>
              </a:lnSpc>
              <a:buNone/>
            </a:pPr>
            <a:r>
              <a:rPr lang="en-US" sz="1500" dirty="0">
                <a:solidFill>
                  <a:srgbClr val="F9F2EA"/>
                </a:solidFill>
                <a:latin typeface="Carlito" pitchFamily="34" charset="0"/>
                <a:ea typeface="Carlito" pitchFamily="34" charset="-122"/>
                <a:cs typeface="Carlito" pitchFamily="34" charset="-120"/>
              </a:rPr>
              <a:t>missed resistance</a:t>
            </a:r>
            <a:endParaRPr lang="en-US" sz="1500" dirty="0"/>
          </a:p>
        </p:txBody>
      </p:sp>
      <p:sp>
        <p:nvSpPr>
          <p:cNvPr id="11" name="Text 9"/>
          <p:cNvSpPr/>
          <p:nvPr/>
        </p:nvSpPr>
        <p:spPr>
          <a:xfrm>
            <a:off x="4445000" y="2936180"/>
            <a:ext cx="2082800" cy="850900"/>
          </a:xfrm>
          <a:prstGeom prst="roundRect">
            <a:avLst>
              <a:gd name="adj" fmla="val 5970"/>
            </a:avLst>
          </a:prstGeom>
          <a:solidFill>
            <a:srgbClr val="E5E8C6"/>
          </a:solidFill>
          <a:ln/>
        </p:spPr>
        <p:txBody>
          <a:bodyPr wrap="square" lIns="137013" tIns="239121" rIns="137013" bIns="213721" rtlCol="0" anchor="t">
            <a:normAutofit/>
          </a:bodyPr>
          <a:lstStyle/>
          <a:p>
            <a:pPr algn="ctr" indent="0" marL="0">
              <a:lnSpc>
                <a:spcPts val="1950"/>
              </a:lnSpc>
              <a:buNone/>
            </a:pPr>
            <a:r>
              <a:rPr lang="en-US" sz="1500" b="1" dirty="0">
                <a:solidFill>
                  <a:srgbClr val="273003"/>
                </a:solidFill>
                <a:latin typeface="Carlito" pitchFamily="34" charset="0"/>
                <a:ea typeface="Carlito" pitchFamily="34" charset="-122"/>
                <a:cs typeface="Carlito" pitchFamily="34" charset="-120"/>
              </a:rPr>
              <a:t>Agree</a:t>
            </a:r>
            <a:endParaRPr lang="en-US" sz="1500" dirty="0"/>
          </a:p>
        </p:txBody>
      </p:sp>
      <p:sp>
        <p:nvSpPr>
          <p:cNvPr id="12" name="Text 10"/>
          <p:cNvSpPr/>
          <p:nvPr/>
        </p:nvSpPr>
        <p:spPr>
          <a:xfrm>
            <a:off x="6883400" y="1683990"/>
            <a:ext cx="4630674"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322C"/>
                </a:solidFill>
                <a:latin typeface="Carlito" pitchFamily="34" charset="0"/>
                <a:ea typeface="Carlito" pitchFamily="34" charset="-122"/>
                <a:cs typeface="Carlito" pitchFamily="34" charset="-120"/>
              </a:rPr>
              <a:t>Very major error</a:t>
            </a:r>
            <a:r>
              <a:rPr lang="en-US" sz="1400" dirty="0">
                <a:solidFill>
                  <a:srgbClr val="3A322C"/>
                </a:solidFill>
                <a:latin typeface="Carlito" pitchFamily="34" charset="0"/>
                <a:ea typeface="Carlito" pitchFamily="34" charset="-122"/>
                <a:cs typeface="Carlito" pitchFamily="34" charset="-120"/>
              </a:rPr>
              <a:t>: a patient could get a drug that does not work. This is the dangerous one.</a:t>
            </a:r>
            <a:endParaRPr lang="en-US" sz="1400" dirty="0"/>
          </a:p>
        </p:txBody>
      </p:sp>
      <p:sp>
        <p:nvSpPr>
          <p:cNvPr id="13" name="Text 11"/>
          <p:cNvSpPr/>
          <p:nvPr/>
        </p:nvSpPr>
        <p:spPr>
          <a:xfrm>
            <a:off x="6883400" y="2316411"/>
            <a:ext cx="463067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322C"/>
                </a:solidFill>
                <a:latin typeface="Carlito" pitchFamily="34" charset="0"/>
                <a:ea typeface="Carlito" pitchFamily="34" charset="-122"/>
                <a:cs typeface="Carlito" pitchFamily="34" charset="-120"/>
              </a:rPr>
              <a:t>Major error</a:t>
            </a:r>
            <a:r>
              <a:rPr lang="en-US" sz="1400" dirty="0">
                <a:solidFill>
                  <a:srgbClr val="3A322C"/>
                </a:solidFill>
                <a:latin typeface="Carlito" pitchFamily="34" charset="0"/>
                <a:ea typeface="Carlito" pitchFamily="34" charset="-122"/>
                <a:cs typeface="Carlito" pitchFamily="34" charset="-120"/>
              </a:rPr>
              <a:t>: a drug that would work might be withheld.</a:t>
            </a:r>
            <a:endParaRPr lang="en-US" sz="1400" dirty="0"/>
          </a:p>
        </p:txBody>
      </p:sp>
      <p:sp>
        <p:nvSpPr>
          <p:cNvPr id="14" name="Text 12"/>
          <p:cNvSpPr/>
          <p:nvPr/>
        </p:nvSpPr>
        <p:spPr>
          <a:xfrm>
            <a:off x="812800" y="4015680"/>
            <a:ext cx="10566400" cy="944761"/>
          </a:xfrm>
          <a:prstGeom prst="roundRect">
            <a:avLst>
              <a:gd name="adj" fmla="val 8066"/>
            </a:avLst>
          </a:prstGeom>
          <a:solidFill>
            <a:srgbClr val="273003"/>
          </a:solidFill>
          <a:ln/>
        </p:spPr>
        <p:txBody>
          <a:bodyPr wrap="square" lIns="206282" tIns="130082" rIns="0" bIns="104682" rtlCol="0" anchor="t">
            <a:normAutofit/>
          </a:bodyPr>
          <a:lstStyle/>
          <a:p>
            <a:pPr algn="l" indent="0" marL="0">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One row per drug, one column per result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cmp |&gt; count(drug, result) |&gt;</a:t>
            </a:r>
            <a:endParaRPr lang="en-US" sz="1200" dirty="0"/>
          </a:p>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pivot_wider(names_from = result, values_from = n, values_fill = 0)</a:t>
            </a:r>
            <a:endParaRPr lang="en-US" sz="1200" dirty="0"/>
          </a:p>
        </p:txBody>
      </p:sp>
      <p:pic>
        <p:nvPicPr>
          <p:cNvPr id="15"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6"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7" name="Text 1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Exercise: explain the disagreements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83990"/>
            <a:ext cx="10566400" cy="518120"/>
          </a:xfrm>
          <a:prstGeom prst="roundRect">
            <a:avLst>
              <a:gd name="adj" fmla="val 14707"/>
            </a:avLst>
          </a:prstGeom>
          <a:solidFill>
            <a:srgbClr val="273003"/>
          </a:solidFill>
          <a:ln/>
        </p:spPr>
        <p:txBody>
          <a:bodyPr wrap="square" lIns="206282" tIns="130082" rIns="0" bIns="104682" rtlCol="0" anchor="t">
            <a:normAutofit/>
          </a:bodyPr>
          <a:lstStyle/>
          <a:p>
            <a:pPr algn="l" indent="0" marL="0">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cmp |&gt; filter(result != "agree") |&gt; select(sample, drug, genes, genotype, phenotype)</a:t>
            </a:r>
            <a:endParaRPr lang="en-US" sz="1200" dirty="0"/>
          </a:p>
        </p:txBody>
      </p:sp>
      <p:sp>
        <p:nvSpPr>
          <p:cNvPr id="5" name="Text 3"/>
          <p:cNvSpPr/>
          <p:nvPr/>
        </p:nvSpPr>
        <p:spPr>
          <a:xfrm>
            <a:off x="812800" y="2430711"/>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Pick two disagreements. Which of these explains each?</a:t>
            </a:r>
            <a:endParaRPr lang="en-US" sz="1500" dirty="0"/>
          </a:p>
        </p:txBody>
      </p:sp>
      <p:sp>
        <p:nvSpPr>
          <p:cNvPr id="6" name="Shape 4"/>
          <p:cNvSpPr/>
          <p:nvPr/>
        </p:nvSpPr>
        <p:spPr>
          <a:xfrm>
            <a:off x="812800" y="2916486"/>
            <a:ext cx="3420517" cy="1014611"/>
          </a:xfrm>
          <a:prstGeom prst="roundRect">
            <a:avLst>
              <a:gd name="adj" fmla="val 5007"/>
            </a:avLst>
          </a:prstGeom>
          <a:solidFill>
            <a:srgbClr val="FFFFFF"/>
          </a:solidFill>
          <a:ln/>
        </p:spPr>
      </p:sp>
      <p:sp>
        <p:nvSpPr>
          <p:cNvPr id="7" name="Shape 5"/>
          <p:cNvSpPr/>
          <p:nvPr/>
        </p:nvSpPr>
        <p:spPr>
          <a:xfrm>
            <a:off x="812800" y="2916486"/>
            <a:ext cx="3420517" cy="1014611"/>
          </a:xfrm>
          <a:custGeom>
            <a:avLst/>
            <a:gdLst/>
            <a:ahLst/>
            <a:cxnLst/>
            <a:rect l="l" t="t" r="r" b="b"/>
            <a:pathLst>
              <a:path w="3420517"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891F15"/>
          </a:solidFill>
          <a:ln/>
        </p:spPr>
      </p:sp>
      <p:sp>
        <p:nvSpPr>
          <p:cNvPr id="8" name="Text 6"/>
          <p:cNvSpPr/>
          <p:nvPr/>
        </p:nvSpPr>
        <p:spPr>
          <a:xfrm>
            <a:off x="1041400" y="3068886"/>
            <a:ext cx="31045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Low-level resistance</a:t>
            </a:r>
            <a:endParaRPr lang="en-US" sz="1400" dirty="0"/>
          </a:p>
        </p:txBody>
      </p:sp>
      <p:sp>
        <p:nvSpPr>
          <p:cNvPr id="9" name="Text 7"/>
          <p:cNvSpPr/>
          <p:nvPr/>
        </p:nvSpPr>
        <p:spPr>
          <a:xfrm>
            <a:off x="1041400" y="3333006"/>
            <a:ext cx="3104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The gene raises the MIC, but not above the breakpoint.</a:t>
            </a:r>
            <a:endParaRPr lang="en-US" sz="1300" dirty="0"/>
          </a:p>
        </p:txBody>
      </p:sp>
      <p:sp>
        <p:nvSpPr>
          <p:cNvPr id="10" name="Shape 8"/>
          <p:cNvSpPr/>
          <p:nvPr/>
        </p:nvSpPr>
        <p:spPr>
          <a:xfrm>
            <a:off x="4385717" y="2916486"/>
            <a:ext cx="3420517" cy="1014611"/>
          </a:xfrm>
          <a:prstGeom prst="roundRect">
            <a:avLst>
              <a:gd name="adj" fmla="val 5007"/>
            </a:avLst>
          </a:prstGeom>
          <a:solidFill>
            <a:srgbClr val="FFFFFF"/>
          </a:solidFill>
          <a:ln/>
        </p:spPr>
      </p:sp>
      <p:sp>
        <p:nvSpPr>
          <p:cNvPr id="11" name="Shape 9"/>
          <p:cNvSpPr/>
          <p:nvPr/>
        </p:nvSpPr>
        <p:spPr>
          <a:xfrm>
            <a:off x="4385717" y="2916486"/>
            <a:ext cx="3420517" cy="1014611"/>
          </a:xfrm>
          <a:custGeom>
            <a:avLst/>
            <a:gdLst/>
            <a:ahLst/>
            <a:cxnLst/>
            <a:rect l="l" t="t" r="r" b="b"/>
            <a:pathLst>
              <a:path w="3420517"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891F15"/>
          </a:solidFill>
          <a:ln/>
        </p:spPr>
      </p:sp>
      <p:sp>
        <p:nvSpPr>
          <p:cNvPr id="12" name="Text 10"/>
          <p:cNvSpPr/>
          <p:nvPr/>
        </p:nvSpPr>
        <p:spPr>
          <a:xfrm>
            <a:off x="4614317" y="3068886"/>
            <a:ext cx="31045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Porins or efflux</a:t>
            </a:r>
            <a:endParaRPr lang="en-US" sz="1400" dirty="0"/>
          </a:p>
        </p:txBody>
      </p:sp>
      <p:sp>
        <p:nvSpPr>
          <p:cNvPr id="13" name="Text 11"/>
          <p:cNvSpPr/>
          <p:nvPr/>
        </p:nvSpPr>
        <p:spPr>
          <a:xfrm>
            <a:off x="4614317" y="3333006"/>
            <a:ext cx="3104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Resistance without an acquired gene; gene screening misses it.</a:t>
            </a:r>
            <a:endParaRPr lang="en-US" sz="1300" dirty="0"/>
          </a:p>
        </p:txBody>
      </p:sp>
      <p:sp>
        <p:nvSpPr>
          <p:cNvPr id="14" name="Shape 12"/>
          <p:cNvSpPr/>
          <p:nvPr/>
        </p:nvSpPr>
        <p:spPr>
          <a:xfrm>
            <a:off x="7958634" y="2916486"/>
            <a:ext cx="3420566" cy="1014611"/>
          </a:xfrm>
          <a:prstGeom prst="roundRect">
            <a:avLst>
              <a:gd name="adj" fmla="val 5007"/>
            </a:avLst>
          </a:prstGeom>
          <a:solidFill>
            <a:srgbClr val="FFFFFF"/>
          </a:solidFill>
          <a:ln/>
        </p:spPr>
      </p:sp>
      <p:sp>
        <p:nvSpPr>
          <p:cNvPr id="15" name="Shape 13"/>
          <p:cNvSpPr/>
          <p:nvPr/>
        </p:nvSpPr>
        <p:spPr>
          <a:xfrm>
            <a:off x="7958634" y="2916486"/>
            <a:ext cx="3420566" cy="1014611"/>
          </a:xfrm>
          <a:custGeom>
            <a:avLst/>
            <a:gdLst/>
            <a:ahLst/>
            <a:cxnLst/>
            <a:rect l="l" t="t" r="r" b="b"/>
            <a:pathLst>
              <a:path w="3420566"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891F15"/>
          </a:solidFill>
          <a:ln/>
        </p:spPr>
      </p:sp>
      <p:sp>
        <p:nvSpPr>
          <p:cNvPr id="16" name="Text 14"/>
          <p:cNvSpPr/>
          <p:nvPr/>
        </p:nvSpPr>
        <p:spPr>
          <a:xfrm>
            <a:off x="8187234" y="3068886"/>
            <a:ext cx="310459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Truncated gene</a:t>
            </a:r>
            <a:endParaRPr lang="en-US" sz="1400" dirty="0"/>
          </a:p>
        </p:txBody>
      </p:sp>
      <p:sp>
        <p:nvSpPr>
          <p:cNvPr id="17" name="Text 15"/>
          <p:cNvSpPr/>
          <p:nvPr/>
        </p:nvSpPr>
        <p:spPr>
          <a:xfrm>
            <a:off x="8187234" y="3333006"/>
            <a:ext cx="310459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A partial or broken copy is detected but not expressed.</a:t>
            </a:r>
            <a:endParaRPr lang="en-US" sz="1300" dirty="0"/>
          </a:p>
        </p:txBody>
      </p:sp>
      <p:sp>
        <p:nvSpPr>
          <p:cNvPr id="18" name="Shape 16"/>
          <p:cNvSpPr/>
          <p:nvPr/>
        </p:nvSpPr>
        <p:spPr>
          <a:xfrm>
            <a:off x="812800" y="4083496"/>
            <a:ext cx="3420517" cy="1014611"/>
          </a:xfrm>
          <a:prstGeom prst="roundRect">
            <a:avLst>
              <a:gd name="adj" fmla="val 5007"/>
            </a:avLst>
          </a:prstGeom>
          <a:solidFill>
            <a:srgbClr val="FFFFFF"/>
          </a:solidFill>
          <a:ln/>
        </p:spPr>
      </p:sp>
      <p:sp>
        <p:nvSpPr>
          <p:cNvPr id="19" name="Shape 17"/>
          <p:cNvSpPr/>
          <p:nvPr/>
        </p:nvSpPr>
        <p:spPr>
          <a:xfrm>
            <a:off x="812800" y="4083496"/>
            <a:ext cx="3420517" cy="1014611"/>
          </a:xfrm>
          <a:custGeom>
            <a:avLst/>
            <a:gdLst/>
            <a:ahLst/>
            <a:cxnLst/>
            <a:rect l="l" t="t" r="r" b="b"/>
            <a:pathLst>
              <a:path w="3420517"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273003"/>
          </a:solidFill>
          <a:ln/>
        </p:spPr>
      </p:sp>
      <p:sp>
        <p:nvSpPr>
          <p:cNvPr id="20" name="Text 18"/>
          <p:cNvSpPr/>
          <p:nvPr/>
        </p:nvSpPr>
        <p:spPr>
          <a:xfrm>
            <a:off x="1041400" y="4235896"/>
            <a:ext cx="31045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AST error</a:t>
            </a:r>
            <a:endParaRPr lang="en-US" sz="1400" dirty="0"/>
          </a:p>
        </p:txBody>
      </p:sp>
      <p:sp>
        <p:nvSpPr>
          <p:cNvPr id="21" name="Text 19"/>
          <p:cNvSpPr/>
          <p:nvPr/>
        </p:nvSpPr>
        <p:spPr>
          <a:xfrm>
            <a:off x="1041400" y="4500017"/>
            <a:ext cx="3104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Wrong breakpoints, wrong disc, or a mixed culture.</a:t>
            </a:r>
            <a:endParaRPr lang="en-US" sz="1300" dirty="0"/>
          </a:p>
        </p:txBody>
      </p:sp>
      <p:sp>
        <p:nvSpPr>
          <p:cNvPr id="22" name="Shape 20"/>
          <p:cNvSpPr/>
          <p:nvPr/>
        </p:nvSpPr>
        <p:spPr>
          <a:xfrm>
            <a:off x="4385717" y="4083496"/>
            <a:ext cx="3420517" cy="1014611"/>
          </a:xfrm>
          <a:prstGeom prst="roundRect">
            <a:avLst>
              <a:gd name="adj" fmla="val 5007"/>
            </a:avLst>
          </a:prstGeom>
          <a:solidFill>
            <a:srgbClr val="FFFFFF"/>
          </a:solidFill>
          <a:ln/>
        </p:spPr>
      </p:sp>
      <p:sp>
        <p:nvSpPr>
          <p:cNvPr id="23" name="Shape 21"/>
          <p:cNvSpPr/>
          <p:nvPr/>
        </p:nvSpPr>
        <p:spPr>
          <a:xfrm>
            <a:off x="4385717" y="4083496"/>
            <a:ext cx="3420517" cy="1014611"/>
          </a:xfrm>
          <a:custGeom>
            <a:avLst/>
            <a:gdLst/>
            <a:ahLst/>
            <a:cxnLst/>
            <a:rect l="l" t="t" r="r" b="b"/>
            <a:pathLst>
              <a:path w="3420517"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273003"/>
          </a:solidFill>
          <a:ln/>
        </p:spPr>
      </p:sp>
      <p:sp>
        <p:nvSpPr>
          <p:cNvPr id="24" name="Text 22"/>
          <p:cNvSpPr/>
          <p:nvPr/>
        </p:nvSpPr>
        <p:spPr>
          <a:xfrm>
            <a:off x="4614317" y="4235896"/>
            <a:ext cx="31045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Database or version</a:t>
            </a:r>
            <a:endParaRPr lang="en-US" sz="1400" dirty="0"/>
          </a:p>
        </p:txBody>
      </p:sp>
      <p:sp>
        <p:nvSpPr>
          <p:cNvPr id="25" name="Text 23"/>
          <p:cNvSpPr/>
          <p:nvPr/>
        </p:nvSpPr>
        <p:spPr>
          <a:xfrm>
            <a:off x="4614317" y="4500017"/>
            <a:ext cx="3104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A newer database, or another tool, calls it differently.</a:t>
            </a:r>
            <a:endParaRPr lang="en-US" sz="1300" dirty="0"/>
          </a:p>
        </p:txBody>
      </p:sp>
      <p:sp>
        <p:nvSpPr>
          <p:cNvPr id="26" name="Shape 24"/>
          <p:cNvSpPr/>
          <p:nvPr/>
        </p:nvSpPr>
        <p:spPr>
          <a:xfrm>
            <a:off x="7958634" y="4083496"/>
            <a:ext cx="3420566" cy="1014611"/>
          </a:xfrm>
          <a:prstGeom prst="roundRect">
            <a:avLst>
              <a:gd name="adj" fmla="val 5007"/>
            </a:avLst>
          </a:prstGeom>
          <a:solidFill>
            <a:srgbClr val="FFFFFF"/>
          </a:solidFill>
          <a:ln/>
        </p:spPr>
      </p:sp>
      <p:sp>
        <p:nvSpPr>
          <p:cNvPr id="27" name="Shape 25"/>
          <p:cNvSpPr/>
          <p:nvPr/>
        </p:nvSpPr>
        <p:spPr>
          <a:xfrm>
            <a:off x="7958634" y="4083496"/>
            <a:ext cx="3420566" cy="1014611"/>
          </a:xfrm>
          <a:custGeom>
            <a:avLst/>
            <a:gdLst/>
            <a:ahLst/>
            <a:cxnLst/>
            <a:rect l="l" t="t" r="r" b="b"/>
            <a:pathLst>
              <a:path w="3420566" h="1014611">
                <a:moveTo>
                  <a:pt x="50800" y="1014611"/>
                </a:moveTo>
                <a:lnTo>
                  <a:pt x="50800" y="1014611"/>
                </a:lnTo>
                <a:arcTo hR="50800" wR="50800" stAng="5400000" swAng="5400000"/>
                <a:lnTo>
                  <a:pt x="0" y="50800"/>
                </a:lnTo>
                <a:arcTo hR="50800" wR="50800" stAng="10800000" swAng="5400000"/>
                <a:lnTo>
                  <a:pt x="50800" y="0"/>
                </a:lnTo>
                <a:lnTo>
                  <a:pt x="50800" y="1014611"/>
                </a:lnTo>
                <a:close/>
              </a:path>
            </a:pathLst>
          </a:custGeom>
          <a:solidFill>
            <a:srgbClr val="273003"/>
          </a:solidFill>
          <a:ln/>
        </p:spPr>
      </p:sp>
      <p:sp>
        <p:nvSpPr>
          <p:cNvPr id="28" name="Text 26"/>
          <p:cNvSpPr/>
          <p:nvPr/>
        </p:nvSpPr>
        <p:spPr>
          <a:xfrm>
            <a:off x="8187234" y="4235896"/>
            <a:ext cx="310459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Our rule</a:t>
            </a:r>
            <a:endParaRPr lang="en-US" sz="1400" dirty="0"/>
          </a:p>
        </p:txBody>
      </p:sp>
      <p:sp>
        <p:nvSpPr>
          <p:cNvPr id="29" name="Text 27"/>
          <p:cNvSpPr/>
          <p:nvPr/>
        </p:nvSpPr>
        <p:spPr>
          <a:xfrm>
            <a:off x="8187234" y="4500017"/>
            <a:ext cx="310459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A simple text match on Subclass is not an expert rule.</a:t>
            </a:r>
            <a:endParaRPr lang="en-US" sz="1300" dirty="0"/>
          </a:p>
        </p:txBody>
      </p:sp>
      <p:pic>
        <p:nvPicPr>
          <p:cNvPr id="30"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31" name="Text 2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32" name="Text 2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7300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2EA"/>
                </a:solidFill>
                <a:latin typeface="Carlito" pitchFamily="34" charset="0"/>
                <a:ea typeface="Carlito" pitchFamily="34" charset="-122"/>
                <a:cs typeface="Carlito" pitchFamily="34" charset="-120"/>
              </a:rPr>
              <a:t>Two cases to look at</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sp>
      <p:sp>
        <p:nvSpPr>
          <p:cNvPr id="4" name="Text 2"/>
          <p:cNvSpPr/>
          <p:nvPr/>
        </p:nvSpPr>
        <p:spPr>
          <a:xfrm>
            <a:off x="812800" y="1760190"/>
            <a:ext cx="580796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AMIKACIN</a:t>
            </a:r>
            <a:endParaRPr lang="en-US" sz="1200" dirty="0"/>
          </a:p>
        </p:txBody>
      </p:sp>
      <p:sp>
        <p:nvSpPr>
          <p:cNvPr id="5" name="Text 3"/>
          <p:cNvSpPr/>
          <p:nvPr/>
        </p:nvSpPr>
        <p:spPr>
          <a:xfrm>
            <a:off x="812800" y="2100511"/>
            <a:ext cx="5807964" cy="796925"/>
          </a:xfrm>
          <a:prstGeom prst="rect">
            <a:avLst/>
          </a:prstGeom>
          <a:noFill/>
          <a:ln/>
        </p:spPr>
        <p:txBody>
          <a:bodyPr wrap="square" lIns="0" tIns="0" rIns="0" bIns="0" rtlCol="0" anchor="t">
            <a:normAutofit/>
          </a:bodyPr>
          <a:lstStyle/>
          <a:p>
            <a:pPr algn="l" indent="0" marL="0">
              <a:lnSpc>
                <a:spcPts val="2025"/>
              </a:lnSpc>
              <a:buNone/>
            </a:pPr>
            <a:r>
              <a:rPr lang="en-US" sz="1500" i="1" dirty="0">
                <a:solidFill>
                  <a:srgbClr val="F9F2EA"/>
                </a:solidFill>
                <a:latin typeface="Carlito" pitchFamily="34" charset="0"/>
                <a:ea typeface="Carlito" pitchFamily="34" charset="-122"/>
                <a:cs typeface="Carlito" pitchFamily="34" charset="-120"/>
              </a:rPr>
              <a:t>aac(6')-Ib</a:t>
            </a:r>
            <a:r>
              <a:rPr lang="en-US" sz="1500" dirty="0">
                <a:solidFill>
                  <a:srgbClr val="F9F2EA"/>
                </a:solidFill>
                <a:latin typeface="Carlito" pitchFamily="34" charset="0"/>
                <a:ea typeface="Carlito" pitchFamily="34" charset="-122"/>
                <a:cs typeface="Carlito" pitchFamily="34" charset="-120"/>
              </a:rPr>
              <a:t> and its </a:t>
            </a:r>
            <a:r>
              <a:rPr lang="en-US" sz="1500" i="1" dirty="0">
                <a:solidFill>
                  <a:srgbClr val="F9F2EA"/>
                </a:solidFill>
                <a:latin typeface="Carlito" pitchFamily="34" charset="0"/>
                <a:ea typeface="Carlito" pitchFamily="34" charset="-122"/>
                <a:cs typeface="Carlito" pitchFamily="34" charset="-120"/>
              </a:rPr>
              <a:t>-cr</a:t>
            </a:r>
            <a:r>
              <a:rPr lang="en-US" sz="1500" dirty="0">
                <a:solidFill>
                  <a:srgbClr val="F9F2EA"/>
                </a:solidFill>
                <a:latin typeface="Carlito" pitchFamily="34" charset="0"/>
                <a:ea typeface="Carlito" pitchFamily="34" charset="-122"/>
                <a:cs typeface="Carlito" pitchFamily="34" charset="-120"/>
              </a:rPr>
              <a:t> variant, common in CTX-M-15 lineages, modify amikacin, but often not enough to cross the breakpoint. Expect </a:t>
            </a:r>
            <a:r>
              <a:rPr lang="en-US" sz="1500" b="1" dirty="0">
                <a:solidFill>
                  <a:srgbClr val="F9F2EA"/>
                </a:solidFill>
                <a:latin typeface="Carlito" pitchFamily="34" charset="0"/>
                <a:ea typeface="Carlito" pitchFamily="34" charset="-122"/>
                <a:cs typeface="Carlito" pitchFamily="34" charset="-120"/>
              </a:rPr>
              <a:t>major errors</a:t>
            </a:r>
            <a:r>
              <a:rPr lang="en-US" sz="1500" dirty="0">
                <a:solidFill>
                  <a:srgbClr val="F9F2EA"/>
                </a:solidFill>
                <a:latin typeface="Carlito" pitchFamily="34" charset="0"/>
                <a:ea typeface="Carlito" pitchFamily="34" charset="-122"/>
                <a:cs typeface="Carlito" pitchFamily="34" charset="-120"/>
              </a:rPr>
              <a:t>.</a:t>
            </a:r>
            <a:endParaRPr lang="en-US" sz="1500" dirty="0"/>
          </a:p>
        </p:txBody>
      </p:sp>
      <p:sp>
        <p:nvSpPr>
          <p:cNvPr id="6" name="Text 4"/>
          <p:cNvSpPr/>
          <p:nvPr/>
        </p:nvSpPr>
        <p:spPr>
          <a:xfrm>
            <a:off x="812800" y="2999036"/>
            <a:ext cx="580796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DE2B0"/>
                </a:solidFill>
                <a:latin typeface="Carlito" pitchFamily="34" charset="0"/>
                <a:ea typeface="Carlito" pitchFamily="34" charset="-122"/>
                <a:cs typeface="Carlito" pitchFamily="34" charset="-120"/>
              </a:rPr>
              <a:t>High-level amikacin resistance usually comes from 16S rRNA methylases (</a:t>
            </a:r>
            <a:r>
              <a:rPr lang="en-US" sz="1500" i="1" dirty="0">
                <a:solidFill>
                  <a:srgbClr val="DDE2B0"/>
                </a:solidFill>
                <a:latin typeface="Carlito" pitchFamily="34" charset="0"/>
                <a:ea typeface="Carlito" pitchFamily="34" charset="-122"/>
                <a:cs typeface="Carlito" pitchFamily="34" charset="-120"/>
              </a:rPr>
              <a:t>armA</a:t>
            </a:r>
            <a:r>
              <a:rPr lang="en-US" sz="1500" dirty="0">
                <a:solidFill>
                  <a:srgbClr val="DDE2B0"/>
                </a:solidFill>
                <a:latin typeface="Carlito" pitchFamily="34" charset="0"/>
                <a:ea typeface="Carlito" pitchFamily="34" charset="-122"/>
                <a:cs typeface="Carlito" pitchFamily="34" charset="-120"/>
              </a:rPr>
              <a:t>, </a:t>
            </a:r>
            <a:r>
              <a:rPr lang="en-US" sz="1500" i="1" dirty="0">
                <a:solidFill>
                  <a:srgbClr val="DDE2B0"/>
                </a:solidFill>
                <a:latin typeface="Carlito" pitchFamily="34" charset="0"/>
                <a:ea typeface="Carlito" pitchFamily="34" charset="-122"/>
                <a:cs typeface="Carlito" pitchFamily="34" charset="-120"/>
              </a:rPr>
              <a:t>rmtB</a:t>
            </a:r>
            <a:r>
              <a:rPr lang="en-US" sz="1500" dirty="0">
                <a:solidFill>
                  <a:srgbClr val="DDE2B0"/>
                </a:solidFill>
                <a:latin typeface="Carlito" pitchFamily="34" charset="0"/>
                <a:ea typeface="Carlito" pitchFamily="34" charset="-122"/>
                <a:cs typeface="Carlito" pitchFamily="34" charset="-120"/>
              </a:rPr>
              <a:t>).</a:t>
            </a:r>
            <a:endParaRPr lang="en-US" sz="1500" dirty="0"/>
          </a:p>
        </p:txBody>
      </p:sp>
      <p:sp>
        <p:nvSpPr>
          <p:cNvPr id="7" name="Text 5"/>
          <p:cNvSpPr/>
          <p:nvPr/>
        </p:nvSpPr>
        <p:spPr>
          <a:xfrm>
            <a:off x="812800" y="3640386"/>
            <a:ext cx="5807964"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9F2EA"/>
                </a:solidFill>
                <a:latin typeface="Carlito" pitchFamily="34" charset="0"/>
                <a:ea typeface="Carlito" pitchFamily="34" charset="-122"/>
                <a:cs typeface="Carlito" pitchFamily="34" charset="-120"/>
              </a:rPr>
              <a:t>BHB7VE</a:t>
            </a:r>
            <a:r>
              <a:rPr lang="en-US" sz="1500" dirty="0">
                <a:solidFill>
                  <a:srgbClr val="F9F2EA"/>
                </a:solidFill>
                <a:latin typeface="Carlito" pitchFamily="34" charset="0"/>
                <a:ea typeface="Carlito" pitchFamily="34" charset="-122"/>
                <a:cs typeface="Carlito" pitchFamily="34" charset="-120"/>
              </a:rPr>
              <a:t> (ST39, NDM-1) is amikacin-resistant by AST. Which genes could explain it?</a:t>
            </a:r>
            <a:endParaRPr lang="en-US" sz="1500" dirty="0"/>
          </a:p>
        </p:txBody>
      </p:sp>
      <p:sp>
        <p:nvSpPr>
          <p:cNvPr id="8" name="Shape 6"/>
          <p:cNvSpPr/>
          <p:nvPr/>
        </p:nvSpPr>
        <p:spPr>
          <a:xfrm>
            <a:off x="6807200" y="1760190"/>
            <a:ext cx="4572000" cy="2467570"/>
          </a:xfrm>
          <a:prstGeom prst="roundRect">
            <a:avLst>
              <a:gd name="adj" fmla="val 3088"/>
            </a:avLst>
          </a:prstGeom>
          <a:solidFill>
            <a:srgbClr val="FFCE00"/>
          </a:solidFill>
          <a:ln/>
        </p:spPr>
      </p:sp>
      <p:sp>
        <p:nvSpPr>
          <p:cNvPr id="9" name="Text 7"/>
          <p:cNvSpPr/>
          <p:nvPr/>
        </p:nvSpPr>
        <p:spPr>
          <a:xfrm>
            <a:off x="7061200" y="1988790"/>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D2637"/>
                </a:solidFill>
                <a:latin typeface="Carlito" pitchFamily="34" charset="0"/>
                <a:ea typeface="Carlito" pitchFamily="34" charset="-122"/>
                <a:cs typeface="Carlito" pitchFamily="34" charset="-120"/>
              </a:rPr>
              <a:t>THE TWO NDM-1 ISOLATES</a:t>
            </a:r>
            <a:endParaRPr lang="en-US" sz="1200" dirty="0"/>
          </a:p>
        </p:txBody>
      </p:sp>
      <p:sp>
        <p:nvSpPr>
          <p:cNvPr id="10" name="Text 8"/>
          <p:cNvSpPr/>
          <p:nvPr/>
        </p:nvSpPr>
        <p:spPr>
          <a:xfrm>
            <a:off x="7061200" y="2329111"/>
            <a:ext cx="418592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A322C"/>
                </a:solidFill>
                <a:latin typeface="Carlito" pitchFamily="34" charset="0"/>
                <a:ea typeface="Carlito" pitchFamily="34" charset="-122"/>
                <a:cs typeface="Carlito" pitchFamily="34" charset="-120"/>
              </a:rPr>
              <a:t>BHB7VE</a:t>
            </a:r>
            <a:r>
              <a:rPr lang="en-US" sz="1500" dirty="0">
                <a:solidFill>
                  <a:srgbClr val="3A322C"/>
                </a:solidFill>
                <a:latin typeface="Carlito" pitchFamily="34" charset="0"/>
                <a:ea typeface="Carlito" pitchFamily="34" charset="-122"/>
                <a:cs typeface="Carlito" pitchFamily="34" charset="-120"/>
              </a:rPr>
              <a:t> has no meropenem result; </a:t>
            </a:r>
            <a:r>
              <a:rPr lang="en-US" sz="1500" b="1" dirty="0">
                <a:solidFill>
                  <a:srgbClr val="3A322C"/>
                </a:solidFill>
                <a:latin typeface="Carlito" pitchFamily="34" charset="0"/>
                <a:ea typeface="Carlito" pitchFamily="34" charset="-122"/>
                <a:cs typeface="Carlito" pitchFamily="34" charset="-120"/>
              </a:rPr>
              <a:t>CES1C7</a:t>
            </a:r>
            <a:r>
              <a:rPr lang="en-US" sz="1500" dirty="0">
                <a:solidFill>
                  <a:srgbClr val="3A322C"/>
                </a:solidFill>
                <a:latin typeface="Carlito" pitchFamily="34" charset="0"/>
                <a:ea typeface="Carlito" pitchFamily="34" charset="-122"/>
                <a:cs typeface="Carlito" pitchFamily="34" charset="-120"/>
              </a:rPr>
              <a:t> has no AST at all.</a:t>
            </a:r>
            <a:endParaRPr lang="en-US" sz="1500" dirty="0"/>
          </a:p>
        </p:txBody>
      </p:sp>
      <p:sp>
        <p:nvSpPr>
          <p:cNvPr id="11" name="Text 9"/>
          <p:cNvSpPr/>
          <p:nvPr/>
        </p:nvSpPr>
        <p:spPr>
          <a:xfrm>
            <a:off x="7061200" y="2970461"/>
            <a:ext cx="4185920"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The genome is the only evidence of carbapenem resistance. A carbapenemase gene in a neonatal isolate should trigger </a:t>
            </a:r>
            <a:r>
              <a:rPr lang="en-US" sz="1500" b="1" dirty="0">
                <a:solidFill>
                  <a:srgbClr val="3A322C"/>
                </a:solidFill>
                <a:latin typeface="Carlito" pitchFamily="34" charset="0"/>
                <a:ea typeface="Carlito" pitchFamily="34" charset="-122"/>
                <a:cs typeface="Carlito" pitchFamily="34" charset="-120"/>
              </a:rPr>
              <a:t>phenotypic confirmation</a:t>
            </a:r>
            <a:r>
              <a:rPr lang="en-US" sz="1500" dirty="0">
                <a:solidFill>
                  <a:srgbClr val="3A322C"/>
                </a:solidFill>
                <a:latin typeface="Carlito" pitchFamily="34" charset="0"/>
                <a:ea typeface="Carlito" pitchFamily="34" charset="-122"/>
                <a:cs typeface="Carlito" pitchFamily="34" charset="-120"/>
              </a:rPr>
              <a:t> and an </a:t>
            </a:r>
            <a:r>
              <a:rPr lang="en-US" sz="1500" b="1" dirty="0">
                <a:solidFill>
                  <a:srgbClr val="3A322C"/>
                </a:solidFill>
                <a:latin typeface="Carlito" pitchFamily="34" charset="0"/>
                <a:ea typeface="Carlito" pitchFamily="34" charset="-122"/>
                <a:cs typeface="Carlito" pitchFamily="34" charset="-120"/>
              </a:rPr>
              <a:t>infection-control alert</a:t>
            </a:r>
            <a:r>
              <a:rPr lang="en-US" sz="1500" dirty="0">
                <a:solidFill>
                  <a:srgbClr val="3A322C"/>
                </a:solidFill>
                <a:latin typeface="Carlito" pitchFamily="34" charset="0"/>
                <a:ea typeface="Carlito" pitchFamily="34" charset="-122"/>
                <a:cs typeface="Carlito" pitchFamily="34" charset="-120"/>
              </a:rPr>
              <a:t>, whatever the AST shows.</a:t>
            </a:r>
            <a:endParaRPr lang="en-US" sz="1500" dirty="0"/>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7300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448800" y="609600"/>
            <a:ext cx="2743200" cy="5600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C2CA6E"/>
                </a:solidFill>
                <a:latin typeface="Carlito" pitchFamily="34" charset="0"/>
                <a:ea typeface="Carlito" pitchFamily="34" charset="-122"/>
                <a:cs typeface="Carlito" pitchFamily="34" charset="-120"/>
              </a:rPr>
              <a:t>SESSION 2 · 11:00–12:30 · MODULE 4</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9F2EA"/>
                </a:solidFill>
                <a:latin typeface="Carlito" pitchFamily="34" charset="0"/>
                <a:ea typeface="Carlito" pitchFamily="34" charset="-122"/>
                <a:cs typeface="Carlito" pitchFamily="34" charset="-120"/>
              </a:rPr>
              <a:t>From genes to empiric therapy</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DE2B0"/>
                </a:solidFill>
                <a:latin typeface="Carlito" pitchFamily="34" charset="0"/>
                <a:ea typeface="Carlito" pitchFamily="34" charset="-122"/>
                <a:cs typeface="Carlito" pitchFamily="34" charset="-120"/>
              </a:rPr>
              <a:t>How often would the WHO regimens for neonatal sepsis fail?</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Which prediction decides each regimen?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2330450"/>
        </p:xfrm>
        <a:graphic>
          <a:graphicData uri="http://schemas.openxmlformats.org/drawingml/2006/table">
            <a:tbl>
              <a:tblPr/>
              <a:tblGrid>
                <a:gridCol w="3588258"/>
                <a:gridCol w="2321814"/>
                <a:gridCol w="4643628"/>
              </a:tblGrid>
              <a:tr h="412750">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Regimen</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Used as</a:t>
                      </a:r>
                      <a:endParaRPr lang="en-US" sz="1500" dirty="0">
                        <a:latin typeface="Carlito" charset="0"/>
                        <a:ea typeface="Carlito" charset="0"/>
                        <a:cs typeface="Carlito" charset="0"/>
                      </a:endParaRPr>
                    </a:p>
                  </a:txBody>
                  <a:tcPr marL="66675" marR="66675" marT="66675" marB="6667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Fails if predicted R to</a:t>
                      </a:r>
                      <a:endParaRPr lang="en-US" sz="1500" dirty="0">
                        <a:latin typeface="Carlito" charset="0"/>
                        <a:ea typeface="Carlito" charset="0"/>
                        <a:cs typeface="Carlito" charset="0"/>
                      </a:endParaRPr>
                    </a:p>
                  </a:txBody>
                  <a:tcPr marL="66675" marR="66675" marT="66675" marB="6667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4127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Ampicillin + gentamicin</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WHO first line</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Gentamicin (ampicillin is intrinsic R in KpSC)</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4127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Third-generation cephalosporin</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WHO second line</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Ceftriaxone (ESBL or carbapenemase)</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4127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Meropenem</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Reserve</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Meropenem (carbapenemase)</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6794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Amikacin</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Alternative aminoglycoside</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Amikacin</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sp>
        <p:nvSpPr>
          <p:cNvPr id="5" name="Shape 2"/>
          <p:cNvSpPr/>
          <p:nvPr/>
        </p:nvSpPr>
        <p:spPr>
          <a:xfrm>
            <a:off x="812800" y="4306540"/>
            <a:ext cx="10566400" cy="711200"/>
          </a:xfrm>
          <a:prstGeom prst="roundRect">
            <a:avLst>
              <a:gd name="adj" fmla="val 10714"/>
            </a:avLst>
          </a:prstGeom>
          <a:solidFill>
            <a:srgbClr val="273003"/>
          </a:solidFill>
          <a:ln/>
        </p:spPr>
      </p:sp>
      <p:pic>
        <p:nvPicPr>
          <p:cNvPr id="6" name="Image 0" descr="Lightbulb">    </p:cNvPr>
          <p:cNvPicPr>
            <a:picLocks noChangeAspect="1"/>
          </p:cNvPicPr>
          <p:nvPr/>
        </p:nvPicPr>
        <p:blipFill>
          <a:blip r:embed="rId1"/>
          <a:srcRect l="0" r="0" t="0" b="0"/>
          <a:stretch/>
        </p:blipFill>
        <p:spPr>
          <a:xfrm>
            <a:off x="1066800" y="4509740"/>
            <a:ext cx="304800" cy="304800"/>
          </a:xfrm>
          <a:prstGeom prst="rect">
            <a:avLst/>
          </a:prstGeom>
        </p:spPr>
      </p:pic>
      <p:sp>
        <p:nvSpPr>
          <p:cNvPr id="7" name="Text 3"/>
          <p:cNvSpPr/>
          <p:nvPr/>
        </p:nvSpPr>
        <p:spPr>
          <a:xfrm>
            <a:off x="1524000" y="4533553"/>
            <a:ext cx="98552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9F2EA"/>
                </a:solidFill>
                <a:latin typeface="Carlito" pitchFamily="34" charset="0"/>
                <a:ea typeface="Carlito" pitchFamily="34" charset="-122"/>
                <a:cs typeface="Carlito" pitchFamily="34" charset="-120"/>
              </a:rPr>
              <a:t>Against </a:t>
            </a:r>
            <a:r>
              <a:rPr lang="en-US" sz="1500" i="1" dirty="0">
                <a:solidFill>
                  <a:srgbClr val="F9F2EA"/>
                </a:solidFill>
                <a:latin typeface="Carlito" pitchFamily="34" charset="0"/>
                <a:ea typeface="Carlito" pitchFamily="34" charset="-122"/>
                <a:cs typeface="Carlito" pitchFamily="34" charset="-120"/>
              </a:rPr>
              <a:t>K. pneumoniae</a:t>
            </a:r>
            <a:r>
              <a:rPr lang="en-US" sz="1500" dirty="0">
                <a:solidFill>
                  <a:srgbClr val="F9F2EA"/>
                </a:solidFill>
                <a:latin typeface="Carlito" pitchFamily="34" charset="0"/>
                <a:ea typeface="Carlito" pitchFamily="34" charset="-122"/>
                <a:cs typeface="Carlito" pitchFamily="34" charset="-120"/>
              </a:rPr>
              <a:t>, first-line treatment rests on </a:t>
            </a:r>
            <a:r>
              <a:rPr lang="en-US" sz="1500" b="1" dirty="0">
                <a:solidFill>
                  <a:srgbClr val="F9F2EA"/>
                </a:solidFill>
                <a:latin typeface="Carlito" pitchFamily="34" charset="0"/>
                <a:ea typeface="Carlito" pitchFamily="34" charset="-122"/>
                <a:cs typeface="Carlito" pitchFamily="34" charset="-120"/>
              </a:rPr>
              <a:t>gentamicin alone</a:t>
            </a:r>
            <a:r>
              <a:rPr lang="en-US" sz="1500" dirty="0">
                <a:solidFill>
                  <a:srgbClr val="F9F2EA"/>
                </a:solidFill>
                <a:latin typeface="Carlito" pitchFamily="34" charset="0"/>
                <a:ea typeface="Carlito" pitchFamily="34" charset="-122"/>
                <a:cs typeface="Carlito" pitchFamily="34" charset="-120"/>
              </a:rPr>
              <a:t>: an acquired </a:t>
            </a:r>
            <a:r>
              <a:rPr lang="en-US" sz="1500" i="1" dirty="0">
                <a:solidFill>
                  <a:srgbClr val="F9F2EA"/>
                </a:solidFill>
                <a:latin typeface="Carlito" pitchFamily="34" charset="0"/>
                <a:ea typeface="Carlito" pitchFamily="34" charset="-122"/>
                <a:cs typeface="Carlito" pitchFamily="34" charset="-120"/>
              </a:rPr>
              <a:t>aac(3)</a:t>
            </a:r>
            <a:r>
              <a:rPr lang="en-US" sz="1500" dirty="0">
                <a:solidFill>
                  <a:srgbClr val="F9F2EA"/>
                </a:solidFill>
                <a:latin typeface="Carlito" pitchFamily="34" charset="0"/>
                <a:ea typeface="Carlito" pitchFamily="34" charset="-122"/>
                <a:cs typeface="Carlito" pitchFamily="34" charset="-120"/>
              </a:rPr>
              <a:t> gene removes it.</a:t>
            </a:r>
            <a:endParaRPr lang="en-US" sz="1500" dirty="0"/>
          </a:p>
        </p:txBody>
      </p:sp>
      <p:pic>
        <p:nvPicPr>
          <p:cNvPr id="8" name="Image 1" descr="ILRI and CGIAR logos">    </p:cNvPr>
          <p:cNvPicPr>
            <a:picLocks noChangeAspect="1"/>
          </p:cNvPicPr>
          <p:nvPr/>
        </p:nvPicPr>
        <p:blipFill>
          <a:blip r:embed="rId2"/>
          <a:srcRect l="-56" r="-56" t="0" b="0"/>
          <a:stretch/>
        </p:blipFill>
        <p:spPr>
          <a:xfrm>
            <a:off x="10033000" y="254000"/>
            <a:ext cx="1346200" cy="381000"/>
          </a:xfrm>
          <a:prstGeom prst="rect">
            <a:avLst/>
          </a:prstGeom>
        </p:spPr>
      </p:pic>
      <p:sp>
        <p:nvSpPr>
          <p:cNvPr id="9"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0"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R: predicted regimen failure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58590"/>
            <a:ext cx="6604000" cy="4007941"/>
          </a:xfrm>
          <a:prstGeom prst="roundRect">
            <a:avLst>
              <a:gd name="adj" fmla="val 1901"/>
            </a:avLst>
          </a:prstGeom>
          <a:solidFill>
            <a:srgbClr val="273003"/>
          </a:solidFill>
          <a:ln/>
        </p:spPr>
        <p:txBody>
          <a:bodyPr wrap="square" lIns="206282" tIns="130082" rIns="21878" bIns="104682" rtlCol="0" anchor="t">
            <a:normAutofit/>
          </a:bodyPr>
          <a:lstStyle/>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regimen &lt;- pred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select(sample, drug, genotype)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pivot_wider(names_from = drug, values_from = genotype)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transmute(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sample,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`Ampicillin + gentamicin` = Gentamicin,</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`Third-generation cephalosporin` = Ceftriaxone,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Meropenem,</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Amikacin</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a:t>
            </a:r>
            <a:endParaRPr lang="en-US" sz="1200" dirty="0"/>
          </a:p>
          <a:p>
            <a:pPr algn="l" indent="0" marL="0">
              <a:lnSpc>
                <a:spcPts val="1620"/>
              </a:lnSpc>
              <a:buNone/>
            </a:pP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regimen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pivot_longer(-sample, names_to = "regimen",</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values_to = "predicted")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group_by(regimen) |&gt;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summarise(n = n(),</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predicted_failure = sum(predicted == "R"),</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percent = round(100 * predicted_failure / n))</a:t>
            </a:r>
            <a:endParaRPr lang="en-US" sz="1200" dirty="0"/>
          </a:p>
        </p:txBody>
      </p:sp>
      <p:sp>
        <p:nvSpPr>
          <p:cNvPr id="5" name="Text 3"/>
          <p:cNvSpPr/>
          <p:nvPr/>
        </p:nvSpPr>
        <p:spPr>
          <a:xfrm>
            <a:off x="7670800" y="1658590"/>
            <a:ext cx="381965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pivot_wider()</a:t>
            </a:r>
            <a:r>
              <a:rPr lang="en-US" sz="1300" dirty="0">
                <a:solidFill>
                  <a:srgbClr val="3A322C"/>
                </a:solidFill>
                <a:latin typeface="Carlito" pitchFamily="34" charset="0"/>
                <a:ea typeface="Carlito" pitchFamily="34" charset="-122"/>
                <a:cs typeface="Carlito" pitchFamily="34" charset="-120"/>
              </a:rPr>
              <a:t>: one row per isolate, one column per drug.</a:t>
            </a:r>
            <a:endParaRPr lang="en-US" sz="1300" dirty="0"/>
          </a:p>
        </p:txBody>
      </p:sp>
      <p:sp>
        <p:nvSpPr>
          <p:cNvPr id="6" name="Text 4"/>
          <p:cNvSpPr/>
          <p:nvPr/>
        </p:nvSpPr>
        <p:spPr>
          <a:xfrm>
            <a:off x="7670800" y="2231281"/>
            <a:ext cx="381965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transmute()</a:t>
            </a:r>
            <a:r>
              <a:rPr lang="en-US" sz="1300" dirty="0">
                <a:solidFill>
                  <a:srgbClr val="3A322C"/>
                </a:solidFill>
                <a:latin typeface="Carlito" pitchFamily="34" charset="0"/>
                <a:ea typeface="Carlito" pitchFamily="34" charset="-122"/>
                <a:cs typeface="Carlito" pitchFamily="34" charset="-120"/>
              </a:rPr>
              <a:t>: renames drugs to regimens and keeps only those columns. Back-ticks allow spaces in names.</a:t>
            </a:r>
            <a:endParaRPr lang="en-US" sz="1300" dirty="0"/>
          </a:p>
        </p:txBody>
      </p:sp>
      <p:sp>
        <p:nvSpPr>
          <p:cNvPr id="7" name="Text 5"/>
          <p:cNvSpPr/>
          <p:nvPr/>
        </p:nvSpPr>
        <p:spPr>
          <a:xfrm>
            <a:off x="7670800" y="2803971"/>
            <a:ext cx="3819652" cy="69393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pivot_longer()</a:t>
            </a:r>
            <a:r>
              <a:rPr lang="en-US" sz="1300" dirty="0">
                <a:solidFill>
                  <a:srgbClr val="3A322C"/>
                </a:solidFill>
                <a:latin typeface="Carlito" pitchFamily="34" charset="0"/>
                <a:ea typeface="Carlito" pitchFamily="34" charset="-122"/>
                <a:cs typeface="Carlito" pitchFamily="34" charset="-120"/>
              </a:rPr>
              <a:t> then </a:t>
            </a:r>
            <a:r>
              <a:rPr lang="en-US" sz="1300" b="1" dirty="0">
                <a:solidFill>
                  <a:srgbClr val="3A322C"/>
                </a:solidFill>
                <a:latin typeface="Carlito" pitchFamily="34" charset="0"/>
                <a:ea typeface="Carlito" pitchFamily="34" charset="-122"/>
                <a:cs typeface="Carlito" pitchFamily="34" charset="-120"/>
              </a:rPr>
              <a:t>summarise()</a:t>
            </a:r>
            <a:r>
              <a:rPr lang="en-US" sz="1300" dirty="0">
                <a:solidFill>
                  <a:srgbClr val="3A322C"/>
                </a:solidFill>
                <a:latin typeface="Carlito" pitchFamily="34" charset="0"/>
                <a:ea typeface="Carlito" pitchFamily="34" charset="-122"/>
                <a:cs typeface="Carlito" pitchFamily="34" charset="-120"/>
              </a:rPr>
              <a:t>: per regimen, the number of isolates, how many are predicted R, and the percentage.</a:t>
            </a:r>
            <a:endParaRPr lang="en-US" sz="1300" dirty="0"/>
          </a:p>
        </p:txBody>
      </p:sp>
      <p:sp>
        <p:nvSpPr>
          <p:cNvPr id="8" name="Text 6"/>
          <p:cNvSpPr/>
          <p:nvPr/>
        </p:nvSpPr>
        <p:spPr>
          <a:xfrm>
            <a:off x="7670800" y="3599507"/>
            <a:ext cx="381965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891F15"/>
                </a:solidFill>
                <a:latin typeface="Carlito" pitchFamily="34" charset="0"/>
                <a:ea typeface="Carlito" pitchFamily="34" charset="-122"/>
                <a:cs typeface="Carlito" pitchFamily="34" charset="-120"/>
              </a:rPr>
              <a:t>Uses </a:t>
            </a:r>
            <a:r>
              <a:rPr lang="en-US" sz="1300" b="1" dirty="0">
                <a:solidFill>
                  <a:srgbClr val="891F15"/>
                </a:solidFill>
                <a:latin typeface="Carlito" pitchFamily="34" charset="0"/>
                <a:ea typeface="Carlito" pitchFamily="34" charset="-122"/>
                <a:cs typeface="Carlito" pitchFamily="34" charset="-120"/>
              </a:rPr>
              <a:t>predictions</a:t>
            </a:r>
            <a:r>
              <a:rPr lang="en-US" sz="1300" dirty="0">
                <a:solidFill>
                  <a:srgbClr val="891F15"/>
                </a:solidFill>
                <a:latin typeface="Carlito" pitchFamily="34" charset="0"/>
                <a:ea typeface="Carlito" pitchFamily="34" charset="-122"/>
                <a:cs typeface="Carlito" pitchFamily="34" charset="-120"/>
              </a:rPr>
              <a:t> for all 29 isolates, not only those with AST.</a:t>
            </a:r>
            <a:endParaRPr lang="en-US" sz="1300" dirty="0"/>
          </a:p>
        </p:txBody>
      </p:sp>
      <p:pic>
        <p:nvPicPr>
          <p:cNvPr id="9"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0"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7300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2EA"/>
                </a:solidFill>
                <a:latin typeface="Carlito" pitchFamily="34" charset="0"/>
                <a:ea typeface="Carlito" pitchFamily="34" charset="-122"/>
                <a:cs typeface="Carlito" pitchFamily="34" charset="-120"/>
              </a:rPr>
              <a:t>Why this is not a failure rate</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sp>
      <p:sp>
        <p:nvSpPr>
          <p:cNvPr id="4" name="Text 2"/>
          <p:cNvSpPr/>
          <p:nvPr/>
        </p:nvSpPr>
        <p:spPr>
          <a:xfrm>
            <a:off x="812800" y="1760190"/>
            <a:ext cx="1088339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9F2EA"/>
                </a:solidFill>
                <a:latin typeface="Carlito" pitchFamily="34" charset="0"/>
                <a:ea typeface="Carlito" pitchFamily="34" charset="-122"/>
                <a:cs typeface="Carlito" pitchFamily="34" charset="-120"/>
              </a:rPr>
              <a:t>You cannot report: "the regimen fails in X% of neonatal infections in Malawi".</a:t>
            </a:r>
            <a:endParaRPr lang="en-US" sz="1700" dirty="0"/>
          </a:p>
        </p:txBody>
      </p:sp>
      <p:sp>
        <p:nvSpPr>
          <p:cNvPr id="5" name="Text 3"/>
          <p:cNvSpPr/>
          <p:nvPr/>
        </p:nvSpPr>
        <p:spPr>
          <a:xfrm>
            <a:off x="812800" y="2356445"/>
            <a:ext cx="3488233"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FCE00"/>
                </a:solidFill>
                <a:latin typeface="Carlito" pitchFamily="34" charset="0"/>
                <a:ea typeface="Carlito" pitchFamily="34" charset="-122"/>
                <a:cs typeface="Carlito" pitchFamily="34" charset="-120"/>
              </a:rPr>
              <a:t>1</a:t>
            </a:r>
            <a:endParaRPr lang="en-US" sz="3200" dirty="0"/>
          </a:p>
        </p:txBody>
      </p:sp>
      <p:sp>
        <p:nvSpPr>
          <p:cNvPr id="6" name="Text 4"/>
          <p:cNvSpPr/>
          <p:nvPr/>
        </p:nvSpPr>
        <p:spPr>
          <a:xfrm>
            <a:off x="812800" y="3001566"/>
            <a:ext cx="3488233" cy="10541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9F2EA"/>
                </a:solidFill>
                <a:latin typeface="Carlito" pitchFamily="34" charset="0"/>
                <a:ea typeface="Carlito" pitchFamily="34" charset="-122"/>
                <a:cs typeface="Carlito" pitchFamily="34" charset="-120"/>
              </a:rPr>
              <a:t>The 29 isolates were </a:t>
            </a:r>
            <a:r>
              <a:rPr lang="en-US" sz="1500" b="1" dirty="0">
                <a:solidFill>
                  <a:srgbClr val="F9F2EA"/>
                </a:solidFill>
                <a:latin typeface="Carlito" pitchFamily="34" charset="0"/>
                <a:ea typeface="Carlito" pitchFamily="34" charset="-122"/>
                <a:cs typeface="Carlito" pitchFamily="34" charset="-120"/>
              </a:rPr>
              <a:t>chosen</a:t>
            </a:r>
            <a:r>
              <a:rPr lang="en-US" sz="1500" dirty="0">
                <a:solidFill>
                  <a:srgbClr val="F9F2EA"/>
                </a:solidFill>
                <a:latin typeface="Carlito" pitchFamily="34" charset="0"/>
                <a:ea typeface="Carlito" pitchFamily="34" charset="-122"/>
                <a:cs typeface="Carlito" pitchFamily="34" charset="-120"/>
              </a:rPr>
              <a:t>, not sampled at random: two clusters and two carbapenemase isolates are over-represented.</a:t>
            </a:r>
            <a:endParaRPr lang="en-US" sz="1500" dirty="0"/>
          </a:p>
        </p:txBody>
      </p:sp>
      <p:sp>
        <p:nvSpPr>
          <p:cNvPr id="7" name="Text 5"/>
          <p:cNvSpPr/>
          <p:nvPr/>
        </p:nvSpPr>
        <p:spPr>
          <a:xfrm>
            <a:off x="4402634" y="2356445"/>
            <a:ext cx="3488284"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FCE00"/>
                </a:solidFill>
                <a:latin typeface="Carlito" pitchFamily="34" charset="0"/>
                <a:ea typeface="Carlito" pitchFamily="34" charset="-122"/>
                <a:cs typeface="Carlito" pitchFamily="34" charset="-120"/>
              </a:rPr>
              <a:t>2</a:t>
            </a:r>
            <a:endParaRPr lang="en-US" sz="3200" dirty="0"/>
          </a:p>
        </p:txBody>
      </p:sp>
      <p:sp>
        <p:nvSpPr>
          <p:cNvPr id="8" name="Text 6"/>
          <p:cNvSpPr/>
          <p:nvPr/>
        </p:nvSpPr>
        <p:spPr>
          <a:xfrm>
            <a:off x="4402634" y="3001566"/>
            <a:ext cx="348828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9F2EA"/>
                </a:solidFill>
                <a:latin typeface="Carlito" pitchFamily="34" charset="0"/>
                <a:ea typeface="Carlito" pitchFamily="34" charset="-122"/>
                <a:cs typeface="Carlito" pitchFamily="34" charset="-120"/>
              </a:rPr>
              <a:t>Only </a:t>
            </a:r>
            <a:r>
              <a:rPr lang="en-US" sz="1500" b="1" dirty="0">
                <a:solidFill>
                  <a:srgbClr val="F9F2EA"/>
                </a:solidFill>
                <a:latin typeface="Carlito" pitchFamily="34" charset="0"/>
                <a:ea typeface="Carlito" pitchFamily="34" charset="-122"/>
                <a:cs typeface="Carlito" pitchFamily="34" charset="-120"/>
              </a:rPr>
              <a:t>15 of the 29</a:t>
            </a:r>
            <a:r>
              <a:rPr lang="en-US" sz="1500" dirty="0">
                <a:solidFill>
                  <a:srgbClr val="F9F2EA"/>
                </a:solidFill>
                <a:latin typeface="Carlito" pitchFamily="34" charset="0"/>
                <a:ea typeface="Carlito" pitchFamily="34" charset="-122"/>
                <a:cs typeface="Carlito" pitchFamily="34" charset="-120"/>
              </a:rPr>
              <a:t> are from neonates.</a:t>
            </a:r>
            <a:endParaRPr lang="en-US" sz="1500" dirty="0"/>
          </a:p>
        </p:txBody>
      </p:sp>
      <p:sp>
        <p:nvSpPr>
          <p:cNvPr id="9" name="Text 7"/>
          <p:cNvSpPr/>
          <p:nvPr/>
        </p:nvSpPr>
        <p:spPr>
          <a:xfrm>
            <a:off x="7992517" y="2356445"/>
            <a:ext cx="3488284"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FCE00"/>
                </a:solidFill>
                <a:latin typeface="Carlito" pitchFamily="34" charset="0"/>
                <a:ea typeface="Carlito" pitchFamily="34" charset="-122"/>
                <a:cs typeface="Carlito" pitchFamily="34" charset="-120"/>
              </a:rPr>
              <a:t>3</a:t>
            </a:r>
            <a:endParaRPr lang="en-US" sz="3200" dirty="0"/>
          </a:p>
        </p:txBody>
      </p:sp>
      <p:sp>
        <p:nvSpPr>
          <p:cNvPr id="10" name="Text 8"/>
          <p:cNvSpPr/>
          <p:nvPr/>
        </p:nvSpPr>
        <p:spPr>
          <a:xfrm>
            <a:off x="7992517" y="3001566"/>
            <a:ext cx="348828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9F2EA"/>
                </a:solidFill>
                <a:latin typeface="Carlito" pitchFamily="34" charset="0"/>
                <a:ea typeface="Carlito" pitchFamily="34" charset="-122"/>
                <a:cs typeface="Carlito" pitchFamily="34" charset="-120"/>
              </a:rPr>
              <a:t>All isolates come from </a:t>
            </a:r>
            <a:r>
              <a:rPr lang="en-US" sz="1500" b="1" dirty="0">
                <a:solidFill>
                  <a:srgbClr val="F9F2EA"/>
                </a:solidFill>
                <a:latin typeface="Carlito" pitchFamily="34" charset="0"/>
                <a:ea typeface="Carlito" pitchFamily="34" charset="-122"/>
                <a:cs typeface="Carlito" pitchFamily="34" charset="-120"/>
              </a:rPr>
              <a:t>one hospital</a:t>
            </a:r>
            <a:r>
              <a:rPr lang="en-US" sz="1500" dirty="0">
                <a:solidFill>
                  <a:srgbClr val="F9F2EA"/>
                </a:solidFill>
                <a:latin typeface="Carlito" pitchFamily="34" charset="0"/>
                <a:ea typeface="Carlito" pitchFamily="34" charset="-122"/>
                <a:cs typeface="Carlito" pitchFamily="34" charset="-120"/>
              </a:rPr>
              <a:t>.</a:t>
            </a:r>
            <a:endParaRPr lang="en-US" sz="1500" dirty="0"/>
          </a:p>
        </p:txBody>
      </p:sp>
      <p:sp>
        <p:nvSpPr>
          <p:cNvPr id="11" name="Text 9"/>
          <p:cNvSpPr/>
          <p:nvPr/>
        </p:nvSpPr>
        <p:spPr>
          <a:xfrm>
            <a:off x="812800" y="4335066"/>
            <a:ext cx="10566400" cy="869950"/>
          </a:xfrm>
          <a:prstGeom prst="roundRect">
            <a:avLst>
              <a:gd name="adj" fmla="val 8759"/>
            </a:avLst>
          </a:prstGeom>
          <a:solidFill>
            <a:srgbClr val="FFCE00"/>
          </a:solidFill>
          <a:ln/>
        </p:spPr>
        <p:txBody>
          <a:bodyPr wrap="square" lIns="231682" tIns="155482" rIns="0" bIns="130082" rtlCol="0" anchor="t">
            <a:normAutofit/>
          </a:bodyPr>
          <a:lstStyle/>
          <a:p>
            <a:pPr algn="l" indent="0" marL="0">
              <a:lnSpc>
                <a:spcPts val="2025"/>
              </a:lnSpc>
              <a:buNone/>
            </a:pPr>
            <a:r>
              <a:rPr lang="en-US" sz="1500" b="1" dirty="0">
                <a:solidFill>
                  <a:srgbClr val="3A322C"/>
                </a:solidFill>
                <a:latin typeface="Carlito" pitchFamily="34" charset="0"/>
                <a:ea typeface="Carlito" pitchFamily="34" charset="-122"/>
                <a:cs typeface="Carlito" pitchFamily="34" charset="-120"/>
              </a:rPr>
              <a:t>A defensible estimate needs</a:t>
            </a:r>
            <a:r>
              <a:rPr lang="en-US" sz="1500" dirty="0">
                <a:solidFill>
                  <a:srgbClr val="3A322C"/>
                </a:solidFill>
                <a:latin typeface="Carlito" pitchFamily="34" charset="0"/>
                <a:ea typeface="Carlito" pitchFamily="34" charset="-122"/>
                <a:cs typeface="Carlito" pitchFamily="34" charset="-120"/>
              </a:rPr>
              <a:t> all (or a random sample of) neonatal bloodstream isolates from defined facilities and periods, with the denominator stated.</a:t>
            </a:r>
            <a:endParaRPr lang="en-US" sz="1500" dirty="0"/>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CE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372600" y="914400"/>
            <a:ext cx="2819400" cy="5219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891F15"/>
                </a:solidFill>
                <a:latin typeface="Carlito" pitchFamily="34" charset="0"/>
                <a:ea typeface="Carlito" pitchFamily="34" charset="-122"/>
                <a:cs typeface="Carlito" pitchFamily="34" charset="-120"/>
              </a:rPr>
              <a:t>SESSION 3 · 13:30–15:00 · MODULE 5</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6D2637"/>
                </a:solidFill>
                <a:latin typeface="Carlito" pitchFamily="34" charset="0"/>
                <a:ea typeface="Carlito" pitchFamily="34" charset="-122"/>
                <a:cs typeface="Carlito" pitchFamily="34" charset="-120"/>
              </a:rPr>
              <a:t>Plasmids, replicons and mobility</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5A1F2E"/>
                </a:solidFill>
                <a:latin typeface="Carlito" pitchFamily="34" charset="0"/>
                <a:ea typeface="Carlito" pitchFamily="34" charset="-122"/>
                <a:cs typeface="Carlito" pitchFamily="34" charset="-120"/>
              </a:rPr>
              <a:t>Reconstructing plasmids from assemblies with MOB-suite</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D2637"/>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D2637"/>
                </a:solidFill>
                <a:latin typeface="Carlito" pitchFamily="34" charset="0"/>
                <a:ea typeface="Carlito" pitchFamily="34" charset="-122"/>
                <a:cs typeface="Carlit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Plasmids: the words we need</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709390"/>
            <a:ext cx="10883392"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322C"/>
                </a:solidFill>
                <a:latin typeface="Carlito" pitchFamily="34" charset="0"/>
                <a:ea typeface="Carlito" pitchFamily="34" charset="-122"/>
                <a:cs typeface="Carlito" pitchFamily="34" charset="-120"/>
              </a:rPr>
              <a:t>A </a:t>
            </a:r>
            <a:r>
              <a:rPr lang="en-US" sz="1600" b="1" dirty="0">
                <a:solidFill>
                  <a:srgbClr val="3A322C"/>
                </a:solidFill>
                <a:latin typeface="Carlito" pitchFamily="34" charset="0"/>
                <a:ea typeface="Carlito" pitchFamily="34" charset="-122"/>
                <a:cs typeface="Carlito" pitchFamily="34" charset="-120"/>
              </a:rPr>
              <a:t>plasmid</a:t>
            </a:r>
            <a:r>
              <a:rPr lang="en-US" sz="1600" dirty="0">
                <a:solidFill>
                  <a:srgbClr val="3A322C"/>
                </a:solidFill>
                <a:latin typeface="Carlito" pitchFamily="34" charset="0"/>
                <a:ea typeface="Carlito" pitchFamily="34" charset="-122"/>
                <a:cs typeface="Carlito" pitchFamily="34" charset="-120"/>
              </a:rPr>
              <a:t> is a circle of DNA that replicates apart from the chromosome. Plasmids can move resistance genes </a:t>
            </a:r>
            <a:r>
              <a:rPr lang="en-US" sz="1600" b="1" dirty="0">
                <a:solidFill>
                  <a:srgbClr val="3A322C"/>
                </a:solidFill>
                <a:latin typeface="Carlito" pitchFamily="34" charset="0"/>
                <a:ea typeface="Carlito" pitchFamily="34" charset="-122"/>
                <a:cs typeface="Carlito" pitchFamily="34" charset="-120"/>
              </a:rPr>
              <a:t>between lineages and species</a:t>
            </a:r>
            <a:r>
              <a:rPr lang="en-US" sz="1600" dirty="0">
                <a:solidFill>
                  <a:srgbClr val="3A322C"/>
                </a:solidFill>
                <a:latin typeface="Carlito" pitchFamily="34" charset="0"/>
                <a:ea typeface="Carlito" pitchFamily="34" charset="-122"/>
                <a:cs typeface="Carlito" pitchFamily="34" charset="-120"/>
              </a:rPr>
              <a:t>.</a:t>
            </a:r>
            <a:endParaRPr lang="en-US" sz="1600" dirty="0"/>
          </a:p>
        </p:txBody>
      </p:sp>
      <p:sp>
        <p:nvSpPr>
          <p:cNvPr id="5" name="Shape 3"/>
          <p:cNvSpPr/>
          <p:nvPr/>
        </p:nvSpPr>
        <p:spPr>
          <a:xfrm>
            <a:off x="812800" y="2511971"/>
            <a:ext cx="5194300" cy="1029891"/>
          </a:xfrm>
          <a:prstGeom prst="roundRect">
            <a:avLst>
              <a:gd name="adj" fmla="val 4933"/>
            </a:avLst>
          </a:prstGeom>
          <a:solidFill>
            <a:srgbClr val="FFFFFF"/>
          </a:solidFill>
          <a:ln/>
        </p:spPr>
      </p:sp>
      <p:sp>
        <p:nvSpPr>
          <p:cNvPr id="6" name="Shape 4"/>
          <p:cNvSpPr/>
          <p:nvPr/>
        </p:nvSpPr>
        <p:spPr>
          <a:xfrm>
            <a:off x="812800" y="2511971"/>
            <a:ext cx="5194300" cy="1029891"/>
          </a:xfrm>
          <a:custGeom>
            <a:avLst/>
            <a:gdLst/>
            <a:ahLst/>
            <a:cxnLst/>
            <a:rect l="l" t="t" r="r" b="b"/>
            <a:pathLst>
              <a:path w="5194300" h="1029891">
                <a:moveTo>
                  <a:pt x="50800" y="1029891"/>
                </a:moveTo>
                <a:lnTo>
                  <a:pt x="50800" y="1029891"/>
                </a:lnTo>
                <a:arcTo hR="50800" wR="50800" stAng="5400000" swAng="5400000"/>
                <a:lnTo>
                  <a:pt x="0" y="50800"/>
                </a:lnTo>
                <a:arcTo hR="50800" wR="50800" stAng="10800000" swAng="5400000"/>
                <a:lnTo>
                  <a:pt x="50800" y="0"/>
                </a:lnTo>
                <a:lnTo>
                  <a:pt x="50800" y="1029891"/>
                </a:lnTo>
                <a:close/>
              </a:path>
            </a:pathLst>
          </a:custGeom>
          <a:solidFill>
            <a:srgbClr val="891F15"/>
          </a:solidFill>
          <a:ln/>
        </p:spPr>
      </p:sp>
      <p:sp>
        <p:nvSpPr>
          <p:cNvPr id="7" name="Text 5"/>
          <p:cNvSpPr/>
          <p:nvPr/>
        </p:nvSpPr>
        <p:spPr>
          <a:xfrm>
            <a:off x="1041400" y="2664371"/>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Replicon (Inc) type</a:t>
            </a:r>
            <a:endParaRPr lang="en-US" sz="1500" dirty="0"/>
          </a:p>
        </p:txBody>
      </p:sp>
      <p:sp>
        <p:nvSpPr>
          <p:cNvPr id="8" name="Text 6"/>
          <p:cNvSpPr/>
          <p:nvPr/>
        </p:nvSpPr>
        <p:spPr>
          <a:xfrm>
            <a:off x="1041400" y="2943771"/>
            <a:ext cx="493153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The plasmid's replication machinery, used to classify it: IncFII, IncFIB(K), IncX3, IncL…</a:t>
            </a:r>
            <a:endParaRPr lang="en-US" sz="1300" dirty="0"/>
          </a:p>
        </p:txBody>
      </p:sp>
      <p:sp>
        <p:nvSpPr>
          <p:cNvPr id="9" name="Shape 7"/>
          <p:cNvSpPr/>
          <p:nvPr/>
        </p:nvSpPr>
        <p:spPr>
          <a:xfrm>
            <a:off x="6184900" y="2511971"/>
            <a:ext cx="5194300" cy="1029891"/>
          </a:xfrm>
          <a:prstGeom prst="roundRect">
            <a:avLst>
              <a:gd name="adj" fmla="val 4933"/>
            </a:avLst>
          </a:prstGeom>
          <a:solidFill>
            <a:srgbClr val="FFFFFF"/>
          </a:solidFill>
          <a:ln/>
        </p:spPr>
      </p:sp>
      <p:sp>
        <p:nvSpPr>
          <p:cNvPr id="10" name="Shape 8"/>
          <p:cNvSpPr/>
          <p:nvPr/>
        </p:nvSpPr>
        <p:spPr>
          <a:xfrm>
            <a:off x="6184900" y="2511971"/>
            <a:ext cx="5194300" cy="1029891"/>
          </a:xfrm>
          <a:custGeom>
            <a:avLst/>
            <a:gdLst/>
            <a:ahLst/>
            <a:cxnLst/>
            <a:rect l="l" t="t" r="r" b="b"/>
            <a:pathLst>
              <a:path w="5194300" h="1029891">
                <a:moveTo>
                  <a:pt x="50800" y="1029891"/>
                </a:moveTo>
                <a:lnTo>
                  <a:pt x="50800" y="1029891"/>
                </a:lnTo>
                <a:arcTo hR="50800" wR="50800" stAng="5400000" swAng="5400000"/>
                <a:lnTo>
                  <a:pt x="0" y="50800"/>
                </a:lnTo>
                <a:arcTo hR="50800" wR="50800" stAng="10800000" swAng="5400000"/>
                <a:lnTo>
                  <a:pt x="50800" y="0"/>
                </a:lnTo>
                <a:lnTo>
                  <a:pt x="50800" y="1029891"/>
                </a:lnTo>
                <a:close/>
              </a:path>
            </a:pathLst>
          </a:custGeom>
          <a:solidFill>
            <a:srgbClr val="891F15"/>
          </a:solidFill>
          <a:ln/>
        </p:spPr>
      </p:sp>
      <p:sp>
        <p:nvSpPr>
          <p:cNvPr id="11" name="Text 9"/>
          <p:cNvSpPr/>
          <p:nvPr/>
        </p:nvSpPr>
        <p:spPr>
          <a:xfrm>
            <a:off x="6413500" y="2664371"/>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Conjugative</a:t>
            </a:r>
            <a:endParaRPr lang="en-US" sz="1500" dirty="0"/>
          </a:p>
        </p:txBody>
      </p:sp>
      <p:sp>
        <p:nvSpPr>
          <p:cNvPr id="12" name="Text 10"/>
          <p:cNvSpPr/>
          <p:nvPr/>
        </p:nvSpPr>
        <p:spPr>
          <a:xfrm>
            <a:off x="6413500" y="2943771"/>
            <a:ext cx="493153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Carries everything needed to transfer itself to another bacterium.</a:t>
            </a:r>
            <a:endParaRPr lang="en-US" sz="1300" dirty="0"/>
          </a:p>
        </p:txBody>
      </p:sp>
      <p:sp>
        <p:nvSpPr>
          <p:cNvPr id="13" name="Shape 11"/>
          <p:cNvSpPr/>
          <p:nvPr/>
        </p:nvSpPr>
        <p:spPr>
          <a:xfrm>
            <a:off x="812800" y="3719661"/>
            <a:ext cx="5194300" cy="1029891"/>
          </a:xfrm>
          <a:prstGeom prst="roundRect">
            <a:avLst>
              <a:gd name="adj" fmla="val 4933"/>
            </a:avLst>
          </a:prstGeom>
          <a:solidFill>
            <a:srgbClr val="FFFFFF"/>
          </a:solidFill>
          <a:ln/>
        </p:spPr>
      </p:sp>
      <p:sp>
        <p:nvSpPr>
          <p:cNvPr id="14" name="Shape 12"/>
          <p:cNvSpPr/>
          <p:nvPr/>
        </p:nvSpPr>
        <p:spPr>
          <a:xfrm>
            <a:off x="812800" y="3719661"/>
            <a:ext cx="5194300" cy="1029891"/>
          </a:xfrm>
          <a:custGeom>
            <a:avLst/>
            <a:gdLst/>
            <a:ahLst/>
            <a:cxnLst/>
            <a:rect l="l" t="t" r="r" b="b"/>
            <a:pathLst>
              <a:path w="5194300" h="1029891">
                <a:moveTo>
                  <a:pt x="50800" y="1029891"/>
                </a:moveTo>
                <a:lnTo>
                  <a:pt x="50800" y="1029891"/>
                </a:lnTo>
                <a:arcTo hR="50800" wR="50800" stAng="5400000" swAng="5400000"/>
                <a:lnTo>
                  <a:pt x="0" y="50800"/>
                </a:lnTo>
                <a:arcTo hR="50800" wR="50800" stAng="10800000" swAng="5400000"/>
                <a:lnTo>
                  <a:pt x="50800" y="0"/>
                </a:lnTo>
                <a:lnTo>
                  <a:pt x="50800" y="1029891"/>
                </a:lnTo>
                <a:close/>
              </a:path>
            </a:pathLst>
          </a:custGeom>
          <a:solidFill>
            <a:srgbClr val="273003"/>
          </a:solidFill>
          <a:ln/>
        </p:spPr>
      </p:sp>
      <p:sp>
        <p:nvSpPr>
          <p:cNvPr id="15" name="Text 13"/>
          <p:cNvSpPr/>
          <p:nvPr/>
        </p:nvSpPr>
        <p:spPr>
          <a:xfrm>
            <a:off x="1041400" y="3872061"/>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Mobilisable</a:t>
            </a:r>
            <a:endParaRPr lang="en-US" sz="1500" dirty="0"/>
          </a:p>
        </p:txBody>
      </p:sp>
      <p:sp>
        <p:nvSpPr>
          <p:cNvPr id="16" name="Text 14"/>
          <p:cNvSpPr/>
          <p:nvPr/>
        </p:nvSpPr>
        <p:spPr>
          <a:xfrm>
            <a:off x="1041400" y="4151461"/>
            <a:ext cx="49657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Can transfer only with help from a conjugative plasmid in the same cell.</a:t>
            </a:r>
            <a:endParaRPr lang="en-US" sz="1300" dirty="0"/>
          </a:p>
        </p:txBody>
      </p:sp>
      <p:sp>
        <p:nvSpPr>
          <p:cNvPr id="17" name="Shape 15"/>
          <p:cNvSpPr/>
          <p:nvPr/>
        </p:nvSpPr>
        <p:spPr>
          <a:xfrm>
            <a:off x="6184900" y="3719661"/>
            <a:ext cx="5194300" cy="1029891"/>
          </a:xfrm>
          <a:prstGeom prst="roundRect">
            <a:avLst>
              <a:gd name="adj" fmla="val 4933"/>
            </a:avLst>
          </a:prstGeom>
          <a:solidFill>
            <a:srgbClr val="FFFFFF"/>
          </a:solidFill>
          <a:ln/>
        </p:spPr>
      </p:sp>
      <p:sp>
        <p:nvSpPr>
          <p:cNvPr id="18" name="Shape 16"/>
          <p:cNvSpPr/>
          <p:nvPr/>
        </p:nvSpPr>
        <p:spPr>
          <a:xfrm>
            <a:off x="6184900" y="3719661"/>
            <a:ext cx="5194300" cy="1029891"/>
          </a:xfrm>
          <a:custGeom>
            <a:avLst/>
            <a:gdLst/>
            <a:ahLst/>
            <a:cxnLst/>
            <a:rect l="l" t="t" r="r" b="b"/>
            <a:pathLst>
              <a:path w="5194300" h="1029891">
                <a:moveTo>
                  <a:pt x="50800" y="1029891"/>
                </a:moveTo>
                <a:lnTo>
                  <a:pt x="50800" y="1029891"/>
                </a:lnTo>
                <a:arcTo hR="50800" wR="50800" stAng="5400000" swAng="5400000"/>
                <a:lnTo>
                  <a:pt x="0" y="50800"/>
                </a:lnTo>
                <a:arcTo hR="50800" wR="50800" stAng="10800000" swAng="5400000"/>
                <a:lnTo>
                  <a:pt x="50800" y="0"/>
                </a:lnTo>
                <a:lnTo>
                  <a:pt x="50800" y="1029891"/>
                </a:lnTo>
                <a:close/>
              </a:path>
            </a:pathLst>
          </a:custGeom>
          <a:solidFill>
            <a:srgbClr val="273003"/>
          </a:solidFill>
          <a:ln/>
        </p:spPr>
      </p:sp>
      <p:sp>
        <p:nvSpPr>
          <p:cNvPr id="19" name="Text 17"/>
          <p:cNvSpPr/>
          <p:nvPr/>
        </p:nvSpPr>
        <p:spPr>
          <a:xfrm>
            <a:off x="6413500" y="3872061"/>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Insertion sequence, transposon</a:t>
            </a:r>
            <a:endParaRPr lang="en-US" sz="1500" dirty="0"/>
          </a:p>
        </p:txBody>
      </p:sp>
      <p:sp>
        <p:nvSpPr>
          <p:cNvPr id="20" name="Text 18"/>
          <p:cNvSpPr/>
          <p:nvPr/>
        </p:nvSpPr>
        <p:spPr>
          <a:xfrm>
            <a:off x="6413500" y="4151461"/>
            <a:ext cx="493153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Smaller mobile elements that move genes within and between plasmids: IS</a:t>
            </a:r>
            <a:r>
              <a:rPr lang="en-US" sz="1300" i="1" dirty="0">
                <a:solidFill>
                  <a:srgbClr val="3A322C"/>
                </a:solidFill>
                <a:latin typeface="Carlito" pitchFamily="34" charset="0"/>
                <a:ea typeface="Carlito" pitchFamily="34" charset="-122"/>
                <a:cs typeface="Carlito" pitchFamily="34" charset="-120"/>
              </a:rPr>
              <a:t>26</a:t>
            </a:r>
            <a:r>
              <a:rPr lang="en-US" sz="1300" dirty="0">
                <a:solidFill>
                  <a:srgbClr val="3A322C"/>
                </a:solidFill>
                <a:latin typeface="Carlito" pitchFamily="34" charset="0"/>
                <a:ea typeface="Carlito" pitchFamily="34" charset="-122"/>
                <a:cs typeface="Carlito" pitchFamily="34" charset="-120"/>
              </a:rPr>
              <a:t>, IS</a:t>
            </a:r>
            <a:r>
              <a:rPr lang="en-US" sz="1300" i="1" dirty="0">
                <a:solidFill>
                  <a:srgbClr val="3A322C"/>
                </a:solidFill>
                <a:latin typeface="Carlito" pitchFamily="34" charset="0"/>
                <a:ea typeface="Carlito" pitchFamily="34" charset="-122"/>
                <a:cs typeface="Carlito" pitchFamily="34" charset="-120"/>
              </a:rPr>
              <a:t>Ecp1</a:t>
            </a:r>
            <a:r>
              <a:rPr lang="en-US" sz="1300" dirty="0">
                <a:solidFill>
                  <a:srgbClr val="3A322C"/>
                </a:solidFill>
                <a:latin typeface="Carlito" pitchFamily="34" charset="0"/>
                <a:ea typeface="Carlito" pitchFamily="34" charset="-122"/>
                <a:cs typeface="Carlito" pitchFamily="34" charset="-120"/>
              </a:rPr>
              <a:t>, Tn</a:t>
            </a:r>
            <a:r>
              <a:rPr lang="en-US" sz="1300" i="1" dirty="0">
                <a:solidFill>
                  <a:srgbClr val="3A322C"/>
                </a:solidFill>
                <a:latin typeface="Carlito" pitchFamily="34" charset="0"/>
                <a:ea typeface="Carlito" pitchFamily="34" charset="-122"/>
                <a:cs typeface="Carlito" pitchFamily="34" charset="-120"/>
              </a:rPr>
              <a:t>4401</a:t>
            </a:r>
            <a:r>
              <a:rPr lang="en-US" sz="1300" dirty="0">
                <a:solidFill>
                  <a:srgbClr val="3A322C"/>
                </a:solidFill>
                <a:latin typeface="Carlito" pitchFamily="34" charset="0"/>
                <a:ea typeface="Carlito" pitchFamily="34" charset="-122"/>
                <a:cs typeface="Carlito" pitchFamily="34" charset="-120"/>
              </a:rPr>
              <a:t>.</a:t>
            </a:r>
            <a:endParaRPr lang="en-US" sz="1300" dirty="0"/>
          </a:p>
        </p:txBody>
      </p:sp>
      <p:pic>
        <p:nvPicPr>
          <p:cNvPr id="21"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2" name="Text 1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23"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Common resistance plasmids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60190"/>
            <a:ext cx="3386634" cy="1718866"/>
          </a:xfrm>
          <a:prstGeom prst="roundRect">
            <a:avLst>
              <a:gd name="adj" fmla="val 4433"/>
            </a:avLst>
          </a:prstGeom>
          <a:solidFill>
            <a:srgbClr val="891F15"/>
          </a:solidFill>
          <a:ln/>
        </p:spPr>
      </p:sp>
      <p:sp>
        <p:nvSpPr>
          <p:cNvPr id="5" name="Text 3"/>
          <p:cNvSpPr/>
          <p:nvPr/>
        </p:nvSpPr>
        <p:spPr>
          <a:xfrm>
            <a:off x="1066800" y="1988790"/>
            <a:ext cx="296499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CE00"/>
                </a:solidFill>
                <a:latin typeface="Carlito" pitchFamily="34" charset="0"/>
                <a:ea typeface="Carlito" pitchFamily="34" charset="-122"/>
                <a:cs typeface="Carlito" pitchFamily="34" charset="-120"/>
              </a:rPr>
              <a:t>IncFII / IncFIB(K)</a:t>
            </a:r>
            <a:endParaRPr lang="en-US" sz="2000" dirty="0"/>
          </a:p>
        </p:txBody>
      </p:sp>
      <p:sp>
        <p:nvSpPr>
          <p:cNvPr id="6" name="Text 4"/>
          <p:cNvSpPr/>
          <p:nvPr/>
        </p:nvSpPr>
        <p:spPr>
          <a:xfrm>
            <a:off x="1066800" y="2445990"/>
            <a:ext cx="296499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9F2EA"/>
                </a:solidFill>
                <a:latin typeface="Carlito" pitchFamily="34" charset="0"/>
                <a:ea typeface="Carlito" pitchFamily="34" charset="-122"/>
                <a:cs typeface="Carlito" pitchFamily="34" charset="-120"/>
              </a:rPr>
              <a:t>with </a:t>
            </a:r>
            <a:r>
              <a:rPr lang="en-US" sz="1500" i="1" dirty="0">
                <a:solidFill>
                  <a:srgbClr val="F9F2EA"/>
                </a:solidFill>
                <a:latin typeface="Carlito" pitchFamily="34" charset="0"/>
                <a:ea typeface="Carlito" pitchFamily="34" charset="-122"/>
                <a:cs typeface="Carlito" pitchFamily="34" charset="-120"/>
              </a:rPr>
              <a:t>bla</a:t>
            </a:r>
            <a:r>
              <a:rPr lang="en-US" sz="1500" dirty="0">
                <a:solidFill>
                  <a:srgbClr val="F9F2EA"/>
                </a:solidFill>
                <a:latin typeface="Carlito" pitchFamily="34" charset="0"/>
                <a:ea typeface="Carlito" pitchFamily="34" charset="-122"/>
                <a:cs typeface="Carlito" pitchFamily="34" charset="-120"/>
              </a:rPr>
              <a:t>CTX-M-15</a:t>
            </a:r>
            <a:endParaRPr lang="en-US" sz="1500" dirty="0"/>
          </a:p>
        </p:txBody>
      </p:sp>
      <p:sp>
        <p:nvSpPr>
          <p:cNvPr id="7" name="Text 5"/>
          <p:cNvSpPr/>
          <p:nvPr/>
        </p:nvSpPr>
        <p:spPr>
          <a:xfrm>
            <a:off x="1066800" y="2804765"/>
            <a:ext cx="296499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D3C9"/>
                </a:solidFill>
                <a:latin typeface="Carlito" pitchFamily="34" charset="0"/>
                <a:ea typeface="Carlito" pitchFamily="34" charset="-122"/>
                <a:cs typeface="Carlito" pitchFamily="34" charset="-120"/>
              </a:rPr>
              <a:t>ESBL: third-generation cephalosporin resistance</a:t>
            </a:r>
            <a:endParaRPr lang="en-US" sz="1300" dirty="0"/>
          </a:p>
        </p:txBody>
      </p:sp>
      <p:sp>
        <p:nvSpPr>
          <p:cNvPr id="8" name="Shape 6"/>
          <p:cNvSpPr/>
          <p:nvPr/>
        </p:nvSpPr>
        <p:spPr>
          <a:xfrm>
            <a:off x="4402634" y="1760190"/>
            <a:ext cx="3386683" cy="1718866"/>
          </a:xfrm>
          <a:prstGeom prst="roundRect">
            <a:avLst>
              <a:gd name="adj" fmla="val 4433"/>
            </a:avLst>
          </a:prstGeom>
          <a:solidFill>
            <a:srgbClr val="273003"/>
          </a:solidFill>
          <a:ln/>
        </p:spPr>
      </p:sp>
      <p:sp>
        <p:nvSpPr>
          <p:cNvPr id="9" name="Text 7"/>
          <p:cNvSpPr/>
          <p:nvPr/>
        </p:nvSpPr>
        <p:spPr>
          <a:xfrm>
            <a:off x="4656634" y="1988790"/>
            <a:ext cx="296504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CE00"/>
                </a:solidFill>
                <a:latin typeface="Carlito" pitchFamily="34" charset="0"/>
                <a:ea typeface="Carlito" pitchFamily="34" charset="-122"/>
                <a:cs typeface="Carlito" pitchFamily="34" charset="-120"/>
              </a:rPr>
              <a:t>IncL</a:t>
            </a:r>
            <a:endParaRPr lang="en-US" sz="2000" dirty="0"/>
          </a:p>
        </p:txBody>
      </p:sp>
      <p:sp>
        <p:nvSpPr>
          <p:cNvPr id="10" name="Text 8"/>
          <p:cNvSpPr/>
          <p:nvPr/>
        </p:nvSpPr>
        <p:spPr>
          <a:xfrm>
            <a:off x="4656634" y="2445990"/>
            <a:ext cx="296504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9F2EA"/>
                </a:solidFill>
                <a:latin typeface="Carlito" pitchFamily="34" charset="0"/>
                <a:ea typeface="Carlito" pitchFamily="34" charset="-122"/>
                <a:cs typeface="Carlito" pitchFamily="34" charset="-120"/>
              </a:rPr>
              <a:t>with </a:t>
            </a:r>
            <a:r>
              <a:rPr lang="en-US" sz="1500" i="1" dirty="0">
                <a:solidFill>
                  <a:srgbClr val="F9F2EA"/>
                </a:solidFill>
                <a:latin typeface="Carlito" pitchFamily="34" charset="0"/>
                <a:ea typeface="Carlito" pitchFamily="34" charset="-122"/>
                <a:cs typeface="Carlito" pitchFamily="34" charset="-120"/>
              </a:rPr>
              <a:t>bla</a:t>
            </a:r>
            <a:r>
              <a:rPr lang="en-US" sz="1500" dirty="0">
                <a:solidFill>
                  <a:srgbClr val="F9F2EA"/>
                </a:solidFill>
                <a:latin typeface="Carlito" pitchFamily="34" charset="0"/>
                <a:ea typeface="Carlito" pitchFamily="34" charset="-122"/>
                <a:cs typeface="Carlito" pitchFamily="34" charset="-120"/>
              </a:rPr>
              <a:t>OXA-48</a:t>
            </a:r>
            <a:endParaRPr lang="en-US" sz="1500" dirty="0"/>
          </a:p>
        </p:txBody>
      </p:sp>
      <p:sp>
        <p:nvSpPr>
          <p:cNvPr id="11" name="Text 9"/>
          <p:cNvSpPr/>
          <p:nvPr/>
        </p:nvSpPr>
        <p:spPr>
          <a:xfrm>
            <a:off x="4656634" y="2804765"/>
            <a:ext cx="296504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DE2B0"/>
                </a:solidFill>
                <a:latin typeface="Carlito" pitchFamily="34" charset="0"/>
                <a:ea typeface="Carlito" pitchFamily="34" charset="-122"/>
                <a:cs typeface="Carlito" pitchFamily="34" charset="-120"/>
              </a:rPr>
              <a:t>Carbapenemase</a:t>
            </a:r>
            <a:endParaRPr lang="en-US" sz="1300" dirty="0"/>
          </a:p>
        </p:txBody>
      </p:sp>
      <p:sp>
        <p:nvSpPr>
          <p:cNvPr id="12" name="Shape 10"/>
          <p:cNvSpPr/>
          <p:nvPr/>
        </p:nvSpPr>
        <p:spPr>
          <a:xfrm>
            <a:off x="7992517" y="1760190"/>
            <a:ext cx="3386683" cy="1718866"/>
          </a:xfrm>
          <a:prstGeom prst="roundRect">
            <a:avLst>
              <a:gd name="adj" fmla="val 4433"/>
            </a:avLst>
          </a:prstGeom>
          <a:solidFill>
            <a:srgbClr val="273003"/>
          </a:solidFill>
          <a:ln/>
        </p:spPr>
      </p:sp>
      <p:sp>
        <p:nvSpPr>
          <p:cNvPr id="13" name="Text 11"/>
          <p:cNvSpPr/>
          <p:nvPr/>
        </p:nvSpPr>
        <p:spPr>
          <a:xfrm>
            <a:off x="8246517" y="1988790"/>
            <a:ext cx="296504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CE00"/>
                </a:solidFill>
                <a:latin typeface="Carlito" pitchFamily="34" charset="0"/>
                <a:ea typeface="Carlito" pitchFamily="34" charset="-122"/>
                <a:cs typeface="Carlito" pitchFamily="34" charset="-120"/>
              </a:rPr>
              <a:t>IncX3</a:t>
            </a:r>
            <a:endParaRPr lang="en-US" sz="2000" dirty="0"/>
          </a:p>
        </p:txBody>
      </p:sp>
      <p:sp>
        <p:nvSpPr>
          <p:cNvPr id="14" name="Text 12"/>
          <p:cNvSpPr/>
          <p:nvPr/>
        </p:nvSpPr>
        <p:spPr>
          <a:xfrm>
            <a:off x="8246517" y="2445990"/>
            <a:ext cx="296504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9F2EA"/>
                </a:solidFill>
                <a:latin typeface="Carlito" pitchFamily="34" charset="0"/>
                <a:ea typeface="Carlito" pitchFamily="34" charset="-122"/>
                <a:cs typeface="Carlito" pitchFamily="34" charset="-120"/>
              </a:rPr>
              <a:t>with </a:t>
            </a:r>
            <a:r>
              <a:rPr lang="en-US" sz="1500" i="1" dirty="0">
                <a:solidFill>
                  <a:srgbClr val="F9F2EA"/>
                </a:solidFill>
                <a:latin typeface="Carlito" pitchFamily="34" charset="0"/>
                <a:ea typeface="Carlito" pitchFamily="34" charset="-122"/>
                <a:cs typeface="Carlito" pitchFamily="34" charset="-120"/>
              </a:rPr>
              <a:t>bla</a:t>
            </a:r>
            <a:r>
              <a:rPr lang="en-US" sz="1500" dirty="0">
                <a:solidFill>
                  <a:srgbClr val="F9F2EA"/>
                </a:solidFill>
                <a:latin typeface="Carlito" pitchFamily="34" charset="0"/>
                <a:ea typeface="Carlito" pitchFamily="34" charset="-122"/>
                <a:cs typeface="Carlito" pitchFamily="34" charset="-120"/>
              </a:rPr>
              <a:t>NDM-5</a:t>
            </a:r>
            <a:endParaRPr lang="en-US" sz="1500" dirty="0"/>
          </a:p>
        </p:txBody>
      </p:sp>
      <p:sp>
        <p:nvSpPr>
          <p:cNvPr id="15" name="Text 13"/>
          <p:cNvSpPr/>
          <p:nvPr/>
        </p:nvSpPr>
        <p:spPr>
          <a:xfrm>
            <a:off x="8246517" y="2804765"/>
            <a:ext cx="296504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DE2B0"/>
                </a:solidFill>
                <a:latin typeface="Carlito" pitchFamily="34" charset="0"/>
                <a:ea typeface="Carlito" pitchFamily="34" charset="-122"/>
                <a:cs typeface="Carlito" pitchFamily="34" charset="-120"/>
              </a:rPr>
              <a:t>Carbapenemase</a:t>
            </a:r>
            <a:endParaRPr lang="en-US" sz="1300" dirty="0"/>
          </a:p>
        </p:txBody>
      </p:sp>
      <p:sp>
        <p:nvSpPr>
          <p:cNvPr id="16" name="Shape 14"/>
          <p:cNvSpPr/>
          <p:nvPr/>
        </p:nvSpPr>
        <p:spPr>
          <a:xfrm>
            <a:off x="838200" y="3783856"/>
            <a:ext cx="0" cy="650180"/>
          </a:xfrm>
          <a:prstGeom prst="line">
            <a:avLst/>
          </a:prstGeom>
          <a:noFill/>
          <a:ln w="50800">
            <a:solidFill>
              <a:srgbClr val="891F15"/>
            </a:solidFill>
            <a:prstDash val="solid"/>
          </a:ln>
        </p:spPr>
      </p:sp>
      <p:sp>
        <p:nvSpPr>
          <p:cNvPr id="17" name="Text 15"/>
          <p:cNvSpPr/>
          <p:nvPr/>
        </p:nvSpPr>
        <p:spPr>
          <a:xfrm>
            <a:off x="1041400" y="3834656"/>
            <a:ext cx="1064793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322C"/>
                </a:solidFill>
                <a:latin typeface="Carlito" pitchFamily="34" charset="0"/>
                <a:ea typeface="Carlito" pitchFamily="34" charset="-122"/>
                <a:cs typeface="Carlito" pitchFamily="34" charset="-120"/>
              </a:rPr>
              <a:t>In our hybrid isolates: a ~143 kb </a:t>
            </a:r>
            <a:r>
              <a:rPr lang="en-US" sz="1600" b="1" dirty="0">
                <a:solidFill>
                  <a:srgbClr val="3A322C"/>
                </a:solidFill>
                <a:latin typeface="Carlito" pitchFamily="34" charset="0"/>
                <a:ea typeface="Carlito" pitchFamily="34" charset="-122"/>
                <a:cs typeface="Carlito" pitchFamily="34" charset="-120"/>
              </a:rPr>
              <a:t>IncFII(K) + IncR</a:t>
            </a:r>
            <a:r>
              <a:rPr lang="en-US" sz="1600" dirty="0">
                <a:solidFill>
                  <a:srgbClr val="3A322C"/>
                </a:solidFill>
                <a:latin typeface="Carlito" pitchFamily="34" charset="0"/>
                <a:ea typeface="Carlito" pitchFamily="34" charset="-122"/>
                <a:cs typeface="Carlito" pitchFamily="34" charset="-120"/>
              </a:rPr>
              <a:t> plasmid in both CHI11E (ST39) and CNS1F1 (ST45). Same plasmid, two lineages?</a:t>
            </a:r>
            <a:endParaRPr lang="en-US" sz="1600" dirty="0"/>
          </a:p>
        </p:txBody>
      </p:sp>
      <p:pic>
        <p:nvPicPr>
          <p:cNvPr id="18"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9"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20"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Finding plasmids in a genome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5156200" cy="2354461"/>
          </a:xfrm>
          <a:prstGeom prst="roundRect">
            <a:avLst>
              <a:gd name="adj" fmla="val 2158"/>
            </a:avLst>
          </a:prstGeom>
          <a:solidFill>
            <a:srgbClr val="FFFFFF"/>
          </a:solidFill>
          <a:ln/>
        </p:spPr>
      </p:sp>
      <p:sp>
        <p:nvSpPr>
          <p:cNvPr id="5" name="Shape 3"/>
          <p:cNvSpPr/>
          <p:nvPr/>
        </p:nvSpPr>
        <p:spPr>
          <a:xfrm>
            <a:off x="812800" y="1709390"/>
            <a:ext cx="5156200" cy="2354461"/>
          </a:xfrm>
          <a:custGeom>
            <a:avLst/>
            <a:gdLst/>
            <a:ahLst/>
            <a:cxnLst/>
            <a:rect l="l" t="t" r="r" b="b"/>
            <a:pathLst>
              <a:path w="5156200" h="2354461">
                <a:moveTo>
                  <a:pt x="0" y="50800"/>
                </a:moveTo>
                <a:lnTo>
                  <a:pt x="0" y="50800"/>
                </a:lnTo>
                <a:arcTo hR="50800" wR="50800" stAng="10800000" swAng="5400000"/>
                <a:lnTo>
                  <a:pt x="5105400" y="0"/>
                </a:lnTo>
                <a:arcTo hR="50800" wR="50800" stAng="16200000" swAng="5400000"/>
                <a:lnTo>
                  <a:pt x="5156200" y="50800"/>
                </a:lnTo>
                <a:lnTo>
                  <a:pt x="0" y="50800"/>
                </a:lnTo>
                <a:close/>
              </a:path>
            </a:pathLst>
          </a:custGeom>
          <a:solidFill>
            <a:srgbClr val="273003"/>
          </a:solidFill>
          <a:ln/>
        </p:spPr>
      </p:sp>
      <p:sp>
        <p:nvSpPr>
          <p:cNvPr id="6" name="Text 4"/>
          <p:cNvSpPr/>
          <p:nvPr/>
        </p:nvSpPr>
        <p:spPr>
          <a:xfrm>
            <a:off x="1066800" y="1988790"/>
            <a:ext cx="478764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73003"/>
                </a:solidFill>
                <a:latin typeface="Carlito" pitchFamily="34" charset="0"/>
                <a:ea typeface="Carlito" pitchFamily="34" charset="-122"/>
                <a:cs typeface="Carlito" pitchFamily="34" charset="-120"/>
              </a:rPr>
              <a:t>PlasmidFinder</a:t>
            </a:r>
            <a:endParaRPr lang="en-US" sz="1800" dirty="0"/>
          </a:p>
        </p:txBody>
      </p:sp>
      <p:sp>
        <p:nvSpPr>
          <p:cNvPr id="7" name="Text 5"/>
          <p:cNvSpPr/>
          <p:nvPr/>
        </p:nvSpPr>
        <p:spPr>
          <a:xfrm>
            <a:off x="1066800" y="2390080"/>
            <a:ext cx="478764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Searches contigs for known </a:t>
            </a:r>
            <a:r>
              <a:rPr lang="en-US" sz="1400" b="1" dirty="0">
                <a:solidFill>
                  <a:srgbClr val="3A322C"/>
                </a:solidFill>
                <a:latin typeface="Carlito" pitchFamily="34" charset="0"/>
                <a:ea typeface="Carlito" pitchFamily="34" charset="-122"/>
                <a:cs typeface="Carlito" pitchFamily="34" charset="-120"/>
              </a:rPr>
              <a:t>replicon</a:t>
            </a:r>
            <a:r>
              <a:rPr lang="en-US" sz="1400" dirty="0">
                <a:solidFill>
                  <a:srgbClr val="3A322C"/>
                </a:solidFill>
                <a:latin typeface="Carlito" pitchFamily="34" charset="0"/>
                <a:ea typeface="Carlito" pitchFamily="34" charset="-122"/>
                <a:cs typeface="Carlito" pitchFamily="34" charset="-120"/>
              </a:rPr>
              <a:t> sequences with BLASTn.</a:t>
            </a:r>
            <a:endParaRPr lang="en-US" sz="1400" dirty="0"/>
          </a:p>
        </p:txBody>
      </p:sp>
      <p:sp>
        <p:nvSpPr>
          <p:cNvPr id="8" name="Text 6"/>
          <p:cNvSpPr/>
          <p:nvPr/>
        </p:nvSpPr>
        <p:spPr>
          <a:xfrm>
            <a:off x="1066800" y="2757091"/>
            <a:ext cx="478764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Answers: </a:t>
            </a:r>
            <a:r>
              <a:rPr lang="en-US" sz="1400" b="1" dirty="0">
                <a:solidFill>
                  <a:srgbClr val="3A322C"/>
                </a:solidFill>
                <a:latin typeface="Carlito" pitchFamily="34" charset="0"/>
                <a:ea typeface="Carlito" pitchFamily="34" charset="-122"/>
                <a:cs typeface="Carlito" pitchFamily="34" charset="-120"/>
              </a:rPr>
              <a:t>which Inc types are present?</a:t>
            </a:r>
            <a:endParaRPr lang="en-US" sz="1400" dirty="0"/>
          </a:p>
        </p:txBody>
      </p:sp>
      <p:sp>
        <p:nvSpPr>
          <p:cNvPr id="9" name="Text 7"/>
          <p:cNvSpPr/>
          <p:nvPr/>
        </p:nvSpPr>
        <p:spPr>
          <a:xfrm>
            <a:off x="1066800" y="3124101"/>
            <a:ext cx="478764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B6460"/>
                </a:solidFill>
                <a:latin typeface="Carlito" pitchFamily="34" charset="0"/>
                <a:ea typeface="Carlito" pitchFamily="34" charset="-122"/>
                <a:cs typeface="Carlito" pitchFamily="34" charset="-120"/>
              </a:rPr>
              <a:t>Not: which contigs belong to which plasmid.</a:t>
            </a:r>
            <a:endParaRPr lang="en-US" sz="1400" dirty="0"/>
          </a:p>
        </p:txBody>
      </p:sp>
      <p:sp>
        <p:nvSpPr>
          <p:cNvPr id="10" name="Text 8"/>
          <p:cNvSpPr/>
          <p:nvPr/>
        </p:nvSpPr>
        <p:spPr>
          <a:xfrm>
            <a:off x="1066800" y="3491111"/>
            <a:ext cx="4787646" cy="256530"/>
          </a:xfrm>
          <a:prstGeom prst="rect">
            <a:avLst/>
          </a:prstGeom>
          <a:noFill/>
          <a:ln/>
        </p:spPr>
        <p:txBody>
          <a:bodyPr wrap="square" lIns="0" tIns="0" rIns="0" bIns="0" rtlCol="0" anchor="t">
            <a:normAutofit/>
          </a:bodyPr>
          <a:lstStyle/>
          <a:p>
            <a:pPr algn="l" indent="0" marL="0">
              <a:lnSpc>
                <a:spcPts val="1820"/>
              </a:lnSpc>
              <a:buNone/>
            </a:pPr>
            <a:r>
              <a:rPr lang="en-US" sz="1300" u="sng" dirty="0">
                <a:solidFill>
                  <a:srgbClr val="3A322C"/>
                </a:solidFill>
                <a:latin typeface="Carlito" pitchFamily="34" charset="0"/>
                <a:ea typeface="Carlito" pitchFamily="34" charset="-122"/>
                <a:cs typeface="Carl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cge.food.dtu.dk/services/PlasmidFinder</a:t>
            </a:r>
            <a:endParaRPr lang="en-US" sz="1300" dirty="0"/>
          </a:p>
        </p:txBody>
      </p:sp>
      <p:sp>
        <p:nvSpPr>
          <p:cNvPr id="11" name="Shape 9"/>
          <p:cNvSpPr/>
          <p:nvPr/>
        </p:nvSpPr>
        <p:spPr>
          <a:xfrm>
            <a:off x="6223000" y="1709390"/>
            <a:ext cx="5156200" cy="2354461"/>
          </a:xfrm>
          <a:prstGeom prst="roundRect">
            <a:avLst>
              <a:gd name="adj" fmla="val 2158"/>
            </a:avLst>
          </a:prstGeom>
          <a:solidFill>
            <a:srgbClr val="FFFFFF"/>
          </a:solidFill>
          <a:ln/>
        </p:spPr>
      </p:sp>
      <p:sp>
        <p:nvSpPr>
          <p:cNvPr id="12" name="Shape 10"/>
          <p:cNvSpPr/>
          <p:nvPr/>
        </p:nvSpPr>
        <p:spPr>
          <a:xfrm>
            <a:off x="6223000" y="1709390"/>
            <a:ext cx="5156200" cy="2354461"/>
          </a:xfrm>
          <a:custGeom>
            <a:avLst/>
            <a:gdLst/>
            <a:ahLst/>
            <a:cxnLst/>
            <a:rect l="l" t="t" r="r" b="b"/>
            <a:pathLst>
              <a:path w="5156200" h="2354461">
                <a:moveTo>
                  <a:pt x="0" y="50800"/>
                </a:moveTo>
                <a:lnTo>
                  <a:pt x="0" y="50800"/>
                </a:lnTo>
                <a:arcTo hR="50800" wR="50800" stAng="10800000" swAng="5400000"/>
                <a:lnTo>
                  <a:pt x="5105400" y="0"/>
                </a:lnTo>
                <a:arcTo hR="50800" wR="50800" stAng="16200000" swAng="5400000"/>
                <a:lnTo>
                  <a:pt x="5156200" y="50800"/>
                </a:lnTo>
                <a:lnTo>
                  <a:pt x="0" y="50800"/>
                </a:lnTo>
                <a:close/>
              </a:path>
            </a:pathLst>
          </a:custGeom>
          <a:solidFill>
            <a:srgbClr val="891F15"/>
          </a:solidFill>
          <a:ln/>
        </p:spPr>
      </p:sp>
      <p:sp>
        <p:nvSpPr>
          <p:cNvPr id="13" name="Text 11"/>
          <p:cNvSpPr/>
          <p:nvPr/>
        </p:nvSpPr>
        <p:spPr>
          <a:xfrm>
            <a:off x="6477000" y="1988790"/>
            <a:ext cx="478764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891F15"/>
                </a:solidFill>
                <a:latin typeface="Carlito" pitchFamily="34" charset="0"/>
                <a:ea typeface="Carlito" pitchFamily="34" charset="-122"/>
                <a:cs typeface="Carlito" pitchFamily="34" charset="-120"/>
              </a:rPr>
              <a:t>MOB-suite (today)</a:t>
            </a:r>
            <a:endParaRPr lang="en-US" sz="1800" dirty="0"/>
          </a:p>
        </p:txBody>
      </p:sp>
      <p:sp>
        <p:nvSpPr>
          <p:cNvPr id="14" name="Text 12"/>
          <p:cNvSpPr/>
          <p:nvPr/>
        </p:nvSpPr>
        <p:spPr>
          <a:xfrm>
            <a:off x="6477000" y="2390080"/>
            <a:ext cx="47876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Sorts contigs into </a:t>
            </a:r>
            <a:r>
              <a:rPr lang="en-US" sz="1400" b="1" dirty="0">
                <a:solidFill>
                  <a:srgbClr val="3A322C"/>
                </a:solidFill>
                <a:latin typeface="Carlito" pitchFamily="34" charset="0"/>
                <a:ea typeface="Carlito" pitchFamily="34" charset="-122"/>
                <a:cs typeface="Carlito" pitchFamily="34" charset="-120"/>
              </a:rPr>
              <a:t>chromosome</a:t>
            </a:r>
            <a:r>
              <a:rPr lang="en-US" sz="1400" dirty="0">
                <a:solidFill>
                  <a:srgbClr val="3A322C"/>
                </a:solidFill>
                <a:latin typeface="Carlito" pitchFamily="34" charset="0"/>
                <a:ea typeface="Carlito" pitchFamily="34" charset="-122"/>
                <a:cs typeface="Carlito" pitchFamily="34" charset="-120"/>
              </a:rPr>
              <a:t> and </a:t>
            </a:r>
            <a:r>
              <a:rPr lang="en-US" sz="1400" b="1" dirty="0">
                <a:solidFill>
                  <a:srgbClr val="3A322C"/>
                </a:solidFill>
                <a:latin typeface="Carlito" pitchFamily="34" charset="0"/>
                <a:ea typeface="Carlito" pitchFamily="34" charset="-122"/>
                <a:cs typeface="Carlito" pitchFamily="34" charset="-120"/>
              </a:rPr>
              <a:t>plasmids</a:t>
            </a:r>
            <a:r>
              <a:rPr lang="en-US" sz="1400" dirty="0">
                <a:solidFill>
                  <a:srgbClr val="3A322C"/>
                </a:solidFill>
                <a:latin typeface="Carlito" pitchFamily="34" charset="0"/>
                <a:ea typeface="Carlito" pitchFamily="34" charset="-122"/>
                <a:cs typeface="Carlito" pitchFamily="34" charset="-120"/>
              </a:rPr>
              <a:t>, then types each plasmid.</a:t>
            </a:r>
            <a:endParaRPr lang="en-US" sz="1400" dirty="0"/>
          </a:p>
        </p:txBody>
      </p:sp>
      <p:sp>
        <p:nvSpPr>
          <p:cNvPr id="15" name="Text 13"/>
          <p:cNvSpPr/>
          <p:nvPr/>
        </p:nvSpPr>
        <p:spPr>
          <a:xfrm>
            <a:off x="6477000" y="2997101"/>
            <a:ext cx="47876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Answers: </a:t>
            </a:r>
            <a:r>
              <a:rPr lang="en-US" sz="1400" b="1" dirty="0">
                <a:solidFill>
                  <a:srgbClr val="3A322C"/>
                </a:solidFill>
                <a:latin typeface="Carlito" pitchFamily="34" charset="0"/>
                <a:ea typeface="Carlito" pitchFamily="34" charset="-122"/>
                <a:cs typeface="Carlito" pitchFamily="34" charset="-120"/>
              </a:rPr>
              <a:t>how many plasmids, how big, which replicons, can they move?</a:t>
            </a:r>
            <a:endParaRPr lang="en-US" sz="1400" dirty="0"/>
          </a:p>
        </p:txBody>
      </p:sp>
      <p:sp>
        <p:nvSpPr>
          <p:cNvPr id="16" name="Text 14"/>
          <p:cNvSpPr/>
          <p:nvPr/>
        </p:nvSpPr>
        <p:spPr>
          <a:xfrm>
            <a:off x="6477000" y="3604121"/>
            <a:ext cx="4787646" cy="256530"/>
          </a:xfrm>
          <a:prstGeom prst="rect">
            <a:avLst/>
          </a:prstGeom>
          <a:noFill/>
          <a:ln/>
        </p:spPr>
        <p:txBody>
          <a:bodyPr wrap="square" lIns="0" tIns="0" rIns="0" bIns="0" rtlCol="0" anchor="t">
            <a:normAutofit/>
          </a:bodyPr>
          <a:lstStyle/>
          <a:p>
            <a:pPr algn="l" indent="0" marL="0">
              <a:lnSpc>
                <a:spcPts val="1820"/>
              </a:lnSpc>
              <a:buNone/>
            </a:pPr>
            <a:r>
              <a:rPr lang="en-US" sz="1300" u="sng" dirty="0">
                <a:solidFill>
                  <a:srgbClr val="3A322C"/>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github.com/phac-nml/mob-suite</a:t>
            </a:r>
            <a:endParaRPr lang="en-US" sz="1300" dirty="0"/>
          </a:p>
        </p:txBody>
      </p:sp>
      <p:pic>
        <p:nvPicPr>
          <p:cNvPr id="17" name="Image 0" descr="ILRI and CGIAR logos">    </p:cNvPr>
          <p:cNvPicPr>
            <a:picLocks noChangeAspect="1"/>
          </p:cNvPicPr>
          <p:nvPr/>
        </p:nvPicPr>
        <p:blipFill>
          <a:blip r:embed="rId3"/>
          <a:srcRect l="-56" r="-56" t="0" b="0"/>
          <a:stretch/>
        </p:blipFill>
        <p:spPr>
          <a:xfrm>
            <a:off x="10033000" y="254000"/>
            <a:ext cx="1346200" cy="381000"/>
          </a:xfrm>
          <a:prstGeom prst="rect">
            <a:avLst/>
          </a:prstGeom>
        </p:spPr>
      </p:pic>
      <p:sp>
        <p:nvSpPr>
          <p:cNvPr id="18"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How MOB-suite works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3115717" cy="1352451"/>
          </a:xfrm>
          <a:prstGeom prst="roundRect">
            <a:avLst>
              <a:gd name="adj" fmla="val 5634"/>
            </a:avLst>
          </a:prstGeom>
          <a:solidFill>
            <a:srgbClr val="273003"/>
          </a:solidFill>
          <a:ln/>
        </p:spPr>
      </p:sp>
      <p:sp>
        <p:nvSpPr>
          <p:cNvPr id="5" name="Text 3"/>
          <p:cNvSpPr/>
          <p:nvPr/>
        </p:nvSpPr>
        <p:spPr>
          <a:xfrm>
            <a:off x="1016000" y="1887190"/>
            <a:ext cx="279059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1 · MOB_RECON</a:t>
            </a:r>
            <a:endParaRPr lang="en-US" sz="1200" dirty="0"/>
          </a:p>
        </p:txBody>
      </p:sp>
      <p:sp>
        <p:nvSpPr>
          <p:cNvPr id="6" name="Text 4"/>
          <p:cNvSpPr/>
          <p:nvPr/>
        </p:nvSpPr>
        <p:spPr>
          <a:xfrm>
            <a:off x="1016000" y="2164011"/>
            <a:ext cx="2790596"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9F2EA"/>
                </a:solidFill>
                <a:latin typeface="Carlito" pitchFamily="34" charset="0"/>
                <a:ea typeface="Carlito" pitchFamily="34" charset="-122"/>
                <a:cs typeface="Carlito" pitchFamily="34" charset="-120"/>
              </a:rPr>
              <a:t>Compares each contig with a database of complete plasmids and finds replicon and relaxase markers.</a:t>
            </a:r>
            <a:endParaRPr lang="en-US" sz="1400" dirty="0"/>
          </a:p>
        </p:txBody>
      </p:sp>
      <p:pic>
        <p:nvPicPr>
          <p:cNvPr id="7" name="Image 0" descr="arrow-right">    </p:cNvPr>
          <p:cNvPicPr>
            <a:picLocks noChangeAspect="1"/>
          </p:cNvPicPr>
          <p:nvPr/>
        </p:nvPicPr>
        <p:blipFill>
          <a:blip r:embed="rId1"/>
          <a:srcRect l="0" r="0" t="0" b="0"/>
          <a:stretch/>
        </p:blipFill>
        <p:spPr>
          <a:xfrm>
            <a:off x="4055517" y="2271316"/>
            <a:ext cx="355600" cy="228600"/>
          </a:xfrm>
          <a:prstGeom prst="rect">
            <a:avLst/>
          </a:prstGeom>
        </p:spPr>
      </p:pic>
      <p:sp>
        <p:nvSpPr>
          <p:cNvPr id="8" name="Shape 5"/>
          <p:cNvSpPr/>
          <p:nvPr/>
        </p:nvSpPr>
        <p:spPr>
          <a:xfrm>
            <a:off x="4538117" y="1709390"/>
            <a:ext cx="3115766" cy="1352451"/>
          </a:xfrm>
          <a:prstGeom prst="roundRect">
            <a:avLst>
              <a:gd name="adj" fmla="val 5634"/>
            </a:avLst>
          </a:prstGeom>
          <a:solidFill>
            <a:srgbClr val="273003"/>
          </a:solidFill>
          <a:ln/>
        </p:spPr>
      </p:sp>
      <p:sp>
        <p:nvSpPr>
          <p:cNvPr id="9" name="Text 6"/>
          <p:cNvSpPr/>
          <p:nvPr/>
        </p:nvSpPr>
        <p:spPr>
          <a:xfrm>
            <a:off x="4741317" y="1887190"/>
            <a:ext cx="2790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2 · GROUP</a:t>
            </a:r>
            <a:endParaRPr lang="en-US" sz="1200" dirty="0"/>
          </a:p>
        </p:txBody>
      </p:sp>
      <p:sp>
        <p:nvSpPr>
          <p:cNvPr id="10" name="Text 7"/>
          <p:cNvSpPr/>
          <p:nvPr/>
        </p:nvSpPr>
        <p:spPr>
          <a:xfrm>
            <a:off x="4741317" y="2164011"/>
            <a:ext cx="2790647"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9F2EA"/>
                </a:solidFill>
                <a:latin typeface="Carlito" pitchFamily="34" charset="0"/>
                <a:ea typeface="Carlito" pitchFamily="34" charset="-122"/>
                <a:cs typeface="Carlito" pitchFamily="34" charset="-120"/>
              </a:rPr>
              <a:t>Groups plasmid contigs into clusters: one cluster = one predicted plasmid. The rest is chromosome.</a:t>
            </a:r>
            <a:endParaRPr lang="en-US" sz="1400" dirty="0"/>
          </a:p>
        </p:txBody>
      </p:sp>
      <p:pic>
        <p:nvPicPr>
          <p:cNvPr id="11" name="Image 1" descr="arrow-right">    </p:cNvPr>
          <p:cNvPicPr>
            <a:picLocks noChangeAspect="1"/>
          </p:cNvPicPr>
          <p:nvPr/>
        </p:nvPicPr>
        <p:blipFill>
          <a:blip r:embed="rId2"/>
          <a:srcRect l="0" r="0" t="0" b="0"/>
          <a:stretch/>
        </p:blipFill>
        <p:spPr>
          <a:xfrm>
            <a:off x="7780883" y="2271316"/>
            <a:ext cx="355600" cy="228600"/>
          </a:xfrm>
          <a:prstGeom prst="rect">
            <a:avLst/>
          </a:prstGeom>
        </p:spPr>
      </p:pic>
      <p:sp>
        <p:nvSpPr>
          <p:cNvPr id="12" name="Shape 8"/>
          <p:cNvSpPr/>
          <p:nvPr/>
        </p:nvSpPr>
        <p:spPr>
          <a:xfrm>
            <a:off x="8263483" y="1829395"/>
            <a:ext cx="3115717" cy="1112441"/>
          </a:xfrm>
          <a:prstGeom prst="roundRect">
            <a:avLst>
              <a:gd name="adj" fmla="val 6850"/>
            </a:avLst>
          </a:prstGeom>
          <a:solidFill>
            <a:srgbClr val="273003"/>
          </a:solidFill>
          <a:ln/>
        </p:spPr>
      </p:sp>
      <p:sp>
        <p:nvSpPr>
          <p:cNvPr id="13" name="Text 9"/>
          <p:cNvSpPr/>
          <p:nvPr/>
        </p:nvSpPr>
        <p:spPr>
          <a:xfrm>
            <a:off x="8466683" y="2007195"/>
            <a:ext cx="279059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3 · MOB_TYPER</a:t>
            </a:r>
            <a:endParaRPr lang="en-US" sz="1200" dirty="0"/>
          </a:p>
        </p:txBody>
      </p:sp>
      <p:sp>
        <p:nvSpPr>
          <p:cNvPr id="14" name="Text 10"/>
          <p:cNvSpPr/>
          <p:nvPr/>
        </p:nvSpPr>
        <p:spPr>
          <a:xfrm>
            <a:off x="8466683" y="2284016"/>
            <a:ext cx="279059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9F2EA"/>
                </a:solidFill>
                <a:latin typeface="Carlito" pitchFamily="34" charset="0"/>
                <a:ea typeface="Carlito" pitchFamily="34" charset="-122"/>
                <a:cs typeface="Carlito" pitchFamily="34" charset="-120"/>
              </a:rPr>
              <a:t>Types each plasmid: size, replicons, and predicted mobility.</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328541"/>
          <a:ext cx="10553700" cy="1930053"/>
        </p:xfrm>
        <a:graphic>
          <a:graphicData uri="http://schemas.openxmlformats.org/drawingml/2006/table">
            <a:tbl>
              <a:tblPr/>
              <a:tblGrid>
                <a:gridCol w="3799332"/>
                <a:gridCol w="6754368"/>
              </a:tblGrid>
              <a:tr h="386011">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Output file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Contents</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chromosome.fasta</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Contigs assigned to the chromosome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plasmid_&lt;cluster&gt;.fasta</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Contigs of one predicted plasmid</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mobtyper_results.txt</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size, rep_type(s), predicted_mobility, primary_cluster_id</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contig_report.txt</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Which contig went where, and why</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pic>
        <p:nvPicPr>
          <p:cNvPr id="16" name="Image 2" descr="ILRI and CGIAR logos">    </p:cNvPr>
          <p:cNvPicPr>
            <a:picLocks noChangeAspect="1"/>
          </p:cNvPicPr>
          <p:nvPr/>
        </p:nvPicPr>
        <p:blipFill>
          <a:blip r:embed="rId3"/>
          <a:srcRect l="-56" r="-56" t="0" b="0"/>
          <a:stretch/>
        </p:blipFill>
        <p:spPr>
          <a:xfrm>
            <a:off x="10033000" y="254000"/>
            <a:ext cx="1346200" cy="381000"/>
          </a:xfrm>
          <a:prstGeom prst="rect">
            <a:avLst/>
          </a:prstGeom>
        </p:spPr>
      </p:pic>
      <p:sp>
        <p:nvSpPr>
          <p:cNvPr id="17"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8"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Hands-on: MOB-suite, hybrid and short-read</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58590"/>
            <a:ext cx="10566400" cy="3390751"/>
          </a:xfrm>
          <a:prstGeom prst="roundRect">
            <a:avLst>
              <a:gd name="adj" fmla="val 2247"/>
            </a:avLst>
          </a:prstGeom>
          <a:solidFill>
            <a:srgbClr val="273003"/>
          </a:solidFill>
          <a:ln/>
        </p:spPr>
        <p:txBody>
          <a:bodyPr wrap="square" lIns="206282" tIns="130082" rIns="0" bIns="104682" rtlCol="0" anchor="t">
            <a:normAutofit/>
          </a:bodyPr>
          <a:lstStyle/>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use_tools plasmids</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mkdir -p $RESULTS/05_plasmids</a:t>
            </a:r>
            <a:endParaRPr lang="en-US" sz="1200" dirty="0"/>
          </a:p>
          <a:p>
            <a:pPr algn="l" indent="0" marL="0">
              <a:lnSpc>
                <a:spcPts val="1620"/>
              </a:lnSpc>
              <a:buNone/>
            </a:pPr>
            <a:r>
              <a:rPr lang="en-US" sz="1200" dirty="0">
                <a:solidFill>
                  <a:srgbClr val="C2CA6E"/>
                </a:solidFill>
                <a:latin typeface="JetBrains Mono" pitchFamily="49" charset="0"/>
                <a:ea typeface="JetBrains Mono" pitchFamily="49" charset="-122"/>
                <a:cs typeface="JetBrains Mono" pitchFamily="49" charset="-120"/>
              </a:rPr>
              <a:t># CHI11E yourself (the hybrid isolate in your practice set), both assemblies</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s=CHI11E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mob_recon --infile $COURSE/assemblies/${s}.hybrid.fasta --outdir $RESULTS/05_plasmids/hybrid/$s -n $THREADS</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mob_recon --infile $COURSE/assemblies/${s}.fasta --outdir $RESULTS/05_plasmids/shortread/$s -n $THREADS</a:t>
            </a:r>
            <a:endParaRPr lang="en-US" sz="1200" dirty="0"/>
          </a:p>
          <a:p>
            <a:pPr algn="l" indent="0" marL="0">
              <a:lnSpc>
                <a:spcPts val="1620"/>
              </a:lnSpc>
              <a:buNone/>
            </a:pPr>
            <a:r>
              <a:rPr lang="en-US" sz="1200" dirty="0">
                <a:solidFill>
                  <a:srgbClr val="C2CA6E"/>
                </a:solidFill>
                <a:latin typeface="JetBrains Mono" pitchFamily="49" charset="0"/>
                <a:ea typeface="JetBrains Mono" pitchFamily="49" charset="-122"/>
                <a:cs typeface="JetBrains Mono" pitchFamily="49" charset="-120"/>
              </a:rPr>
              <a:t># CNS1F1 and 1013757 (and all short-read results) from the trainers</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use_precomputed 05_plasmids/hybrid 05_plasmids/shortread</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for s in CHI11E CNS1F1 1013757; do</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for t in hybrid shortread; do</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echo "== $s $t"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pick '^size$|^rep_type\(s\)$|^predicted_mobility$|^primary_cluster_id$' \</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$RESULTS/05_plasmids/$t/$s/mobtyper_results.txt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done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done</a:t>
            </a:r>
            <a:endParaRPr lang="en-US" sz="1200" dirty="0"/>
          </a:p>
        </p:txBody>
      </p:sp>
      <p:sp>
        <p:nvSpPr>
          <p:cNvPr id="5" name="Text 3"/>
          <p:cNvSpPr/>
          <p:nvPr/>
        </p:nvSpPr>
        <p:spPr>
          <a:xfrm>
            <a:off x="812800" y="52525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322C"/>
                </a:solidFill>
                <a:latin typeface="Carlito" pitchFamily="34" charset="0"/>
                <a:ea typeface="Carlito" pitchFamily="34" charset="-122"/>
                <a:cs typeface="Carlito" pitchFamily="34" charset="-120"/>
              </a:rPr>
              <a:t>pick</a:t>
            </a:r>
            <a:r>
              <a:rPr lang="en-US" sz="1400" dirty="0">
                <a:solidFill>
                  <a:srgbClr val="3A322C"/>
                </a:solidFill>
                <a:latin typeface="Carlito" pitchFamily="34" charset="0"/>
                <a:ea typeface="Carlito" pitchFamily="34" charset="-122"/>
                <a:cs typeface="Carlito" pitchFamily="34" charset="-120"/>
              </a:rPr>
              <a:t> (course helper) prints only the columns whose header matches. Then fill in the plasmid table.</a:t>
            </a:r>
            <a:endParaRPr lang="en-US" sz="1400" dirty="0"/>
          </a:p>
        </p:txBody>
      </p:sp>
      <p:pic>
        <p:nvPicPr>
          <p:cNvPr id="6"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7"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891F1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410700" y="704850"/>
            <a:ext cx="2781300" cy="54483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FCE00"/>
                </a:solidFill>
                <a:latin typeface="Carlito" pitchFamily="34" charset="0"/>
                <a:ea typeface="Carlito" pitchFamily="34" charset="-122"/>
                <a:cs typeface="Carlito" pitchFamily="34" charset="-120"/>
              </a:rPr>
              <a:t>SESSION 4 · 15:30–17:00 · MODULE 5</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9F2EA"/>
                </a:solidFill>
                <a:latin typeface="Carlito" pitchFamily="34" charset="0"/>
                <a:ea typeface="Carlito" pitchFamily="34" charset="-122"/>
                <a:cs typeface="Carlito" pitchFamily="34" charset="-120"/>
              </a:rPr>
              <a:t>Which plasmid carries which gene?</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1D3C9"/>
                </a:solidFill>
                <a:latin typeface="Carlito" pitchFamily="34" charset="0"/>
                <a:ea typeface="Carlito" pitchFamily="34" charset="-122"/>
                <a:cs typeface="Carlito" pitchFamily="34" charset="-120"/>
              </a:rPr>
              <a:t>Short-read versus hybrid assemblies</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B5A8"/>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3B5A8"/>
                </a:solidFill>
                <a:latin typeface="Carlito" pitchFamily="34" charset="0"/>
                <a:ea typeface="Carlito" pitchFamily="34" charset="-122"/>
                <a:cs typeface="Carlito"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Short-read versus hybrid</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5156200" cy="2236341"/>
          </a:xfrm>
          <a:prstGeom prst="roundRect">
            <a:avLst>
              <a:gd name="adj" fmla="val 2272"/>
            </a:avLst>
          </a:prstGeom>
          <a:solidFill>
            <a:srgbClr val="FFFFFF"/>
          </a:solidFill>
          <a:ln/>
        </p:spPr>
      </p:sp>
      <p:sp>
        <p:nvSpPr>
          <p:cNvPr id="5" name="Shape 3"/>
          <p:cNvSpPr/>
          <p:nvPr/>
        </p:nvSpPr>
        <p:spPr>
          <a:xfrm>
            <a:off x="812800" y="1709390"/>
            <a:ext cx="5156200" cy="2236341"/>
          </a:xfrm>
          <a:custGeom>
            <a:avLst/>
            <a:gdLst/>
            <a:ahLst/>
            <a:cxnLst/>
            <a:rect l="l" t="t" r="r" b="b"/>
            <a:pathLst>
              <a:path w="5156200" h="2236341">
                <a:moveTo>
                  <a:pt x="0" y="50800"/>
                </a:moveTo>
                <a:lnTo>
                  <a:pt x="0" y="50800"/>
                </a:lnTo>
                <a:arcTo hR="50800" wR="50800" stAng="10800000" swAng="5400000"/>
                <a:lnTo>
                  <a:pt x="5105400" y="0"/>
                </a:lnTo>
                <a:arcTo hR="50800" wR="50800" stAng="16200000" swAng="5400000"/>
                <a:lnTo>
                  <a:pt x="5156200" y="50800"/>
                </a:lnTo>
                <a:lnTo>
                  <a:pt x="0" y="50800"/>
                </a:lnTo>
                <a:close/>
              </a:path>
            </a:pathLst>
          </a:custGeom>
          <a:solidFill>
            <a:srgbClr val="891F15"/>
          </a:solidFill>
          <a:ln/>
        </p:spPr>
      </p:sp>
      <p:sp>
        <p:nvSpPr>
          <p:cNvPr id="6" name="Text 4"/>
          <p:cNvSpPr/>
          <p:nvPr/>
        </p:nvSpPr>
        <p:spPr>
          <a:xfrm>
            <a:off x="1066800" y="1988790"/>
            <a:ext cx="478764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891F15"/>
                </a:solidFill>
                <a:latin typeface="Carlito" pitchFamily="34" charset="0"/>
                <a:ea typeface="Carlito" pitchFamily="34" charset="-122"/>
                <a:cs typeface="Carlito" pitchFamily="34" charset="-120"/>
              </a:rPr>
              <a:t>Short-read (Illumina)</a:t>
            </a:r>
            <a:endParaRPr lang="en-US" sz="1800" dirty="0"/>
          </a:p>
        </p:txBody>
      </p:sp>
      <p:sp>
        <p:nvSpPr>
          <p:cNvPr id="7" name="Text 5"/>
          <p:cNvSpPr/>
          <p:nvPr/>
        </p:nvSpPr>
        <p:spPr>
          <a:xfrm>
            <a:off x="1066800" y="2390080"/>
            <a:ext cx="47876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Reads of ~150 bp cannot cross repeats such as IS</a:t>
            </a:r>
            <a:r>
              <a:rPr lang="en-US" sz="1400" i="1" dirty="0">
                <a:solidFill>
                  <a:srgbClr val="3A322C"/>
                </a:solidFill>
                <a:latin typeface="Carlito" pitchFamily="34" charset="0"/>
                <a:ea typeface="Carlito" pitchFamily="34" charset="-122"/>
                <a:cs typeface="Carlito" pitchFamily="34" charset="-120"/>
              </a:rPr>
              <a:t>26</a:t>
            </a:r>
            <a:r>
              <a:rPr lang="en-US" sz="1400" dirty="0">
                <a:solidFill>
                  <a:srgbClr val="3A322C"/>
                </a:solidFill>
                <a:latin typeface="Carlito" pitchFamily="34" charset="0"/>
                <a:ea typeface="Carlito" pitchFamily="34" charset="-122"/>
                <a:cs typeface="Carlito" pitchFamily="34" charset="-120"/>
              </a:rPr>
              <a:t>, so contigs </a:t>
            </a:r>
            <a:r>
              <a:rPr lang="en-US" sz="1400" b="1" dirty="0">
                <a:solidFill>
                  <a:srgbClr val="3A322C"/>
                </a:solidFill>
                <a:latin typeface="Carlito" pitchFamily="34" charset="0"/>
                <a:ea typeface="Carlito" pitchFamily="34" charset="-122"/>
                <a:cs typeface="Carlito" pitchFamily="34" charset="-120"/>
              </a:rPr>
              <a:t>end at the repeats</a:t>
            </a:r>
            <a:r>
              <a:rPr lang="en-US" sz="1400" dirty="0">
                <a:solidFill>
                  <a:srgbClr val="3A322C"/>
                </a:solidFill>
                <a:latin typeface="Carlito" pitchFamily="34" charset="0"/>
                <a:ea typeface="Carlito" pitchFamily="34" charset="-122"/>
                <a:cs typeface="Carlito" pitchFamily="34" charset="-120"/>
              </a:rPr>
              <a:t>.</a:t>
            </a:r>
            <a:endParaRPr lang="en-US" sz="1400" dirty="0"/>
          </a:p>
        </p:txBody>
      </p:sp>
      <p:sp>
        <p:nvSpPr>
          <p:cNvPr id="8" name="Text 6"/>
          <p:cNvSpPr/>
          <p:nvPr/>
        </p:nvSpPr>
        <p:spPr>
          <a:xfrm>
            <a:off x="1066800" y="2997101"/>
            <a:ext cx="4787646"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Each plasmid is split into many contigs. MOB-suite usually finds the </a:t>
            </a:r>
            <a:r>
              <a:rPr lang="en-US" sz="1400" b="1" dirty="0">
                <a:solidFill>
                  <a:srgbClr val="3A322C"/>
                </a:solidFill>
                <a:latin typeface="Carlito" pitchFamily="34" charset="0"/>
                <a:ea typeface="Carlito" pitchFamily="34" charset="-122"/>
                <a:cs typeface="Carlito" pitchFamily="34" charset="-120"/>
              </a:rPr>
              <a:t>replicons</a:t>
            </a:r>
            <a:r>
              <a:rPr lang="en-US" sz="1400" dirty="0">
                <a:solidFill>
                  <a:srgbClr val="3A322C"/>
                </a:solidFill>
                <a:latin typeface="Carlito" pitchFamily="34" charset="0"/>
                <a:ea typeface="Carlito" pitchFamily="34" charset="-122"/>
                <a:cs typeface="Carlito" pitchFamily="34" charset="-120"/>
              </a:rPr>
              <a:t>, but may </a:t>
            </a:r>
            <a:r>
              <a:rPr lang="en-US" sz="1400" b="1" dirty="0">
                <a:solidFill>
                  <a:srgbClr val="3A322C"/>
                </a:solidFill>
                <a:latin typeface="Carlito" pitchFamily="34" charset="0"/>
                <a:ea typeface="Carlito" pitchFamily="34" charset="-122"/>
                <a:cs typeface="Carlito" pitchFamily="34" charset="-120"/>
              </a:rPr>
              <a:t>merge</a:t>
            </a:r>
            <a:r>
              <a:rPr lang="en-US" sz="1400" dirty="0">
                <a:solidFill>
                  <a:srgbClr val="3A322C"/>
                </a:solidFill>
                <a:latin typeface="Carlito" pitchFamily="34" charset="0"/>
                <a:ea typeface="Carlito" pitchFamily="34" charset="-122"/>
                <a:cs typeface="Carlito" pitchFamily="34" charset="-120"/>
              </a:rPr>
              <a:t> two plasmids that share repeats, or </a:t>
            </a:r>
            <a:r>
              <a:rPr lang="en-US" sz="1400" b="1" dirty="0">
                <a:solidFill>
                  <a:srgbClr val="3A322C"/>
                </a:solidFill>
                <a:latin typeface="Carlito" pitchFamily="34" charset="0"/>
                <a:ea typeface="Carlito" pitchFamily="34" charset="-122"/>
                <a:cs typeface="Carlito" pitchFamily="34" charset="-120"/>
              </a:rPr>
              <a:t>miss</a:t>
            </a:r>
            <a:r>
              <a:rPr lang="en-US" sz="1400" dirty="0">
                <a:solidFill>
                  <a:srgbClr val="3A322C"/>
                </a:solidFill>
                <a:latin typeface="Carlito" pitchFamily="34" charset="0"/>
                <a:ea typeface="Carlito" pitchFamily="34" charset="-122"/>
                <a:cs typeface="Carlito" pitchFamily="34" charset="-120"/>
              </a:rPr>
              <a:t> contigs.</a:t>
            </a:r>
            <a:endParaRPr lang="en-US" sz="1400" dirty="0"/>
          </a:p>
        </p:txBody>
      </p:sp>
      <p:sp>
        <p:nvSpPr>
          <p:cNvPr id="9" name="Shape 7"/>
          <p:cNvSpPr/>
          <p:nvPr/>
        </p:nvSpPr>
        <p:spPr>
          <a:xfrm>
            <a:off x="6223000" y="1709390"/>
            <a:ext cx="5156200" cy="2236341"/>
          </a:xfrm>
          <a:prstGeom prst="roundRect">
            <a:avLst>
              <a:gd name="adj" fmla="val 2272"/>
            </a:avLst>
          </a:prstGeom>
          <a:solidFill>
            <a:srgbClr val="FFFFFF"/>
          </a:solidFill>
          <a:ln/>
        </p:spPr>
      </p:sp>
      <p:sp>
        <p:nvSpPr>
          <p:cNvPr id="10" name="Shape 8"/>
          <p:cNvSpPr/>
          <p:nvPr/>
        </p:nvSpPr>
        <p:spPr>
          <a:xfrm>
            <a:off x="6223000" y="1709390"/>
            <a:ext cx="5156200" cy="2236341"/>
          </a:xfrm>
          <a:custGeom>
            <a:avLst/>
            <a:gdLst/>
            <a:ahLst/>
            <a:cxnLst/>
            <a:rect l="l" t="t" r="r" b="b"/>
            <a:pathLst>
              <a:path w="5156200" h="2236341">
                <a:moveTo>
                  <a:pt x="0" y="50800"/>
                </a:moveTo>
                <a:lnTo>
                  <a:pt x="0" y="50800"/>
                </a:lnTo>
                <a:arcTo hR="50800" wR="50800" stAng="10800000" swAng="5400000"/>
                <a:lnTo>
                  <a:pt x="5105400" y="0"/>
                </a:lnTo>
                <a:arcTo hR="50800" wR="50800" stAng="16200000" swAng="5400000"/>
                <a:lnTo>
                  <a:pt x="5156200" y="50800"/>
                </a:lnTo>
                <a:lnTo>
                  <a:pt x="0" y="50800"/>
                </a:lnTo>
                <a:close/>
              </a:path>
            </a:pathLst>
          </a:custGeom>
          <a:solidFill>
            <a:srgbClr val="273003"/>
          </a:solidFill>
          <a:ln/>
        </p:spPr>
      </p:sp>
      <p:sp>
        <p:nvSpPr>
          <p:cNvPr id="11" name="Text 9"/>
          <p:cNvSpPr/>
          <p:nvPr/>
        </p:nvSpPr>
        <p:spPr>
          <a:xfrm>
            <a:off x="6477000" y="1988790"/>
            <a:ext cx="478764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73003"/>
                </a:solidFill>
                <a:latin typeface="Carlito" pitchFamily="34" charset="0"/>
                <a:ea typeface="Carlito" pitchFamily="34" charset="-122"/>
                <a:cs typeface="Carlito" pitchFamily="34" charset="-120"/>
              </a:rPr>
              <a:t>Hybrid (Nanopore + Illumina)</a:t>
            </a:r>
            <a:endParaRPr lang="en-US" sz="1800" dirty="0"/>
          </a:p>
        </p:txBody>
      </p:sp>
      <p:sp>
        <p:nvSpPr>
          <p:cNvPr id="12" name="Text 10"/>
          <p:cNvSpPr/>
          <p:nvPr/>
        </p:nvSpPr>
        <p:spPr>
          <a:xfrm>
            <a:off x="6477000" y="2390080"/>
            <a:ext cx="47876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Long reads span the repeats: each plasmid is usually </a:t>
            </a:r>
            <a:r>
              <a:rPr lang="en-US" sz="1400" b="1" dirty="0">
                <a:solidFill>
                  <a:srgbClr val="3A322C"/>
                </a:solidFill>
                <a:latin typeface="Carlito" pitchFamily="34" charset="0"/>
                <a:ea typeface="Carlito" pitchFamily="34" charset="-122"/>
                <a:cs typeface="Carlito" pitchFamily="34" charset="-120"/>
              </a:rPr>
              <a:t>one circular contig</a:t>
            </a:r>
            <a:r>
              <a:rPr lang="en-US" sz="1400" dirty="0">
                <a:solidFill>
                  <a:srgbClr val="3A322C"/>
                </a:solidFill>
                <a:latin typeface="Carlito" pitchFamily="34" charset="0"/>
                <a:ea typeface="Carlito" pitchFamily="34" charset="-122"/>
                <a:cs typeface="Carlito" pitchFamily="34" charset="-120"/>
              </a:rPr>
              <a:t>. Illumina reads polish the errors.</a:t>
            </a:r>
            <a:endParaRPr lang="en-US" sz="1400" dirty="0"/>
          </a:p>
        </p:txBody>
      </p:sp>
      <p:sp>
        <p:nvSpPr>
          <p:cNvPr id="13" name="Text 11"/>
          <p:cNvSpPr/>
          <p:nvPr/>
        </p:nvSpPr>
        <p:spPr>
          <a:xfrm>
            <a:off x="6477000" y="2997101"/>
            <a:ext cx="47876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Caveat: </a:t>
            </a:r>
            <a:r>
              <a:rPr lang="en-US" sz="1400" b="1" dirty="0">
                <a:solidFill>
                  <a:srgbClr val="3A322C"/>
                </a:solidFill>
                <a:latin typeface="Carlito" pitchFamily="34" charset="0"/>
                <a:ea typeface="Carlito" pitchFamily="34" charset="-122"/>
                <a:cs typeface="Carlito" pitchFamily="34" charset="-120"/>
              </a:rPr>
              <a:t>small plasmids</a:t>
            </a:r>
            <a:r>
              <a:rPr lang="en-US" sz="1400" dirty="0">
                <a:solidFill>
                  <a:srgbClr val="3A322C"/>
                </a:solidFill>
                <a:latin typeface="Carlito" pitchFamily="34" charset="0"/>
                <a:ea typeface="Carlito" pitchFamily="34" charset="-122"/>
                <a:cs typeface="Carlito" pitchFamily="34" charset="-120"/>
              </a:rPr>
              <a:t> (under 10 kb) can be lost. Check against the short-read assembly.</a:t>
            </a:r>
            <a:endParaRPr lang="en-US" sz="1400" dirty="0"/>
          </a:p>
        </p:txBody>
      </p:sp>
      <p:sp>
        <p:nvSpPr>
          <p:cNvPr id="14" name="Shape 12"/>
          <p:cNvSpPr/>
          <p:nvPr/>
        </p:nvSpPr>
        <p:spPr>
          <a:xfrm>
            <a:off x="812800" y="4199731"/>
            <a:ext cx="10566400" cy="660400"/>
          </a:xfrm>
          <a:prstGeom prst="roundRect">
            <a:avLst>
              <a:gd name="adj" fmla="val 11538"/>
            </a:avLst>
          </a:prstGeom>
          <a:solidFill>
            <a:srgbClr val="273003"/>
          </a:solidFill>
          <a:ln/>
        </p:spPr>
      </p:sp>
      <p:pic>
        <p:nvPicPr>
          <p:cNvPr id="15" name="Image 0" descr="Warning">    </p:cNvPr>
          <p:cNvPicPr>
            <a:picLocks noChangeAspect="1"/>
          </p:cNvPicPr>
          <p:nvPr/>
        </p:nvPicPr>
        <p:blipFill>
          <a:blip r:embed="rId1"/>
          <a:srcRect l="0" r="0" t="0" b="0"/>
          <a:stretch/>
        </p:blipFill>
        <p:spPr>
          <a:xfrm>
            <a:off x="1066800" y="4377531"/>
            <a:ext cx="304800" cy="304800"/>
          </a:xfrm>
          <a:prstGeom prst="rect">
            <a:avLst/>
          </a:prstGeom>
        </p:spPr>
      </p:pic>
      <p:sp>
        <p:nvSpPr>
          <p:cNvPr id="16" name="Text 13"/>
          <p:cNvSpPr/>
          <p:nvPr/>
        </p:nvSpPr>
        <p:spPr>
          <a:xfrm>
            <a:off x="1524000" y="4401344"/>
            <a:ext cx="938831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9F2EA"/>
                </a:solidFill>
                <a:latin typeface="Carlito" pitchFamily="34" charset="0"/>
                <a:ea typeface="Carlito" pitchFamily="34" charset="-122"/>
                <a:cs typeface="Carlito" pitchFamily="34" charset="-120"/>
              </a:rPr>
              <a:t>A gene on a short contig flanked by IS</a:t>
            </a:r>
            <a:r>
              <a:rPr lang="en-US" sz="1500" i="1" dirty="0">
                <a:solidFill>
                  <a:srgbClr val="F9F2EA"/>
                </a:solidFill>
                <a:latin typeface="Carlito" pitchFamily="34" charset="0"/>
                <a:ea typeface="Carlito" pitchFamily="34" charset="-122"/>
                <a:cs typeface="Carlito" pitchFamily="34" charset="-120"/>
              </a:rPr>
              <a:t>26</a:t>
            </a:r>
            <a:r>
              <a:rPr lang="en-US" sz="1500" dirty="0">
                <a:solidFill>
                  <a:srgbClr val="F9F2EA"/>
                </a:solidFill>
                <a:latin typeface="Carlito" pitchFamily="34" charset="0"/>
                <a:ea typeface="Carlito" pitchFamily="34" charset="-122"/>
                <a:cs typeface="Carlito" pitchFamily="34" charset="-120"/>
              </a:rPr>
              <a:t>: plasmid or chromosome? From short reads, </a:t>
            </a:r>
            <a:r>
              <a:rPr lang="en-US" sz="1500" b="1" dirty="0">
                <a:solidFill>
                  <a:srgbClr val="F9F2EA"/>
                </a:solidFill>
                <a:latin typeface="Carlito" pitchFamily="34" charset="0"/>
                <a:ea typeface="Carlito" pitchFamily="34" charset="-122"/>
                <a:cs typeface="Carlito" pitchFamily="34" charset="-120"/>
              </a:rPr>
              <a:t>you cannot tell</a:t>
            </a:r>
            <a:r>
              <a:rPr lang="en-US" sz="1500" dirty="0">
                <a:solidFill>
                  <a:srgbClr val="F9F2EA"/>
                </a:solidFill>
                <a:latin typeface="Carlito" pitchFamily="34" charset="0"/>
                <a:ea typeface="Carlito" pitchFamily="34" charset="-122"/>
                <a:cs typeface="Carlito" pitchFamily="34" charset="-120"/>
              </a:rPr>
              <a:t>.</a:t>
            </a:r>
            <a:endParaRPr lang="en-US" sz="1500" dirty="0"/>
          </a:p>
        </p:txBody>
      </p:sp>
      <p:pic>
        <p:nvPicPr>
          <p:cNvPr id="17" name="Image 1" descr="ILRI and CGIAR logos">    </p:cNvPr>
          <p:cNvPicPr>
            <a:picLocks noChangeAspect="1"/>
          </p:cNvPicPr>
          <p:nvPr/>
        </p:nvPicPr>
        <p:blipFill>
          <a:blip r:embed="rId2"/>
          <a:srcRect l="-56" r="-56" t="0" b="0"/>
          <a:stretch/>
        </p:blipFill>
        <p:spPr>
          <a:xfrm>
            <a:off x="10033000" y="254000"/>
            <a:ext cx="1346200" cy="381000"/>
          </a:xfrm>
          <a:prstGeom prst="rect">
            <a:avLst/>
          </a:prstGeom>
        </p:spPr>
      </p:pic>
      <p:sp>
        <p:nvSpPr>
          <p:cNvPr id="18"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9"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What the hybrids should contain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70939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The study's closed plasmids (Table S6). Compare with your MOB-suite results.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33265"/>
          <a:ext cx="10553700" cy="2451100"/>
        </p:xfrm>
        <a:graphic>
          <a:graphicData uri="http://schemas.openxmlformats.org/drawingml/2006/table">
            <a:tbl>
              <a:tblPr/>
              <a:tblGrid>
                <a:gridCol w="1688592"/>
                <a:gridCol w="2955036"/>
                <a:gridCol w="2955036"/>
                <a:gridCol w="2955036"/>
              </a:tblGrid>
              <a:tr h="412750">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Isolate</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Plasmid 1</a:t>
                      </a:r>
                      <a:endParaRPr lang="en-US" sz="1500" dirty="0">
                        <a:latin typeface="Carlito" charset="0"/>
                        <a:ea typeface="Carlito" charset="0"/>
                        <a:cs typeface="Carlito" charset="0"/>
                      </a:endParaRPr>
                    </a:p>
                  </a:txBody>
                  <a:tcPr marL="66675" marR="66675" marT="66675" marB="6667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Plasmid 2</a:t>
                      </a:r>
                      <a:endParaRPr lang="en-US" sz="1500" dirty="0">
                        <a:latin typeface="Carlito" charset="0"/>
                        <a:ea typeface="Carlito" charset="0"/>
                        <a:cs typeface="Carlito" charset="0"/>
                      </a:endParaRPr>
                    </a:p>
                  </a:txBody>
                  <a:tcPr marL="66675" marR="66675" marT="66675" marB="6667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Plasmid 3</a:t>
                      </a:r>
                      <a:endParaRPr lang="en-US" sz="1500" dirty="0">
                        <a:latin typeface="Carlito" charset="0"/>
                        <a:ea typeface="Carlito" charset="0"/>
                        <a:cs typeface="Carlito" charset="0"/>
                      </a:endParaRPr>
                    </a:p>
                  </a:txBody>
                  <a:tcPr marL="66675" marR="66675" marT="66675" marB="6667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6794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CHI11E</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143,302 bp</a:t>
                      </a:r>
                      <a:endParaRPr lang="en-US" sz="1500" dirty="0">
                        <a:latin typeface="Carlito" charset="0"/>
                        <a:ea typeface="Carlito" charset="0"/>
                        <a:cs typeface="Carlito" charset="0"/>
                      </a:endParaRPr>
                    </a:p>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IncFII(K), IncR</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11,493 bp</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4,269 bp</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6794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CNS1F1</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187,438 bp</a:t>
                      </a:r>
                      <a:endParaRPr lang="en-US" sz="1500" dirty="0">
                        <a:latin typeface="Carlito" charset="0"/>
                        <a:ea typeface="Carlito" charset="0"/>
                        <a:cs typeface="Carlito" charset="0"/>
                      </a:endParaRPr>
                    </a:p>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IncFIB(K)(pCAV1099-114)</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142,041 bp</a:t>
                      </a:r>
                      <a:endParaRPr lang="en-US" sz="1500" dirty="0">
                        <a:latin typeface="Carlito" charset="0"/>
                        <a:ea typeface="Carlito" charset="0"/>
                        <a:cs typeface="Carlito" charset="0"/>
                      </a:endParaRPr>
                    </a:p>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IncFII(K), IncR</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16,361 bp</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6794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1013757</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140,482 bp</a:t>
                      </a:r>
                      <a:endParaRPr lang="en-US" sz="1500" dirty="0">
                        <a:latin typeface="Carlito" charset="0"/>
                        <a:ea typeface="Carlito" charset="0"/>
                        <a:cs typeface="Carlito" charset="0"/>
                      </a:endParaRPr>
                    </a:p>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IncFIB(AP001918), IncFII</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81,013 bp</a:t>
                      </a:r>
                      <a:endParaRPr lang="en-US" sz="1500" dirty="0">
                        <a:latin typeface="Carlito" charset="0"/>
                        <a:ea typeface="Carlito" charset="0"/>
                        <a:cs typeface="Carlito" charset="0"/>
                      </a:endParaRPr>
                    </a:p>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IncY</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10,638 bp</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bl>
          </a:graphicData>
        </a:graphic>
      </p:graphicFrame>
      <p:sp>
        <p:nvSpPr>
          <p:cNvPr id="6" name="Shape 3"/>
          <p:cNvSpPr/>
          <p:nvPr/>
        </p:nvSpPr>
        <p:spPr>
          <a:xfrm>
            <a:off x="838200" y="4938365"/>
            <a:ext cx="0" cy="358775"/>
          </a:xfrm>
          <a:prstGeom prst="line">
            <a:avLst/>
          </a:prstGeom>
          <a:noFill/>
          <a:ln w="50800">
            <a:solidFill>
              <a:srgbClr val="891F15"/>
            </a:solidFill>
            <a:prstDash val="solid"/>
          </a:ln>
        </p:spPr>
      </p:sp>
      <p:sp>
        <p:nvSpPr>
          <p:cNvPr id="7" name="Text 4"/>
          <p:cNvSpPr/>
          <p:nvPr/>
        </p:nvSpPr>
        <p:spPr>
          <a:xfrm>
            <a:off x="1041400" y="4989165"/>
            <a:ext cx="876488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From short reads: do you find the </a:t>
            </a:r>
            <a:r>
              <a:rPr lang="en-US" sz="1500" b="1" dirty="0">
                <a:solidFill>
                  <a:srgbClr val="3A322C"/>
                </a:solidFill>
                <a:latin typeface="Carlito" pitchFamily="34" charset="0"/>
                <a:ea typeface="Carlito" pitchFamily="34" charset="-122"/>
                <a:cs typeface="Carlito" pitchFamily="34" charset="-120"/>
              </a:rPr>
              <a:t>same replicons</a:t>
            </a:r>
            <a:r>
              <a:rPr lang="en-US" sz="1500" dirty="0">
                <a:solidFill>
                  <a:srgbClr val="3A322C"/>
                </a:solidFill>
                <a:latin typeface="Carlito" pitchFamily="34" charset="0"/>
                <a:ea typeface="Carlito" pitchFamily="34" charset="-122"/>
                <a:cs typeface="Carlito" pitchFamily="34" charset="-120"/>
              </a:rPr>
              <a:t>? The </a:t>
            </a:r>
            <a:r>
              <a:rPr lang="en-US" sz="1500" b="1" dirty="0">
                <a:solidFill>
                  <a:srgbClr val="3A322C"/>
                </a:solidFill>
                <a:latin typeface="Carlito" pitchFamily="34" charset="0"/>
                <a:ea typeface="Carlito" pitchFamily="34" charset="-122"/>
                <a:cs typeface="Carlito" pitchFamily="34" charset="-120"/>
              </a:rPr>
              <a:t>same number</a:t>
            </a:r>
            <a:r>
              <a:rPr lang="en-US" sz="1500" dirty="0">
                <a:solidFill>
                  <a:srgbClr val="3A322C"/>
                </a:solidFill>
                <a:latin typeface="Carlito" pitchFamily="34" charset="0"/>
                <a:ea typeface="Carlito" pitchFamily="34" charset="-122"/>
                <a:cs typeface="Carlito" pitchFamily="34" charset="-120"/>
              </a:rPr>
              <a:t> of plasmids? Which are split or merged?</a:t>
            </a:r>
            <a:endParaRPr lang="en-US" sz="1500" dirty="0"/>
          </a:p>
        </p:txBody>
      </p:sp>
      <p:pic>
        <p:nvPicPr>
          <p:cNvPr id="8"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9" name="Text 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Hands-on: genes per plasmid</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58590"/>
            <a:ext cx="10566400" cy="2567831"/>
          </a:xfrm>
          <a:prstGeom prst="roundRect">
            <a:avLst>
              <a:gd name="adj" fmla="val 2967"/>
            </a:avLst>
          </a:prstGeom>
          <a:solidFill>
            <a:srgbClr val="273003"/>
          </a:solidFill>
          <a:ln/>
        </p:spPr>
        <p:txBody>
          <a:bodyPr wrap="square" lIns="206282" tIns="130082" rIns="0" bIns="104682" rtlCol="0" anchor="t">
            <a:normAutofit/>
          </a:bodyPr>
          <a:lstStyle/>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use_tools amr</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AMRDB=$SHARED/databases/amrfinderplus/latest</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for s in CHI11E CNS1F1 1013757; do</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for p in $RESULTS/05_plasmids/hybrid/$s/plasmid_*.fasta \</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$RESULTS/05_plasmids/hybrid/$s/chromosome.fasta; do</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 -f "$p" ] || continue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echo "== $s $(basename $p .fasta)"</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amrfinder -n $p --plus -d $AMRDB --threads $THREADS 2&gt;/dev/null \</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 awk -F'\t' 'NR==1{for(i=1;i&lt;=NF;i++) if($i ~ /symbol/) c=i} NR&gt;1{print "   " $c}'</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done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done</a:t>
            </a:r>
            <a:endParaRPr lang="en-US" sz="1200" dirty="0"/>
          </a:p>
        </p:txBody>
      </p:sp>
      <p:sp>
        <p:nvSpPr>
          <p:cNvPr id="5" name="Text 3"/>
          <p:cNvSpPr/>
          <p:nvPr/>
        </p:nvSpPr>
        <p:spPr>
          <a:xfrm>
            <a:off x="812800" y="4429621"/>
            <a:ext cx="3403600" cy="897830"/>
          </a:xfrm>
          <a:prstGeom prst="roundRect">
            <a:avLst>
              <a:gd name="adj" fmla="val 5658"/>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Runs AMRFinderPlus on </a:t>
            </a:r>
            <a:r>
              <a:rPr lang="en-US" sz="1300" b="1" dirty="0">
                <a:solidFill>
                  <a:srgbClr val="3A322C"/>
                </a:solidFill>
                <a:latin typeface="Carlito" pitchFamily="34" charset="0"/>
                <a:ea typeface="Carlito" pitchFamily="34" charset="-122"/>
                <a:cs typeface="Carlito" pitchFamily="34" charset="-120"/>
              </a:rPr>
              <a:t>each plasmid and the chromosome</a:t>
            </a:r>
            <a:r>
              <a:rPr lang="en-US" sz="1300" dirty="0">
                <a:solidFill>
                  <a:srgbClr val="3A322C"/>
                </a:solidFill>
                <a:latin typeface="Carlito" pitchFamily="34" charset="0"/>
                <a:ea typeface="Carlito" pitchFamily="34" charset="-122"/>
                <a:cs typeface="Carlito" pitchFamily="34" charset="-120"/>
              </a:rPr>
              <a:t> separately, so every gene gets a location</a:t>
            </a:r>
            <a:endParaRPr lang="en-US" sz="1300" dirty="0"/>
          </a:p>
        </p:txBody>
      </p:sp>
      <p:sp>
        <p:nvSpPr>
          <p:cNvPr id="6" name="Shape 4"/>
          <p:cNvSpPr/>
          <p:nvPr/>
        </p:nvSpPr>
        <p:spPr>
          <a:xfrm>
            <a:off x="812800" y="4429621"/>
            <a:ext cx="3403600" cy="897830"/>
          </a:xfrm>
          <a:custGeom>
            <a:avLst/>
            <a:gdLst/>
            <a:ahLst/>
            <a:cxnLst/>
            <a:rect l="l" t="t" r="r" b="b"/>
            <a:pathLst>
              <a:path w="3403600" h="897830">
                <a:moveTo>
                  <a:pt x="50800" y="897830"/>
                </a:moveTo>
                <a:lnTo>
                  <a:pt x="50800" y="897830"/>
                </a:lnTo>
                <a:arcTo hR="50800" wR="50800" stAng="5400000" swAng="5400000"/>
                <a:lnTo>
                  <a:pt x="0" y="50800"/>
                </a:lnTo>
                <a:arcTo hR="50800" wR="50800" stAng="10800000" swAng="5400000"/>
                <a:lnTo>
                  <a:pt x="50800" y="0"/>
                </a:lnTo>
                <a:lnTo>
                  <a:pt x="50800" y="897830"/>
                </a:lnTo>
                <a:close/>
              </a:path>
            </a:pathLst>
          </a:custGeom>
          <a:solidFill>
            <a:srgbClr val="891F15"/>
          </a:solidFill>
          <a:ln/>
        </p:spPr>
      </p:sp>
      <p:sp>
        <p:nvSpPr>
          <p:cNvPr id="7" name="Text 5"/>
          <p:cNvSpPr/>
          <p:nvPr/>
        </p:nvSpPr>
        <p:spPr>
          <a:xfrm>
            <a:off x="4394200" y="4429621"/>
            <a:ext cx="3403600" cy="897830"/>
          </a:xfrm>
          <a:prstGeom prst="roundRect">
            <a:avLst>
              <a:gd name="adj" fmla="val 5658"/>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b="1" dirty="0">
                <a:solidFill>
                  <a:srgbClr val="3A322C"/>
                </a:solidFill>
                <a:latin typeface="Carlito" pitchFamily="34" charset="0"/>
                <a:ea typeface="Carlito" pitchFamily="34" charset="-122"/>
                <a:cs typeface="Carlito" pitchFamily="34" charset="-120"/>
              </a:rPr>
              <a:t>[ -f ] || continue</a:t>
            </a:r>
            <a:r>
              <a:rPr lang="en-US" sz="1300" dirty="0">
                <a:solidFill>
                  <a:srgbClr val="3A322C"/>
                </a:solidFill>
                <a:latin typeface="Carlito" pitchFamily="34" charset="0"/>
                <a:ea typeface="Carlito" pitchFamily="34" charset="-122"/>
                <a:cs typeface="Carlito" pitchFamily="34" charset="-120"/>
              </a:rPr>
              <a:t> skips a pattern that matched no file</a:t>
            </a:r>
            <a:endParaRPr lang="en-US" sz="1300" dirty="0"/>
          </a:p>
        </p:txBody>
      </p:sp>
      <p:sp>
        <p:nvSpPr>
          <p:cNvPr id="8" name="Shape 6"/>
          <p:cNvSpPr/>
          <p:nvPr/>
        </p:nvSpPr>
        <p:spPr>
          <a:xfrm>
            <a:off x="4394200" y="4429621"/>
            <a:ext cx="3403600" cy="897830"/>
          </a:xfrm>
          <a:custGeom>
            <a:avLst/>
            <a:gdLst/>
            <a:ahLst/>
            <a:cxnLst/>
            <a:rect l="l" t="t" r="r" b="b"/>
            <a:pathLst>
              <a:path w="3403600" h="897830">
                <a:moveTo>
                  <a:pt x="50800" y="897830"/>
                </a:moveTo>
                <a:lnTo>
                  <a:pt x="50800" y="897830"/>
                </a:lnTo>
                <a:arcTo hR="50800" wR="50800" stAng="5400000" swAng="5400000"/>
                <a:lnTo>
                  <a:pt x="0" y="50800"/>
                </a:lnTo>
                <a:arcTo hR="50800" wR="50800" stAng="10800000" swAng="5400000"/>
                <a:lnTo>
                  <a:pt x="50800" y="0"/>
                </a:lnTo>
                <a:lnTo>
                  <a:pt x="50800" y="897830"/>
                </a:lnTo>
                <a:close/>
              </a:path>
            </a:pathLst>
          </a:custGeom>
          <a:solidFill>
            <a:srgbClr val="891F15"/>
          </a:solidFill>
          <a:ln/>
        </p:spPr>
      </p:sp>
      <p:sp>
        <p:nvSpPr>
          <p:cNvPr id="9" name="Text 7"/>
          <p:cNvSpPr/>
          <p:nvPr/>
        </p:nvSpPr>
        <p:spPr>
          <a:xfrm>
            <a:off x="7975600" y="4429621"/>
            <a:ext cx="3403600" cy="897830"/>
          </a:xfrm>
          <a:prstGeom prst="roundRect">
            <a:avLst>
              <a:gd name="adj" fmla="val 5658"/>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b="1" dirty="0">
                <a:solidFill>
                  <a:srgbClr val="3A322C"/>
                </a:solidFill>
                <a:latin typeface="Carlito" pitchFamily="34" charset="0"/>
                <a:ea typeface="Carlito" pitchFamily="34" charset="-122"/>
                <a:cs typeface="Carlito" pitchFamily="34" charset="-120"/>
              </a:rPr>
              <a:t>awk</a:t>
            </a:r>
            <a:r>
              <a:rPr lang="en-US" sz="1300" dirty="0">
                <a:solidFill>
                  <a:srgbClr val="3A322C"/>
                </a:solidFill>
                <a:latin typeface="Carlito" pitchFamily="34" charset="0"/>
                <a:ea typeface="Carlito" pitchFamily="34" charset="-122"/>
                <a:cs typeface="Carlito" pitchFamily="34" charset="-120"/>
              </a:rPr>
              <a:t> finds the gene symbol column in the header and prints only the gene names</a:t>
            </a:r>
            <a:endParaRPr lang="en-US" sz="1300" dirty="0"/>
          </a:p>
        </p:txBody>
      </p:sp>
      <p:sp>
        <p:nvSpPr>
          <p:cNvPr id="10" name="Shape 8"/>
          <p:cNvSpPr/>
          <p:nvPr/>
        </p:nvSpPr>
        <p:spPr>
          <a:xfrm>
            <a:off x="7975600" y="4429621"/>
            <a:ext cx="3403600" cy="897830"/>
          </a:xfrm>
          <a:custGeom>
            <a:avLst/>
            <a:gdLst/>
            <a:ahLst/>
            <a:cxnLst/>
            <a:rect l="l" t="t" r="r" b="b"/>
            <a:pathLst>
              <a:path w="3403600" h="897830">
                <a:moveTo>
                  <a:pt x="50800" y="897830"/>
                </a:moveTo>
                <a:lnTo>
                  <a:pt x="50800" y="897830"/>
                </a:lnTo>
                <a:arcTo hR="50800" wR="50800" stAng="5400000" swAng="5400000"/>
                <a:lnTo>
                  <a:pt x="0" y="50800"/>
                </a:lnTo>
                <a:arcTo hR="50800" wR="50800" stAng="10800000" swAng="5400000"/>
                <a:lnTo>
                  <a:pt x="50800" y="0"/>
                </a:lnTo>
                <a:lnTo>
                  <a:pt x="50800" y="897830"/>
                </a:lnTo>
                <a:close/>
              </a:path>
            </a:pathLst>
          </a:custGeom>
          <a:solidFill>
            <a:srgbClr val="273003"/>
          </a:solidFill>
          <a:ln/>
        </p:spPr>
      </p:sp>
      <p:pic>
        <p:nvPicPr>
          <p:cNvPr id="11"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7300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2EA"/>
                </a:solidFill>
                <a:latin typeface="Carlito" pitchFamily="34" charset="0"/>
                <a:ea typeface="Carlito" pitchFamily="34" charset="-122"/>
                <a:cs typeface="Carlito" pitchFamily="34" charset="-120"/>
              </a:rPr>
              <a:t>Questions a surveillance team would ask</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sp>
      <p:sp>
        <p:nvSpPr>
          <p:cNvPr id="4" name="Text 2"/>
          <p:cNvSpPr/>
          <p:nvPr/>
        </p:nvSpPr>
        <p:spPr>
          <a:xfrm>
            <a:off x="812800" y="1760190"/>
            <a:ext cx="23103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CE00"/>
                </a:solidFill>
                <a:latin typeface="Carlito" pitchFamily="34" charset="0"/>
                <a:ea typeface="Carlito" pitchFamily="34" charset="-122"/>
                <a:cs typeface="Carlito" pitchFamily="34" charset="-120"/>
              </a:rPr>
              <a:t>1</a:t>
            </a:r>
            <a:endParaRPr lang="en-US" sz="2800" dirty="0"/>
          </a:p>
        </p:txBody>
      </p:sp>
      <p:sp>
        <p:nvSpPr>
          <p:cNvPr id="5" name="Text 3"/>
          <p:cNvSpPr/>
          <p:nvPr/>
        </p:nvSpPr>
        <p:spPr>
          <a:xfrm>
            <a:off x="1170831" y="1760190"/>
            <a:ext cx="9989165"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9F2EA"/>
                </a:solidFill>
                <a:latin typeface="Carlito" pitchFamily="34" charset="0"/>
                <a:ea typeface="Carlito" pitchFamily="34" charset="-122"/>
                <a:cs typeface="Carlito" pitchFamily="34" charset="-120"/>
              </a:rPr>
              <a:t>In </a:t>
            </a:r>
            <a:r>
              <a:rPr lang="en-US" sz="1700" b="1" dirty="0">
                <a:solidFill>
                  <a:srgbClr val="F9F2EA"/>
                </a:solidFill>
                <a:latin typeface="Carlito" pitchFamily="34" charset="0"/>
                <a:ea typeface="Carlito" pitchFamily="34" charset="-122"/>
                <a:cs typeface="Carlito" pitchFamily="34" charset="-120"/>
              </a:rPr>
              <a:t>CHI11E</a:t>
            </a:r>
            <a:r>
              <a:rPr lang="en-US" sz="1700" dirty="0">
                <a:solidFill>
                  <a:srgbClr val="F9F2EA"/>
                </a:solidFill>
                <a:latin typeface="Carlito" pitchFamily="34" charset="0"/>
                <a:ea typeface="Carlito" pitchFamily="34" charset="-122"/>
                <a:cs typeface="Carlito" pitchFamily="34" charset="-120"/>
              </a:rPr>
              <a:t> and </a:t>
            </a:r>
            <a:r>
              <a:rPr lang="en-US" sz="1700" b="1" dirty="0">
                <a:solidFill>
                  <a:srgbClr val="F9F2EA"/>
                </a:solidFill>
                <a:latin typeface="Carlito" pitchFamily="34" charset="0"/>
                <a:ea typeface="Carlito" pitchFamily="34" charset="-122"/>
                <a:cs typeface="Carlito" pitchFamily="34" charset="-120"/>
              </a:rPr>
              <a:t>CNS1F1</a:t>
            </a:r>
            <a:r>
              <a:rPr lang="en-US" sz="1700" dirty="0">
                <a:solidFill>
                  <a:srgbClr val="F9F2EA"/>
                </a:solidFill>
                <a:latin typeface="Carlito" pitchFamily="34" charset="0"/>
                <a:ea typeface="Carlito" pitchFamily="34" charset="-122"/>
                <a:cs typeface="Carlito" pitchFamily="34" charset="-120"/>
              </a:rPr>
              <a:t>, is </a:t>
            </a:r>
            <a:r>
              <a:rPr lang="en-US" sz="1700" i="1" dirty="0">
                <a:solidFill>
                  <a:srgbClr val="F9F2EA"/>
                </a:solidFill>
                <a:latin typeface="Carlito" pitchFamily="34" charset="0"/>
                <a:ea typeface="Carlito" pitchFamily="34" charset="-122"/>
                <a:cs typeface="Carlito" pitchFamily="34" charset="-120"/>
              </a:rPr>
              <a:t>bla</a:t>
            </a:r>
            <a:r>
              <a:rPr lang="en-US" sz="1700" dirty="0">
                <a:solidFill>
                  <a:srgbClr val="F9F2EA"/>
                </a:solidFill>
                <a:latin typeface="Carlito" pitchFamily="34" charset="0"/>
                <a:ea typeface="Carlito" pitchFamily="34" charset="-122"/>
                <a:cs typeface="Carlito" pitchFamily="34" charset="-120"/>
              </a:rPr>
              <a:t>CTX-M-15 on a plasmid or the chromosome? Which replicon type?</a:t>
            </a:r>
            <a:endParaRPr lang="en-US" sz="1700" dirty="0"/>
          </a:p>
        </p:txBody>
      </p:sp>
      <p:sp>
        <p:nvSpPr>
          <p:cNvPr id="6" name="Text 4"/>
          <p:cNvSpPr/>
          <p:nvPr/>
        </p:nvSpPr>
        <p:spPr>
          <a:xfrm>
            <a:off x="812800" y="2344390"/>
            <a:ext cx="23103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CE00"/>
                </a:solidFill>
                <a:latin typeface="Carlito" pitchFamily="34" charset="0"/>
                <a:ea typeface="Carlito" pitchFamily="34" charset="-122"/>
                <a:cs typeface="Carlito" pitchFamily="34" charset="-120"/>
              </a:rPr>
              <a:t>2</a:t>
            </a:r>
            <a:endParaRPr lang="en-US" sz="2800" dirty="0"/>
          </a:p>
        </p:txBody>
      </p:sp>
      <p:sp>
        <p:nvSpPr>
          <p:cNvPr id="7" name="Text 5"/>
          <p:cNvSpPr/>
          <p:nvPr/>
        </p:nvSpPr>
        <p:spPr>
          <a:xfrm>
            <a:off x="1170831" y="2344390"/>
            <a:ext cx="10514620" cy="60831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9F2EA"/>
                </a:solidFill>
                <a:latin typeface="Carlito" pitchFamily="34" charset="0"/>
                <a:ea typeface="Carlito" pitchFamily="34" charset="-122"/>
                <a:cs typeface="Carlito" pitchFamily="34" charset="-120"/>
              </a:rPr>
              <a:t>CHI11E (ST39) and CNS1F1 (ST45) both have a ~142–143 kb IncFII(K)/IncR plasmid. Could it be the </a:t>
            </a:r>
            <a:r>
              <a:rPr lang="en-US" sz="1700" b="1" dirty="0">
                <a:solidFill>
                  <a:srgbClr val="F9F2EA"/>
                </a:solidFill>
                <a:latin typeface="Carlito" pitchFamily="34" charset="0"/>
                <a:ea typeface="Carlito" pitchFamily="34" charset="-122"/>
                <a:cs typeface="Carlito" pitchFamily="34" charset="-120"/>
              </a:rPr>
              <a:t>same plasmid in two lineages</a:t>
            </a:r>
            <a:r>
              <a:rPr lang="en-US" sz="1700" dirty="0">
                <a:solidFill>
                  <a:srgbClr val="F9F2EA"/>
                </a:solidFill>
                <a:latin typeface="Carlito" pitchFamily="34" charset="0"/>
                <a:ea typeface="Carlito" pitchFamily="34" charset="-122"/>
                <a:cs typeface="Carlito" pitchFamily="34" charset="-120"/>
              </a:rPr>
              <a:t>? </a:t>
            </a:r>
            <a:r>
              <a:rPr lang="en-US" sz="1700" dirty="0">
                <a:solidFill>
                  <a:srgbClr val="DDE2B0"/>
                </a:solidFill>
                <a:latin typeface="Carlito" pitchFamily="34" charset="0"/>
                <a:ea typeface="Carlito" pitchFamily="34" charset="-122"/>
                <a:cs typeface="Carlito" pitchFamily="34" charset="-120"/>
              </a:rPr>
              <a:t>You test this with Mash tomorrow.</a:t>
            </a:r>
            <a:endParaRPr lang="en-US" sz="1700" dirty="0"/>
          </a:p>
        </p:txBody>
      </p:sp>
      <p:sp>
        <p:nvSpPr>
          <p:cNvPr id="8" name="Text 6"/>
          <p:cNvSpPr/>
          <p:nvPr/>
        </p:nvSpPr>
        <p:spPr>
          <a:xfrm>
            <a:off x="812800" y="3155900"/>
            <a:ext cx="23103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CE00"/>
                </a:solidFill>
                <a:latin typeface="Carlito" pitchFamily="34" charset="0"/>
                <a:ea typeface="Carlito" pitchFamily="34" charset="-122"/>
                <a:cs typeface="Carlito" pitchFamily="34" charset="-120"/>
              </a:rPr>
              <a:t>3</a:t>
            </a:r>
            <a:endParaRPr lang="en-US" sz="2800" dirty="0"/>
          </a:p>
        </p:txBody>
      </p:sp>
      <p:sp>
        <p:nvSpPr>
          <p:cNvPr id="9" name="Text 7"/>
          <p:cNvSpPr/>
          <p:nvPr/>
        </p:nvSpPr>
        <p:spPr>
          <a:xfrm>
            <a:off x="1170831" y="3155900"/>
            <a:ext cx="11021169"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9F2EA"/>
                </a:solidFill>
                <a:latin typeface="Carlito" pitchFamily="34" charset="0"/>
                <a:ea typeface="Carlito" pitchFamily="34" charset="-122"/>
                <a:cs typeface="Carlito" pitchFamily="34" charset="-120"/>
              </a:rPr>
              <a:t>In </a:t>
            </a:r>
            <a:r>
              <a:rPr lang="en-US" sz="1700" b="1" dirty="0">
                <a:solidFill>
                  <a:srgbClr val="F9F2EA"/>
                </a:solidFill>
                <a:latin typeface="Carlito" pitchFamily="34" charset="0"/>
                <a:ea typeface="Carlito" pitchFamily="34" charset="-122"/>
                <a:cs typeface="Carlito" pitchFamily="34" charset="-120"/>
              </a:rPr>
              <a:t>1013757</a:t>
            </a:r>
            <a:r>
              <a:rPr lang="en-US" sz="1700" dirty="0">
                <a:solidFill>
                  <a:srgbClr val="F9F2EA"/>
                </a:solidFill>
                <a:latin typeface="Carlito" pitchFamily="34" charset="0"/>
                <a:ea typeface="Carlito" pitchFamily="34" charset="-122"/>
                <a:cs typeface="Carlito" pitchFamily="34" charset="-120"/>
              </a:rPr>
              <a:t> (</a:t>
            </a:r>
            <a:r>
              <a:rPr lang="en-US" sz="1700" i="1" dirty="0">
                <a:solidFill>
                  <a:srgbClr val="F9F2EA"/>
                </a:solidFill>
                <a:latin typeface="Carlito" pitchFamily="34" charset="0"/>
                <a:ea typeface="Carlito" pitchFamily="34" charset="-122"/>
                <a:cs typeface="Carlito" pitchFamily="34" charset="-120"/>
              </a:rPr>
              <a:t>K. variicola</a:t>
            </a:r>
            <a:r>
              <a:rPr lang="en-US" sz="1700" dirty="0">
                <a:solidFill>
                  <a:srgbClr val="F9F2EA"/>
                </a:solidFill>
                <a:latin typeface="Carlito" pitchFamily="34" charset="0"/>
                <a:ea typeface="Carlito" pitchFamily="34" charset="-122"/>
                <a:cs typeface="Carlito" pitchFamily="34" charset="-120"/>
              </a:rPr>
              <a:t>), which plasmid carries the aerobactin (</a:t>
            </a:r>
            <a:r>
              <a:rPr lang="en-US" sz="1700" i="1" dirty="0">
                <a:solidFill>
                  <a:srgbClr val="F9F2EA"/>
                </a:solidFill>
                <a:latin typeface="Carlito" pitchFamily="34" charset="0"/>
                <a:ea typeface="Carlito" pitchFamily="34" charset="-122"/>
                <a:cs typeface="Carlito" pitchFamily="34" charset="-120"/>
              </a:rPr>
              <a:t>iuc</a:t>
            </a:r>
            <a:r>
              <a:rPr lang="en-US" sz="1700" dirty="0">
                <a:solidFill>
                  <a:srgbClr val="F9F2EA"/>
                </a:solidFill>
                <a:latin typeface="Carlito" pitchFamily="34" charset="0"/>
                <a:ea typeface="Carlito" pitchFamily="34" charset="-122"/>
                <a:cs typeface="Carlito" pitchFamily="34" charset="-120"/>
              </a:rPr>
              <a:t>) and salmochelin (</a:t>
            </a:r>
            <a:r>
              <a:rPr lang="en-US" sz="1700" i="1" dirty="0">
                <a:solidFill>
                  <a:srgbClr val="F9F2EA"/>
                </a:solidFill>
                <a:latin typeface="Carlito" pitchFamily="34" charset="0"/>
                <a:ea typeface="Carlito" pitchFamily="34" charset="-122"/>
                <a:cs typeface="Carlito" pitchFamily="34" charset="-120"/>
              </a:rPr>
              <a:t>iro</a:t>
            </a:r>
            <a:r>
              <a:rPr lang="en-US" sz="1700" dirty="0">
                <a:solidFill>
                  <a:srgbClr val="F9F2EA"/>
                </a:solidFill>
                <a:latin typeface="Carlito" pitchFamily="34" charset="0"/>
                <a:ea typeface="Carlito" pitchFamily="34" charset="-122"/>
                <a:cs typeface="Carlito" pitchFamily="34" charset="-120"/>
              </a:rPr>
              <a:t>) genes you saw on Day 3?</a:t>
            </a:r>
            <a:endParaRPr lang="en-US" sz="1700" dirty="0"/>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1"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7300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2EA"/>
                </a:solidFill>
                <a:latin typeface="Carlito" pitchFamily="34" charset="0"/>
                <a:ea typeface="Carlito" pitchFamily="34" charset="-122"/>
                <a:cs typeface="Carlito" pitchFamily="34" charset="-120"/>
              </a:rPr>
              <a:t>Check your understanding</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sp>
      <p:sp>
        <p:nvSpPr>
          <p:cNvPr id="4" name="Text 2"/>
          <p:cNvSpPr/>
          <p:nvPr/>
        </p:nvSpPr>
        <p:spPr>
          <a:xfrm>
            <a:off x="812800" y="1709390"/>
            <a:ext cx="205284"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FCE00"/>
                </a:solidFill>
                <a:latin typeface="Carlito" pitchFamily="34" charset="0"/>
                <a:ea typeface="Carlito" pitchFamily="34" charset="-122"/>
                <a:cs typeface="Carlito" pitchFamily="34" charset="-120"/>
              </a:rPr>
              <a:t>1</a:t>
            </a:r>
            <a:endParaRPr lang="en-US" sz="2400" dirty="0"/>
          </a:p>
        </p:txBody>
      </p:sp>
      <p:sp>
        <p:nvSpPr>
          <p:cNvPr id="5" name="Text 3"/>
          <p:cNvSpPr/>
          <p:nvPr/>
        </p:nvSpPr>
        <p:spPr>
          <a:xfrm>
            <a:off x="1119684" y="1709390"/>
            <a:ext cx="512560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9F2EA"/>
                </a:solidFill>
                <a:latin typeface="Carlito" pitchFamily="34" charset="0"/>
                <a:ea typeface="Carlito" pitchFamily="34" charset="-122"/>
                <a:cs typeface="Carlito" pitchFamily="34" charset="-120"/>
              </a:rPr>
              <a:t>The genome says S, the lab says R. Which error is this, and why is it the dangerous one?</a:t>
            </a:r>
            <a:endParaRPr lang="en-US" sz="1600" dirty="0"/>
          </a:p>
        </p:txBody>
      </p:sp>
      <p:sp>
        <p:nvSpPr>
          <p:cNvPr id="6" name="Text 4"/>
          <p:cNvSpPr/>
          <p:nvPr/>
        </p:nvSpPr>
        <p:spPr>
          <a:xfrm>
            <a:off x="6096000" y="1709390"/>
            <a:ext cx="205284"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FCE00"/>
                </a:solidFill>
                <a:latin typeface="Carlito" pitchFamily="34" charset="0"/>
                <a:ea typeface="Carlito" pitchFamily="34" charset="-122"/>
                <a:cs typeface="Carlito" pitchFamily="34" charset="-120"/>
              </a:rPr>
              <a:t>2</a:t>
            </a:r>
            <a:endParaRPr lang="en-US" sz="2400" dirty="0"/>
          </a:p>
        </p:txBody>
      </p:sp>
      <p:sp>
        <p:nvSpPr>
          <p:cNvPr id="7" name="Text 5"/>
          <p:cNvSpPr/>
          <p:nvPr/>
        </p:nvSpPr>
        <p:spPr>
          <a:xfrm>
            <a:off x="6402884" y="1709390"/>
            <a:ext cx="512560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9F2EA"/>
                </a:solidFill>
                <a:latin typeface="Carlito" pitchFamily="34" charset="0"/>
                <a:ea typeface="Carlito" pitchFamily="34" charset="-122"/>
                <a:cs typeface="Carlito" pitchFamily="34" charset="-120"/>
              </a:rPr>
              <a:t>Many isolates carry </a:t>
            </a:r>
            <a:r>
              <a:rPr lang="en-US" sz="1600" i="1" dirty="0">
                <a:solidFill>
                  <a:srgbClr val="F9F2EA"/>
                </a:solidFill>
                <a:latin typeface="Carlito" pitchFamily="34" charset="0"/>
                <a:ea typeface="Carlito" pitchFamily="34" charset="-122"/>
                <a:cs typeface="Carlito" pitchFamily="34" charset="-120"/>
              </a:rPr>
              <a:t>aac(6')-Ib-cr</a:t>
            </a:r>
            <a:r>
              <a:rPr lang="en-US" sz="1600" dirty="0">
                <a:solidFill>
                  <a:srgbClr val="F9F2EA"/>
                </a:solidFill>
                <a:latin typeface="Carlito" pitchFamily="34" charset="0"/>
                <a:ea typeface="Carlito" pitchFamily="34" charset="-122"/>
                <a:cs typeface="Carlito" pitchFamily="34" charset="-120"/>
              </a:rPr>
              <a:t> but test amikacin-susceptible. Why?</a:t>
            </a:r>
            <a:endParaRPr lang="en-US" sz="1600" dirty="0"/>
          </a:p>
        </p:txBody>
      </p:sp>
      <p:sp>
        <p:nvSpPr>
          <p:cNvPr id="8" name="Text 6"/>
          <p:cNvSpPr/>
          <p:nvPr/>
        </p:nvSpPr>
        <p:spPr>
          <a:xfrm>
            <a:off x="812800" y="2257971"/>
            <a:ext cx="205284"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FCE00"/>
                </a:solidFill>
                <a:latin typeface="Carlito" pitchFamily="34" charset="0"/>
                <a:ea typeface="Carlito" pitchFamily="34" charset="-122"/>
                <a:cs typeface="Carlito" pitchFamily="34" charset="-120"/>
              </a:rPr>
              <a:t>3</a:t>
            </a:r>
            <a:endParaRPr lang="en-US" sz="2400" dirty="0"/>
          </a:p>
        </p:txBody>
      </p:sp>
      <p:sp>
        <p:nvSpPr>
          <p:cNvPr id="9" name="Text 7"/>
          <p:cNvSpPr/>
          <p:nvPr/>
        </p:nvSpPr>
        <p:spPr>
          <a:xfrm>
            <a:off x="1119684" y="2257971"/>
            <a:ext cx="512560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9F2EA"/>
                </a:solidFill>
                <a:latin typeface="Carlito" pitchFamily="34" charset="0"/>
                <a:ea typeface="Carlito" pitchFamily="34" charset="-122"/>
                <a:cs typeface="Carlito" pitchFamily="34" charset="-120"/>
              </a:rPr>
              <a:t>A gene sits on a 3 kb contig with an IS</a:t>
            </a:r>
            <a:r>
              <a:rPr lang="en-US" sz="1600" i="1" dirty="0">
                <a:solidFill>
                  <a:srgbClr val="F9F2EA"/>
                </a:solidFill>
                <a:latin typeface="Carlito" pitchFamily="34" charset="0"/>
                <a:ea typeface="Carlito" pitchFamily="34" charset="-122"/>
                <a:cs typeface="Carlito" pitchFamily="34" charset="-120"/>
              </a:rPr>
              <a:t>26</a:t>
            </a:r>
            <a:r>
              <a:rPr lang="en-US" sz="1600" dirty="0">
                <a:solidFill>
                  <a:srgbClr val="F9F2EA"/>
                </a:solidFill>
                <a:latin typeface="Carlito" pitchFamily="34" charset="0"/>
                <a:ea typeface="Carlito" pitchFamily="34" charset="-122"/>
                <a:cs typeface="Carlito" pitchFamily="34" charset="-120"/>
              </a:rPr>
              <a:t> copy at each end in a short-read assembly. Plasmid or chromosome?</a:t>
            </a:r>
            <a:endParaRPr lang="en-US" sz="1600" dirty="0"/>
          </a:p>
        </p:txBody>
      </p:sp>
      <p:sp>
        <p:nvSpPr>
          <p:cNvPr id="10" name="Text 8"/>
          <p:cNvSpPr/>
          <p:nvPr/>
        </p:nvSpPr>
        <p:spPr>
          <a:xfrm>
            <a:off x="6096000" y="2257971"/>
            <a:ext cx="205284"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FCE00"/>
                </a:solidFill>
                <a:latin typeface="Carlito" pitchFamily="34" charset="0"/>
                <a:ea typeface="Carlito" pitchFamily="34" charset="-122"/>
                <a:cs typeface="Carlito" pitchFamily="34" charset="-120"/>
              </a:rPr>
              <a:t>4</a:t>
            </a:r>
            <a:endParaRPr lang="en-US" sz="2400" dirty="0"/>
          </a:p>
        </p:txBody>
      </p:sp>
      <p:sp>
        <p:nvSpPr>
          <p:cNvPr id="11" name="Text 9"/>
          <p:cNvSpPr/>
          <p:nvPr/>
        </p:nvSpPr>
        <p:spPr>
          <a:xfrm>
            <a:off x="6402884" y="2257971"/>
            <a:ext cx="512560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9F2EA"/>
                </a:solidFill>
                <a:latin typeface="Carlito" pitchFamily="34" charset="0"/>
                <a:ea typeface="Carlito" pitchFamily="34" charset="-122"/>
                <a:cs typeface="Carlito" pitchFamily="34" charset="-120"/>
              </a:rPr>
              <a:t>Why do small plasmids (under 10 kb) sometimes appear in the short-read assembly but not the long-read one?</a:t>
            </a:r>
            <a:endParaRPr lang="en-US" sz="1600" dirty="0"/>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7300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448800" y="609600"/>
            <a:ext cx="2743200" cy="5600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C2CA6E"/>
                </a:solidFill>
                <a:latin typeface="Carlito" pitchFamily="34" charset="0"/>
                <a:ea typeface="Carlito" pitchFamily="34" charset="-122"/>
                <a:cs typeface="Carlito" pitchFamily="34" charset="-120"/>
              </a:rPr>
              <a:t>DAY 5 · SESSION 1 · 09:00–10:30 · MODULE 5</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9F2EA"/>
                </a:solidFill>
                <a:latin typeface="Carlito" pitchFamily="34" charset="0"/>
                <a:ea typeface="Carlito" pitchFamily="34" charset="-122"/>
                <a:cs typeface="Carlito" pitchFamily="34" charset="-120"/>
              </a:rPr>
              <a:t>Is the same plasmid in different lineages?</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DE2B0"/>
                </a:solidFill>
                <a:latin typeface="Carlito" pitchFamily="34" charset="0"/>
                <a:ea typeface="Carlito" pitchFamily="34" charset="-122"/>
                <a:cs typeface="Carlito" pitchFamily="34" charset="-120"/>
              </a:rPr>
              <a:t>Plasmid clusters across all isolates, and Mash distances</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Module 5 · Plasmids across lineages | Day 5</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Plasmid clusters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709390"/>
            <a:ext cx="10883392"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322C"/>
                </a:solidFill>
                <a:latin typeface="Carlito" pitchFamily="34" charset="0"/>
                <a:ea typeface="Carlito" pitchFamily="34" charset="-122"/>
                <a:cs typeface="Carlito" pitchFamily="34" charset="-120"/>
              </a:rPr>
              <a:t>MOB-suite assigns every plasmid to a </a:t>
            </a:r>
            <a:r>
              <a:rPr lang="en-US" sz="1600" b="1" dirty="0">
                <a:solidFill>
                  <a:srgbClr val="3A322C"/>
                </a:solidFill>
                <a:latin typeface="Carlito" pitchFamily="34" charset="0"/>
                <a:ea typeface="Carlito" pitchFamily="34" charset="-122"/>
                <a:cs typeface="Carlito" pitchFamily="34" charset="-120"/>
              </a:rPr>
              <a:t>cluster</a:t>
            </a:r>
            <a:r>
              <a:rPr lang="en-US" sz="1600" dirty="0">
                <a:solidFill>
                  <a:srgbClr val="3A322C"/>
                </a:solidFill>
                <a:latin typeface="Carlito" pitchFamily="34" charset="0"/>
                <a:ea typeface="Carlito" pitchFamily="34" charset="-122"/>
                <a:cs typeface="Carlito" pitchFamily="34" charset="-120"/>
              </a:rPr>
              <a:t> of closely related plasmids (</a:t>
            </a:r>
            <a:r>
              <a:rPr lang="en-US" sz="1600" b="1" dirty="0">
                <a:solidFill>
                  <a:srgbClr val="3A322C"/>
                </a:solidFill>
                <a:latin typeface="Carlito" pitchFamily="34" charset="0"/>
                <a:ea typeface="Carlito" pitchFamily="34" charset="-122"/>
                <a:cs typeface="Carlito" pitchFamily="34" charset="-120"/>
              </a:rPr>
              <a:t>primary_cluster_id</a:t>
            </a:r>
            <a:r>
              <a:rPr lang="en-US" sz="1600" dirty="0">
                <a:solidFill>
                  <a:srgbClr val="3A322C"/>
                </a:solidFill>
                <a:latin typeface="Carlito" pitchFamily="34" charset="0"/>
                <a:ea typeface="Carlito" pitchFamily="34" charset="-122"/>
                <a:cs typeface="Carlito" pitchFamily="34" charset="-120"/>
              </a:rPr>
              <a:t>). The same cluster ID in two isolates: probably the same plasmid, </a:t>
            </a:r>
            <a:r>
              <a:rPr lang="en-US" sz="1600" b="1" dirty="0">
                <a:solidFill>
                  <a:srgbClr val="3A322C"/>
                </a:solidFill>
                <a:latin typeface="Carlito" pitchFamily="34" charset="0"/>
                <a:ea typeface="Carlito" pitchFamily="34" charset="-122"/>
                <a:cs typeface="Carlito" pitchFamily="34" charset="-120"/>
              </a:rPr>
              <a:t>even in different STs</a:t>
            </a:r>
            <a:r>
              <a:rPr lang="en-US" sz="1600" dirty="0">
                <a:solidFill>
                  <a:srgbClr val="3A322C"/>
                </a:solidFill>
                <a:latin typeface="Carlito" pitchFamily="34" charset="0"/>
                <a:ea typeface="Carlito" pitchFamily="34" charset="-122"/>
                <a:cs typeface="Carlito" pitchFamily="34" charset="-120"/>
              </a:rPr>
              <a:t>.</a:t>
            </a:r>
            <a:endParaRPr lang="en-US" sz="1600" dirty="0"/>
          </a:p>
        </p:txBody>
      </p:sp>
      <p:sp>
        <p:nvSpPr>
          <p:cNvPr id="5" name="Shape 3"/>
          <p:cNvSpPr/>
          <p:nvPr/>
        </p:nvSpPr>
        <p:spPr>
          <a:xfrm>
            <a:off x="812800" y="2511971"/>
            <a:ext cx="5156200" cy="1297880"/>
          </a:xfrm>
          <a:prstGeom prst="roundRect">
            <a:avLst>
              <a:gd name="adj" fmla="val 3914"/>
            </a:avLst>
          </a:prstGeom>
          <a:solidFill>
            <a:srgbClr val="FFFFFF"/>
          </a:solidFill>
          <a:ln/>
        </p:spPr>
      </p:sp>
      <p:sp>
        <p:nvSpPr>
          <p:cNvPr id="6" name="Shape 4"/>
          <p:cNvSpPr/>
          <p:nvPr/>
        </p:nvSpPr>
        <p:spPr>
          <a:xfrm>
            <a:off x="812800" y="2511971"/>
            <a:ext cx="5156200" cy="1297880"/>
          </a:xfrm>
          <a:custGeom>
            <a:avLst/>
            <a:gdLst/>
            <a:ahLst/>
            <a:cxnLst/>
            <a:rect l="l" t="t" r="r" b="b"/>
            <a:pathLst>
              <a:path w="5156200" h="1297880">
                <a:moveTo>
                  <a:pt x="0" y="50800"/>
                </a:moveTo>
                <a:lnTo>
                  <a:pt x="0" y="50800"/>
                </a:lnTo>
                <a:arcTo hR="50800" wR="50800" stAng="10800000" swAng="5400000"/>
                <a:lnTo>
                  <a:pt x="5105400" y="0"/>
                </a:lnTo>
                <a:arcTo hR="50800" wR="50800" stAng="16200000" swAng="5400000"/>
                <a:lnTo>
                  <a:pt x="5156200" y="50800"/>
                </a:lnTo>
                <a:lnTo>
                  <a:pt x="0" y="50800"/>
                </a:lnTo>
                <a:close/>
              </a:path>
            </a:pathLst>
          </a:custGeom>
          <a:solidFill>
            <a:srgbClr val="273003"/>
          </a:solidFill>
          <a:ln/>
        </p:spPr>
      </p:sp>
      <p:sp>
        <p:nvSpPr>
          <p:cNvPr id="7" name="Text 5"/>
          <p:cNvSpPr/>
          <p:nvPr/>
        </p:nvSpPr>
        <p:spPr>
          <a:xfrm>
            <a:off x="1066800" y="2765971"/>
            <a:ext cx="47876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73003"/>
                </a:solidFill>
                <a:latin typeface="Carlito" pitchFamily="34" charset="0"/>
                <a:ea typeface="Carlito" pitchFamily="34" charset="-122"/>
                <a:cs typeface="Carlito" pitchFamily="34" charset="-120"/>
              </a:rPr>
              <a:t>Clonal spread</a:t>
            </a:r>
            <a:endParaRPr lang="en-US" sz="1700" dirty="0"/>
          </a:p>
        </p:txBody>
      </p:sp>
      <p:sp>
        <p:nvSpPr>
          <p:cNvPr id="8" name="Text 6"/>
          <p:cNvSpPr/>
          <p:nvPr/>
        </p:nvSpPr>
        <p:spPr>
          <a:xfrm>
            <a:off x="1066800" y="3126631"/>
            <a:ext cx="47876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One ST, one plasmid, many patients. The </a:t>
            </a:r>
            <a:r>
              <a:rPr lang="en-US" sz="1400" b="1" dirty="0">
                <a:solidFill>
                  <a:srgbClr val="3A322C"/>
                </a:solidFill>
                <a:latin typeface="Carlito" pitchFamily="34" charset="0"/>
                <a:ea typeface="Carlito" pitchFamily="34" charset="-122"/>
                <a:cs typeface="Carlito" pitchFamily="34" charset="-120"/>
              </a:rPr>
              <a:t>strain</a:t>
            </a:r>
            <a:r>
              <a:rPr lang="en-US" sz="1400" dirty="0">
                <a:solidFill>
                  <a:srgbClr val="3A322C"/>
                </a:solidFill>
                <a:latin typeface="Carlito" pitchFamily="34" charset="0"/>
                <a:ea typeface="Carlito" pitchFamily="34" charset="-122"/>
                <a:cs typeface="Carlito" pitchFamily="34" charset="-120"/>
              </a:rPr>
              <a:t> is moving. Typing by ST finds it.</a:t>
            </a:r>
            <a:endParaRPr lang="en-US" sz="1400" dirty="0"/>
          </a:p>
        </p:txBody>
      </p:sp>
      <p:sp>
        <p:nvSpPr>
          <p:cNvPr id="9" name="Shape 7"/>
          <p:cNvSpPr/>
          <p:nvPr/>
        </p:nvSpPr>
        <p:spPr>
          <a:xfrm>
            <a:off x="6223000" y="2511971"/>
            <a:ext cx="5156200" cy="1297880"/>
          </a:xfrm>
          <a:prstGeom prst="roundRect">
            <a:avLst>
              <a:gd name="adj" fmla="val 3914"/>
            </a:avLst>
          </a:prstGeom>
          <a:solidFill>
            <a:srgbClr val="FFFFFF"/>
          </a:solidFill>
          <a:ln/>
        </p:spPr>
      </p:sp>
      <p:sp>
        <p:nvSpPr>
          <p:cNvPr id="10" name="Shape 8"/>
          <p:cNvSpPr/>
          <p:nvPr/>
        </p:nvSpPr>
        <p:spPr>
          <a:xfrm>
            <a:off x="6223000" y="2511971"/>
            <a:ext cx="5156200" cy="1297880"/>
          </a:xfrm>
          <a:custGeom>
            <a:avLst/>
            <a:gdLst/>
            <a:ahLst/>
            <a:cxnLst/>
            <a:rect l="l" t="t" r="r" b="b"/>
            <a:pathLst>
              <a:path w="5156200" h="1297880">
                <a:moveTo>
                  <a:pt x="0" y="50800"/>
                </a:moveTo>
                <a:lnTo>
                  <a:pt x="0" y="50800"/>
                </a:lnTo>
                <a:arcTo hR="50800" wR="50800" stAng="10800000" swAng="5400000"/>
                <a:lnTo>
                  <a:pt x="5105400" y="0"/>
                </a:lnTo>
                <a:arcTo hR="50800" wR="50800" stAng="16200000" swAng="5400000"/>
                <a:lnTo>
                  <a:pt x="5156200" y="50800"/>
                </a:lnTo>
                <a:lnTo>
                  <a:pt x="0" y="50800"/>
                </a:lnTo>
                <a:close/>
              </a:path>
            </a:pathLst>
          </a:custGeom>
          <a:solidFill>
            <a:srgbClr val="891F15"/>
          </a:solidFill>
          <a:ln/>
        </p:spPr>
      </p:sp>
      <p:sp>
        <p:nvSpPr>
          <p:cNvPr id="11" name="Text 9"/>
          <p:cNvSpPr/>
          <p:nvPr/>
        </p:nvSpPr>
        <p:spPr>
          <a:xfrm>
            <a:off x="6477000" y="2765971"/>
            <a:ext cx="47876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91F15"/>
                </a:solidFill>
                <a:latin typeface="Carlito" pitchFamily="34" charset="0"/>
                <a:ea typeface="Carlito" pitchFamily="34" charset="-122"/>
                <a:cs typeface="Carlito" pitchFamily="34" charset="-120"/>
              </a:rPr>
              <a:t>Plasmid spread</a:t>
            </a:r>
            <a:endParaRPr lang="en-US" sz="1700" dirty="0"/>
          </a:p>
        </p:txBody>
      </p:sp>
      <p:sp>
        <p:nvSpPr>
          <p:cNvPr id="12" name="Text 10"/>
          <p:cNvSpPr/>
          <p:nvPr/>
        </p:nvSpPr>
        <p:spPr>
          <a:xfrm>
            <a:off x="6477000" y="3126631"/>
            <a:ext cx="47876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One plasmid cluster in </a:t>
            </a:r>
            <a:r>
              <a:rPr lang="en-US" sz="1400" b="1" dirty="0">
                <a:solidFill>
                  <a:srgbClr val="3A322C"/>
                </a:solidFill>
                <a:latin typeface="Carlito" pitchFamily="34" charset="0"/>
                <a:ea typeface="Carlito" pitchFamily="34" charset="-122"/>
                <a:cs typeface="Carlito" pitchFamily="34" charset="-120"/>
              </a:rPr>
              <a:t>several STs or species</a:t>
            </a:r>
            <a:r>
              <a:rPr lang="en-US" sz="1400" dirty="0">
                <a:solidFill>
                  <a:srgbClr val="3A322C"/>
                </a:solidFill>
                <a:latin typeface="Carlito" pitchFamily="34" charset="0"/>
                <a:ea typeface="Carlito" pitchFamily="34" charset="-122"/>
                <a:cs typeface="Carlito" pitchFamily="34" charset="-120"/>
              </a:rPr>
              <a:t>. The resistance is moving between bacteria. Typing by ST alone misses it.</a:t>
            </a:r>
            <a:endParaRPr lang="en-US" sz="1400" dirty="0"/>
          </a:p>
        </p:txBody>
      </p:sp>
      <p:pic>
        <p:nvPicPr>
          <p:cNvPr id="13"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4"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5 · Plasmids across lineages | Day 5</a:t>
            </a:r>
            <a:endParaRPr lang="en-US" sz="1200" dirty="0"/>
          </a:p>
        </p:txBody>
      </p:sp>
      <p:sp>
        <p:nvSpPr>
          <p:cNvPr id="15"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Hands-on: plasmid clusters by 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33190"/>
            <a:ext cx="10566400" cy="3276154"/>
          </a:xfrm>
          <a:prstGeom prst="roundRect">
            <a:avLst>
              <a:gd name="adj" fmla="val 2326"/>
            </a:avLst>
          </a:prstGeom>
          <a:solidFill>
            <a:srgbClr val="273003"/>
          </a:solidFill>
          <a:ln/>
        </p:spPr>
        <p:txBody>
          <a:bodyPr wrap="square" lIns="206282" tIns="130082" rIns="0" bIns="104682" rtlCol="0" anchor="t">
            <a:normAutofit/>
          </a:bodyPr>
          <a:lstStyle/>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use_tools plasmids</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use_precomputed 05_plasmids/shortread    </a:t>
            </a:r>
            <a:r>
              <a:rPr lang="en-US" sz="1200" dirty="0">
                <a:solidFill>
                  <a:srgbClr val="C2CA6E"/>
                </a:solidFill>
                <a:latin typeface="JetBrains Mono" pitchFamily="49" charset="0"/>
                <a:ea typeface="JetBrains Mono" pitchFamily="49" charset="-122"/>
                <a:cs typeface="JetBrains Mono" pitchFamily="49" charset="-120"/>
              </a:rPr>
              <a:t># all 29 isolates; your CHI11E results are kept</a:t>
            </a:r>
            <a:endParaRPr lang="en-US" sz="1200" dirty="0"/>
          </a:p>
          <a:p>
            <a:pPr algn="l" indent="0" marL="0">
              <a:lnSpc>
                <a:spcPts val="1560"/>
              </a:lnSpc>
              <a:buNone/>
            </a:pPr>
            <a:r>
              <a:rPr lang="en-US" sz="1200" dirty="0">
                <a:solidFill>
                  <a:srgbClr val="C2CA6E"/>
                </a:solidFill>
                <a:latin typeface="JetBrains Mono" pitchFamily="49" charset="0"/>
                <a:ea typeface="JetBrains Mono" pitchFamily="49" charset="-122"/>
                <a:cs typeface="JetBrains Mono" pitchFamily="49" charset="-120"/>
              </a:rPr>
              <a:t># One table: sample, cluster, replicons, size, mobility</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for f in $RESULTS/05_plasmids/shortread/*/mobtyper_results.txt; do</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s=$(basename $(dirname $f))</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pick '^primary_cluster_id$|^rep_type\(s\)$|^size$|^predicted_mobility$' $f | tail -n +2 \</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 awk -v s=$s 'BEGIN{OFS="\t"} {$1=s; print}'</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done &gt; $RESULTS/05_plasmids/all_plasmids.tsv</a:t>
            </a:r>
            <a:endParaRPr lang="en-US" sz="1200" dirty="0"/>
          </a:p>
          <a:p>
            <a:pPr algn="l" indent="0" marL="0">
              <a:lnSpc>
                <a:spcPts val="1560"/>
              </a:lnSpc>
              <a:buNone/>
            </a:pPr>
            <a:r>
              <a:rPr lang="en-US" sz="1200" dirty="0">
                <a:solidFill>
                  <a:srgbClr val="C2CA6E"/>
                </a:solidFill>
                <a:latin typeface="JetBrains Mono" pitchFamily="49" charset="0"/>
                <a:ea typeface="JetBrains Mono" pitchFamily="49" charset="-122"/>
                <a:cs typeface="JetBrains Mono" pitchFamily="49" charset="-120"/>
              </a:rPr>
              <a:t># Add the ST from the metadata, sort by cluster</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join -t$'\t' -1 1 -2 1 \</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&lt;(sort -k1,1 $RESULTS/05_plasmids/all_plasmids.tsv) \</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&lt;(cut -f1,7 $COURSE/training_data/metadata_compact.tsv | tail -n +2 | sort -k1,1) \</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 awk -F'\t' 'BEGIN{OFS="\t"} {st=$NF; NF--; print st, $0}' | sort -t$'\t' -k6,6 \</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&gt; $RESULTS/05_plasmids/plasmids_by_cluster.tsv</a:t>
            </a:r>
            <a:endParaRPr lang="en-US" sz="1200" dirty="0"/>
          </a:p>
          <a:p>
            <a:pPr algn="l" indent="0" marL="0">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less -S $RESULTS/05_plasmids/plasmids_by_cluster.tsv</a:t>
            </a:r>
            <a:endParaRPr lang="en-US" sz="1200" dirty="0"/>
          </a:p>
        </p:txBody>
      </p:sp>
      <p:sp>
        <p:nvSpPr>
          <p:cNvPr id="5" name="Text 3"/>
          <p:cNvSpPr/>
          <p:nvPr/>
        </p:nvSpPr>
        <p:spPr>
          <a:xfrm>
            <a:off x="812800" y="5087144"/>
            <a:ext cx="1088339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Columns: ST, sample, size, replicons, mobility, cluster. Which clusters appear with </a:t>
            </a:r>
            <a:r>
              <a:rPr lang="en-US" sz="1400" b="1" dirty="0">
                <a:solidFill>
                  <a:srgbClr val="3A322C"/>
                </a:solidFill>
                <a:latin typeface="Carlito" pitchFamily="34" charset="0"/>
                <a:ea typeface="Carlito" pitchFamily="34" charset="-122"/>
                <a:cs typeface="Carlito" pitchFamily="34" charset="-120"/>
              </a:rPr>
              <a:t>more than one ST</a:t>
            </a:r>
            <a:r>
              <a:rPr lang="en-US" sz="1400" dirty="0">
                <a:solidFill>
                  <a:srgbClr val="3A322C"/>
                </a:solidFill>
                <a:latin typeface="Carlito" pitchFamily="34" charset="0"/>
                <a:ea typeface="Carlito" pitchFamily="34" charset="-122"/>
                <a:cs typeface="Carlito" pitchFamily="34" charset="-120"/>
              </a:rPr>
              <a:t>?</a:t>
            </a:r>
            <a:endParaRPr lang="en-US" sz="1400" dirty="0"/>
          </a:p>
        </p:txBody>
      </p:sp>
      <p:pic>
        <p:nvPicPr>
          <p:cNvPr id="6"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7"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5 · Plasmids across lineages | Day 5</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Are the two IncFII(K)/IncR plasmids the same?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58590"/>
            <a:ext cx="10566400" cy="2156371"/>
          </a:xfrm>
          <a:prstGeom prst="roundRect">
            <a:avLst>
              <a:gd name="adj" fmla="val 3534"/>
            </a:avLst>
          </a:prstGeom>
          <a:solidFill>
            <a:srgbClr val="273003"/>
          </a:solidFill>
          <a:ln/>
        </p:spPr>
        <p:txBody>
          <a:bodyPr wrap="square" lIns="206282" tIns="130082" rIns="0" bIns="104682" rtlCol="0" anchor="t">
            <a:normAutofit/>
          </a:bodyPr>
          <a:lstStyle/>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mkdir -p $RESULTS/05_plasmids/mash &amp;&amp; cd $RESULTS/05_plasmids/mash</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for d in $RESULTS/05_plasmids/hybrid/*/; do      </a:t>
            </a:r>
            <a:r>
              <a:rPr lang="en-US" sz="1200" dirty="0">
                <a:solidFill>
                  <a:srgbClr val="C2CA6E"/>
                </a:solidFill>
                <a:latin typeface="JetBrains Mono" pitchFamily="49" charset="0"/>
                <a:ea typeface="JetBrains Mono" pitchFamily="49" charset="-122"/>
                <a:cs typeface="JetBrains Mono" pitchFamily="49" charset="-120"/>
              </a:rPr>
              <a:t># prefix each plasmid file with its isolate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s=$(basename $d)</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for p in $d/plasmid_*.fasta; do cp $p ${s}_$(basename $p); done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done</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mash sketch -o plasmids *.fasta</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mash dist plasmids.msh plasmids.msh | awk '$1 &lt; $2' | sort -k3,3g &gt; plasmid_distances.tsv</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head plasmid_distances.tsv</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cd $COURSE</a:t>
            </a:r>
            <a:endParaRPr lang="en-US" sz="1200" dirty="0"/>
          </a:p>
        </p:txBody>
      </p:sp>
      <p:sp>
        <p:nvSpPr>
          <p:cNvPr id="5" name="Shape 3"/>
          <p:cNvSpPr/>
          <p:nvPr/>
        </p:nvSpPr>
        <p:spPr>
          <a:xfrm>
            <a:off x="812800" y="4018161"/>
            <a:ext cx="3403600" cy="841970"/>
          </a:xfrm>
          <a:prstGeom prst="roundRect">
            <a:avLst>
              <a:gd name="adj" fmla="val 6033"/>
            </a:avLst>
          </a:prstGeom>
          <a:solidFill>
            <a:srgbClr val="FFFFFF"/>
          </a:solidFill>
          <a:ln/>
        </p:spPr>
      </p:sp>
      <p:sp>
        <p:nvSpPr>
          <p:cNvPr id="6" name="Shape 4"/>
          <p:cNvSpPr/>
          <p:nvPr/>
        </p:nvSpPr>
        <p:spPr>
          <a:xfrm>
            <a:off x="812800" y="4018161"/>
            <a:ext cx="3403600" cy="841970"/>
          </a:xfrm>
          <a:custGeom>
            <a:avLst/>
            <a:gdLst/>
            <a:ahLst/>
            <a:cxnLst/>
            <a:rect l="l" t="t" r="r" b="b"/>
            <a:pathLst>
              <a:path w="3403600" h="841970">
                <a:moveTo>
                  <a:pt x="50800" y="841970"/>
                </a:moveTo>
                <a:lnTo>
                  <a:pt x="50800" y="841970"/>
                </a:lnTo>
                <a:arcTo hR="50800" wR="50800" stAng="5400000" swAng="5400000"/>
                <a:lnTo>
                  <a:pt x="0" y="50800"/>
                </a:lnTo>
                <a:arcTo hR="50800" wR="50800" stAng="10800000" swAng="5400000"/>
                <a:lnTo>
                  <a:pt x="50800" y="0"/>
                </a:lnTo>
                <a:lnTo>
                  <a:pt x="50800" y="841970"/>
                </a:lnTo>
                <a:close/>
              </a:path>
            </a:pathLst>
          </a:custGeom>
          <a:solidFill>
            <a:srgbClr val="273003"/>
          </a:solidFill>
          <a:ln/>
        </p:spPr>
      </p:sp>
      <p:sp>
        <p:nvSpPr>
          <p:cNvPr id="7" name="Text 5"/>
          <p:cNvSpPr/>
          <p:nvPr/>
        </p:nvSpPr>
        <p:spPr>
          <a:xfrm>
            <a:off x="1041400" y="4145161"/>
            <a:ext cx="3087116"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73003"/>
                </a:solidFill>
                <a:latin typeface="Carlito" pitchFamily="34" charset="0"/>
                <a:ea typeface="Carlito" pitchFamily="34" charset="-122"/>
                <a:cs typeface="Carlito" pitchFamily="34" charset="-120"/>
              </a:rPr>
              <a:t>0</a:t>
            </a:r>
            <a:endParaRPr lang="en-US" sz="2400" dirty="0"/>
          </a:p>
        </p:txBody>
      </p:sp>
      <p:sp>
        <p:nvSpPr>
          <p:cNvPr id="8" name="Text 6"/>
          <p:cNvSpPr/>
          <p:nvPr/>
        </p:nvSpPr>
        <p:spPr>
          <a:xfrm>
            <a:off x="1041400" y="4518521"/>
            <a:ext cx="308711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identical k-mer content</a:t>
            </a:r>
            <a:endParaRPr lang="en-US" sz="1300" dirty="0"/>
          </a:p>
        </p:txBody>
      </p:sp>
      <p:sp>
        <p:nvSpPr>
          <p:cNvPr id="9" name="Shape 7"/>
          <p:cNvSpPr/>
          <p:nvPr/>
        </p:nvSpPr>
        <p:spPr>
          <a:xfrm>
            <a:off x="4394200" y="4018161"/>
            <a:ext cx="3403600" cy="841970"/>
          </a:xfrm>
          <a:prstGeom prst="roundRect">
            <a:avLst>
              <a:gd name="adj" fmla="val 6033"/>
            </a:avLst>
          </a:prstGeom>
          <a:solidFill>
            <a:srgbClr val="FFFFFF"/>
          </a:solidFill>
          <a:ln/>
        </p:spPr>
      </p:sp>
      <p:sp>
        <p:nvSpPr>
          <p:cNvPr id="10" name="Shape 8"/>
          <p:cNvSpPr/>
          <p:nvPr/>
        </p:nvSpPr>
        <p:spPr>
          <a:xfrm>
            <a:off x="4394200" y="4018161"/>
            <a:ext cx="3403600" cy="841970"/>
          </a:xfrm>
          <a:custGeom>
            <a:avLst/>
            <a:gdLst/>
            <a:ahLst/>
            <a:cxnLst/>
            <a:rect l="l" t="t" r="r" b="b"/>
            <a:pathLst>
              <a:path w="3403600" h="841970">
                <a:moveTo>
                  <a:pt x="50800" y="841970"/>
                </a:moveTo>
                <a:lnTo>
                  <a:pt x="50800" y="841970"/>
                </a:lnTo>
                <a:arcTo hR="50800" wR="50800" stAng="5400000" swAng="5400000"/>
                <a:lnTo>
                  <a:pt x="0" y="50800"/>
                </a:lnTo>
                <a:arcTo hR="50800" wR="50800" stAng="10800000" swAng="5400000"/>
                <a:lnTo>
                  <a:pt x="50800" y="0"/>
                </a:lnTo>
                <a:lnTo>
                  <a:pt x="50800" y="841970"/>
                </a:lnTo>
                <a:close/>
              </a:path>
            </a:pathLst>
          </a:custGeom>
          <a:solidFill>
            <a:srgbClr val="273003"/>
          </a:solidFill>
          <a:ln/>
        </p:spPr>
      </p:sp>
      <p:sp>
        <p:nvSpPr>
          <p:cNvPr id="11" name="Text 9"/>
          <p:cNvSpPr/>
          <p:nvPr/>
        </p:nvSpPr>
        <p:spPr>
          <a:xfrm>
            <a:off x="4622800" y="4145161"/>
            <a:ext cx="3087116"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73003"/>
                </a:solidFill>
                <a:latin typeface="Carlito" pitchFamily="34" charset="0"/>
                <a:ea typeface="Carlito" pitchFamily="34" charset="-122"/>
                <a:cs typeface="Carlito" pitchFamily="34" charset="-120"/>
              </a:rPr>
              <a:t>0.01</a:t>
            </a:r>
            <a:endParaRPr lang="en-US" sz="2400" dirty="0"/>
          </a:p>
        </p:txBody>
      </p:sp>
      <p:sp>
        <p:nvSpPr>
          <p:cNvPr id="12" name="Text 10"/>
          <p:cNvSpPr/>
          <p:nvPr/>
        </p:nvSpPr>
        <p:spPr>
          <a:xfrm>
            <a:off x="4622800" y="4518521"/>
            <a:ext cx="308711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roughly 99% identity</a:t>
            </a:r>
            <a:endParaRPr lang="en-US" sz="1300" dirty="0"/>
          </a:p>
        </p:txBody>
      </p:sp>
      <p:sp>
        <p:nvSpPr>
          <p:cNvPr id="13" name="Shape 11"/>
          <p:cNvSpPr/>
          <p:nvPr/>
        </p:nvSpPr>
        <p:spPr>
          <a:xfrm>
            <a:off x="7975600" y="4018161"/>
            <a:ext cx="3403600" cy="841970"/>
          </a:xfrm>
          <a:prstGeom prst="roundRect">
            <a:avLst>
              <a:gd name="adj" fmla="val 6033"/>
            </a:avLst>
          </a:prstGeom>
          <a:solidFill>
            <a:srgbClr val="FFFFFF"/>
          </a:solidFill>
          <a:ln/>
        </p:spPr>
      </p:sp>
      <p:sp>
        <p:nvSpPr>
          <p:cNvPr id="14" name="Shape 12"/>
          <p:cNvSpPr/>
          <p:nvPr/>
        </p:nvSpPr>
        <p:spPr>
          <a:xfrm>
            <a:off x="7975600" y="4018161"/>
            <a:ext cx="3403600" cy="841970"/>
          </a:xfrm>
          <a:custGeom>
            <a:avLst/>
            <a:gdLst/>
            <a:ahLst/>
            <a:cxnLst/>
            <a:rect l="l" t="t" r="r" b="b"/>
            <a:pathLst>
              <a:path w="3403600" h="841970">
                <a:moveTo>
                  <a:pt x="50800" y="841970"/>
                </a:moveTo>
                <a:lnTo>
                  <a:pt x="50800" y="841970"/>
                </a:lnTo>
                <a:arcTo hR="50800" wR="50800" stAng="5400000" swAng="5400000"/>
                <a:lnTo>
                  <a:pt x="0" y="50800"/>
                </a:lnTo>
                <a:arcTo hR="50800" wR="50800" stAng="10800000" swAng="5400000"/>
                <a:lnTo>
                  <a:pt x="50800" y="0"/>
                </a:lnTo>
                <a:lnTo>
                  <a:pt x="50800" y="841970"/>
                </a:lnTo>
                <a:close/>
              </a:path>
            </a:pathLst>
          </a:custGeom>
          <a:solidFill>
            <a:srgbClr val="891F15"/>
          </a:solidFill>
          <a:ln/>
        </p:spPr>
      </p:sp>
      <p:sp>
        <p:nvSpPr>
          <p:cNvPr id="15" name="Text 13"/>
          <p:cNvSpPr/>
          <p:nvPr/>
        </p:nvSpPr>
        <p:spPr>
          <a:xfrm>
            <a:off x="8204200" y="4145161"/>
            <a:ext cx="3087116"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891F15"/>
                </a:solidFill>
                <a:latin typeface="Carlito" pitchFamily="34" charset="0"/>
                <a:ea typeface="Carlito" pitchFamily="34" charset="-122"/>
                <a:cs typeface="Carlito" pitchFamily="34" charset="-120"/>
              </a:rPr>
              <a:t>0.06</a:t>
            </a:r>
            <a:endParaRPr lang="en-US" sz="2400" dirty="0"/>
          </a:p>
        </p:txBody>
      </p:sp>
      <p:sp>
        <p:nvSpPr>
          <p:cNvPr id="16" name="Text 14"/>
          <p:cNvSpPr/>
          <p:nvPr/>
        </p:nvSpPr>
        <p:spPr>
          <a:xfrm>
            <a:off x="8204200" y="4518521"/>
            <a:ext cx="308711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MOB-suite's cut-off for one cluster</a:t>
            </a:r>
            <a:endParaRPr lang="en-US" sz="1300" dirty="0"/>
          </a:p>
        </p:txBody>
      </p:sp>
      <p:pic>
        <p:nvPicPr>
          <p:cNvPr id="17"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8"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5 · Plasmids across lineages | Day 5</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CE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372600" y="914400"/>
            <a:ext cx="2819400" cy="5219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891F15"/>
                </a:solidFill>
                <a:latin typeface="Carlito" pitchFamily="34" charset="0"/>
                <a:ea typeface="Carlito" pitchFamily="34" charset="-122"/>
                <a:cs typeface="Carlito" pitchFamily="34" charset="-120"/>
              </a:rPr>
              <a:t>DAY 5 · SESSION 2 · 11:00–12:30 · MODULE 5</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6D2637"/>
                </a:solidFill>
                <a:latin typeface="Carlito" pitchFamily="34" charset="0"/>
                <a:ea typeface="Carlito" pitchFamily="34" charset="-122"/>
                <a:cs typeface="Carlito" pitchFamily="34" charset="-120"/>
              </a:rPr>
              <a:t>Genetic context of a resistance gene</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5A1F2E"/>
                </a:solidFill>
                <a:latin typeface="Carlito" pitchFamily="34" charset="0"/>
                <a:ea typeface="Carlito" pitchFamily="34" charset="-122"/>
                <a:cs typeface="Carlito" pitchFamily="34" charset="-120"/>
              </a:rPr>
              <a:t>Annotating the </a:t>
            </a:r>
            <a:r>
              <a:rPr lang="en-US" sz="2000" i="1" dirty="0">
                <a:solidFill>
                  <a:srgbClr val="5A1F2E"/>
                </a:solidFill>
                <a:latin typeface="Carlito" pitchFamily="34" charset="0"/>
                <a:ea typeface="Carlito" pitchFamily="34" charset="-122"/>
                <a:cs typeface="Carlito" pitchFamily="34" charset="-120"/>
              </a:rPr>
              <a:t>bla</a:t>
            </a:r>
            <a:r>
              <a:rPr lang="en-US" sz="2000" dirty="0">
                <a:solidFill>
                  <a:srgbClr val="5A1F2E"/>
                </a:solidFill>
                <a:latin typeface="Carlito" pitchFamily="34" charset="0"/>
                <a:ea typeface="Carlito" pitchFamily="34" charset="-122"/>
                <a:cs typeface="Carlito" pitchFamily="34" charset="-120"/>
              </a:rPr>
              <a:t>CTX-M-15 plasmid with Bakta</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D2637"/>
                </a:solidFill>
                <a:latin typeface="Carlito" pitchFamily="34" charset="0"/>
                <a:ea typeface="Carlito" pitchFamily="34" charset="-122"/>
                <a:cs typeface="Carlito" pitchFamily="34" charset="-120"/>
              </a:rPr>
              <a:t>Module 5 · Plasmids across lineages | Day 5</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D2637"/>
                </a:solidFill>
                <a:latin typeface="Carlito" pitchFamily="34" charset="0"/>
                <a:ea typeface="Carlito" pitchFamily="34" charset="-122"/>
                <a:cs typeface="Carlito"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Why the neighbours of a gene matter</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83990"/>
            <a:ext cx="1088339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The same gene can sit in different </a:t>
            </a:r>
            <a:r>
              <a:rPr lang="en-US" sz="1500" b="1" dirty="0">
                <a:solidFill>
                  <a:srgbClr val="3A322C"/>
                </a:solidFill>
                <a:latin typeface="Carlito" pitchFamily="34" charset="0"/>
                <a:ea typeface="Carlito" pitchFamily="34" charset="-122"/>
                <a:cs typeface="Carlito" pitchFamily="34" charset="-120"/>
              </a:rPr>
              <a:t>contexts</a:t>
            </a:r>
            <a:r>
              <a:rPr lang="en-US" sz="1500" dirty="0">
                <a:solidFill>
                  <a:srgbClr val="3A322C"/>
                </a:solidFill>
                <a:latin typeface="Carlito" pitchFamily="34" charset="0"/>
                <a:ea typeface="Carlito" pitchFamily="34" charset="-122"/>
                <a:cs typeface="Carlito" pitchFamily="34" charset="-120"/>
              </a:rPr>
              <a:t>: the insertion sequences, transposons and genes around it.</a:t>
            </a:r>
            <a:endParaRPr lang="en-US" sz="1500" dirty="0"/>
          </a:p>
        </p:txBody>
      </p:sp>
      <p:sp>
        <p:nvSpPr>
          <p:cNvPr id="5" name="Shape 3"/>
          <p:cNvSpPr/>
          <p:nvPr/>
        </p:nvSpPr>
        <p:spPr>
          <a:xfrm>
            <a:off x="812800" y="2169765"/>
            <a:ext cx="10566400" cy="2227511"/>
          </a:xfrm>
          <a:prstGeom prst="roundRect">
            <a:avLst>
              <a:gd name="adj" fmla="val 3421"/>
            </a:avLst>
          </a:prstGeom>
          <a:solidFill>
            <a:srgbClr val="FFFFFF"/>
          </a:solidFill>
          <a:ln/>
        </p:spPr>
      </p:sp>
      <p:sp>
        <p:nvSpPr>
          <p:cNvPr id="6" name="Text 4"/>
          <p:cNvSpPr/>
          <p:nvPr/>
        </p:nvSpPr>
        <p:spPr>
          <a:xfrm>
            <a:off x="1066800" y="2372965"/>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460"/>
                </a:solidFill>
                <a:latin typeface="Carlito" pitchFamily="34" charset="0"/>
                <a:ea typeface="Carlito" pitchFamily="34" charset="-122"/>
                <a:cs typeface="Carlito" pitchFamily="34" charset="-120"/>
              </a:rPr>
              <a:t>ILLUSTRATIVE, NOT OUR ISOLATES</a:t>
            </a:r>
            <a:endParaRPr lang="en-US" sz="1200" dirty="0"/>
          </a:p>
        </p:txBody>
      </p:sp>
      <p:sp>
        <p:nvSpPr>
          <p:cNvPr id="7" name="Text 5"/>
          <p:cNvSpPr/>
          <p:nvPr/>
        </p:nvSpPr>
        <p:spPr>
          <a:xfrm>
            <a:off x="1066800" y="2793305"/>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322C"/>
                </a:solidFill>
                <a:latin typeface="Carlito" pitchFamily="34" charset="0"/>
                <a:ea typeface="Carlito" pitchFamily="34" charset="-122"/>
                <a:cs typeface="Carlito" pitchFamily="34" charset="-120"/>
              </a:rPr>
              <a:t>Isolate A</a:t>
            </a:r>
            <a:endParaRPr lang="en-US" sz="1400" dirty="0"/>
          </a:p>
        </p:txBody>
      </p:sp>
      <p:sp>
        <p:nvSpPr>
          <p:cNvPr id="8" name="Text 6"/>
          <p:cNvSpPr/>
          <p:nvPr/>
        </p:nvSpPr>
        <p:spPr>
          <a:xfrm>
            <a:off x="2438400" y="2713286"/>
            <a:ext cx="1397000" cy="408930"/>
          </a:xfrm>
          <a:custGeom>
            <a:avLst/>
            <a:gdLst/>
            <a:ahLst/>
            <a:cxnLst/>
            <a:rect l="l" t="t" r="r" b="b"/>
            <a:pathLst>
              <a:path w="1397000" h="408930">
                <a:moveTo>
                  <a:pt x="50800" y="0"/>
                </a:moveTo>
                <a:lnTo>
                  <a:pt x="1346200" y="0"/>
                </a:lnTo>
                <a:arcTo hR="50800" wR="50800" stAng="16200000" swAng="5400000"/>
                <a:lnTo>
                  <a:pt x="1397000" y="358130"/>
                </a:lnTo>
                <a:arcTo hR="50800" wR="50800" stAng="0" swAng="5400000"/>
                <a:lnTo>
                  <a:pt x="50800" y="408930"/>
                </a:lnTo>
                <a:arcTo hR="50800" wR="50800" stAng="5400000" swAng="5400000"/>
                <a:lnTo>
                  <a:pt x="0" y="50800"/>
                </a:lnTo>
                <a:arcTo hR="50800" wR="50800" stAng="10800000" swAng="5400000"/>
                <a:close/>
              </a:path>
            </a:pathLst>
          </a:custGeom>
          <a:solidFill>
            <a:srgbClr val="C2CA6E"/>
          </a:solidFill>
          <a:ln/>
        </p:spPr>
        <p:txBody>
          <a:bodyPr wrap="square" lIns="0" tIns="88900" rIns="0" bIns="63500" rtlCol="0" anchor="t">
            <a:normAutofit/>
          </a:bodyPr>
          <a:lstStyle/>
          <a:p>
            <a:pPr algn="ctr" indent="0" marL="0">
              <a:lnSpc>
                <a:spcPts val="1820"/>
              </a:lnSpc>
              <a:buNone/>
            </a:pPr>
            <a:r>
              <a:rPr lang="en-US" sz="1300" dirty="0">
                <a:solidFill>
                  <a:srgbClr val="273003"/>
                </a:solidFill>
                <a:latin typeface="Carlito" pitchFamily="34" charset="0"/>
                <a:ea typeface="Carlito" pitchFamily="34" charset="-122"/>
                <a:cs typeface="Carlito" pitchFamily="34" charset="-120"/>
              </a:rPr>
              <a:t>IS</a:t>
            </a:r>
            <a:r>
              <a:rPr lang="en-US" sz="1300" i="1" dirty="0">
                <a:solidFill>
                  <a:srgbClr val="273003"/>
                </a:solidFill>
                <a:latin typeface="Carlito" pitchFamily="34" charset="0"/>
                <a:ea typeface="Carlito" pitchFamily="34" charset="-122"/>
                <a:cs typeface="Carlito" pitchFamily="34" charset="-120"/>
              </a:rPr>
              <a:t>Ecp1</a:t>
            </a:r>
            <a:endParaRPr lang="en-US" sz="1300" dirty="0"/>
          </a:p>
        </p:txBody>
      </p:sp>
      <p:sp>
        <p:nvSpPr>
          <p:cNvPr id="9" name="Text 7"/>
          <p:cNvSpPr/>
          <p:nvPr/>
        </p:nvSpPr>
        <p:spPr>
          <a:xfrm>
            <a:off x="3937000" y="2713286"/>
            <a:ext cx="1905000" cy="408930"/>
          </a:xfrm>
          <a:custGeom>
            <a:avLst/>
            <a:gdLst/>
            <a:ahLst/>
            <a:cxnLst/>
            <a:rect l="l" t="t" r="r" b="b"/>
            <a:pathLst>
              <a:path w="1905000" h="408930">
                <a:moveTo>
                  <a:pt x="50800" y="0"/>
                </a:moveTo>
                <a:lnTo>
                  <a:pt x="1854200" y="0"/>
                </a:lnTo>
                <a:arcTo hR="50800" wR="50800" stAng="16200000" swAng="5400000"/>
                <a:lnTo>
                  <a:pt x="1905000" y="358130"/>
                </a:lnTo>
                <a:arcTo hR="50800" wR="50800" stAng="0" swAng="5400000"/>
                <a:lnTo>
                  <a:pt x="50800" y="408930"/>
                </a:lnTo>
                <a:arcTo hR="50800" wR="50800" stAng="5400000" swAng="5400000"/>
                <a:lnTo>
                  <a:pt x="0" y="50800"/>
                </a:lnTo>
                <a:arcTo hR="50800" wR="50800" stAng="10800000" swAng="5400000"/>
                <a:close/>
              </a:path>
            </a:pathLst>
          </a:custGeom>
          <a:solidFill>
            <a:srgbClr val="891F15"/>
          </a:solidFill>
          <a:ln/>
        </p:spPr>
        <p:txBody>
          <a:bodyPr wrap="square" lIns="0" tIns="88900" rIns="0" bIns="63500" rtlCol="0" anchor="t">
            <a:normAutofit/>
          </a:bodyPr>
          <a:lstStyle/>
          <a:p>
            <a:pPr algn="ctr" indent="0" marL="0">
              <a:lnSpc>
                <a:spcPts val="1820"/>
              </a:lnSpc>
              <a:buNone/>
            </a:pPr>
            <a:r>
              <a:rPr lang="en-US" sz="1300" i="1" dirty="0">
                <a:solidFill>
                  <a:srgbClr val="F9F2EA"/>
                </a:solidFill>
                <a:latin typeface="Carlito" pitchFamily="34" charset="0"/>
                <a:ea typeface="Carlito" pitchFamily="34" charset="-122"/>
                <a:cs typeface="Carlito" pitchFamily="34" charset="-120"/>
              </a:rPr>
              <a:t>bla</a:t>
            </a:r>
            <a:r>
              <a:rPr lang="en-US" sz="1300" dirty="0">
                <a:solidFill>
                  <a:srgbClr val="F9F2EA"/>
                </a:solidFill>
                <a:latin typeface="Carlito" pitchFamily="34" charset="0"/>
                <a:ea typeface="Carlito" pitchFamily="34" charset="-122"/>
                <a:cs typeface="Carlito" pitchFamily="34" charset="-120"/>
              </a:rPr>
              <a:t>CTX-M-15</a:t>
            </a:r>
            <a:endParaRPr lang="en-US" sz="1300" dirty="0"/>
          </a:p>
        </p:txBody>
      </p:sp>
      <p:sp>
        <p:nvSpPr>
          <p:cNvPr id="10" name="Text 8"/>
          <p:cNvSpPr/>
          <p:nvPr/>
        </p:nvSpPr>
        <p:spPr>
          <a:xfrm>
            <a:off x="5943600" y="2713286"/>
            <a:ext cx="1270000" cy="408930"/>
          </a:xfrm>
          <a:custGeom>
            <a:avLst/>
            <a:gdLst/>
            <a:ahLst/>
            <a:cxnLst/>
            <a:rect l="l" t="t" r="r" b="b"/>
            <a:pathLst>
              <a:path w="1270000" h="408930">
                <a:moveTo>
                  <a:pt x="50800" y="0"/>
                </a:moveTo>
                <a:lnTo>
                  <a:pt x="1219200" y="0"/>
                </a:lnTo>
                <a:arcTo hR="50800" wR="50800" stAng="16200000" swAng="5400000"/>
                <a:lnTo>
                  <a:pt x="1270000" y="358130"/>
                </a:lnTo>
                <a:arcTo hR="50800" wR="50800" stAng="0" swAng="5400000"/>
                <a:lnTo>
                  <a:pt x="50800" y="408930"/>
                </a:lnTo>
                <a:arcTo hR="50800" wR="50800" stAng="5400000" swAng="5400000"/>
                <a:lnTo>
                  <a:pt x="0" y="50800"/>
                </a:lnTo>
                <a:arcTo hR="50800" wR="50800" stAng="10800000" swAng="5400000"/>
                <a:close/>
              </a:path>
            </a:pathLst>
          </a:custGeom>
          <a:solidFill>
            <a:srgbClr val="D9CDBF"/>
          </a:solidFill>
          <a:ln/>
        </p:spPr>
        <p:txBody>
          <a:bodyPr wrap="square" lIns="0" tIns="88900" rIns="0" bIns="63500" rtlCol="0" anchor="t">
            <a:normAutofit/>
          </a:bodyPr>
          <a:lstStyle/>
          <a:p>
            <a:pPr algn="ctr" indent="0" marL="0">
              <a:lnSpc>
                <a:spcPts val="1820"/>
              </a:lnSpc>
              <a:buNone/>
            </a:pPr>
            <a:r>
              <a:rPr lang="en-US" sz="1300" dirty="0">
                <a:solidFill>
                  <a:srgbClr val="3A322C"/>
                </a:solidFill>
                <a:latin typeface="Carlito" pitchFamily="34" charset="0"/>
                <a:ea typeface="Carlito" pitchFamily="34" charset="-122"/>
                <a:cs typeface="Carlito" pitchFamily="34" charset="-120"/>
              </a:rPr>
              <a:t>orf477</a:t>
            </a:r>
            <a:endParaRPr lang="en-US" sz="1300" dirty="0"/>
          </a:p>
        </p:txBody>
      </p:sp>
      <p:sp>
        <p:nvSpPr>
          <p:cNvPr id="11" name="Text 9"/>
          <p:cNvSpPr/>
          <p:nvPr/>
        </p:nvSpPr>
        <p:spPr>
          <a:xfrm>
            <a:off x="1066800" y="3329236"/>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322C"/>
                </a:solidFill>
                <a:latin typeface="Carlito" pitchFamily="34" charset="0"/>
                <a:ea typeface="Carlito" pitchFamily="34" charset="-122"/>
                <a:cs typeface="Carlito" pitchFamily="34" charset="-120"/>
              </a:rPr>
              <a:t>Isolate B</a:t>
            </a:r>
            <a:endParaRPr lang="en-US" sz="1400" dirty="0"/>
          </a:p>
        </p:txBody>
      </p:sp>
      <p:sp>
        <p:nvSpPr>
          <p:cNvPr id="12" name="Text 10"/>
          <p:cNvSpPr/>
          <p:nvPr/>
        </p:nvSpPr>
        <p:spPr>
          <a:xfrm>
            <a:off x="2438400" y="3249216"/>
            <a:ext cx="1397000" cy="408930"/>
          </a:xfrm>
          <a:custGeom>
            <a:avLst/>
            <a:gdLst/>
            <a:ahLst/>
            <a:cxnLst/>
            <a:rect l="l" t="t" r="r" b="b"/>
            <a:pathLst>
              <a:path w="1397000" h="408930">
                <a:moveTo>
                  <a:pt x="50800" y="0"/>
                </a:moveTo>
                <a:lnTo>
                  <a:pt x="1346200" y="0"/>
                </a:lnTo>
                <a:arcTo hR="50800" wR="50800" stAng="16200000" swAng="5400000"/>
                <a:lnTo>
                  <a:pt x="1397000" y="358130"/>
                </a:lnTo>
                <a:arcTo hR="50800" wR="50800" stAng="0" swAng="5400000"/>
                <a:lnTo>
                  <a:pt x="50800" y="408930"/>
                </a:lnTo>
                <a:arcTo hR="50800" wR="50800" stAng="5400000" swAng="5400000"/>
                <a:lnTo>
                  <a:pt x="0" y="50800"/>
                </a:lnTo>
                <a:arcTo hR="50800" wR="50800" stAng="10800000" swAng="5400000"/>
                <a:close/>
              </a:path>
            </a:pathLst>
          </a:custGeom>
          <a:solidFill>
            <a:srgbClr val="C2CA6E"/>
          </a:solidFill>
          <a:ln/>
        </p:spPr>
        <p:txBody>
          <a:bodyPr wrap="square" lIns="0" tIns="88900" rIns="0" bIns="63500" rtlCol="0" anchor="t">
            <a:normAutofit/>
          </a:bodyPr>
          <a:lstStyle/>
          <a:p>
            <a:pPr algn="ctr" indent="0" marL="0">
              <a:lnSpc>
                <a:spcPts val="1820"/>
              </a:lnSpc>
              <a:buNone/>
            </a:pPr>
            <a:r>
              <a:rPr lang="en-US" sz="1300" dirty="0">
                <a:solidFill>
                  <a:srgbClr val="273003"/>
                </a:solidFill>
                <a:latin typeface="Carlito" pitchFamily="34" charset="0"/>
                <a:ea typeface="Carlito" pitchFamily="34" charset="-122"/>
                <a:cs typeface="Carlito" pitchFamily="34" charset="-120"/>
              </a:rPr>
              <a:t>IS</a:t>
            </a:r>
            <a:r>
              <a:rPr lang="en-US" sz="1300" i="1" dirty="0">
                <a:solidFill>
                  <a:srgbClr val="273003"/>
                </a:solidFill>
                <a:latin typeface="Carlito" pitchFamily="34" charset="0"/>
                <a:ea typeface="Carlito" pitchFamily="34" charset="-122"/>
                <a:cs typeface="Carlito" pitchFamily="34" charset="-120"/>
              </a:rPr>
              <a:t>Ecp1</a:t>
            </a:r>
            <a:endParaRPr lang="en-US" sz="1300" dirty="0"/>
          </a:p>
        </p:txBody>
      </p:sp>
      <p:sp>
        <p:nvSpPr>
          <p:cNvPr id="13" name="Text 11"/>
          <p:cNvSpPr/>
          <p:nvPr/>
        </p:nvSpPr>
        <p:spPr>
          <a:xfrm>
            <a:off x="3937000" y="3249216"/>
            <a:ext cx="1905000" cy="408930"/>
          </a:xfrm>
          <a:custGeom>
            <a:avLst/>
            <a:gdLst/>
            <a:ahLst/>
            <a:cxnLst/>
            <a:rect l="l" t="t" r="r" b="b"/>
            <a:pathLst>
              <a:path w="1905000" h="408930">
                <a:moveTo>
                  <a:pt x="50800" y="0"/>
                </a:moveTo>
                <a:lnTo>
                  <a:pt x="1854200" y="0"/>
                </a:lnTo>
                <a:arcTo hR="50800" wR="50800" stAng="16200000" swAng="5400000"/>
                <a:lnTo>
                  <a:pt x="1905000" y="358130"/>
                </a:lnTo>
                <a:arcTo hR="50800" wR="50800" stAng="0" swAng="5400000"/>
                <a:lnTo>
                  <a:pt x="50800" y="408930"/>
                </a:lnTo>
                <a:arcTo hR="50800" wR="50800" stAng="5400000" swAng="5400000"/>
                <a:lnTo>
                  <a:pt x="0" y="50800"/>
                </a:lnTo>
                <a:arcTo hR="50800" wR="50800" stAng="10800000" swAng="5400000"/>
                <a:close/>
              </a:path>
            </a:pathLst>
          </a:custGeom>
          <a:solidFill>
            <a:srgbClr val="891F15"/>
          </a:solidFill>
          <a:ln/>
        </p:spPr>
        <p:txBody>
          <a:bodyPr wrap="square" lIns="0" tIns="88900" rIns="0" bIns="63500" rtlCol="0" anchor="t">
            <a:normAutofit/>
          </a:bodyPr>
          <a:lstStyle/>
          <a:p>
            <a:pPr algn="ctr" indent="0" marL="0">
              <a:lnSpc>
                <a:spcPts val="1820"/>
              </a:lnSpc>
              <a:buNone/>
            </a:pPr>
            <a:r>
              <a:rPr lang="en-US" sz="1300" i="1" dirty="0">
                <a:solidFill>
                  <a:srgbClr val="F9F2EA"/>
                </a:solidFill>
                <a:latin typeface="Carlito" pitchFamily="34" charset="0"/>
                <a:ea typeface="Carlito" pitchFamily="34" charset="-122"/>
                <a:cs typeface="Carlito" pitchFamily="34" charset="-120"/>
              </a:rPr>
              <a:t>bla</a:t>
            </a:r>
            <a:r>
              <a:rPr lang="en-US" sz="1300" dirty="0">
                <a:solidFill>
                  <a:srgbClr val="F9F2EA"/>
                </a:solidFill>
                <a:latin typeface="Carlito" pitchFamily="34" charset="0"/>
                <a:ea typeface="Carlito" pitchFamily="34" charset="-122"/>
                <a:cs typeface="Carlito" pitchFamily="34" charset="-120"/>
              </a:rPr>
              <a:t>CTX-M-15</a:t>
            </a:r>
            <a:endParaRPr lang="en-US" sz="1300" dirty="0"/>
          </a:p>
        </p:txBody>
      </p:sp>
      <p:sp>
        <p:nvSpPr>
          <p:cNvPr id="14" name="Text 12"/>
          <p:cNvSpPr/>
          <p:nvPr/>
        </p:nvSpPr>
        <p:spPr>
          <a:xfrm>
            <a:off x="5943600" y="3249216"/>
            <a:ext cx="1270000" cy="408930"/>
          </a:xfrm>
          <a:custGeom>
            <a:avLst/>
            <a:gdLst/>
            <a:ahLst/>
            <a:cxnLst/>
            <a:rect l="l" t="t" r="r" b="b"/>
            <a:pathLst>
              <a:path w="1270000" h="408930">
                <a:moveTo>
                  <a:pt x="50800" y="0"/>
                </a:moveTo>
                <a:lnTo>
                  <a:pt x="1219200" y="0"/>
                </a:lnTo>
                <a:arcTo hR="50800" wR="50800" stAng="16200000" swAng="5400000"/>
                <a:lnTo>
                  <a:pt x="1270000" y="358130"/>
                </a:lnTo>
                <a:arcTo hR="50800" wR="50800" stAng="0" swAng="5400000"/>
                <a:lnTo>
                  <a:pt x="50800" y="408930"/>
                </a:lnTo>
                <a:arcTo hR="50800" wR="50800" stAng="5400000" swAng="5400000"/>
                <a:lnTo>
                  <a:pt x="0" y="50800"/>
                </a:lnTo>
                <a:arcTo hR="50800" wR="50800" stAng="10800000" swAng="5400000"/>
                <a:close/>
              </a:path>
            </a:pathLst>
          </a:custGeom>
          <a:solidFill>
            <a:srgbClr val="D9CDBF"/>
          </a:solidFill>
          <a:ln/>
        </p:spPr>
        <p:txBody>
          <a:bodyPr wrap="square" lIns="0" tIns="88900" rIns="0" bIns="63500" rtlCol="0" anchor="t">
            <a:normAutofit/>
          </a:bodyPr>
          <a:lstStyle/>
          <a:p>
            <a:pPr algn="ctr" indent="0" marL="0">
              <a:lnSpc>
                <a:spcPts val="1820"/>
              </a:lnSpc>
              <a:buNone/>
            </a:pPr>
            <a:r>
              <a:rPr lang="en-US" sz="1300" dirty="0">
                <a:solidFill>
                  <a:srgbClr val="3A322C"/>
                </a:solidFill>
                <a:latin typeface="Carlito" pitchFamily="34" charset="0"/>
                <a:ea typeface="Carlito" pitchFamily="34" charset="-122"/>
                <a:cs typeface="Carlito" pitchFamily="34" charset="-120"/>
              </a:rPr>
              <a:t>orf477</a:t>
            </a:r>
            <a:endParaRPr lang="en-US" sz="1300" dirty="0"/>
          </a:p>
        </p:txBody>
      </p:sp>
      <p:sp>
        <p:nvSpPr>
          <p:cNvPr id="15" name="Text 13"/>
          <p:cNvSpPr/>
          <p:nvPr/>
        </p:nvSpPr>
        <p:spPr>
          <a:xfrm>
            <a:off x="7315200" y="3338116"/>
            <a:ext cx="111269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73003"/>
                </a:solidFill>
                <a:latin typeface="Carlito" pitchFamily="34" charset="0"/>
                <a:ea typeface="Carlito" pitchFamily="34" charset="-122"/>
                <a:cs typeface="Carlito" pitchFamily="34" charset="-120"/>
              </a:rPr>
              <a:t>Same context</a:t>
            </a:r>
            <a:endParaRPr lang="en-US" sz="1300" dirty="0"/>
          </a:p>
        </p:txBody>
      </p:sp>
      <p:sp>
        <p:nvSpPr>
          <p:cNvPr id="16" name="Text 14"/>
          <p:cNvSpPr/>
          <p:nvPr/>
        </p:nvSpPr>
        <p:spPr>
          <a:xfrm>
            <a:off x="1066800" y="3865166"/>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322C"/>
                </a:solidFill>
                <a:latin typeface="Carlito" pitchFamily="34" charset="0"/>
                <a:ea typeface="Carlito" pitchFamily="34" charset="-122"/>
                <a:cs typeface="Carlito" pitchFamily="34" charset="-120"/>
              </a:rPr>
              <a:t>Isolate C</a:t>
            </a:r>
            <a:endParaRPr lang="en-US" sz="1400" dirty="0"/>
          </a:p>
        </p:txBody>
      </p:sp>
      <p:sp>
        <p:nvSpPr>
          <p:cNvPr id="17" name="Text 15"/>
          <p:cNvSpPr/>
          <p:nvPr/>
        </p:nvSpPr>
        <p:spPr>
          <a:xfrm>
            <a:off x="2438400" y="3785146"/>
            <a:ext cx="1016000" cy="408930"/>
          </a:xfrm>
          <a:custGeom>
            <a:avLst/>
            <a:gdLst/>
            <a:ahLst/>
            <a:cxnLst/>
            <a:rect l="l" t="t" r="r" b="b"/>
            <a:pathLst>
              <a:path w="1016000" h="408930">
                <a:moveTo>
                  <a:pt x="50800" y="0"/>
                </a:moveTo>
                <a:lnTo>
                  <a:pt x="965200" y="0"/>
                </a:lnTo>
                <a:arcTo hR="50800" wR="50800" stAng="16200000" swAng="5400000"/>
                <a:lnTo>
                  <a:pt x="1016000" y="358130"/>
                </a:lnTo>
                <a:arcTo hR="50800" wR="50800" stAng="0" swAng="5400000"/>
                <a:lnTo>
                  <a:pt x="50800" y="408930"/>
                </a:lnTo>
                <a:arcTo hR="50800" wR="50800" stAng="5400000" swAng="5400000"/>
                <a:lnTo>
                  <a:pt x="0" y="50800"/>
                </a:lnTo>
                <a:arcTo hR="50800" wR="50800" stAng="10800000" swAng="5400000"/>
                <a:close/>
              </a:path>
            </a:pathLst>
          </a:custGeom>
          <a:solidFill>
            <a:srgbClr val="273003"/>
          </a:solidFill>
          <a:ln/>
        </p:spPr>
        <p:txBody>
          <a:bodyPr wrap="square" lIns="0" tIns="88900" rIns="0" bIns="63500" rtlCol="0" anchor="t">
            <a:normAutofit/>
          </a:bodyPr>
          <a:lstStyle/>
          <a:p>
            <a:pPr algn="ctr" indent="0" marL="0">
              <a:lnSpc>
                <a:spcPts val="1820"/>
              </a:lnSpc>
              <a:buNone/>
            </a:pPr>
            <a:r>
              <a:rPr lang="en-US" sz="1300" dirty="0">
                <a:solidFill>
                  <a:srgbClr val="F9F2EA"/>
                </a:solidFill>
                <a:latin typeface="Carlito" pitchFamily="34" charset="0"/>
                <a:ea typeface="Carlito" pitchFamily="34" charset="-122"/>
                <a:cs typeface="Carlito" pitchFamily="34" charset="-120"/>
              </a:rPr>
              <a:t>IS</a:t>
            </a:r>
            <a:r>
              <a:rPr lang="en-US" sz="1300" i="1" dirty="0">
                <a:solidFill>
                  <a:srgbClr val="F9F2EA"/>
                </a:solidFill>
                <a:latin typeface="Carlito" pitchFamily="34" charset="0"/>
                <a:ea typeface="Carlito" pitchFamily="34" charset="-122"/>
                <a:cs typeface="Carlito" pitchFamily="34" charset="-120"/>
              </a:rPr>
              <a:t>26</a:t>
            </a:r>
            <a:endParaRPr lang="en-US" sz="1300" dirty="0"/>
          </a:p>
        </p:txBody>
      </p:sp>
      <p:sp>
        <p:nvSpPr>
          <p:cNvPr id="18" name="Text 16"/>
          <p:cNvSpPr/>
          <p:nvPr/>
        </p:nvSpPr>
        <p:spPr>
          <a:xfrm>
            <a:off x="3556000" y="3785146"/>
            <a:ext cx="1905000" cy="408930"/>
          </a:xfrm>
          <a:custGeom>
            <a:avLst/>
            <a:gdLst/>
            <a:ahLst/>
            <a:cxnLst/>
            <a:rect l="l" t="t" r="r" b="b"/>
            <a:pathLst>
              <a:path w="1905000" h="408930">
                <a:moveTo>
                  <a:pt x="50800" y="0"/>
                </a:moveTo>
                <a:lnTo>
                  <a:pt x="1854200" y="0"/>
                </a:lnTo>
                <a:arcTo hR="50800" wR="50800" stAng="16200000" swAng="5400000"/>
                <a:lnTo>
                  <a:pt x="1905000" y="358130"/>
                </a:lnTo>
                <a:arcTo hR="50800" wR="50800" stAng="0" swAng="5400000"/>
                <a:lnTo>
                  <a:pt x="50800" y="408930"/>
                </a:lnTo>
                <a:arcTo hR="50800" wR="50800" stAng="5400000" swAng="5400000"/>
                <a:lnTo>
                  <a:pt x="0" y="50800"/>
                </a:lnTo>
                <a:arcTo hR="50800" wR="50800" stAng="10800000" swAng="5400000"/>
                <a:close/>
              </a:path>
            </a:pathLst>
          </a:custGeom>
          <a:solidFill>
            <a:srgbClr val="891F15"/>
          </a:solidFill>
          <a:ln/>
        </p:spPr>
        <p:txBody>
          <a:bodyPr wrap="square" lIns="0" tIns="88900" rIns="0" bIns="63500" rtlCol="0" anchor="t">
            <a:normAutofit/>
          </a:bodyPr>
          <a:lstStyle/>
          <a:p>
            <a:pPr algn="ctr" indent="0" marL="0">
              <a:lnSpc>
                <a:spcPts val="1820"/>
              </a:lnSpc>
              <a:buNone/>
            </a:pPr>
            <a:r>
              <a:rPr lang="en-US" sz="1300" i="1" dirty="0">
                <a:solidFill>
                  <a:srgbClr val="F9F2EA"/>
                </a:solidFill>
                <a:latin typeface="Carlito" pitchFamily="34" charset="0"/>
                <a:ea typeface="Carlito" pitchFamily="34" charset="-122"/>
                <a:cs typeface="Carlito" pitchFamily="34" charset="-120"/>
              </a:rPr>
              <a:t>bla</a:t>
            </a:r>
            <a:r>
              <a:rPr lang="en-US" sz="1300" dirty="0">
                <a:solidFill>
                  <a:srgbClr val="F9F2EA"/>
                </a:solidFill>
                <a:latin typeface="Carlito" pitchFamily="34" charset="0"/>
                <a:ea typeface="Carlito" pitchFamily="34" charset="-122"/>
                <a:cs typeface="Carlito" pitchFamily="34" charset="-120"/>
              </a:rPr>
              <a:t>CTX-M-15</a:t>
            </a:r>
            <a:endParaRPr lang="en-US" sz="1300" dirty="0"/>
          </a:p>
        </p:txBody>
      </p:sp>
      <p:sp>
        <p:nvSpPr>
          <p:cNvPr id="19" name="Text 17"/>
          <p:cNvSpPr/>
          <p:nvPr/>
        </p:nvSpPr>
        <p:spPr>
          <a:xfrm>
            <a:off x="5562600" y="3785146"/>
            <a:ext cx="1016000" cy="408930"/>
          </a:xfrm>
          <a:custGeom>
            <a:avLst/>
            <a:gdLst/>
            <a:ahLst/>
            <a:cxnLst/>
            <a:rect l="l" t="t" r="r" b="b"/>
            <a:pathLst>
              <a:path w="1016000" h="408930">
                <a:moveTo>
                  <a:pt x="50800" y="0"/>
                </a:moveTo>
                <a:lnTo>
                  <a:pt x="965200" y="0"/>
                </a:lnTo>
                <a:arcTo hR="50800" wR="50800" stAng="16200000" swAng="5400000"/>
                <a:lnTo>
                  <a:pt x="1016000" y="358130"/>
                </a:lnTo>
                <a:arcTo hR="50800" wR="50800" stAng="0" swAng="5400000"/>
                <a:lnTo>
                  <a:pt x="50800" y="408930"/>
                </a:lnTo>
                <a:arcTo hR="50800" wR="50800" stAng="5400000" swAng="5400000"/>
                <a:lnTo>
                  <a:pt x="0" y="50800"/>
                </a:lnTo>
                <a:arcTo hR="50800" wR="50800" stAng="10800000" swAng="5400000"/>
                <a:close/>
              </a:path>
            </a:pathLst>
          </a:custGeom>
          <a:solidFill>
            <a:srgbClr val="273003"/>
          </a:solidFill>
          <a:ln/>
        </p:spPr>
        <p:txBody>
          <a:bodyPr wrap="square" lIns="0" tIns="88900" rIns="0" bIns="63500" rtlCol="0" anchor="t">
            <a:normAutofit/>
          </a:bodyPr>
          <a:lstStyle/>
          <a:p>
            <a:pPr algn="ctr" indent="0" marL="0">
              <a:lnSpc>
                <a:spcPts val="1820"/>
              </a:lnSpc>
              <a:buNone/>
            </a:pPr>
            <a:r>
              <a:rPr lang="en-US" sz="1300" dirty="0">
                <a:solidFill>
                  <a:srgbClr val="F9F2EA"/>
                </a:solidFill>
                <a:latin typeface="Carlito" pitchFamily="34" charset="0"/>
                <a:ea typeface="Carlito" pitchFamily="34" charset="-122"/>
                <a:cs typeface="Carlito" pitchFamily="34" charset="-120"/>
              </a:rPr>
              <a:t>IS</a:t>
            </a:r>
            <a:r>
              <a:rPr lang="en-US" sz="1300" i="1" dirty="0">
                <a:solidFill>
                  <a:srgbClr val="F9F2EA"/>
                </a:solidFill>
                <a:latin typeface="Carlito" pitchFamily="34" charset="0"/>
                <a:ea typeface="Carlito" pitchFamily="34" charset="-122"/>
                <a:cs typeface="Carlito" pitchFamily="34" charset="-120"/>
              </a:rPr>
              <a:t>26</a:t>
            </a:r>
            <a:endParaRPr lang="en-US" sz="1300" dirty="0"/>
          </a:p>
        </p:txBody>
      </p:sp>
      <p:sp>
        <p:nvSpPr>
          <p:cNvPr id="20" name="Text 18"/>
          <p:cNvSpPr/>
          <p:nvPr/>
        </p:nvSpPr>
        <p:spPr>
          <a:xfrm>
            <a:off x="6680200" y="3874046"/>
            <a:ext cx="139023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91F15"/>
                </a:solidFill>
                <a:latin typeface="Carlito" pitchFamily="34" charset="0"/>
                <a:ea typeface="Carlito" pitchFamily="34" charset="-122"/>
                <a:cs typeface="Carlito" pitchFamily="34" charset="-120"/>
              </a:rPr>
              <a:t>Different context</a:t>
            </a:r>
            <a:endParaRPr lang="en-US" sz="1300" dirty="0"/>
          </a:p>
        </p:txBody>
      </p:sp>
      <p:sp>
        <p:nvSpPr>
          <p:cNvPr id="21" name="Shape 19"/>
          <p:cNvSpPr/>
          <p:nvPr/>
        </p:nvSpPr>
        <p:spPr>
          <a:xfrm>
            <a:off x="838200" y="4625876"/>
            <a:ext cx="0" cy="480020"/>
          </a:xfrm>
          <a:prstGeom prst="line">
            <a:avLst/>
          </a:prstGeom>
          <a:noFill/>
          <a:ln w="50800">
            <a:solidFill>
              <a:srgbClr val="273003"/>
            </a:solidFill>
            <a:prstDash val="solid"/>
          </a:ln>
        </p:spPr>
      </p:sp>
      <p:sp>
        <p:nvSpPr>
          <p:cNvPr id="22" name="Text 20"/>
          <p:cNvSpPr/>
          <p:nvPr/>
        </p:nvSpPr>
        <p:spPr>
          <a:xfrm>
            <a:off x="1016000" y="4625876"/>
            <a:ext cx="5140833"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322C"/>
                </a:solidFill>
                <a:latin typeface="Carlito" pitchFamily="34" charset="0"/>
                <a:ea typeface="Carlito" pitchFamily="34" charset="-122"/>
                <a:cs typeface="Carlito" pitchFamily="34" charset="-120"/>
              </a:rPr>
              <a:t>Identical context</a:t>
            </a:r>
            <a:r>
              <a:rPr lang="en-US" sz="1400" dirty="0">
                <a:solidFill>
                  <a:srgbClr val="3A322C"/>
                </a:solidFill>
                <a:latin typeface="Carlito" pitchFamily="34" charset="0"/>
                <a:ea typeface="Carlito" pitchFamily="34" charset="-122"/>
                <a:cs typeface="Carlito" pitchFamily="34" charset="-120"/>
              </a:rPr>
              <a:t> in different isolates: evidence of a </a:t>
            </a:r>
            <a:r>
              <a:rPr lang="en-US" sz="1400" b="1" dirty="0">
                <a:solidFill>
                  <a:srgbClr val="3A322C"/>
                </a:solidFill>
                <a:latin typeface="Carlito" pitchFamily="34" charset="0"/>
                <a:ea typeface="Carlito" pitchFamily="34" charset="-122"/>
                <a:cs typeface="Carlito" pitchFamily="34" charset="-120"/>
              </a:rPr>
              <a:t>shared mobile element</a:t>
            </a:r>
            <a:r>
              <a:rPr lang="en-US" sz="1400" dirty="0">
                <a:solidFill>
                  <a:srgbClr val="3A322C"/>
                </a:solidFill>
                <a:latin typeface="Carlito" pitchFamily="34" charset="0"/>
                <a:ea typeface="Carlito" pitchFamily="34" charset="-122"/>
                <a:cs typeface="Carlito" pitchFamily="34" charset="-120"/>
              </a:rPr>
              <a:t>.</a:t>
            </a:r>
            <a:endParaRPr lang="en-US" sz="1400" dirty="0"/>
          </a:p>
        </p:txBody>
      </p:sp>
      <p:sp>
        <p:nvSpPr>
          <p:cNvPr id="23" name="Shape 21"/>
          <p:cNvSpPr/>
          <p:nvPr/>
        </p:nvSpPr>
        <p:spPr>
          <a:xfrm>
            <a:off x="6210300" y="4625876"/>
            <a:ext cx="0" cy="480020"/>
          </a:xfrm>
          <a:prstGeom prst="line">
            <a:avLst/>
          </a:prstGeom>
          <a:noFill/>
          <a:ln w="50800">
            <a:solidFill>
              <a:srgbClr val="891F15"/>
            </a:solidFill>
            <a:prstDash val="solid"/>
          </a:ln>
        </p:spPr>
      </p:sp>
      <p:sp>
        <p:nvSpPr>
          <p:cNvPr id="24" name="Text 22"/>
          <p:cNvSpPr/>
          <p:nvPr/>
        </p:nvSpPr>
        <p:spPr>
          <a:xfrm>
            <a:off x="6388100" y="4625876"/>
            <a:ext cx="5140833"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322C"/>
                </a:solidFill>
                <a:latin typeface="Carlito" pitchFamily="34" charset="0"/>
                <a:ea typeface="Carlito" pitchFamily="34" charset="-122"/>
                <a:cs typeface="Carlito" pitchFamily="34" charset="-120"/>
              </a:rPr>
              <a:t>Different contexts</a:t>
            </a:r>
            <a:r>
              <a:rPr lang="en-US" sz="1400" dirty="0">
                <a:solidFill>
                  <a:srgbClr val="3A322C"/>
                </a:solidFill>
                <a:latin typeface="Carlito" pitchFamily="34" charset="0"/>
                <a:ea typeface="Carlito" pitchFamily="34" charset="-122"/>
                <a:cs typeface="Carlito" pitchFamily="34" charset="-120"/>
              </a:rPr>
              <a:t>: probably </a:t>
            </a:r>
            <a:r>
              <a:rPr lang="en-US" sz="1400" b="1" dirty="0">
                <a:solidFill>
                  <a:srgbClr val="3A322C"/>
                </a:solidFill>
                <a:latin typeface="Carlito" pitchFamily="34" charset="0"/>
                <a:ea typeface="Carlito" pitchFamily="34" charset="-122"/>
                <a:cs typeface="Carlito" pitchFamily="34" charset="-120"/>
              </a:rPr>
              <a:t>independent acquisitions</a:t>
            </a:r>
            <a:r>
              <a:rPr lang="en-US" sz="1400" dirty="0">
                <a:solidFill>
                  <a:srgbClr val="3A322C"/>
                </a:solidFill>
                <a:latin typeface="Carlito" pitchFamily="34" charset="0"/>
                <a:ea typeface="Carlito" pitchFamily="34" charset="-122"/>
                <a:cs typeface="Carlito" pitchFamily="34" charset="-120"/>
              </a:rPr>
              <a:t> of the gene.</a:t>
            </a:r>
            <a:endParaRPr lang="en-US" sz="1400" dirty="0"/>
          </a:p>
        </p:txBody>
      </p:sp>
      <p:pic>
        <p:nvPicPr>
          <p:cNvPr id="25"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6"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5 · Plasmids across lineages | Day 5</a:t>
            </a:r>
            <a:endParaRPr lang="en-US" sz="1200" dirty="0"/>
          </a:p>
        </p:txBody>
      </p:sp>
      <p:sp>
        <p:nvSpPr>
          <p:cNvPr id="27"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Hands-on: annotate the plasmid with Bakta</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58590"/>
            <a:ext cx="10566400" cy="2362101"/>
          </a:xfrm>
          <a:prstGeom prst="roundRect">
            <a:avLst>
              <a:gd name="adj" fmla="val 3226"/>
            </a:avLst>
          </a:prstGeom>
          <a:solidFill>
            <a:srgbClr val="273003"/>
          </a:solidFill>
          <a:ln/>
        </p:spPr>
        <p:txBody>
          <a:bodyPr wrap="square" lIns="206282" tIns="130082" rIns="0" bIns="104682" rtlCol="0" anchor="t">
            <a:normAutofit/>
          </a:bodyPr>
          <a:lstStyle/>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use_tools plasmids</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s=CHI11E</a:t>
            </a:r>
            <a:endParaRPr lang="en-US" sz="1200" dirty="0"/>
          </a:p>
          <a:p>
            <a:pPr algn="l" indent="0" marL="0">
              <a:lnSpc>
                <a:spcPts val="1620"/>
              </a:lnSpc>
              <a:buNone/>
            </a:pPr>
            <a:r>
              <a:rPr lang="en-US" sz="1200" dirty="0">
                <a:solidFill>
                  <a:srgbClr val="C2CA6E"/>
                </a:solidFill>
                <a:latin typeface="JetBrains Mono" pitchFamily="49" charset="0"/>
                <a:ea typeface="JetBrains Mono" pitchFamily="49" charset="-122"/>
                <a:cs typeface="JetBrains Mono" pitchFamily="49" charset="-120"/>
              </a:rPr>
              <a:t># The plasmid file carrying blaCTX-M-15 (you found it on Day 4)</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P=$RESULTS/05_plasmids/hybrid/$s/plasmid_XXXX.fasta    </a:t>
            </a:r>
            <a:r>
              <a:rPr lang="en-US" sz="1200" dirty="0">
                <a:solidFill>
                  <a:srgbClr val="C2CA6E"/>
                </a:solidFill>
                <a:latin typeface="JetBrains Mono" pitchFamily="49" charset="0"/>
                <a:ea typeface="JetBrains Mono" pitchFamily="49" charset="-122"/>
                <a:cs typeface="JetBrains Mono" pitchFamily="49" charset="-120"/>
              </a:rPr>
              <a:t># &lt;- replace XXXX</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bakta --db $SHARED/databases/bakta/db-light --output $RESULTS/05_plasmids/bakta_$s \</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    --prefix ${s}_ctxm_plasmid --threads $THREADS $P</a:t>
            </a:r>
            <a:endParaRPr lang="en-US" sz="1200" dirty="0"/>
          </a:p>
          <a:p>
            <a:pPr algn="l" indent="0" marL="0">
              <a:lnSpc>
                <a:spcPts val="1620"/>
              </a:lnSpc>
              <a:buNone/>
            </a:pPr>
            <a:r>
              <a:rPr lang="en-US" sz="1200" dirty="0">
                <a:solidFill>
                  <a:srgbClr val="C2CA6E"/>
                </a:solidFill>
                <a:latin typeface="JetBrains Mono" pitchFamily="49" charset="0"/>
                <a:ea typeface="JetBrains Mono" pitchFamily="49" charset="-122"/>
                <a:cs typeface="JetBrains Mono" pitchFamily="49" charset="-120"/>
              </a:rPr>
              <a:t># Genes within 10 kb either side of blaCTX-M-15</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T=$RESULTS/05_plasmids/bakta_$s/${s}_ctxm_plasmid.tsv</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pos=$(grep -i "CTX-M" $T | head -1 | cut -f3)</a:t>
            </a:r>
            <a:endParaRPr lang="en-US" sz="1200" dirty="0"/>
          </a:p>
          <a:p>
            <a:pPr algn="l" indent="0" marL="0">
              <a:lnSpc>
                <a:spcPts val="1620"/>
              </a:lnSpc>
              <a:buNone/>
            </a:pPr>
            <a:r>
              <a:rPr lang="en-US" sz="1200" dirty="0">
                <a:solidFill>
                  <a:srgbClr val="F3EEDF"/>
                </a:solidFill>
                <a:latin typeface="JetBrains Mono" pitchFamily="49" charset="0"/>
                <a:ea typeface="JetBrains Mono" pitchFamily="49" charset="-122"/>
                <a:cs typeface="JetBrains Mono" pitchFamily="49" charset="-120"/>
              </a:rPr>
              <a:t>awk -F'\t' -v p=$pos '!/^#/ &amp;&amp; $3 &gt; p-10000 &amp;&amp; $4 &lt; p+10000 {print $3"\t"$4"\t"$5"\t"$7"\t"$8}' $T</a:t>
            </a:r>
            <a:endParaRPr lang="en-US" sz="1200" dirty="0"/>
          </a:p>
        </p:txBody>
      </p:sp>
      <p:sp>
        <p:nvSpPr>
          <p:cNvPr id="5" name="Text 3"/>
          <p:cNvSpPr/>
          <p:nvPr/>
        </p:nvSpPr>
        <p:spPr>
          <a:xfrm>
            <a:off x="812800" y="4223891"/>
            <a:ext cx="3403600" cy="897830"/>
          </a:xfrm>
          <a:prstGeom prst="roundRect">
            <a:avLst>
              <a:gd name="adj" fmla="val 5658"/>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b="1" dirty="0">
                <a:solidFill>
                  <a:srgbClr val="3A322C"/>
                </a:solidFill>
                <a:latin typeface="Carlito" pitchFamily="34" charset="0"/>
                <a:ea typeface="Carlito" pitchFamily="34" charset="-122"/>
                <a:cs typeface="Carlito" pitchFamily="34" charset="-120"/>
              </a:rPr>
              <a:t>Bakta</a:t>
            </a:r>
            <a:r>
              <a:rPr lang="en-US" sz="1300" dirty="0">
                <a:solidFill>
                  <a:srgbClr val="3A322C"/>
                </a:solidFill>
                <a:latin typeface="Carlito" pitchFamily="34" charset="0"/>
                <a:ea typeface="Carlito" pitchFamily="34" charset="-122"/>
                <a:cs typeface="Carlito" pitchFamily="34" charset="-120"/>
              </a:rPr>
              <a:t> finds and names every gene; the </a:t>
            </a:r>
            <a:r>
              <a:rPr lang="en-US" sz="1300" b="1" dirty="0">
                <a:solidFill>
                  <a:srgbClr val="3A322C"/>
                </a:solidFill>
                <a:latin typeface="Carlito" pitchFamily="34" charset="0"/>
                <a:ea typeface="Carlito" pitchFamily="34" charset="-122"/>
                <a:cs typeface="Carlito" pitchFamily="34" charset="-120"/>
              </a:rPr>
              <a:t>.tsv</a:t>
            </a:r>
            <a:r>
              <a:rPr lang="en-US" sz="1300" dirty="0">
                <a:solidFill>
                  <a:srgbClr val="3A322C"/>
                </a:solidFill>
                <a:latin typeface="Carlito" pitchFamily="34" charset="0"/>
                <a:ea typeface="Carlito" pitchFamily="34" charset="-122"/>
                <a:cs typeface="Carlito" pitchFamily="34" charset="-120"/>
              </a:rPr>
              <a:t> has one row per feature with start and stop</a:t>
            </a:r>
            <a:endParaRPr lang="en-US" sz="1300" dirty="0"/>
          </a:p>
        </p:txBody>
      </p:sp>
      <p:sp>
        <p:nvSpPr>
          <p:cNvPr id="6" name="Shape 4"/>
          <p:cNvSpPr/>
          <p:nvPr/>
        </p:nvSpPr>
        <p:spPr>
          <a:xfrm>
            <a:off x="812800" y="4223891"/>
            <a:ext cx="3403600" cy="897830"/>
          </a:xfrm>
          <a:custGeom>
            <a:avLst/>
            <a:gdLst/>
            <a:ahLst/>
            <a:cxnLst/>
            <a:rect l="l" t="t" r="r" b="b"/>
            <a:pathLst>
              <a:path w="3403600" h="897830">
                <a:moveTo>
                  <a:pt x="50800" y="897830"/>
                </a:moveTo>
                <a:lnTo>
                  <a:pt x="50800" y="897830"/>
                </a:lnTo>
                <a:arcTo hR="50800" wR="50800" stAng="5400000" swAng="5400000"/>
                <a:lnTo>
                  <a:pt x="0" y="50800"/>
                </a:lnTo>
                <a:arcTo hR="50800" wR="50800" stAng="10800000" swAng="5400000"/>
                <a:lnTo>
                  <a:pt x="50800" y="0"/>
                </a:lnTo>
                <a:lnTo>
                  <a:pt x="50800" y="897830"/>
                </a:lnTo>
                <a:close/>
              </a:path>
            </a:pathLst>
          </a:custGeom>
          <a:solidFill>
            <a:srgbClr val="891F15"/>
          </a:solidFill>
          <a:ln/>
        </p:spPr>
      </p:sp>
      <p:sp>
        <p:nvSpPr>
          <p:cNvPr id="7" name="Text 5"/>
          <p:cNvSpPr/>
          <p:nvPr/>
        </p:nvSpPr>
        <p:spPr>
          <a:xfrm>
            <a:off x="4394200" y="4223891"/>
            <a:ext cx="3403600" cy="897830"/>
          </a:xfrm>
          <a:prstGeom prst="roundRect">
            <a:avLst>
              <a:gd name="adj" fmla="val 5658"/>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b="1" dirty="0">
                <a:solidFill>
                  <a:srgbClr val="3A322C"/>
                </a:solidFill>
                <a:latin typeface="Carlito" pitchFamily="34" charset="0"/>
                <a:ea typeface="Carlito" pitchFamily="34" charset="-122"/>
                <a:cs typeface="Carlito" pitchFamily="34" charset="-120"/>
              </a:rPr>
              <a:t>awk</a:t>
            </a:r>
            <a:r>
              <a:rPr lang="en-US" sz="1300" dirty="0">
                <a:solidFill>
                  <a:srgbClr val="3A322C"/>
                </a:solidFill>
                <a:latin typeface="Carlito" pitchFamily="34" charset="0"/>
                <a:ea typeface="Carlito" pitchFamily="34" charset="-122"/>
                <a:cs typeface="Carlito" pitchFamily="34" charset="-120"/>
              </a:rPr>
              <a:t> keeps features within 10 kb of the CTX-M start: look for IS</a:t>
            </a:r>
            <a:r>
              <a:rPr lang="en-US" sz="1300" i="1" dirty="0">
                <a:solidFill>
                  <a:srgbClr val="3A322C"/>
                </a:solidFill>
                <a:latin typeface="Carlito" pitchFamily="34" charset="0"/>
                <a:ea typeface="Carlito" pitchFamily="34" charset="-122"/>
                <a:cs typeface="Carlito" pitchFamily="34" charset="-120"/>
              </a:rPr>
              <a:t>Ecp1</a:t>
            </a:r>
            <a:r>
              <a:rPr lang="en-US" sz="1300" dirty="0">
                <a:solidFill>
                  <a:srgbClr val="3A322C"/>
                </a:solidFill>
                <a:latin typeface="Carlito" pitchFamily="34" charset="0"/>
                <a:ea typeface="Carlito" pitchFamily="34" charset="-122"/>
                <a:cs typeface="Carlito" pitchFamily="34" charset="-120"/>
              </a:rPr>
              <a:t>, IS</a:t>
            </a:r>
            <a:r>
              <a:rPr lang="en-US" sz="1300" i="1" dirty="0">
                <a:solidFill>
                  <a:srgbClr val="3A322C"/>
                </a:solidFill>
                <a:latin typeface="Carlito" pitchFamily="34" charset="0"/>
                <a:ea typeface="Carlito" pitchFamily="34" charset="-122"/>
                <a:cs typeface="Carlito" pitchFamily="34" charset="-120"/>
              </a:rPr>
              <a:t>26</a:t>
            </a:r>
            <a:r>
              <a:rPr lang="en-US" sz="1300" dirty="0">
                <a:solidFill>
                  <a:srgbClr val="3A322C"/>
                </a:solidFill>
                <a:latin typeface="Carlito" pitchFamily="34" charset="0"/>
                <a:ea typeface="Carlito" pitchFamily="34" charset="-122"/>
                <a:cs typeface="Carlito" pitchFamily="34" charset="-120"/>
              </a:rPr>
              <a:t>, other AMR genes</a:t>
            </a:r>
            <a:endParaRPr lang="en-US" sz="1300" dirty="0"/>
          </a:p>
        </p:txBody>
      </p:sp>
      <p:sp>
        <p:nvSpPr>
          <p:cNvPr id="8" name="Shape 6"/>
          <p:cNvSpPr/>
          <p:nvPr/>
        </p:nvSpPr>
        <p:spPr>
          <a:xfrm>
            <a:off x="4394200" y="4223891"/>
            <a:ext cx="3403600" cy="897830"/>
          </a:xfrm>
          <a:custGeom>
            <a:avLst/>
            <a:gdLst/>
            <a:ahLst/>
            <a:cxnLst/>
            <a:rect l="l" t="t" r="r" b="b"/>
            <a:pathLst>
              <a:path w="3403600" h="897830">
                <a:moveTo>
                  <a:pt x="50800" y="897830"/>
                </a:moveTo>
                <a:lnTo>
                  <a:pt x="50800" y="897830"/>
                </a:lnTo>
                <a:arcTo hR="50800" wR="50800" stAng="5400000" swAng="5400000"/>
                <a:lnTo>
                  <a:pt x="0" y="50800"/>
                </a:lnTo>
                <a:arcTo hR="50800" wR="50800" stAng="10800000" swAng="5400000"/>
                <a:lnTo>
                  <a:pt x="50800" y="0"/>
                </a:lnTo>
                <a:lnTo>
                  <a:pt x="50800" y="897830"/>
                </a:lnTo>
                <a:close/>
              </a:path>
            </a:pathLst>
          </a:custGeom>
          <a:solidFill>
            <a:srgbClr val="891F15"/>
          </a:solidFill>
          <a:ln/>
        </p:spPr>
      </p:sp>
      <p:sp>
        <p:nvSpPr>
          <p:cNvPr id="9" name="Text 7"/>
          <p:cNvSpPr/>
          <p:nvPr/>
        </p:nvSpPr>
        <p:spPr>
          <a:xfrm>
            <a:off x="7975600" y="4223891"/>
            <a:ext cx="3403600" cy="897830"/>
          </a:xfrm>
          <a:prstGeom prst="roundRect">
            <a:avLst>
              <a:gd name="adj" fmla="val 5658"/>
            </a:avLst>
          </a:prstGeom>
          <a:solidFill>
            <a:srgbClr val="FFFFFF"/>
          </a:solidFill>
          <a:ln/>
        </p:spPr>
        <p:txBody>
          <a:bodyPr wrap="square" lIns="188321" tIns="112121" rIns="46081" bIns="86721"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For a picture: the </a:t>
            </a:r>
            <a:r>
              <a:rPr lang="en-US" sz="1300" b="1" dirty="0">
                <a:solidFill>
                  <a:srgbClr val="3A322C"/>
                </a:solidFill>
                <a:latin typeface="Carlito" pitchFamily="34" charset="0"/>
                <a:ea typeface="Carlito" pitchFamily="34" charset="-122"/>
                <a:cs typeface="Carlito" pitchFamily="34" charset="-120"/>
              </a:rPr>
              <a:t>.gbff</a:t>
            </a:r>
            <a:r>
              <a:rPr lang="en-US" sz="1300" dirty="0">
                <a:solidFill>
                  <a:srgbClr val="3A322C"/>
                </a:solidFill>
                <a:latin typeface="Carlito" pitchFamily="34" charset="0"/>
                <a:ea typeface="Carlito" pitchFamily="34" charset="-122"/>
                <a:cs typeface="Carlito" pitchFamily="34" charset="-120"/>
              </a:rPr>
              <a:t> in </a:t>
            </a:r>
            <a:r>
              <a:rPr lang="en-US" sz="1300" u="sng" dirty="0">
                <a:solidFill>
                  <a:srgbClr val="3A322C"/>
                </a:solidFill>
                <a:latin typeface="Carlito" pitchFamily="34" charset="0"/>
                <a:ea typeface="Carlito" pitchFamily="34" charset="-122"/>
                <a:cs typeface="Carl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Proksee</a:t>
            </a:r>
            <a:r>
              <a:rPr lang="en-US" sz="1300" dirty="0">
                <a:solidFill>
                  <a:srgbClr val="3A322C"/>
                </a:solidFill>
                <a:latin typeface="Carlito" pitchFamily="34" charset="0"/>
                <a:ea typeface="Carlito" pitchFamily="34" charset="-122"/>
                <a:cs typeface="Carlito" pitchFamily="34" charset="-120"/>
              </a:rPr>
              <a:t>, or </a:t>
            </a:r>
            <a:r>
              <a:rPr lang="en-US" sz="1300" u="sng" dirty="0">
                <a:solidFill>
                  <a:srgbClr val="3A322C"/>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clinker</a:t>
            </a:r>
            <a:r>
              <a:rPr lang="en-US" sz="1300" dirty="0">
                <a:solidFill>
                  <a:srgbClr val="3A322C"/>
                </a:solidFill>
                <a:latin typeface="Carlito" pitchFamily="34" charset="0"/>
                <a:ea typeface="Carlito" pitchFamily="34" charset="-122"/>
                <a:cs typeface="Carlito" pitchFamily="34" charset="-120"/>
              </a:rPr>
              <a:t> for several plasmids</a:t>
            </a:r>
            <a:endParaRPr lang="en-US" sz="1300" dirty="0"/>
          </a:p>
        </p:txBody>
      </p:sp>
      <p:sp>
        <p:nvSpPr>
          <p:cNvPr id="10" name="Shape 8"/>
          <p:cNvSpPr/>
          <p:nvPr/>
        </p:nvSpPr>
        <p:spPr>
          <a:xfrm>
            <a:off x="7975600" y="4223891"/>
            <a:ext cx="3403600" cy="897830"/>
          </a:xfrm>
          <a:custGeom>
            <a:avLst/>
            <a:gdLst/>
            <a:ahLst/>
            <a:cxnLst/>
            <a:rect l="l" t="t" r="r" b="b"/>
            <a:pathLst>
              <a:path w="3403600" h="897830">
                <a:moveTo>
                  <a:pt x="50800" y="897830"/>
                </a:moveTo>
                <a:lnTo>
                  <a:pt x="50800" y="897830"/>
                </a:lnTo>
                <a:arcTo hR="50800" wR="50800" stAng="5400000" swAng="5400000"/>
                <a:lnTo>
                  <a:pt x="0" y="50800"/>
                </a:lnTo>
                <a:arcTo hR="50800" wR="50800" stAng="10800000" swAng="5400000"/>
                <a:lnTo>
                  <a:pt x="50800" y="0"/>
                </a:lnTo>
                <a:lnTo>
                  <a:pt x="50800" y="897830"/>
                </a:lnTo>
                <a:close/>
              </a:path>
            </a:pathLst>
          </a:custGeom>
          <a:solidFill>
            <a:srgbClr val="273003"/>
          </a:solidFill>
          <a:ln/>
        </p:spPr>
      </p:sp>
      <p:pic>
        <p:nvPicPr>
          <p:cNvPr id="11" name="Image 0" descr="ILRI and CGIAR logos">    </p:cNvPr>
          <p:cNvPicPr>
            <a:picLocks noChangeAspect="1"/>
          </p:cNvPicPr>
          <p:nvPr/>
        </p:nvPicPr>
        <p:blipFill>
          <a:blip r:embed="rId3"/>
          <a:srcRect l="-56" r="-56" t="0" b="0"/>
          <a:stretch/>
        </p:blipFill>
        <p:spPr>
          <a:xfrm>
            <a:off x="10033000" y="254000"/>
            <a:ext cx="1346200" cy="381000"/>
          </a:xfrm>
          <a:prstGeom prst="rect">
            <a:avLst/>
          </a:prstGeom>
        </p:spPr>
      </p:pic>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5 · Plasmids across lineages | Day 5</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7300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2EA"/>
                </a:solidFill>
                <a:latin typeface="Carlito" pitchFamily="34" charset="0"/>
                <a:ea typeface="Carlito" pitchFamily="34" charset="-122"/>
                <a:cs typeface="Carlito" pitchFamily="34" charset="-120"/>
              </a:rPr>
              <a:t>Check your understanding: Day 5</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sp>
      <p:sp>
        <p:nvSpPr>
          <p:cNvPr id="4" name="Text 2"/>
          <p:cNvSpPr/>
          <p:nvPr/>
        </p:nvSpPr>
        <p:spPr>
          <a:xfrm>
            <a:off x="812800" y="1810990"/>
            <a:ext cx="23103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CE00"/>
                </a:solidFill>
                <a:latin typeface="Carlito" pitchFamily="34" charset="0"/>
                <a:ea typeface="Carlito" pitchFamily="34" charset="-122"/>
                <a:cs typeface="Carlito" pitchFamily="34" charset="-120"/>
              </a:rPr>
              <a:t>1</a:t>
            </a:r>
            <a:endParaRPr lang="en-US" sz="2800" dirty="0"/>
          </a:p>
        </p:txBody>
      </p:sp>
      <p:sp>
        <p:nvSpPr>
          <p:cNvPr id="5" name="Text 3"/>
          <p:cNvSpPr/>
          <p:nvPr/>
        </p:nvSpPr>
        <p:spPr>
          <a:xfrm>
            <a:off x="1170831" y="1810990"/>
            <a:ext cx="11021169"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9F2EA"/>
                </a:solidFill>
                <a:latin typeface="Carlito" pitchFamily="34" charset="0"/>
                <a:ea typeface="Carlito" pitchFamily="34" charset="-122"/>
                <a:cs typeface="Carlito" pitchFamily="34" charset="-120"/>
              </a:rPr>
              <a:t>Two isolates of different STs share a plasmid cluster. What does that mean for an outbreak investigation?</a:t>
            </a:r>
            <a:endParaRPr lang="en-US" sz="1800" dirty="0"/>
          </a:p>
        </p:txBody>
      </p:sp>
      <p:sp>
        <p:nvSpPr>
          <p:cNvPr id="6" name="Text 4"/>
          <p:cNvSpPr/>
          <p:nvPr/>
        </p:nvSpPr>
        <p:spPr>
          <a:xfrm>
            <a:off x="812800" y="2471390"/>
            <a:ext cx="23103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CE00"/>
                </a:solidFill>
                <a:latin typeface="Carlito" pitchFamily="34" charset="0"/>
                <a:ea typeface="Carlito" pitchFamily="34" charset="-122"/>
                <a:cs typeface="Carlito" pitchFamily="34" charset="-120"/>
              </a:rPr>
              <a:t>2</a:t>
            </a:r>
            <a:endParaRPr lang="en-US" sz="2800" dirty="0"/>
          </a:p>
        </p:txBody>
      </p:sp>
      <p:sp>
        <p:nvSpPr>
          <p:cNvPr id="7" name="Text 5"/>
          <p:cNvSpPr/>
          <p:nvPr/>
        </p:nvSpPr>
        <p:spPr>
          <a:xfrm>
            <a:off x="1170831" y="2471390"/>
            <a:ext cx="748385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9F2EA"/>
                </a:solidFill>
                <a:latin typeface="Carlito" pitchFamily="34" charset="0"/>
                <a:ea typeface="Carlito" pitchFamily="34" charset="-122"/>
                <a:cs typeface="Carlito" pitchFamily="34" charset="-120"/>
              </a:rPr>
              <a:t>Why is the genetic context (the genes around </a:t>
            </a:r>
            <a:r>
              <a:rPr lang="en-US" sz="1800" i="1" dirty="0">
                <a:solidFill>
                  <a:srgbClr val="F9F2EA"/>
                </a:solidFill>
                <a:latin typeface="Carlito" pitchFamily="34" charset="0"/>
                <a:ea typeface="Carlito" pitchFamily="34" charset="-122"/>
                <a:cs typeface="Carlito" pitchFamily="34" charset="-120"/>
              </a:rPr>
              <a:t>bla</a:t>
            </a:r>
            <a:r>
              <a:rPr lang="en-US" sz="1800" dirty="0">
                <a:solidFill>
                  <a:srgbClr val="F9F2EA"/>
                </a:solidFill>
                <a:latin typeface="Carlito" pitchFamily="34" charset="0"/>
                <a:ea typeface="Carlito" pitchFamily="34" charset="-122"/>
                <a:cs typeface="Carlito" pitchFamily="34" charset="-120"/>
              </a:rPr>
              <a:t>CTX-M-15) useful?</a:t>
            </a:r>
            <a:endParaRPr lang="en-US" sz="1800" dirty="0"/>
          </a:p>
        </p:txBody>
      </p:sp>
      <p:sp>
        <p:nvSpPr>
          <p:cNvPr id="8"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Module 5 · Plasmids across lineages | Day 5</a:t>
            </a:r>
            <a:endParaRPr lang="en-US" sz="1200" dirty="0"/>
          </a:p>
        </p:txBody>
      </p:sp>
      <p:sp>
        <p:nvSpPr>
          <p:cNvPr id="9"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Checklist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58590"/>
            <a:ext cx="52585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91F15"/>
                </a:solidFill>
                <a:latin typeface="Carlito" pitchFamily="34" charset="0"/>
                <a:ea typeface="Carlito" pitchFamily="34" charset="-122"/>
                <a:cs typeface="Carlito" pitchFamily="34" charset="-120"/>
              </a:rPr>
              <a:t>DAY 4</a:t>
            </a:r>
            <a:endParaRPr lang="en-US" sz="1200" dirty="0"/>
          </a:p>
        </p:txBody>
      </p:sp>
      <p:sp>
        <p:nvSpPr>
          <p:cNvPr id="5" name="Shape 3"/>
          <p:cNvSpPr/>
          <p:nvPr/>
        </p:nvSpPr>
        <p:spPr>
          <a:xfrm>
            <a:off x="812800" y="2556421"/>
            <a:ext cx="5105400" cy="0"/>
          </a:xfrm>
          <a:prstGeom prst="line">
            <a:avLst/>
          </a:prstGeom>
          <a:noFill/>
          <a:ln w="12700">
            <a:solidFill>
              <a:srgbClr val="D9CDBF"/>
            </a:solidFill>
            <a:prstDash val="solid"/>
          </a:ln>
        </p:spPr>
      </p:sp>
      <p:pic>
        <p:nvPicPr>
          <p:cNvPr id="6" name="Image 0" descr="CheckCircle">    </p:cNvPr>
          <p:cNvPicPr>
            <a:picLocks noChangeAspect="1"/>
          </p:cNvPicPr>
          <p:nvPr/>
        </p:nvPicPr>
        <p:blipFill>
          <a:blip r:embed="rId1"/>
          <a:srcRect l="-65" r="-65" t="0" b="0"/>
          <a:stretch/>
        </p:blipFill>
        <p:spPr>
          <a:xfrm>
            <a:off x="812800" y="1986211"/>
            <a:ext cx="228898" cy="254000"/>
          </a:xfrm>
          <a:prstGeom prst="rect">
            <a:avLst/>
          </a:prstGeom>
        </p:spPr>
      </p:pic>
      <p:sp>
        <p:nvSpPr>
          <p:cNvPr id="7" name="Text 4"/>
          <p:cNvSpPr/>
          <p:nvPr/>
        </p:nvSpPr>
        <p:spPr>
          <a:xfrm>
            <a:off x="1168698" y="1986211"/>
            <a:ext cx="4891987"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A322C"/>
                </a:solidFill>
                <a:latin typeface="Carlito" pitchFamily="34" charset="0"/>
                <a:ea typeface="Carlito" pitchFamily="34" charset="-122"/>
                <a:cs typeface="Carlito" pitchFamily="34" charset="-120"/>
              </a:rPr>
              <a:t>genotype_vs_phenotype.tsv</a:t>
            </a:r>
            <a:r>
              <a:rPr lang="en-US" sz="1400" dirty="0">
                <a:solidFill>
                  <a:srgbClr val="3A322C"/>
                </a:solidFill>
                <a:latin typeface="Carlito" pitchFamily="34" charset="0"/>
                <a:ea typeface="Carlito" pitchFamily="34" charset="-122"/>
                <a:cs typeface="Carlito" pitchFamily="34" charset="-120"/>
              </a:rPr>
              <a:t> written; you can explain two disagreements</a:t>
            </a:r>
            <a:endParaRPr lang="en-US" sz="1400" dirty="0"/>
          </a:p>
        </p:txBody>
      </p:sp>
      <p:sp>
        <p:nvSpPr>
          <p:cNvPr id="8" name="Shape 5"/>
          <p:cNvSpPr/>
          <p:nvPr/>
        </p:nvSpPr>
        <p:spPr>
          <a:xfrm>
            <a:off x="812800" y="3039021"/>
            <a:ext cx="5105400" cy="0"/>
          </a:xfrm>
          <a:prstGeom prst="line">
            <a:avLst/>
          </a:prstGeom>
          <a:noFill/>
          <a:ln w="12700">
            <a:solidFill>
              <a:srgbClr val="D9CDBF"/>
            </a:solidFill>
            <a:prstDash val="solid"/>
          </a:ln>
        </p:spPr>
      </p:sp>
      <p:pic>
        <p:nvPicPr>
          <p:cNvPr id="9" name="Image 1" descr="CheckCircle">    </p:cNvPr>
          <p:cNvPicPr>
            <a:picLocks noChangeAspect="1"/>
          </p:cNvPicPr>
          <p:nvPr/>
        </p:nvPicPr>
        <p:blipFill>
          <a:blip r:embed="rId2"/>
          <a:srcRect l="0" r="0" t="0" b="0"/>
          <a:stretch/>
        </p:blipFill>
        <p:spPr>
          <a:xfrm>
            <a:off x="812800" y="2677071"/>
            <a:ext cx="254000" cy="254000"/>
          </a:xfrm>
          <a:prstGeom prst="rect">
            <a:avLst/>
          </a:prstGeom>
        </p:spPr>
      </p:pic>
      <p:sp>
        <p:nvSpPr>
          <p:cNvPr id="10" name="Text 6"/>
          <p:cNvSpPr/>
          <p:nvPr/>
        </p:nvSpPr>
        <p:spPr>
          <a:xfrm>
            <a:off x="1193800" y="2677071"/>
            <a:ext cx="47244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Regimen table, and a sentence on why it is not prevalence</a:t>
            </a:r>
            <a:endParaRPr lang="en-US" sz="1400" dirty="0"/>
          </a:p>
        </p:txBody>
      </p:sp>
      <p:sp>
        <p:nvSpPr>
          <p:cNvPr id="11" name="Shape 7"/>
          <p:cNvSpPr/>
          <p:nvPr/>
        </p:nvSpPr>
        <p:spPr>
          <a:xfrm>
            <a:off x="812800" y="3521621"/>
            <a:ext cx="5105400" cy="0"/>
          </a:xfrm>
          <a:prstGeom prst="line">
            <a:avLst/>
          </a:prstGeom>
          <a:noFill/>
          <a:ln w="12700">
            <a:solidFill>
              <a:srgbClr val="D9CDBF"/>
            </a:solidFill>
            <a:prstDash val="solid"/>
          </a:ln>
        </p:spPr>
      </p:sp>
      <p:pic>
        <p:nvPicPr>
          <p:cNvPr id="12" name="Image 2" descr="CheckCircle">    </p:cNvPr>
          <p:cNvPicPr>
            <a:picLocks noChangeAspect="1"/>
          </p:cNvPicPr>
          <p:nvPr/>
        </p:nvPicPr>
        <p:blipFill>
          <a:blip r:embed="rId3"/>
          <a:srcRect l="0" r="0" t="0" b="0"/>
          <a:stretch/>
        </p:blipFill>
        <p:spPr>
          <a:xfrm>
            <a:off x="812800" y="3159671"/>
            <a:ext cx="254000" cy="254000"/>
          </a:xfrm>
          <a:prstGeom prst="rect">
            <a:avLst/>
          </a:prstGeom>
        </p:spPr>
      </p:pic>
      <p:sp>
        <p:nvSpPr>
          <p:cNvPr id="13" name="Text 8"/>
          <p:cNvSpPr/>
          <p:nvPr/>
        </p:nvSpPr>
        <p:spPr>
          <a:xfrm>
            <a:off x="1193800" y="3159671"/>
            <a:ext cx="47244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MOB-suite results for the three hybrids, hybrid and short-read</a:t>
            </a:r>
            <a:endParaRPr lang="en-US" sz="1400" dirty="0"/>
          </a:p>
        </p:txBody>
      </p:sp>
      <p:pic>
        <p:nvPicPr>
          <p:cNvPr id="14" name="Image 3" descr="CheckCircle">    </p:cNvPr>
          <p:cNvPicPr>
            <a:picLocks noChangeAspect="1"/>
          </p:cNvPicPr>
          <p:nvPr/>
        </p:nvPicPr>
        <p:blipFill>
          <a:blip r:embed="rId4"/>
          <a:srcRect l="0" r="0" t="0" b="0"/>
          <a:stretch/>
        </p:blipFill>
        <p:spPr>
          <a:xfrm>
            <a:off x="812800" y="3642271"/>
            <a:ext cx="254000" cy="254000"/>
          </a:xfrm>
          <a:prstGeom prst="rect">
            <a:avLst/>
          </a:prstGeom>
        </p:spPr>
      </p:pic>
      <p:sp>
        <p:nvSpPr>
          <p:cNvPr id="15" name="Text 9"/>
          <p:cNvSpPr/>
          <p:nvPr/>
        </p:nvSpPr>
        <p:spPr>
          <a:xfrm>
            <a:off x="1193800" y="3642271"/>
            <a:ext cx="2402503"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The plasmid table is filled in</a:t>
            </a:r>
            <a:endParaRPr lang="en-US" sz="1400" dirty="0"/>
          </a:p>
        </p:txBody>
      </p:sp>
      <p:sp>
        <p:nvSpPr>
          <p:cNvPr id="16" name="Text 10"/>
          <p:cNvSpPr/>
          <p:nvPr/>
        </p:nvSpPr>
        <p:spPr>
          <a:xfrm>
            <a:off x="6273800" y="1658590"/>
            <a:ext cx="52585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73003"/>
                </a:solidFill>
                <a:latin typeface="Carlito" pitchFamily="34" charset="0"/>
                <a:ea typeface="Carlito" pitchFamily="34" charset="-122"/>
                <a:cs typeface="Carlito" pitchFamily="34" charset="-120"/>
              </a:rPr>
              <a:t>DAY 5 MORNING</a:t>
            </a:r>
            <a:endParaRPr lang="en-US" sz="1200" dirty="0"/>
          </a:p>
        </p:txBody>
      </p:sp>
      <p:sp>
        <p:nvSpPr>
          <p:cNvPr id="17" name="Shape 11"/>
          <p:cNvSpPr/>
          <p:nvPr/>
        </p:nvSpPr>
        <p:spPr>
          <a:xfrm>
            <a:off x="6273800" y="2556421"/>
            <a:ext cx="5105400" cy="0"/>
          </a:xfrm>
          <a:prstGeom prst="line">
            <a:avLst/>
          </a:prstGeom>
          <a:noFill/>
          <a:ln w="12700">
            <a:solidFill>
              <a:srgbClr val="D9CDBF"/>
            </a:solidFill>
            <a:prstDash val="solid"/>
          </a:ln>
        </p:spPr>
      </p:sp>
      <p:pic>
        <p:nvPicPr>
          <p:cNvPr id="18" name="Image 4" descr="CheckCircle">    </p:cNvPr>
          <p:cNvPicPr>
            <a:picLocks noChangeAspect="1"/>
          </p:cNvPicPr>
          <p:nvPr/>
        </p:nvPicPr>
        <p:blipFill>
          <a:blip r:embed="rId5"/>
          <a:srcRect l="0" r="0" t="-39" b="-39"/>
          <a:stretch/>
        </p:blipFill>
        <p:spPr>
          <a:xfrm>
            <a:off x="6273800" y="1986211"/>
            <a:ext cx="253802" cy="254000"/>
          </a:xfrm>
          <a:prstGeom prst="rect">
            <a:avLst/>
          </a:prstGeom>
        </p:spPr>
      </p:pic>
      <p:sp>
        <p:nvSpPr>
          <p:cNvPr id="19" name="Text 12"/>
          <p:cNvSpPr/>
          <p:nvPr/>
        </p:nvSpPr>
        <p:spPr>
          <a:xfrm>
            <a:off x="6654602" y="1986211"/>
            <a:ext cx="4866336"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A322C"/>
                </a:solidFill>
                <a:latin typeface="Carlito" pitchFamily="34" charset="0"/>
                <a:ea typeface="Carlito" pitchFamily="34" charset="-122"/>
                <a:cs typeface="Carlito" pitchFamily="34" charset="-120"/>
              </a:rPr>
              <a:t>all_plasmids.tsv</a:t>
            </a:r>
            <a:r>
              <a:rPr lang="en-US" sz="1400" dirty="0">
                <a:solidFill>
                  <a:srgbClr val="3A322C"/>
                </a:solidFill>
                <a:latin typeface="Carlito" pitchFamily="34" charset="0"/>
                <a:ea typeface="Carlito" pitchFamily="34" charset="-122"/>
                <a:cs typeface="Carlito" pitchFamily="34" charset="-120"/>
              </a:rPr>
              <a:t> built; you looked for clusters shared between STs</a:t>
            </a:r>
            <a:endParaRPr lang="en-US" sz="1400" dirty="0"/>
          </a:p>
        </p:txBody>
      </p:sp>
      <p:sp>
        <p:nvSpPr>
          <p:cNvPr id="20" name="Shape 13"/>
          <p:cNvSpPr/>
          <p:nvPr/>
        </p:nvSpPr>
        <p:spPr>
          <a:xfrm>
            <a:off x="6273800" y="3039021"/>
            <a:ext cx="5105400" cy="0"/>
          </a:xfrm>
          <a:prstGeom prst="line">
            <a:avLst/>
          </a:prstGeom>
          <a:noFill/>
          <a:ln w="12700">
            <a:solidFill>
              <a:srgbClr val="D9CDBF"/>
            </a:solidFill>
            <a:prstDash val="solid"/>
          </a:ln>
        </p:spPr>
      </p:sp>
      <p:pic>
        <p:nvPicPr>
          <p:cNvPr id="21" name="Image 5" descr="CheckCircle">    </p:cNvPr>
          <p:cNvPicPr>
            <a:picLocks noChangeAspect="1"/>
          </p:cNvPicPr>
          <p:nvPr/>
        </p:nvPicPr>
        <p:blipFill>
          <a:blip r:embed="rId6"/>
          <a:srcRect l="0" r="0" t="0" b="0"/>
          <a:stretch/>
        </p:blipFill>
        <p:spPr>
          <a:xfrm>
            <a:off x="6273800" y="2677071"/>
            <a:ext cx="254000" cy="254000"/>
          </a:xfrm>
          <a:prstGeom prst="rect">
            <a:avLst/>
          </a:prstGeom>
        </p:spPr>
      </p:pic>
      <p:sp>
        <p:nvSpPr>
          <p:cNvPr id="22" name="Text 14"/>
          <p:cNvSpPr/>
          <p:nvPr/>
        </p:nvSpPr>
        <p:spPr>
          <a:xfrm>
            <a:off x="6654800" y="2677071"/>
            <a:ext cx="47244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Mash distances between the hybrid plasmids computed</a:t>
            </a:r>
            <a:endParaRPr lang="en-US" sz="1400" dirty="0"/>
          </a:p>
        </p:txBody>
      </p:sp>
      <p:pic>
        <p:nvPicPr>
          <p:cNvPr id="23" name="Image 6" descr="CheckCircle">    </p:cNvPr>
          <p:cNvPicPr>
            <a:picLocks noChangeAspect="1"/>
          </p:cNvPicPr>
          <p:nvPr/>
        </p:nvPicPr>
        <p:blipFill>
          <a:blip r:embed="rId7"/>
          <a:srcRect l="0" r="0" t="0" b="0"/>
          <a:stretch/>
        </p:blipFill>
        <p:spPr>
          <a:xfrm>
            <a:off x="6273800" y="3159671"/>
            <a:ext cx="254000" cy="254000"/>
          </a:xfrm>
          <a:prstGeom prst="rect">
            <a:avLst/>
          </a:prstGeom>
        </p:spPr>
      </p:pic>
      <p:sp>
        <p:nvSpPr>
          <p:cNvPr id="24" name="Text 15"/>
          <p:cNvSpPr/>
          <p:nvPr/>
        </p:nvSpPr>
        <p:spPr>
          <a:xfrm>
            <a:off x="6654800" y="3159671"/>
            <a:ext cx="4107359"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The genes around </a:t>
            </a:r>
            <a:r>
              <a:rPr lang="en-US" sz="1400" i="1" dirty="0">
                <a:solidFill>
                  <a:srgbClr val="3A322C"/>
                </a:solidFill>
                <a:latin typeface="Carlito" pitchFamily="34" charset="0"/>
                <a:ea typeface="Carlito" pitchFamily="34" charset="-122"/>
                <a:cs typeface="Carlito" pitchFamily="34" charset="-120"/>
              </a:rPr>
              <a:t>bla</a:t>
            </a:r>
            <a:r>
              <a:rPr lang="en-US" sz="1400" dirty="0">
                <a:solidFill>
                  <a:srgbClr val="3A322C"/>
                </a:solidFill>
                <a:latin typeface="Carlito" pitchFamily="34" charset="0"/>
                <a:ea typeface="Carlito" pitchFamily="34" charset="-122"/>
                <a:cs typeface="Carlito" pitchFamily="34" charset="-120"/>
              </a:rPr>
              <a:t>CTX-M-15 in CHI11E listed</a:t>
            </a:r>
            <a:endParaRPr lang="en-US" sz="1400" dirty="0"/>
          </a:p>
        </p:txBody>
      </p:sp>
      <p:pic>
        <p:nvPicPr>
          <p:cNvPr id="25" name="Image 7" descr="ILRI and CGIAR logos">    </p:cNvPr>
          <p:cNvPicPr>
            <a:picLocks noChangeAspect="1"/>
          </p:cNvPicPr>
          <p:nvPr/>
        </p:nvPicPr>
        <p:blipFill>
          <a:blip r:embed="rId8"/>
          <a:srcRect l="-56" r="-56" t="0" b="0"/>
          <a:stretch/>
        </p:blipFill>
        <p:spPr>
          <a:xfrm>
            <a:off x="10033000" y="254000"/>
            <a:ext cx="1346200" cy="381000"/>
          </a:xfrm>
          <a:prstGeom prst="rect">
            <a:avLst/>
          </a:prstGeom>
        </p:spPr>
      </p:pic>
      <p:sp>
        <p:nvSpPr>
          <p:cNvPr id="26"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5 · Plasmids across lineages | Day 5</a:t>
            </a:r>
            <a:endParaRPr lang="en-US" sz="1200" dirty="0"/>
          </a:p>
        </p:txBody>
      </p:sp>
      <p:sp>
        <p:nvSpPr>
          <p:cNvPr id="27"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Further reading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709390"/>
            <a:ext cx="65405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Papers and guidance</a:t>
            </a:r>
            <a:endParaRPr lang="en-US" sz="1600" dirty="0"/>
          </a:p>
        </p:txBody>
      </p:sp>
      <p:sp>
        <p:nvSpPr>
          <p:cNvPr id="5" name="Text 3"/>
          <p:cNvSpPr/>
          <p:nvPr/>
        </p:nvSpPr>
        <p:spPr>
          <a:xfrm>
            <a:off x="910844" y="2054820"/>
            <a:ext cx="6434836" cy="118105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Gajic I, et al. Antimicrobial susceptibility testing: a comprehensive review. </a:t>
            </a:r>
            <a:r>
              <a:rPr lang="en-US" sz="1300" i="1" dirty="0">
                <a:solidFill>
                  <a:srgbClr val="3A322C"/>
                </a:solidFill>
                <a:latin typeface="Carlito" pitchFamily="34" charset="0"/>
                <a:ea typeface="Carlito" pitchFamily="34" charset="-122"/>
                <a:cs typeface="Carlito" pitchFamily="34" charset="-120"/>
              </a:rPr>
              <a:t>Antibiotics</a:t>
            </a:r>
            <a:r>
              <a:rPr lang="en-US" sz="1300" dirty="0">
                <a:solidFill>
                  <a:srgbClr val="3A322C"/>
                </a:solidFill>
                <a:latin typeface="Carlito" pitchFamily="34" charset="0"/>
                <a:ea typeface="Carlito" pitchFamily="34" charset="-122"/>
                <a:cs typeface="Carlito" pitchFamily="34" charset="-120"/>
              </a:rPr>
              <a:t> 2022. </a:t>
            </a:r>
            <a:r>
              <a:rPr lang="en-US" sz="1300" u="sng" dirty="0">
                <a:solidFill>
                  <a:srgbClr val="3A322C"/>
                </a:solidFill>
                <a:latin typeface="Carlito" pitchFamily="34" charset="0"/>
                <a:ea typeface="Carlito" pitchFamily="34" charset="-122"/>
                <a:cs typeface="Carl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doi:10.3390/antibiotics11040427</a:t>
            </a:r>
            <a:endParaRPr lang="en-US" sz="1300" dirty="0"/>
          </a:p>
          <a:p>
            <a:pPr algn="l" marL="155956" indent="-155956">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Hendriksen RS, et al. Using genomics to track global antimicrobial resistance. </a:t>
            </a:r>
            <a:r>
              <a:rPr lang="en-US" sz="1300" i="1" dirty="0">
                <a:solidFill>
                  <a:srgbClr val="3A322C"/>
                </a:solidFill>
                <a:latin typeface="Carlito" pitchFamily="34" charset="0"/>
                <a:ea typeface="Carlito" pitchFamily="34" charset="-122"/>
                <a:cs typeface="Carlito" pitchFamily="34" charset="-120"/>
              </a:rPr>
              <a:t>Front Public Health</a:t>
            </a:r>
            <a:r>
              <a:rPr lang="en-US" sz="1300" dirty="0">
                <a:solidFill>
                  <a:srgbClr val="3A322C"/>
                </a:solidFill>
                <a:latin typeface="Carlito" pitchFamily="34" charset="0"/>
                <a:ea typeface="Carlito" pitchFamily="34" charset="-122"/>
                <a:cs typeface="Carlito" pitchFamily="34" charset="-120"/>
              </a:rPr>
              <a:t> 2019. </a:t>
            </a:r>
            <a:r>
              <a:rPr lang="en-US" sz="1300" u="sng" dirty="0">
                <a:solidFill>
                  <a:srgbClr val="3A322C"/>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doi:10.3389/fpubh.2019.00242</a:t>
            </a:r>
            <a:endParaRPr lang="en-US" sz="1300" dirty="0"/>
          </a:p>
          <a:p>
            <a:pPr algn="l" marL="155956" indent="-155956">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EUCAST </a:t>
            </a:r>
            <a:r>
              <a:rPr lang="en-US" sz="1300" u="sng" dirty="0">
                <a:solidFill>
                  <a:srgbClr val="3A322C"/>
                </a:solidFill>
                <a:latin typeface="Carlito" pitchFamily="34" charset="0"/>
                <a:ea typeface="Carlito" pitchFamily="34" charset="-122"/>
                <a:cs typeface="Carlito" pitchFamily="34" charset="-120"/>
                <a:hlinkClick r:id="rId3" invalidUrl="" action="" tgtFrame="" tooltip="" history="1" highlightClick="0" endSnd="0">
                  <a:extLst>
                    <a:ext uri="{A12FA001-AC4F-418D-AE19-62706E023703}">
                      <ahyp:hlinkClr xmlns:ahyp="http://schemas.microsoft.com/office/drawing/2018/hyperlinkcolor" val="tx"/>
                    </a:ext>
                  </a:extLst>
                </a:hlinkClick>
              </a:rPr>
              <a:t>expert rules and intrinsic resistance tables</a:t>
            </a:r>
            <a:endParaRPr lang="en-US" sz="1300" dirty="0"/>
          </a:p>
        </p:txBody>
      </p:sp>
      <p:sp>
        <p:nvSpPr>
          <p:cNvPr id="6" name="Text 4"/>
          <p:cNvSpPr/>
          <p:nvPr/>
        </p:nvSpPr>
        <p:spPr>
          <a:xfrm>
            <a:off x="7569200" y="1709390"/>
            <a:ext cx="39243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Tools</a:t>
            </a:r>
            <a:endParaRPr lang="en-US" sz="1600" dirty="0"/>
          </a:p>
        </p:txBody>
      </p:sp>
      <p:sp>
        <p:nvSpPr>
          <p:cNvPr id="7" name="Text 5"/>
          <p:cNvSpPr/>
          <p:nvPr/>
        </p:nvSpPr>
        <p:spPr>
          <a:xfrm>
            <a:off x="7667244" y="2054820"/>
            <a:ext cx="3818636" cy="141218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4" invalidUrl="" action="" tgtFrame="" tooltip="" history="1" highlightClick="0" endSnd="0">
                  <a:extLst>
                    <a:ext uri="{A12FA001-AC4F-418D-AE19-62706E023703}">
                      <ahyp:hlinkClr xmlns:ahyp="http://schemas.microsoft.com/office/drawing/2018/hyperlinkcolor" val="tx"/>
                    </a:ext>
                  </a:extLst>
                </a:hlinkClick>
              </a:rPr>
              <a:t>MOB-suite</a:t>
            </a:r>
            <a:endParaRPr lang="en-US" sz="1300" dirty="0"/>
          </a:p>
          <a:p>
            <a:pPr algn="l" marL="155956" indent="-155956">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5" invalidUrl="" action="" tgtFrame="" tooltip="" history="1" highlightClick="0" endSnd="0">
                  <a:extLst>
                    <a:ext uri="{A12FA001-AC4F-418D-AE19-62706E023703}">
                      <ahyp:hlinkClr xmlns:ahyp="http://schemas.microsoft.com/office/drawing/2018/hyperlinkcolor" val="tx"/>
                    </a:ext>
                  </a:extLst>
                </a:hlinkClick>
              </a:rPr>
              <a:t>PlasmidFinder</a:t>
            </a:r>
            <a:endParaRPr lang="en-US" sz="1300" dirty="0"/>
          </a:p>
          <a:p>
            <a:pPr algn="l" marL="155956" indent="-155956">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6" invalidUrl="" action="" tgtFrame="" tooltip="" history="1" highlightClick="0" endSnd="0">
                  <a:extLst>
                    <a:ext uri="{A12FA001-AC4F-418D-AE19-62706E023703}">
                      <ahyp:hlinkClr xmlns:ahyp="http://schemas.microsoft.com/office/drawing/2018/hyperlinkcolor" val="tx"/>
                    </a:ext>
                  </a:extLst>
                </a:hlinkClick>
              </a:rPr>
              <a:t>AMRFinderPlus</a:t>
            </a:r>
            <a:endParaRPr lang="en-US" sz="1300" dirty="0"/>
          </a:p>
          <a:p>
            <a:pPr algn="l" marL="155956" indent="-155956">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7" invalidUrl="" action="" tgtFrame="" tooltip="" history="1" highlightClick="0" endSnd="0">
                  <a:extLst>
                    <a:ext uri="{A12FA001-AC4F-418D-AE19-62706E023703}">
                      <ahyp:hlinkClr xmlns:ahyp="http://schemas.microsoft.com/office/drawing/2018/hyperlinkcolor" val="tx"/>
                    </a:ext>
                  </a:extLst>
                </a:hlinkClick>
              </a:rPr>
              <a:t>Mash</a:t>
            </a:r>
            <a:r>
              <a:rPr lang="en-US" sz="1300" dirty="0">
                <a:solidFill>
                  <a:srgbClr val="3A322C"/>
                </a:solidFill>
                <a:latin typeface="Carlito" pitchFamily="34" charset="0"/>
                <a:ea typeface="Carlito" pitchFamily="34" charset="-122"/>
                <a:cs typeface="Carlito" pitchFamily="34" charset="-120"/>
              </a:rPr>
              <a:t> and </a:t>
            </a:r>
            <a:r>
              <a:rPr lang="en-US" sz="1300" u="sng" dirty="0">
                <a:solidFill>
                  <a:srgbClr val="3A322C"/>
                </a:solidFill>
                <a:latin typeface="Carlito" pitchFamily="34" charset="0"/>
                <a:ea typeface="Carlito" pitchFamily="34" charset="-122"/>
                <a:cs typeface="Carlito" pitchFamily="34" charset="-120"/>
                <a:hlinkClick r:id="rId8" invalidUrl="" action="" tgtFrame="" tooltip="" history="1" highlightClick="0" endSnd="0">
                  <a:extLst>
                    <a:ext uri="{A12FA001-AC4F-418D-AE19-62706E023703}">
                      <ahyp:hlinkClr xmlns:ahyp="http://schemas.microsoft.com/office/drawing/2018/hyperlinkcolor" val="tx"/>
                    </a:ext>
                  </a:extLst>
                </a:hlinkClick>
              </a:rPr>
              <a:t>Bakta</a:t>
            </a:r>
            <a:endParaRPr lang="en-US" sz="1300" dirty="0"/>
          </a:p>
          <a:p>
            <a:pPr algn="l" marL="155956" indent="-155956">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9" invalidUrl="" action="" tgtFrame="" tooltip="" history="1" highlightClick="0" endSnd="0">
                  <a:extLst>
                    <a:ext uri="{A12FA001-AC4F-418D-AE19-62706E023703}">
                      <ahyp:hlinkClr xmlns:ahyp="http://schemas.microsoft.com/office/drawing/2018/hyperlinkcolor" val="tx"/>
                    </a:ext>
                  </a:extLst>
                </a:hlinkClick>
              </a:rPr>
              <a:t>Proksee</a:t>
            </a:r>
            <a:r>
              <a:rPr lang="en-US" sz="1300" dirty="0">
                <a:solidFill>
                  <a:srgbClr val="3A322C"/>
                </a:solidFill>
                <a:latin typeface="Carlito" pitchFamily="34" charset="0"/>
                <a:ea typeface="Carlito" pitchFamily="34" charset="-122"/>
                <a:cs typeface="Carlito" pitchFamily="34" charset="-120"/>
              </a:rPr>
              <a:t> and </a:t>
            </a:r>
            <a:r>
              <a:rPr lang="en-US" sz="1300" u="sng" dirty="0">
                <a:solidFill>
                  <a:srgbClr val="3A322C"/>
                </a:solidFill>
                <a:latin typeface="Carlito" pitchFamily="34" charset="0"/>
                <a:ea typeface="Carlito" pitchFamily="34" charset="-122"/>
                <a:cs typeface="Carlit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clinker</a:t>
            </a:r>
            <a:endParaRPr lang="en-US" sz="1300" dirty="0"/>
          </a:p>
          <a:p>
            <a:pPr algn="l" marL="155956" indent="-155956">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 for Data Science</a:t>
            </a:r>
            <a:r>
              <a:rPr lang="en-US" sz="1300" dirty="0">
                <a:solidFill>
                  <a:srgbClr val="3A322C"/>
                </a:solidFill>
                <a:latin typeface="Carlito" pitchFamily="34" charset="0"/>
                <a:ea typeface="Carlito" pitchFamily="34" charset="-122"/>
                <a:cs typeface="Carlito" pitchFamily="34" charset="-120"/>
              </a:rPr>
              <a:t> (tidyverse)</a:t>
            </a:r>
            <a:endParaRPr lang="en-US" sz="1300" dirty="0"/>
          </a:p>
        </p:txBody>
      </p:sp>
      <p:pic>
        <p:nvPicPr>
          <p:cNvPr id="8" name="Image 0" descr="ILRI and CGIAR logos">    </p:cNvPr>
          <p:cNvPicPr>
            <a:picLocks noChangeAspect="1"/>
          </p:cNvPicPr>
          <p:nvPr/>
        </p:nvPicPr>
        <p:blipFill>
          <a:blip r:embed="rId12"/>
          <a:srcRect l="-56" r="-56" t="0" b="0"/>
          <a:stretch/>
        </p:blipFill>
        <p:spPr>
          <a:xfrm>
            <a:off x="10033000" y="254000"/>
            <a:ext cx="1346200" cy="381000"/>
          </a:xfrm>
          <a:prstGeom prst="rect">
            <a:avLst/>
          </a:prstGeom>
        </p:spPr>
      </p:pic>
      <p:sp>
        <p:nvSpPr>
          <p:cNvPr id="9"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4 · Genotype, phenotype and plasmids | Day 4</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9F2EA"/>
        </a:solidFill>
      </p:bgPr>
    </p:bg>
    <p:spTree>
      <p:nvGrpSpPr>
        <p:cNvPr id="1" name=""/>
        <p:cNvGrpSpPr/>
        <p:nvPr/>
      </p:nvGrpSpPr>
      <p:grpSpPr>
        <a:xfrm>
          <a:off x="0" y="0"/>
          <a:ext cx="0" cy="0"/>
          <a:chOff x="0" y="0"/>
          <a:chExt cx="0" cy="0"/>
        </a:xfrm>
      </p:grpSpPr>
      <p:pic>
        <p:nvPicPr>
          <p:cNvPr id="2" name="Image 0" descr="ILRI and CGIAR logos">    </p:cNvPr>
          <p:cNvPicPr>
            <a:picLocks noChangeAspect="1"/>
          </p:cNvPicPr>
          <p:nvPr/>
        </p:nvPicPr>
        <p:blipFill>
          <a:blip r:embed="rId1"/>
          <a:srcRect l="0" r="0" t="-63" b="-63"/>
          <a:stretch/>
        </p:blipFill>
        <p:spPr>
          <a:xfrm>
            <a:off x="425450" y="393700"/>
            <a:ext cx="1790700" cy="508000"/>
          </a:xfrm>
          <a:prstGeom prst="rect">
            <a:avLst/>
          </a:prstGeom>
        </p:spPr>
      </p:pic>
      <p:sp>
        <p:nvSpPr>
          <p:cNvPr id="3" name="Text 0"/>
          <p:cNvSpPr/>
          <p:nvPr>
            <p:ph type="title"/>
          </p:nvPr>
        </p:nvSpPr>
        <p:spPr>
          <a:xfrm>
            <a:off x="812800" y="254000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6D2637"/>
                </a:solidFill>
                <a:latin typeface="Carlito" pitchFamily="34" charset="0"/>
                <a:ea typeface="Carlito" pitchFamily="34" charset="-122"/>
                <a:cs typeface="Carlito" pitchFamily="34" charset="-120"/>
              </a:rPr>
              <a:t>Questions?</a:t>
            </a:r>
            <a:endParaRPr lang="en-US" sz="6000" dirty="0"/>
          </a:p>
        </p:txBody>
      </p:sp>
      <p:sp>
        <p:nvSpPr>
          <p:cNvPr id="4" name="Shape 1"/>
          <p:cNvSpPr/>
          <p:nvPr/>
        </p:nvSpPr>
        <p:spPr>
          <a:xfrm>
            <a:off x="812800" y="3543300"/>
            <a:ext cx="1524000" cy="38100"/>
          </a:xfrm>
          <a:prstGeom prst="roundRect">
            <a:avLst>
              <a:gd name="adj" fmla="val 50000"/>
            </a:avLst>
          </a:prstGeom>
          <a:solidFill>
            <a:srgbClr val="6D2637"/>
          </a:solidFill>
          <a:ln/>
        </p:spPr>
      </p:sp>
      <p:sp>
        <p:nvSpPr>
          <p:cNvPr id="5" name="Text 2"/>
          <p:cNvSpPr/>
          <p:nvPr/>
        </p:nvSpPr>
        <p:spPr>
          <a:xfrm>
            <a:off x="812800" y="37846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A322C"/>
                </a:solidFill>
                <a:latin typeface="Carlito" pitchFamily="34" charset="0"/>
                <a:ea typeface="Carlito" pitchFamily="34" charset="-122"/>
                <a:cs typeface="Carlito" pitchFamily="34" charset="-120"/>
              </a:rPr>
              <a:t>Next: </a:t>
            </a:r>
            <a:r>
              <a:rPr lang="en-US" sz="2000" b="1" dirty="0">
                <a:solidFill>
                  <a:srgbClr val="3A322C"/>
                </a:solidFill>
                <a:latin typeface="Carlito" pitchFamily="34" charset="0"/>
                <a:ea typeface="Carlito" pitchFamily="34" charset="-122"/>
                <a:cs typeface="Carlito" pitchFamily="34" charset="-120"/>
              </a:rPr>
              <a:t>Day 5 afternoon</a:t>
            </a:r>
            <a:r>
              <a:rPr lang="en-US" sz="2000" dirty="0">
                <a:solidFill>
                  <a:srgbClr val="3A322C"/>
                </a:solidFill>
                <a:latin typeface="Carlito" pitchFamily="34" charset="0"/>
                <a:ea typeface="Carlito" pitchFamily="34" charset="-122"/>
                <a:cs typeface="Carlito" pitchFamily="34" charset="-120"/>
              </a:rPr>
              <a:t> · The course pipeline, neonatal-amr-nf</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5 · Plasmids across lineages | Day 5</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40</a:t>
            </a:r>
            <a:endParaRPr lang="en-US" sz="1200" dirty="0"/>
          </a:p>
        </p:txBody>
      </p:sp>
    </p:spTree>
  </p:cSld>
  <p:clrMapOvr>
    <a:masterClrMapping/>
  </p:clrMapOvr>
</p:sld>
</file>

<file path=ppt/theme/theme1.xml><?xml version="1.0" encoding="utf-8"?>
<a:theme xmlns:a="http://schemas.openxmlformats.org/drawingml/2006/main" name="Module 4: Genotype, phenotype and plasmids">
  <a:themeElements>
    <a:clrScheme name="Module 4: Genotype, phenotype and plasmids">
      <a:dk1>
        <a:srgbClr val="6D2637"/>
      </a:dk1>
      <a:lt1>
        <a:srgbClr val="F9F2EA"/>
      </a:lt1>
      <a:dk2>
        <a:srgbClr val="905964"/>
      </a:dk2>
      <a:lt2>
        <a:srgbClr val="EBDED8"/>
      </a:lt2>
      <a:accent1>
        <a:srgbClr val="273003"/>
      </a:accent1>
      <a:accent2>
        <a:srgbClr val="891F15"/>
      </a:accent2>
      <a:accent3>
        <a:srgbClr val="FFCE00"/>
      </a:accent3>
      <a:accent4>
        <a:srgbClr val="B9C08A"/>
      </a:accent4>
      <a:accent5>
        <a:srgbClr val="C2CA6E"/>
      </a:accent5>
      <a:accent6>
        <a:srgbClr val="E3B5A8"/>
      </a:accent6>
      <a:hlink>
        <a:srgbClr val="0563C1"/>
      </a:hlink>
      <a:folHlink>
        <a:srgbClr val="954F72"/>
      </a:folHlink>
    </a:clrScheme>
    <a:fontScheme name="Module 4: Genotype, phenotype and plasmids">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Genotype, phenotype and plasmids</dc:title>
  <dc:subject/>
  <dc:creator/>
  <cp:lastModifiedBy/>
  <cp:revision>1</cp:revision>
  <dcterms:created xsi:type="dcterms:W3CDTF">2026-10-16T10:49:20Z</dcterms:created>
  <dcterms:modified xsi:type="dcterms:W3CDTF">2026-10-16T10:49:20Z</dcterms:modified>
</cp:coreProperties>
</file>