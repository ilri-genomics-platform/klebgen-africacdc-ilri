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8017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Day 2. Yesterday we checked that the reads are good enough and that each culture is pure. Today we turn those reads into genomes: short-read assemblies with Shovill, long-read assemblies with Autocycler, and hybrid assemblies polished with both. By the end of the day every isolate has one best assembly, which is what we use from Day 3 onwards.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sessions, all Module 2. Each session starts with a short talk, then hands-on work on the HPC. The deliverable at the end of the day is one assembly QC table with a decision for every isolate: is it good enough for typing, for SNP analysis, for plasmid work, or should it be excluded?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learning objectives map onto the four sessions. Objective 1 is the key idea of the morning: repeats longer than the reads are what break short-read assemblies, and that is why we bother with long reads in the afternoon.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 First the ideas: what an assembler does and the two main families of algorithms. Then why repeats are the central problem. Then we run Shovill on one isolate.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shows the two routes from sequencing to AMR profiles. We work with isolates (the culture-dependent route). Clean reads can either be assembled de novo into contigs, then searched for genes, or mapped to reference alleles. Today is the assembly branch; the mapping branch comes back on Day 6 for SNPs.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day in one table. Short reads are accurate but short, so they assemble into many contigs. Long reads span repeats, so they give whole replicons, but they carry more base errors until they are polished. A hybrid takes the structure from the long reads and the base accuracy from the short reads. In the training set, three isolates have both read types: CHI11E, CNS1F1 and 1013757.</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Overlap-layout-consensus is the intuitive approach: find which reads overlap, lay them out in order, and take a consensus. Comparing every read with every other read is expensive, so OLC suits a smaller number of long reads. Long-read assemblers such as Raven, which Autocycler uses this afternoon, build this kind of overlap (string) graph.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 Bruijn graph avoids comparing every read with every other read: each read is cut into k-mers and the k-mers become the graph. This scales to millions of short reads, which is why short-read assemblers such as SPAdes use it. Shovill runs SPAdes with several k-mer sizes. The figure contrasts both approaches: de Bruijn graphs for short reads on the left, OLC or string graphs for long reads on the right.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idea of the morning. Insertion sequences such as IS26 are present in several copies. A 150 bp read from inside an IS26 copy matches every copy, so the graph has a knot there and the assembler stops the contig. Resistance genes are often flanked by IS26, which is why, in a short-read assembly, a resistance gene often sits at the very end of a contig, and why short reads alone rarely tell you which plasmid carries the gene. A long read that spans the repeat resolves it. Diagram not to scale.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Shovill is a wrapper: one command runs a sensible chain of tools around the SPAdes assembler. Most of its steps are about preparing the reads (subsampling to about 100x depth makes SPAdes faster without losing quality) and cleaning up the result. The output folder has contigs.fa, the assembly, and contigs.gfa, the assembly graph we look at in Bandage later.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starts CHI11E now. With one thread it takes roughly an hour, so start it before the break. CHI11E also has Nanopore reads, so this afternoon you can compare this short-read assembly with its long-read and hybrid assemblies. While it runs, copy the pre-computed assemblies for the other isolates so you can move on to quality checks in Session 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An assembly always comes out, even from bad data. This session is about judging it: the numbers QUAST reports, the completeness and contamination CheckM2 estimates, the published QC standards for Klebsiella, and what the assembly graph looks like in Bandage.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from QUAST and two from CheckM2 tell you most of what you need. The number of contigs and N50 measure fragmentation. Total length and GC tell you whether the assembly is the right organism and only that organism: a genome twice the expected size, or a GC content between the Klebsiella and E. coli values, suggests a mixed culture. CheckM2 estimates completeness and contamination from marker genes.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criteria the Institut Pasteur Klebsiella database uses before it accepts a genome: high-quality assemblies from pure cultures, at least 40x coverage, no more than 500 contigs, N50 of at least 20 kb, and a total length in the typical range for the species complex (about 4.6 to 6.4 Mb overall; 4.7 to 6.3 Mb for K. pneumoniae itself), with GC 56.1 to 58.1% for K. pneumoniae. Only short-read or hybrid assemblies are accepted. We use the same thresholds for our own fit-for-purpose decisions at the end of the day.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for D38119 and CES13U are from the study's tables. Ask the group: do your Day 1 Kraken2 and sequencing depth results explain them? A 9.5 Mb assembly is what you expect when two strains or species grow in the same culture. Over a thousand contigs usually means low depth or poor library quality.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QUAST on all the Shovill assemblies at once: transposed_report.tsv has one row per assembly. Then CheckM2: the last command sorts by contamination, highest first, so problem isolates are at the top. Mark every isolate against the red flags and the Pasteur thresholds.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Bandage shows the assembly graph rather than just the list of contigs, so you can see where the assembly breaks and why. Draw the Shovill graph now; draw the Autocycler graph after Session 3 and compare them. Tip: add your own CHI11E Bandage images to this slide once you have them.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3. Three of our isolates also have Oxford Nanopore reads. Long reads span the repeats that broke the short-read assemblies, so we can get whole chromosomes and plasmids.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repeat diagram from Session 1: a long read covers the IS26 copy plus unique sequence on both sides. That is why long-read assemblies of K. pneumoniae often give one circular chromosome of about 5.3 Mb plus one contig per plasmid. Two weaknesses to remember: small plasmids are under-represented in long-read libraries, so they can be missing; and raw Nanopore assemblies still contain base errors until they are polished.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Autocycler is by Ryan Wick and colleagues (Bioinformatics 2025). Each yellow label is the autocycler subcommand that does that step. Any single long-read assembler makes occasional structural mistakes, such as a missing small plasmid or a duplicated end. Because Autocycler builds eight assemblies from different read subsets with two different assemblers and keeps what they agree on, one assembler's mistakes are outvoted.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Autocycler runs Flye and Raven from inside its own image, so use_tools assembly is all that is needed. Eight assemblies with one thread take several hours, longer than the session. Start it, read about polishing while it runs, and continue from the pre-computed results. Compare them with yours when yours finishes. The final grep lists the contigs: look for one around 5.3 Mb (the chromosome) and smaller plasmid contigs, and check whether the headers mark them as circular.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4. The long-read assembly has the right structure but still has base errors. We polish it, first with the long reads and then with the accurate Illumina reads, to get a hybrid assembly. Then we compare all three assemblies of CHI11E, and make an assembly decision for every isolate.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matters: long-read polishing first, because only long reads can fix errors in regions where short reads map ambiguously; then short-read polishing for base accuracy. Polypolish needs each read file aligned separately with all alignments kept (bwa mem -a), which is how it can polish repeat copies. Pypolca then catches the small errors that are left; --careful makes it conservative.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own Autocycler run has not finished, set draft to the pre-computed consensus in $SHARED/precomputed/02_assembly/autocycler/. Medaka runs from its own image, hence use_tools medaka; bwa, Polypolish and Pypolca are in the assembly group. The SAM files are large, so delete them at the end. The hybrid assembly is saved next to the Shovill assembly as CHI11E.hybrid.fasta.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closed genome is from Table S6 of the study. A good hybrid has one chromosome of about 5.27 Mb and the larger plasmids; differences of a few base pairs are expected. If the 4.3 kb plasmid is missing, that is the known weakness of long-read assembly: small plasmids are under-represented in long reads. The Shovill assembly will have tens of contigs, and the 143 kb plasmid will be broken into pieces.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one chromosome of about 5.27 Mb and the larger plasmids should be there; the 4.3 kb plasmid is often missing because small plasmids are under-represented in long reads. 2: resistance genes are often flanked by insertion sequences such as IS26; IS copies are repeats, so the assembler breaks the contig there, which is why short reads alone rarely tell you which plasmid carries a gene. 3: D38119 is about twice a K. pneumoniae genome, likely a mixed culture (Kraken2 should show a second species or strain); CES13U's 1,468 contigs suggest low depth or poor library quality. Neither is fit for SNP-based transmission analysis.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deliverable for the day. For each isolate, record the QUAST and CheckM2 numbers and decide what the assembly can be used for. An isolate can be fit for typing but not for SNP analysis, for example. Use the red flags and the Pasteur thresholds from Session 2.</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loop makes sure every isolate has exactly one assembly in $COURSE/best: the hybrid for CHI11E, CNS1F1 and 1013757, and Shovill for the rest. The count at the end should be 29.</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through these before leaving. Tomorrow starts from $COURSE/best: typing with Kleborate and AMR genes with AMRFinderPlus.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today you went from reads to one best assembly per isolate, and you know what each assembly is fit for. Tomorrow: Kleborate for species, ST and virulence, and AMRFinderPlus for resistance genes.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9F2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6D2637"/>
                </a:solidFill>
                <a:latin typeface="Carlito" pitchFamily="34" charset="0"/>
                <a:ea typeface="Carlito" pitchFamily="34" charset="-122"/>
                <a:cs typeface="Carlito"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6D2637"/>
                </a:solidFill>
                <a:latin typeface="Carlito" pitchFamily="34" charset="0"/>
                <a:ea typeface="Carlito" pitchFamily="34" charset="-122"/>
                <a:cs typeface="Carlit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2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6D2637"/>
                </a:solidFill>
                <a:latin typeface="Carlito" pitchFamily="34" charset="0"/>
                <a:ea typeface="Carlito" pitchFamily="34" charset="-122"/>
                <a:cs typeface="Carlito"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6D2637"/>
                </a:solidFill>
                <a:latin typeface="Carlito" pitchFamily="34" charset="0"/>
                <a:ea typeface="Carlito" pitchFamily="34" charset="-122"/>
                <a:cs typeface="Carlit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doi.org/10.1038/s41576-019-0108-4"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doi.org/10.1007/s12575-009-9004-1"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doi.org/10.1007/s40484-019-0166-9"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github.com/klebgenomics/Klebsiella-genome-metadata"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8" Type="http://schemas.openxmlformats.org/officeDocument/2006/relationships/hyperlink" Target="https://rrwick.github.io/Bandage/" TargetMode="External"/><Relationship Id="rId3" Type="http://schemas.openxmlformats.org/officeDocument/2006/relationships/hyperlink" Target="https://github.com/tseemann/shovill" TargetMode="External"/><Relationship Id="rId7" Type="http://schemas.openxmlformats.org/officeDocument/2006/relationships/hyperlink" Target="https://github.com/ablab/quast"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hyperlink" Target="https://github.com/rrwick/Polypolish/wiki" TargetMode="External"/><Relationship Id="rId5" Type="http://schemas.openxmlformats.org/officeDocument/2006/relationships/hyperlink" Target="https://github.com/nanoporetech/medaka" TargetMode="External"/><Relationship Id="rId10" Type="http://schemas.openxmlformats.org/officeDocument/2006/relationships/image" Target="../media/image3.png"/><Relationship Id="rId4" Type="http://schemas.openxmlformats.org/officeDocument/2006/relationships/hyperlink" Target="https://github.com/rrwick/Autocycler/wiki" TargetMode="External"/><Relationship Id="rId9" Type="http://schemas.openxmlformats.org/officeDocument/2006/relationships/hyperlink" Target="https://github.com/klebgenomics/Klebsiella-genome-metadata"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91F15"/>
        </a:solidFill>
        <a:effectLst/>
      </p:bgPr>
    </p:bg>
    <p:spTree>
      <p:nvGrpSpPr>
        <p:cNvPr id="1" name=""/>
        <p:cNvGrpSpPr/>
        <p:nvPr/>
      </p:nvGrpSpPr>
      <p:grpSpPr>
        <a:xfrm>
          <a:off x="0" y="0"/>
          <a:ext cx="0" cy="0"/>
          <a:chOff x="0" y="0"/>
          <a:chExt cx="0" cy="0"/>
        </a:xfrm>
      </p:grpSpPr>
      <p:pic>
        <p:nvPicPr>
          <p:cNvPr id="2" name="Image 0" descr="Pastoralists walking with their cattle at dawn"/>
          <p:cNvPicPr>
            <a:picLocks noChangeAspect="1"/>
          </p:cNvPicPr>
          <p:nvPr/>
        </p:nvPicPr>
        <p:blipFill>
          <a:blip r:embed="rId3"/>
          <a:srcRect/>
          <a:stretch/>
        </p:blipFill>
        <p:spPr>
          <a:xfrm>
            <a:off x="6096000" y="0"/>
            <a:ext cx="6096000" cy="6858000"/>
          </a:xfrm>
          <a:prstGeom prst="rect">
            <a:avLst/>
          </a:prstGeom>
        </p:spPr>
      </p:pic>
      <p:pic>
        <p:nvPicPr>
          <p:cNvPr id="3" name="Image 1" descr="ILRI and CGIAR logos"/>
          <p:cNvPicPr>
            <a:picLocks noChangeAspect="1"/>
          </p:cNvPicPr>
          <p:nvPr/>
        </p:nvPicPr>
        <p:blipFill>
          <a:blip r:embed="rId4"/>
          <a:srcRect l="-36" r="-36"/>
          <a:stretch/>
        </p:blipFill>
        <p:spPr>
          <a:xfrm>
            <a:off x="368300" y="336550"/>
            <a:ext cx="2984500" cy="806450"/>
          </a:xfrm>
          <a:prstGeom prst="rect">
            <a:avLst/>
          </a:prstGeom>
        </p:spPr>
      </p:pic>
      <p:sp>
        <p:nvSpPr>
          <p:cNvPr id="4" name="Text 0"/>
          <p:cNvSpPr/>
          <p:nvPr/>
        </p:nvSpPr>
        <p:spPr>
          <a:xfrm>
            <a:off x="195580" y="2167930"/>
            <a:ext cx="5354320" cy="30986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FFCE00"/>
                </a:solidFill>
                <a:latin typeface="Carlito" pitchFamily="34" charset="0"/>
                <a:ea typeface="Carlito" pitchFamily="34" charset="-122"/>
                <a:cs typeface="Carlito" pitchFamily="34" charset="-120"/>
              </a:rPr>
              <a:t>MODULE 2 · DAY 2</a:t>
            </a:r>
            <a:endParaRPr lang="en-US" sz="1600" dirty="0"/>
          </a:p>
        </p:txBody>
      </p:sp>
      <p:sp>
        <p:nvSpPr>
          <p:cNvPr id="5" name="Text 1"/>
          <p:cNvSpPr>
            <a:spLocks noGrp="1"/>
          </p:cNvSpPr>
          <p:nvPr>
            <p:ph type="title"/>
          </p:nvPr>
        </p:nvSpPr>
        <p:spPr>
          <a:xfrm>
            <a:off x="142240" y="2655590"/>
            <a:ext cx="5953760"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9F2EA"/>
                </a:solidFill>
                <a:latin typeface="Carlito" pitchFamily="34" charset="0"/>
                <a:ea typeface="Carlito" pitchFamily="34" charset="-122"/>
                <a:cs typeface="Carlito" pitchFamily="34" charset="-120"/>
              </a:rPr>
              <a:t>Genome assembly</a:t>
            </a:r>
            <a:endParaRPr lang="en-US" sz="6000" dirty="0"/>
          </a:p>
        </p:txBody>
      </p:sp>
      <p:sp>
        <p:nvSpPr>
          <p:cNvPr id="6" name="Text 2"/>
          <p:cNvSpPr/>
          <p:nvPr/>
        </p:nvSpPr>
        <p:spPr>
          <a:xfrm>
            <a:off x="195580" y="3658890"/>
            <a:ext cx="5758180" cy="587990"/>
          </a:xfrm>
          <a:prstGeom prst="rect">
            <a:avLst/>
          </a:prstGeom>
          <a:noFill/>
          <a:ln/>
        </p:spPr>
        <p:txBody>
          <a:bodyPr wrap="square" lIns="0" tIns="0" rIns="0" bIns="0" rtlCol="0" anchor="t">
            <a:normAutofit fontScale="77500" lnSpcReduction="20000"/>
          </a:bodyPr>
          <a:lstStyle/>
          <a:p>
            <a:pPr marL="0" indent="0" algn="l">
              <a:lnSpc>
                <a:spcPts val="2600"/>
              </a:lnSpc>
              <a:buNone/>
            </a:pPr>
            <a:r>
              <a:rPr lang="en-US" sz="2000" dirty="0">
                <a:solidFill>
                  <a:srgbClr val="F9F2EA"/>
                </a:solidFill>
                <a:latin typeface="Carlito" pitchFamily="34" charset="0"/>
                <a:ea typeface="Carlito" pitchFamily="34" charset="-122"/>
                <a:cs typeface="Carlito" pitchFamily="34" charset="-120"/>
              </a:rPr>
              <a:t>From clean reads to a complete, accurate genome for every isolate</a:t>
            </a:r>
            <a:endParaRPr lang="en-US" sz="2000" dirty="0"/>
          </a:p>
        </p:txBody>
      </p:sp>
      <p:sp>
        <p:nvSpPr>
          <p:cNvPr id="7" name="Text 3"/>
          <p:cNvSpPr/>
          <p:nvPr/>
        </p:nvSpPr>
        <p:spPr>
          <a:xfrm>
            <a:off x="195580" y="4424680"/>
            <a:ext cx="5758180" cy="7087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1D3C9"/>
                </a:solidFill>
                <a:latin typeface="Carlito" pitchFamily="34" charset="0"/>
                <a:ea typeface="Carlito" pitchFamily="34" charset="-122"/>
                <a:cs typeface="Carlito" pitchFamily="34" charset="-120"/>
              </a:rPr>
              <a:t>Neonatal AMR genomic surveillance of </a:t>
            </a:r>
            <a:r>
              <a:rPr lang="en-US" sz="1400" i="1" dirty="0">
                <a:solidFill>
                  <a:srgbClr val="F1D3C9"/>
                </a:solidFill>
                <a:latin typeface="Carlito" pitchFamily="34" charset="0"/>
                <a:ea typeface="Carlito" pitchFamily="34" charset="-122"/>
                <a:cs typeface="Carlito" pitchFamily="34" charset="-120"/>
              </a:rPr>
              <a:t>K. pneumoniae</a:t>
            </a:r>
            <a:r>
              <a:rPr lang="en-US" sz="1400" dirty="0">
                <a:solidFill>
                  <a:srgbClr val="F1D3C9"/>
                </a:solidFill>
                <a:latin typeface="Carlito" pitchFamily="34" charset="0"/>
                <a:ea typeface="Carlito" pitchFamily="34" charset="-122"/>
                <a:cs typeface="Carlito" pitchFamily="34" charset="-120"/>
              </a:rPr>
              <a:t> and </a:t>
            </a:r>
            <a:r>
              <a:rPr lang="en-US" sz="1400" i="1" dirty="0">
                <a:solidFill>
                  <a:srgbClr val="F1D3C9"/>
                </a:solidFill>
                <a:latin typeface="Carlito" pitchFamily="34" charset="0"/>
                <a:ea typeface="Carlito" pitchFamily="34" charset="-122"/>
                <a:cs typeface="Carlito" pitchFamily="34" charset="-120"/>
              </a:rPr>
              <a:t>E. coli</a:t>
            </a:r>
            <a:endParaRPr lang="en-US" sz="1400" dirty="0"/>
          </a:p>
          <a:p>
            <a:pPr marL="0" indent="0" algn="l">
              <a:lnSpc>
                <a:spcPts val="1960"/>
              </a:lnSpc>
              <a:buNone/>
            </a:pPr>
            <a:r>
              <a:rPr lang="en-US" sz="1400" dirty="0">
                <a:solidFill>
                  <a:srgbClr val="F1D3C9"/>
                </a:solidFill>
                <a:latin typeface="Carlito" pitchFamily="34" charset="0"/>
                <a:ea typeface="Carlito" pitchFamily="34" charset="-122"/>
                <a:cs typeface="Carlito" pitchFamily="34" charset="-120"/>
              </a:rPr>
              <a:t>KlebGen training · Africa CDC and ILRI</a:t>
            </a:r>
            <a:endParaRPr lang="en-US" sz="1400" dirty="0"/>
          </a:p>
        </p:txBody>
      </p:sp>
      <p:sp>
        <p:nvSpPr>
          <p:cNvPr id="8" name="Text 4"/>
          <p:cNvSpPr/>
          <p:nvPr/>
        </p:nvSpPr>
        <p:spPr>
          <a:xfrm>
            <a:off x="425450" y="6289080"/>
            <a:ext cx="45783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B5A8"/>
                </a:solidFill>
                <a:latin typeface="Carlito" pitchFamily="34" charset="0"/>
                <a:ea typeface="Carlito" pitchFamily="34" charset="-122"/>
                <a:cs typeface="Carlito" pitchFamily="34" charset="-120"/>
              </a:rPr>
              <a:t>Module 2 · Genome assembly | Day 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Day 2 at a glance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22090"/>
          <a:ext cx="10553700" cy="2196705"/>
        </p:xfrm>
        <a:graphic>
          <a:graphicData uri="http://schemas.openxmlformats.org/drawingml/2006/table">
            <a:tbl>
              <a:tblPr/>
              <a:tblGrid>
                <a:gridCol w="1477518">
                  <a:extLst>
                    <a:ext uri="{9D8B030D-6E8A-4147-A177-3AD203B41FA5}">
                      <a16:colId xmlns:a16="http://schemas.microsoft.com/office/drawing/2014/main" val="20000"/>
                    </a:ext>
                  </a:extLst>
                </a:gridCol>
                <a:gridCol w="2321814">
                  <a:extLst>
                    <a:ext uri="{9D8B030D-6E8A-4147-A177-3AD203B41FA5}">
                      <a16:colId xmlns:a16="http://schemas.microsoft.com/office/drawing/2014/main" val="20001"/>
                    </a:ext>
                  </a:extLst>
                </a:gridCol>
                <a:gridCol w="6754368">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3A322C"/>
                          </a:solidFill>
                          <a:latin typeface="Carlito" pitchFamily="34" charset="0"/>
                          <a:ea typeface="Carlito" pitchFamily="34" charset="-122"/>
                          <a:cs typeface="Carlito" pitchFamily="34" charset="-120"/>
                        </a:rPr>
                        <a:t>Session</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2240"/>
                        </a:lnSpc>
                        <a:buNone/>
                      </a:pPr>
                      <a:r>
                        <a:rPr lang="en-US" sz="1600" b="1" dirty="0">
                          <a:solidFill>
                            <a:srgbClr val="3A322C"/>
                          </a:solidFill>
                          <a:latin typeface="Carlito" pitchFamily="34" charset="0"/>
                          <a:ea typeface="Carlito" pitchFamily="34" charset="-122"/>
                          <a:cs typeface="Carlito" pitchFamily="34" charset="-120"/>
                        </a:rPr>
                        <a:t>Time</a:t>
                      </a:r>
                      <a:endParaRPr lang="en-US" sz="1600" dirty="0">
                        <a:latin typeface="Carlito" charset="0"/>
                        <a:ea typeface="Carlito" charset="0"/>
                        <a:cs typeface="Carlito" charset="0"/>
                      </a:endParaRPr>
                    </a:p>
                  </a:txBody>
                  <a:tcPr marL="71120" marR="71120" marT="71120" marB="7112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2240"/>
                        </a:lnSpc>
                        <a:buNone/>
                      </a:pPr>
                      <a:r>
                        <a:rPr lang="en-US" sz="1600" b="1" dirty="0">
                          <a:solidFill>
                            <a:srgbClr val="3A322C"/>
                          </a:solidFill>
                          <a:latin typeface="Carlito" pitchFamily="34" charset="0"/>
                          <a:ea typeface="Carlito" pitchFamily="34" charset="-122"/>
                          <a:cs typeface="Carlito" pitchFamily="34" charset="-120"/>
                        </a:rPr>
                        <a:t>Topic</a:t>
                      </a:r>
                      <a:endParaRPr lang="en-US" sz="1600" dirty="0">
                        <a:latin typeface="Carlito" charset="0"/>
                        <a:ea typeface="Carlito" charset="0"/>
                        <a:cs typeface="Carlito" charset="0"/>
                      </a:endParaRPr>
                    </a:p>
                  </a:txBody>
                  <a:tcPr marL="71120" marR="71120" marT="71120" marB="7112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1</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09:00–10:30</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How assemblers work; short-read assembly with Shovill</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2</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11:00–12:30</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Assembly quality: QUAST, CheckM2, Bandage</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2"/>
                  </a:ext>
                </a:extLst>
              </a:tr>
              <a:tr h="439341">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3</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13:30–15:00</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Long-read assembly with Autocycler</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3"/>
                  </a:ext>
                </a:extLst>
              </a:tr>
              <a:tr h="439341">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4</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15:30–17:00</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Polishing to a hybrid assembly; comparing all three</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812800" y="4172793"/>
            <a:ext cx="10566400" cy="690860"/>
          </a:xfrm>
          <a:prstGeom prst="roundRect">
            <a:avLst>
              <a:gd name="adj" fmla="val 11030"/>
            </a:avLst>
          </a:prstGeom>
          <a:solidFill>
            <a:srgbClr val="273003"/>
          </a:solidFill>
          <a:ln/>
        </p:spPr>
        <p:txBody>
          <a:bodyPr/>
          <a:lstStyle/>
          <a:p>
            <a:endParaRPr lang="en-KE"/>
          </a:p>
        </p:txBody>
      </p:sp>
      <p:sp>
        <p:nvSpPr>
          <p:cNvPr id="6" name="Text 3"/>
          <p:cNvSpPr/>
          <p:nvPr/>
        </p:nvSpPr>
        <p:spPr>
          <a:xfrm>
            <a:off x="1066800" y="4375993"/>
            <a:ext cx="1444724" cy="309860"/>
          </a:xfrm>
          <a:prstGeom prst="rect">
            <a:avLst/>
          </a:prstGeom>
          <a:noFill/>
          <a:ln/>
        </p:spPr>
        <p:txBody>
          <a:bodyPr wrap="none" lIns="0" tIns="0" rIns="0" bIns="0" rtlCol="0" anchor="t">
            <a:normAutofit/>
          </a:bodyPr>
          <a:lstStyle/>
          <a:p>
            <a:pPr marL="0" indent="0" algn="l">
              <a:lnSpc>
                <a:spcPts val="2240"/>
              </a:lnSpc>
              <a:buNone/>
            </a:pPr>
            <a:r>
              <a:rPr lang="en-US" sz="1600" b="1" dirty="0">
                <a:solidFill>
                  <a:srgbClr val="FFCE00"/>
                </a:solidFill>
                <a:latin typeface="Carlito" pitchFamily="34" charset="0"/>
                <a:ea typeface="Carlito" pitchFamily="34" charset="-122"/>
                <a:cs typeface="Carlito" pitchFamily="34" charset="-120"/>
              </a:rPr>
              <a:t>You will produce</a:t>
            </a:r>
            <a:endParaRPr lang="en-US" sz="1600" dirty="0"/>
          </a:p>
        </p:txBody>
      </p:sp>
      <p:sp>
        <p:nvSpPr>
          <p:cNvPr id="7" name="Text 4"/>
          <p:cNvSpPr/>
          <p:nvPr/>
        </p:nvSpPr>
        <p:spPr>
          <a:xfrm>
            <a:off x="2613124" y="4375993"/>
            <a:ext cx="680287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9F2EA"/>
                </a:solidFill>
                <a:latin typeface="Carlito" pitchFamily="34" charset="0"/>
                <a:ea typeface="Carlito" pitchFamily="34" charset="-122"/>
                <a:cs typeface="Carlito" pitchFamily="34" charset="-120"/>
              </a:rPr>
              <a:t>an assembly QC table with a fit-for-purpose decision for every isolate</a:t>
            </a:r>
            <a:endParaRPr lang="en-US" sz="1600" dirty="0"/>
          </a:p>
        </p:txBody>
      </p:sp>
      <p:pic>
        <p:nvPicPr>
          <p:cNvPr id="8"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9" name="Text 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10" name="Text 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2EA"/>
        </a:solidFill>
        <a:effectLst/>
      </p:bgPr>
    </p:bg>
    <p:spTree>
      <p:nvGrpSpPr>
        <p:cNvPr id="1" name=""/>
        <p:cNvGrpSpPr/>
        <p:nvPr/>
      </p:nvGrpSpPr>
      <p:grpSpPr>
        <a:xfrm>
          <a:off x="0" y="0"/>
          <a:ext cx="0" cy="0"/>
          <a:chOff x="0" y="0"/>
          <a:chExt cx="0" cy="0"/>
        </a:xfrm>
      </p:grpSpPr>
      <p:sp>
        <p:nvSpPr>
          <p:cNvPr id="2" name="Shape 0"/>
          <p:cNvSpPr/>
          <p:nvPr/>
        </p:nvSpPr>
        <p:spPr>
          <a:xfrm>
            <a:off x="336550" y="692150"/>
            <a:ext cx="10422890" cy="1259779"/>
          </a:xfrm>
          <a:prstGeom prst="rect">
            <a:avLst/>
          </a:prstGeom>
          <a:solidFill>
            <a:srgbClr val="273003"/>
          </a:solidFill>
          <a:ln/>
        </p:spPr>
        <p:txBody>
          <a:bodyPr/>
          <a:lstStyle/>
          <a:p>
            <a:endParaRPr lang="en-KE"/>
          </a:p>
        </p:txBody>
      </p:sp>
      <p:sp>
        <p:nvSpPr>
          <p:cNvPr id="3" name="Text 1"/>
          <p:cNvSpPr>
            <a:spLocks noGrp="1"/>
          </p:cNvSpPr>
          <p:nvPr>
            <p:ph type="title"/>
          </p:nvPr>
        </p:nvSpPr>
        <p:spPr>
          <a:xfrm>
            <a:off x="531192" y="974229"/>
            <a:ext cx="6251010" cy="6945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9F2EA"/>
                </a:solidFill>
                <a:latin typeface="Carlito" pitchFamily="34" charset="0"/>
                <a:ea typeface="Carlito" pitchFamily="34" charset="-122"/>
                <a:cs typeface="Carlito" pitchFamily="34" charset="-120"/>
              </a:rPr>
              <a:t>By the end of today you can</a:t>
            </a:r>
            <a:endParaRPr lang="en-US" sz="3600" dirty="0"/>
          </a:p>
        </p:txBody>
      </p:sp>
      <p:sp>
        <p:nvSpPr>
          <p:cNvPr id="4" name="Text 2"/>
          <p:cNvSpPr/>
          <p:nvPr/>
        </p:nvSpPr>
        <p:spPr>
          <a:xfrm>
            <a:off x="742950" y="5370860"/>
            <a:ext cx="336181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2CA6E"/>
                </a:solidFill>
                <a:latin typeface="Carlito" pitchFamily="34" charset="0"/>
                <a:ea typeface="Carlito" pitchFamily="34" charset="-122"/>
                <a:cs typeface="Carlito" pitchFamily="34" charset="-120"/>
              </a:rPr>
              <a:t>Module 2: Genome assembly</a:t>
            </a:r>
            <a:endParaRPr lang="en-US" sz="1400" dirty="0"/>
          </a:p>
        </p:txBody>
      </p:sp>
      <p:sp>
        <p:nvSpPr>
          <p:cNvPr id="5" name="Shape 3"/>
          <p:cNvSpPr/>
          <p:nvPr/>
        </p:nvSpPr>
        <p:spPr>
          <a:xfrm>
            <a:off x="0" y="2644180"/>
            <a:ext cx="12192000" cy="0"/>
          </a:xfrm>
          <a:prstGeom prst="line">
            <a:avLst/>
          </a:prstGeom>
          <a:noFill/>
          <a:ln w="12700">
            <a:solidFill>
              <a:srgbClr val="D9CDBF"/>
            </a:solidFill>
            <a:prstDash val="solid"/>
          </a:ln>
        </p:spPr>
        <p:txBody>
          <a:bodyPr/>
          <a:lstStyle/>
          <a:p>
            <a:endParaRPr lang="en-KE"/>
          </a:p>
        </p:txBody>
      </p:sp>
      <p:sp>
        <p:nvSpPr>
          <p:cNvPr id="6" name="Text 4"/>
          <p:cNvSpPr/>
          <p:nvPr/>
        </p:nvSpPr>
        <p:spPr>
          <a:xfrm>
            <a:off x="0" y="2094309"/>
            <a:ext cx="192435"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891F15"/>
                </a:solidFill>
                <a:latin typeface="Carlito" pitchFamily="34" charset="0"/>
                <a:ea typeface="Carlito" pitchFamily="34" charset="-122"/>
                <a:cs typeface="Carlito" pitchFamily="34" charset="-120"/>
              </a:rPr>
              <a:t>1</a:t>
            </a:r>
            <a:endParaRPr lang="en-US" sz="2200" dirty="0"/>
          </a:p>
        </p:txBody>
      </p:sp>
      <p:sp>
        <p:nvSpPr>
          <p:cNvPr id="7" name="Text 5"/>
          <p:cNvSpPr/>
          <p:nvPr/>
        </p:nvSpPr>
        <p:spPr>
          <a:xfrm>
            <a:off x="319435" y="2094309"/>
            <a:ext cx="6674525" cy="29969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3A322C"/>
                </a:solidFill>
                <a:latin typeface="Carlito" pitchFamily="34" charset="0"/>
                <a:ea typeface="Carlito" pitchFamily="34" charset="-122"/>
                <a:cs typeface="Carlito" pitchFamily="34" charset="-120"/>
              </a:rPr>
              <a:t>Explain why repeats break short-read assemblies into many contigs.</a:t>
            </a:r>
            <a:endParaRPr lang="en-US" sz="1600" dirty="0"/>
          </a:p>
        </p:txBody>
      </p:sp>
      <p:sp>
        <p:nvSpPr>
          <p:cNvPr id="8" name="Shape 6"/>
          <p:cNvSpPr/>
          <p:nvPr/>
        </p:nvSpPr>
        <p:spPr>
          <a:xfrm>
            <a:off x="0" y="3352800"/>
            <a:ext cx="12192000" cy="0"/>
          </a:xfrm>
          <a:prstGeom prst="line">
            <a:avLst/>
          </a:prstGeom>
          <a:noFill/>
          <a:ln w="12700">
            <a:solidFill>
              <a:srgbClr val="D9CDBF"/>
            </a:solidFill>
            <a:prstDash val="solid"/>
          </a:ln>
        </p:spPr>
        <p:txBody>
          <a:bodyPr/>
          <a:lstStyle/>
          <a:p>
            <a:endParaRPr lang="en-KE"/>
          </a:p>
        </p:txBody>
      </p:sp>
      <p:sp>
        <p:nvSpPr>
          <p:cNvPr id="9" name="Text 7"/>
          <p:cNvSpPr/>
          <p:nvPr/>
        </p:nvSpPr>
        <p:spPr>
          <a:xfrm>
            <a:off x="0" y="2802930"/>
            <a:ext cx="192435"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891F15"/>
                </a:solidFill>
                <a:latin typeface="Carlito" pitchFamily="34" charset="0"/>
                <a:ea typeface="Carlito" pitchFamily="34" charset="-122"/>
                <a:cs typeface="Carlito" pitchFamily="34" charset="-120"/>
              </a:rPr>
              <a:t>2</a:t>
            </a:r>
            <a:endParaRPr lang="en-US" sz="2200" dirty="0"/>
          </a:p>
        </p:txBody>
      </p:sp>
      <p:sp>
        <p:nvSpPr>
          <p:cNvPr id="10" name="Text 8"/>
          <p:cNvSpPr/>
          <p:nvPr/>
        </p:nvSpPr>
        <p:spPr>
          <a:xfrm>
            <a:off x="319435" y="2802930"/>
            <a:ext cx="7373660" cy="29969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3A322C"/>
                </a:solidFill>
                <a:latin typeface="Carlito" pitchFamily="34" charset="0"/>
                <a:ea typeface="Carlito" pitchFamily="34" charset="-122"/>
                <a:cs typeface="Carlito" pitchFamily="34" charset="-120"/>
              </a:rPr>
              <a:t>Assemble Illumina reads with Shovill, and Nanopore reads with Autocycler.</a:t>
            </a:r>
            <a:endParaRPr lang="en-US" sz="1600" dirty="0"/>
          </a:p>
        </p:txBody>
      </p:sp>
      <p:sp>
        <p:nvSpPr>
          <p:cNvPr id="11" name="Shape 9"/>
          <p:cNvSpPr/>
          <p:nvPr/>
        </p:nvSpPr>
        <p:spPr>
          <a:xfrm>
            <a:off x="0" y="4061420"/>
            <a:ext cx="12192000" cy="0"/>
          </a:xfrm>
          <a:prstGeom prst="line">
            <a:avLst/>
          </a:prstGeom>
          <a:noFill/>
          <a:ln w="12700">
            <a:solidFill>
              <a:srgbClr val="D9CDBF"/>
            </a:solidFill>
            <a:prstDash val="solid"/>
          </a:ln>
        </p:spPr>
        <p:txBody>
          <a:bodyPr/>
          <a:lstStyle/>
          <a:p>
            <a:endParaRPr lang="en-KE"/>
          </a:p>
        </p:txBody>
      </p:sp>
      <p:sp>
        <p:nvSpPr>
          <p:cNvPr id="12" name="Text 10"/>
          <p:cNvSpPr/>
          <p:nvPr/>
        </p:nvSpPr>
        <p:spPr>
          <a:xfrm>
            <a:off x="0" y="3511550"/>
            <a:ext cx="192435"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891F15"/>
                </a:solidFill>
                <a:latin typeface="Carlito" pitchFamily="34" charset="0"/>
                <a:ea typeface="Carlito" pitchFamily="34" charset="-122"/>
                <a:cs typeface="Carlito" pitchFamily="34" charset="-120"/>
              </a:rPr>
              <a:t>3</a:t>
            </a:r>
            <a:endParaRPr lang="en-US" sz="2200" dirty="0"/>
          </a:p>
        </p:txBody>
      </p:sp>
      <p:sp>
        <p:nvSpPr>
          <p:cNvPr id="13" name="Text 11"/>
          <p:cNvSpPr/>
          <p:nvPr/>
        </p:nvSpPr>
        <p:spPr>
          <a:xfrm>
            <a:off x="319435" y="3511550"/>
            <a:ext cx="9129355" cy="29969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3A322C"/>
                </a:solidFill>
                <a:latin typeface="Carlito" pitchFamily="34" charset="0"/>
                <a:ea typeface="Carlito" pitchFamily="34" charset="-122"/>
                <a:cs typeface="Carlito" pitchFamily="34" charset="-120"/>
              </a:rPr>
              <a:t>Polish a long-read assembly with Medaka, then with Illumina reads (Polypolish and Pypolca).</a:t>
            </a:r>
            <a:endParaRPr lang="en-US" sz="1600" dirty="0"/>
          </a:p>
        </p:txBody>
      </p:sp>
      <p:sp>
        <p:nvSpPr>
          <p:cNvPr id="14" name="Text 12"/>
          <p:cNvSpPr/>
          <p:nvPr/>
        </p:nvSpPr>
        <p:spPr>
          <a:xfrm>
            <a:off x="0" y="4220170"/>
            <a:ext cx="192435"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891F15"/>
                </a:solidFill>
                <a:latin typeface="Carlito" pitchFamily="34" charset="0"/>
                <a:ea typeface="Carlito" pitchFamily="34" charset="-122"/>
                <a:cs typeface="Carlito" pitchFamily="34" charset="-120"/>
              </a:rPr>
              <a:t>4</a:t>
            </a:r>
            <a:endParaRPr lang="en-US" sz="2200" dirty="0"/>
          </a:p>
        </p:txBody>
      </p:sp>
      <p:sp>
        <p:nvSpPr>
          <p:cNvPr id="15" name="Text 13"/>
          <p:cNvSpPr/>
          <p:nvPr/>
        </p:nvSpPr>
        <p:spPr>
          <a:xfrm>
            <a:off x="319435" y="4220170"/>
            <a:ext cx="9321046" cy="29969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3A322C"/>
                </a:solidFill>
                <a:latin typeface="Carlito" pitchFamily="34" charset="0"/>
                <a:ea typeface="Carlito" pitchFamily="34" charset="-122"/>
                <a:cs typeface="Carlito" pitchFamily="34" charset="-120"/>
              </a:rPr>
              <a:t>Judge an assembly with QUAST, CheckM2 and Bandage, and decide what it is good enough for.</a:t>
            </a:r>
            <a:endParaRPr lang="en-US" sz="1600" dirty="0"/>
          </a:p>
        </p:txBody>
      </p:sp>
      <p:sp>
        <p:nvSpPr>
          <p:cNvPr id="16" name="Text 14"/>
          <p:cNvSpPr/>
          <p:nvPr/>
        </p:nvSpPr>
        <p:spPr>
          <a:xfrm>
            <a:off x="812800" y="6238280"/>
            <a:ext cx="3401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17" name="Text 1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891F1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9410700" y="704850"/>
            <a:ext cx="2781300" cy="5448300"/>
          </a:xfrm>
          <a:prstGeom prst="rect">
            <a:avLst/>
          </a:prstGeom>
        </p:spPr>
      </p:pic>
      <p:sp>
        <p:nvSpPr>
          <p:cNvPr id="3" name="Text 0"/>
          <p:cNvSpPr/>
          <p:nvPr/>
        </p:nvSpPr>
        <p:spPr>
          <a:xfrm>
            <a:off x="254000" y="2609800"/>
            <a:ext cx="5730240" cy="33020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FFCE00"/>
                </a:solidFill>
                <a:latin typeface="Carlito" pitchFamily="34" charset="0"/>
                <a:ea typeface="Carlito" pitchFamily="34" charset="-122"/>
                <a:cs typeface="Carlito" pitchFamily="34" charset="-120"/>
              </a:rPr>
              <a:t>SESSION 1 · 09:00–10:30</a:t>
            </a:r>
            <a:endParaRPr lang="en-US" sz="1600" dirty="0"/>
          </a:p>
        </p:txBody>
      </p:sp>
      <p:sp>
        <p:nvSpPr>
          <p:cNvPr id="4" name="Text 1"/>
          <p:cNvSpPr>
            <a:spLocks noGrp="1"/>
          </p:cNvSpPr>
          <p:nvPr>
            <p:ph type="title"/>
          </p:nvPr>
        </p:nvSpPr>
        <p:spPr>
          <a:xfrm>
            <a:off x="254000" y="3077210"/>
            <a:ext cx="8321040" cy="7035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9F2EA"/>
                </a:solidFill>
                <a:latin typeface="Carlito" pitchFamily="34" charset="0"/>
                <a:ea typeface="Carlito" pitchFamily="34" charset="-122"/>
                <a:cs typeface="Carlito" pitchFamily="34" charset="-120"/>
              </a:rPr>
              <a:t>How assemblers work</a:t>
            </a:r>
            <a:endParaRPr lang="en-US" sz="4800" dirty="0"/>
          </a:p>
        </p:txBody>
      </p:sp>
      <p:sp>
        <p:nvSpPr>
          <p:cNvPr id="5" name="Text 2"/>
          <p:cNvSpPr/>
          <p:nvPr/>
        </p:nvSpPr>
        <p:spPr>
          <a:xfrm>
            <a:off x="254000" y="3929360"/>
            <a:ext cx="9235440" cy="3302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1D3C9"/>
                </a:solidFill>
                <a:latin typeface="Carlito" pitchFamily="34" charset="0"/>
                <a:ea typeface="Carlito" pitchFamily="34" charset="-122"/>
                <a:cs typeface="Carlito" pitchFamily="34" charset="-120"/>
              </a:rPr>
              <a:t>Overlap graphs, de Bruijn graphs, repeats, and short-read assembly with Shovill</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B5A8"/>
                </a:solidFill>
                <a:latin typeface="Carlito" pitchFamily="34" charset="0"/>
                <a:ea typeface="Carlito" pitchFamily="34" charset="-122"/>
                <a:cs typeface="Carlito" pitchFamily="34" charset="-120"/>
              </a:rPr>
              <a:t>Module 2 · Genome assembly | Day 2</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E3B5A8"/>
                </a:solidFill>
                <a:latin typeface="Carlito" pitchFamily="34" charset="0"/>
                <a:ea typeface="Carlito" pitchFamily="34" charset="-122"/>
                <a:cs typeface="Carlito"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Where assembly fits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3023840"/>
            <a:ext cx="5467858"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273003"/>
                </a:solidFill>
                <a:latin typeface="Carlito" pitchFamily="34" charset="0"/>
                <a:ea typeface="Carlito" pitchFamily="34" charset="-122"/>
                <a:cs typeface="Carlito" pitchFamily="34" charset="-120"/>
              </a:rPr>
              <a:t>Isolate genomics: one pure culture, one genome</a:t>
            </a:r>
            <a:endParaRPr lang="en-US" sz="1800" dirty="0"/>
          </a:p>
        </p:txBody>
      </p:sp>
      <p:sp>
        <p:nvSpPr>
          <p:cNvPr id="5" name="Text 3"/>
          <p:cNvSpPr/>
          <p:nvPr/>
        </p:nvSpPr>
        <p:spPr>
          <a:xfrm>
            <a:off x="890270" y="3498800"/>
            <a:ext cx="5382768" cy="1054100"/>
          </a:xfrm>
          <a:prstGeom prst="rect">
            <a:avLst/>
          </a:prstGeom>
          <a:noFill/>
          <a:ln/>
        </p:spPr>
        <p:txBody>
          <a:bodyPr wrap="square" lIns="0" tIns="0" rIns="0" bIns="0" rtlCol="0" anchor="t">
            <a:normAutofit/>
          </a:bodyPr>
          <a:lstStyle/>
          <a:p>
            <a:pPr marL="176530" indent="-176530" algn="l">
              <a:lnSpc>
                <a:spcPts val="2025"/>
              </a:lnSpc>
              <a:buSzPct val="100000"/>
              <a:buChar char="•"/>
            </a:pPr>
            <a:r>
              <a:rPr lang="en-US" sz="1500" dirty="0">
                <a:solidFill>
                  <a:srgbClr val="3A322C"/>
                </a:solidFill>
                <a:latin typeface="Carlito" pitchFamily="34" charset="0"/>
                <a:ea typeface="Carlito" pitchFamily="34" charset="-122"/>
                <a:cs typeface="Carlito" pitchFamily="34" charset="-120"/>
              </a:rPr>
              <a:t>Day 1: raw reads → clean reads</a:t>
            </a:r>
            <a:endParaRPr lang="en-US" sz="1500" dirty="0"/>
          </a:p>
          <a:p>
            <a:pPr marL="176530" indent="-176530" algn="l">
              <a:lnSpc>
                <a:spcPts val="2025"/>
              </a:lnSpc>
              <a:buSzPct val="100000"/>
              <a:buChar char="•"/>
            </a:pPr>
            <a:r>
              <a:rPr lang="en-US" sz="1500" dirty="0">
                <a:solidFill>
                  <a:srgbClr val="3A322C"/>
                </a:solidFill>
                <a:latin typeface="Carlito" pitchFamily="34" charset="0"/>
                <a:ea typeface="Carlito" pitchFamily="34" charset="-122"/>
                <a:cs typeface="Carlito" pitchFamily="34" charset="-120"/>
              </a:rPr>
              <a:t>Today: clean reads → assembled contigs (</a:t>
            </a:r>
            <a:r>
              <a:rPr lang="en-US" sz="1500" i="1" dirty="0">
                <a:solidFill>
                  <a:srgbClr val="3A322C"/>
                </a:solidFill>
                <a:latin typeface="Carlito" pitchFamily="34" charset="0"/>
                <a:ea typeface="Carlito" pitchFamily="34" charset="-122"/>
                <a:cs typeface="Carlito" pitchFamily="34" charset="-120"/>
              </a:rPr>
              <a:t>de novo</a:t>
            </a:r>
            <a:r>
              <a:rPr lang="en-US" sz="1500" dirty="0">
                <a:solidFill>
                  <a:srgbClr val="3A322C"/>
                </a:solidFill>
                <a:latin typeface="Carlito" pitchFamily="34" charset="0"/>
                <a:ea typeface="Carlito" pitchFamily="34" charset="-122"/>
                <a:cs typeface="Carlito" pitchFamily="34" charset="-120"/>
              </a:rPr>
              <a:t>, no reference)</a:t>
            </a:r>
            <a:endParaRPr lang="en-US" sz="1500" dirty="0"/>
          </a:p>
          <a:p>
            <a:pPr marL="176530" indent="-176530" algn="l">
              <a:lnSpc>
                <a:spcPts val="2025"/>
              </a:lnSpc>
              <a:buSzPct val="100000"/>
              <a:buChar char="•"/>
            </a:pPr>
            <a:r>
              <a:rPr lang="en-US" sz="1500" dirty="0">
                <a:solidFill>
                  <a:srgbClr val="3A322C"/>
                </a:solidFill>
                <a:latin typeface="Carlito" pitchFamily="34" charset="0"/>
                <a:ea typeface="Carlito" pitchFamily="34" charset="-122"/>
                <a:cs typeface="Carlito" pitchFamily="34" charset="-120"/>
              </a:rPr>
              <a:t>Days 3–5: genes, types and plasmids are found in the contigs</a:t>
            </a:r>
            <a:endParaRPr lang="en-US" sz="1500" dirty="0"/>
          </a:p>
          <a:p>
            <a:pPr marL="176530" indent="-176530" algn="l">
              <a:lnSpc>
                <a:spcPts val="2025"/>
              </a:lnSpc>
              <a:buSzPct val="100000"/>
              <a:buChar char="•"/>
            </a:pPr>
            <a:r>
              <a:rPr lang="en-US" sz="1500" dirty="0">
                <a:solidFill>
                  <a:srgbClr val="3A322C"/>
                </a:solidFill>
                <a:latin typeface="Carlito" pitchFamily="34" charset="0"/>
                <a:ea typeface="Carlito" pitchFamily="34" charset="-122"/>
                <a:cs typeface="Carlito" pitchFamily="34" charset="-120"/>
              </a:rPr>
              <a:t>Day 6: reads are also mapped to a reference to call SNPs</a:t>
            </a:r>
            <a:endParaRPr lang="en-US" sz="1500" dirty="0"/>
          </a:p>
        </p:txBody>
      </p:sp>
      <p:sp>
        <p:nvSpPr>
          <p:cNvPr id="6" name="Shape 4"/>
          <p:cNvSpPr/>
          <p:nvPr/>
        </p:nvSpPr>
        <p:spPr>
          <a:xfrm>
            <a:off x="6426200" y="1709390"/>
            <a:ext cx="4953000" cy="3810000"/>
          </a:xfrm>
          <a:prstGeom prst="roundRect">
            <a:avLst>
              <a:gd name="adj" fmla="val 2000"/>
            </a:avLst>
          </a:prstGeom>
          <a:solidFill>
            <a:srgbClr val="FFFFFF"/>
          </a:solidFill>
          <a:ln/>
        </p:spPr>
        <p:txBody>
          <a:bodyPr/>
          <a:lstStyle/>
          <a:p>
            <a:endParaRPr lang="en-KE"/>
          </a:p>
        </p:txBody>
      </p:sp>
      <p:pic>
        <p:nvPicPr>
          <p:cNvPr id="7" name="Image 0" descr="Bioinformatics workflows for AMR profiling: metagenomics and isolate genomics, de novo assembly and gene finding, read mapping to reference alleles, and resistome analyses"/>
          <p:cNvPicPr>
            <a:picLocks noChangeAspect="1"/>
          </p:cNvPicPr>
          <p:nvPr/>
        </p:nvPicPr>
        <p:blipFill>
          <a:blip r:embed="rId3"/>
          <a:srcRect t="-136" b="-136"/>
          <a:stretch/>
        </p:blipFill>
        <p:spPr>
          <a:xfrm>
            <a:off x="6426200" y="1709390"/>
            <a:ext cx="4953000" cy="3810000"/>
          </a:xfrm>
          <a:prstGeom prst="roundRect">
            <a:avLst>
              <a:gd name="adj" fmla="val 2000"/>
            </a:avLst>
          </a:prstGeom>
        </p:spPr>
      </p:pic>
      <p:sp>
        <p:nvSpPr>
          <p:cNvPr id="8" name="Text 5"/>
          <p:cNvSpPr/>
          <p:nvPr/>
        </p:nvSpPr>
        <p:spPr>
          <a:xfrm>
            <a:off x="6426200" y="5595590"/>
            <a:ext cx="510159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Boolchandani M, et al. </a:t>
            </a:r>
            <a:r>
              <a:rPr lang="en-US" sz="1200" i="1" dirty="0">
                <a:solidFill>
                  <a:srgbClr val="6B6460"/>
                </a:solidFill>
                <a:latin typeface="Carlito" pitchFamily="34" charset="0"/>
                <a:ea typeface="Carlito" pitchFamily="34" charset="-122"/>
                <a:cs typeface="Carlito" pitchFamily="34" charset="-120"/>
              </a:rPr>
              <a:t>Nat Rev Genet</a:t>
            </a:r>
            <a:r>
              <a:rPr lang="en-US" sz="1200" dirty="0">
                <a:solidFill>
                  <a:srgbClr val="6B6460"/>
                </a:solidFill>
                <a:latin typeface="Carlito" pitchFamily="34" charset="0"/>
                <a:ea typeface="Carlito" pitchFamily="34" charset="-122"/>
                <a:cs typeface="Carlito" pitchFamily="34" charset="-120"/>
              </a:rPr>
              <a:t> 2019. </a:t>
            </a:r>
            <a:r>
              <a:rPr lang="en-US" sz="1200" u="sng" dirty="0">
                <a:solidFill>
                  <a:srgbClr val="6B6460"/>
                </a:solidFill>
                <a:latin typeface="Carlito" pitchFamily="34" charset="0"/>
                <a:ea typeface="Carlito" pitchFamily="34" charset="-122"/>
                <a:cs typeface="Carlito" pitchFamily="34" charset="-120"/>
                <a:hlinkClick r:id="rId4">
                  <a:extLst>
                    <a:ext uri="{A12FA001-AC4F-418D-AE19-62706E023703}">
                      <ahyp:hlinkClr xmlns:ahyp="http://schemas.microsoft.com/office/drawing/2018/hyperlinkcolor" val="tx"/>
                    </a:ext>
                  </a:extLst>
                </a:hlinkClick>
              </a:rPr>
              <a:t>doi:10.1038/s41576-019-0108-4</a:t>
            </a:r>
            <a:endParaRPr lang="en-US" sz="1200" dirty="0"/>
          </a:p>
        </p:txBody>
      </p:sp>
      <p:pic>
        <p:nvPicPr>
          <p:cNvPr id="9" name="Image 1" descr="ILRI and CGIAR logos"/>
          <p:cNvPicPr>
            <a:picLocks noChangeAspect="1"/>
          </p:cNvPicPr>
          <p:nvPr/>
        </p:nvPicPr>
        <p:blipFill>
          <a:blip r:embed="rId5"/>
          <a:srcRect l="-56" r="-56"/>
          <a:stretch/>
        </p:blipFill>
        <p:spPr>
          <a:xfrm>
            <a:off x="10033000" y="254000"/>
            <a:ext cx="1346200" cy="381000"/>
          </a:xfrm>
          <a:prstGeom prst="rect">
            <a:avLst/>
          </a:prstGeom>
        </p:spPr>
      </p:pic>
      <p:sp>
        <p:nvSpPr>
          <p:cNvPr id="10" name="Text 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11" name="Text 7"/>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Three kinds of assembly</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22090"/>
          <a:ext cx="10553700" cy="3311626"/>
        </p:xfrm>
        <a:graphic>
          <a:graphicData uri="http://schemas.openxmlformats.org/drawingml/2006/table">
            <a:tbl>
              <a:tblPr/>
              <a:tblGrid>
                <a:gridCol w="2005203">
                  <a:extLst>
                    <a:ext uri="{9D8B030D-6E8A-4147-A177-3AD203B41FA5}">
                      <a16:colId xmlns:a16="http://schemas.microsoft.com/office/drawing/2014/main" val="20000"/>
                    </a:ext>
                  </a:extLst>
                </a:gridCol>
                <a:gridCol w="2849499">
                  <a:extLst>
                    <a:ext uri="{9D8B030D-6E8A-4147-A177-3AD203B41FA5}">
                      <a16:colId xmlns:a16="http://schemas.microsoft.com/office/drawing/2014/main" val="20001"/>
                    </a:ext>
                  </a:extLst>
                </a:gridCol>
                <a:gridCol w="2849499">
                  <a:extLst>
                    <a:ext uri="{9D8B030D-6E8A-4147-A177-3AD203B41FA5}">
                      <a16:colId xmlns:a16="http://schemas.microsoft.com/office/drawing/2014/main" val="20002"/>
                    </a:ext>
                  </a:extLst>
                </a:gridCol>
                <a:gridCol w="2849499">
                  <a:extLst>
                    <a:ext uri="{9D8B030D-6E8A-4147-A177-3AD203B41FA5}">
                      <a16:colId xmlns:a16="http://schemas.microsoft.com/office/drawing/2014/main" val="20003"/>
                    </a:ext>
                  </a:extLst>
                </a:gridCol>
              </a:tblGrid>
              <a:tr h="634901">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1960"/>
                        </a:lnSpc>
                        <a:buNone/>
                      </a:pPr>
                      <a:r>
                        <a:rPr lang="en-US" sz="1400" b="1" dirty="0">
                          <a:solidFill>
                            <a:srgbClr val="F9F2EA"/>
                          </a:solidFill>
                          <a:latin typeface="Carlito" pitchFamily="34" charset="0"/>
                          <a:ea typeface="Carlito" pitchFamily="34" charset="-122"/>
                          <a:cs typeface="Carlito" pitchFamily="34" charset="-120"/>
                        </a:rPr>
                        <a:t>Short-read</a:t>
                      </a:r>
                      <a:endParaRPr lang="en-US" sz="1400" dirty="0">
                        <a:latin typeface="Carlito" charset="0"/>
                        <a:ea typeface="Carlito" charset="0"/>
                        <a:cs typeface="Carlito" charset="0"/>
                      </a:endParaRPr>
                    </a:p>
                  </a:txBody>
                  <a:tcPr marL="62230" marR="62230" marT="62230" marB="62230">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1960"/>
                        </a:lnSpc>
                        <a:buNone/>
                      </a:pPr>
                      <a:r>
                        <a:rPr lang="en-US" sz="1400" b="1" dirty="0">
                          <a:solidFill>
                            <a:srgbClr val="F9F2EA"/>
                          </a:solidFill>
                          <a:latin typeface="Carlito" pitchFamily="34" charset="0"/>
                          <a:ea typeface="Carlito" pitchFamily="34" charset="-122"/>
                          <a:cs typeface="Carlito" pitchFamily="34" charset="-120"/>
                        </a:rPr>
                        <a:t>Long-read</a:t>
                      </a:r>
                      <a:endParaRPr lang="en-US" sz="1400" dirty="0">
                        <a:latin typeface="Carlito" charset="0"/>
                        <a:ea typeface="Carlito" charset="0"/>
                        <a:cs typeface="Carlito" charset="0"/>
                      </a:endParaRPr>
                    </a:p>
                  </a:txBody>
                  <a:tcPr marL="62230" marR="62230" marT="62230" marB="62230">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1960"/>
                        </a:lnSpc>
                        <a:buNone/>
                      </a:pPr>
                      <a:r>
                        <a:rPr lang="en-US" sz="1400" b="1" dirty="0">
                          <a:solidFill>
                            <a:srgbClr val="F9F2EA"/>
                          </a:solidFill>
                          <a:latin typeface="Carlito" pitchFamily="34" charset="0"/>
                          <a:ea typeface="Carlito" pitchFamily="34" charset="-122"/>
                          <a:cs typeface="Carlito" pitchFamily="34" charset="-120"/>
                        </a:rPr>
                        <a:t>Hybrid (long-read first, short-read polished)</a:t>
                      </a:r>
                      <a:endParaRPr lang="en-US" sz="1400" dirty="0">
                        <a:latin typeface="Carlito" charset="0"/>
                        <a:ea typeface="Carlito" charset="0"/>
                        <a:cs typeface="Carlito" charset="0"/>
                      </a:endParaRPr>
                    </a:p>
                  </a:txBody>
                  <a:tcPr marL="62230" marR="62230" marT="62230" marB="62230">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Reads</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Illumina, 150 bp</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Nanopore, 1–100+ kb</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Both</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63490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Typical result for K. pneumoniae</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30–100 contigs</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Chromosome + plasmids, often circular</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Chromosome + plasmids, circular, base-accurate</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2"/>
                  </a:ext>
                </a:extLst>
              </a:tr>
              <a:tr h="63490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Good for</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MLST, gene detection, SNPs</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Structure: which genes sit on which plasmid</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Everything, including plasmid tracking</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3"/>
                  </a:ext>
                </a:extLst>
              </a:tr>
              <a:tr h="63490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Weakness</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Plasmids broken at repeats (IS elements)</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Small plasmids can be missed; base errors before polishing</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Needs both data types</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4"/>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Today's tools</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Shovill (SPAdes)</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Autocycler (Flye, Raven)</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Medaka, Polypolish, Pypolca</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5"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6" name="Text 2"/>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7" name="Text 3"/>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Assembly algorithms: overlap–layout–consensus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709390"/>
            <a:ext cx="4699000" cy="3454400"/>
          </a:xfrm>
          <a:prstGeom prst="roundRect">
            <a:avLst>
              <a:gd name="adj" fmla="val 2206"/>
            </a:avLst>
          </a:prstGeom>
          <a:solidFill>
            <a:srgbClr val="FFFFFF"/>
          </a:solidFill>
          <a:ln/>
        </p:spPr>
        <p:txBody>
          <a:bodyPr/>
          <a:lstStyle/>
          <a:p>
            <a:endParaRPr lang="en-KE"/>
          </a:p>
        </p:txBody>
      </p:sp>
      <p:pic>
        <p:nvPicPr>
          <p:cNvPr id="5" name="Image 0" descr="Overlap-layout-consensus: reads are provided, overlaps identified, reads connected by overlaps in a graph, a Hamiltonian path identified, and a consensus sequence produced"/>
          <p:cNvPicPr>
            <a:picLocks noChangeAspect="1"/>
          </p:cNvPicPr>
          <p:nvPr/>
        </p:nvPicPr>
        <p:blipFill>
          <a:blip r:embed="rId3"/>
          <a:srcRect l="-11" r="-11"/>
          <a:stretch/>
        </p:blipFill>
        <p:spPr>
          <a:xfrm>
            <a:off x="812800" y="1709390"/>
            <a:ext cx="4699000" cy="3454400"/>
          </a:xfrm>
          <a:prstGeom prst="roundRect">
            <a:avLst>
              <a:gd name="adj" fmla="val 2206"/>
            </a:avLst>
          </a:prstGeom>
        </p:spPr>
      </p:pic>
      <p:sp>
        <p:nvSpPr>
          <p:cNvPr id="6" name="Text 3"/>
          <p:cNvSpPr/>
          <p:nvPr/>
        </p:nvSpPr>
        <p:spPr>
          <a:xfrm>
            <a:off x="812800" y="5239990"/>
            <a:ext cx="512082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Commins J, et al. </a:t>
            </a:r>
            <a:r>
              <a:rPr lang="en-US" sz="1200" i="1" dirty="0">
                <a:solidFill>
                  <a:srgbClr val="6B6460"/>
                </a:solidFill>
                <a:latin typeface="Carlito" pitchFamily="34" charset="0"/>
                <a:ea typeface="Carlito" pitchFamily="34" charset="-122"/>
                <a:cs typeface="Carlito" pitchFamily="34" charset="-120"/>
              </a:rPr>
              <a:t>Biol Proced Online</a:t>
            </a:r>
            <a:r>
              <a:rPr lang="en-US" sz="1200" dirty="0">
                <a:solidFill>
                  <a:srgbClr val="6B6460"/>
                </a:solidFill>
                <a:latin typeface="Carlito" pitchFamily="34" charset="0"/>
                <a:ea typeface="Carlito" pitchFamily="34" charset="-122"/>
                <a:cs typeface="Carlito" pitchFamily="34" charset="-120"/>
              </a:rPr>
              <a:t> 2009. </a:t>
            </a:r>
            <a:r>
              <a:rPr lang="en-US" sz="1200" u="sng" dirty="0">
                <a:solidFill>
                  <a:srgbClr val="6B6460"/>
                </a:solidFill>
                <a:latin typeface="Carlito" pitchFamily="34" charset="0"/>
                <a:ea typeface="Carlito" pitchFamily="34" charset="-122"/>
                <a:cs typeface="Carlito" pitchFamily="34" charset="-120"/>
                <a:hlinkClick r:id="rId4">
                  <a:extLst>
                    <a:ext uri="{A12FA001-AC4F-418D-AE19-62706E023703}">
                      <ahyp:hlinkClr xmlns:ahyp="http://schemas.microsoft.com/office/drawing/2018/hyperlinkcolor" val="tx"/>
                    </a:ext>
                  </a:extLst>
                </a:hlinkClick>
              </a:rPr>
              <a:t>doi:10.1007/s12575-009-9004-1</a:t>
            </a:r>
            <a:endParaRPr lang="en-US" sz="1200" dirty="0"/>
          </a:p>
        </p:txBody>
      </p:sp>
      <p:sp>
        <p:nvSpPr>
          <p:cNvPr id="7" name="Text 4"/>
          <p:cNvSpPr/>
          <p:nvPr/>
        </p:nvSpPr>
        <p:spPr>
          <a:xfrm>
            <a:off x="5933629" y="1709390"/>
            <a:ext cx="5603305" cy="4158010"/>
          </a:xfrm>
          <a:prstGeom prst="rect">
            <a:avLst/>
          </a:prstGeom>
          <a:noFill/>
          <a:ln/>
        </p:spPr>
        <p:txBody>
          <a:bodyPr wrap="square" lIns="0" tIns="0" rIns="0" bIns="0" rtlCol="0" anchor="t">
            <a:normAutofit/>
          </a:bodyPr>
          <a:lstStyle/>
          <a:p>
            <a:pPr marL="187771" indent="-187771" algn="l">
              <a:lnSpc>
                <a:spcPts val="1950"/>
              </a:lnSpc>
              <a:buSzPct val="100000"/>
              <a:buFontTx/>
              <a:buAutoNum type="arabicPeriod"/>
            </a:pPr>
            <a:r>
              <a:rPr lang="en-US" sz="1500" dirty="0">
                <a:solidFill>
                  <a:srgbClr val="3A322C"/>
                </a:solidFill>
                <a:latin typeface="Carlito" pitchFamily="34" charset="0"/>
                <a:ea typeface="Carlito" pitchFamily="34" charset="-122"/>
                <a:cs typeface="Carlito" pitchFamily="34" charset="-120"/>
              </a:rPr>
              <a:t>Reads are provided to the algorithm.</a:t>
            </a:r>
            <a:endParaRPr lang="en-US" sz="1500" dirty="0"/>
          </a:p>
          <a:p>
            <a:pPr marL="187771" indent="-187771" algn="l">
              <a:lnSpc>
                <a:spcPts val="1950"/>
              </a:lnSpc>
              <a:buSzPct val="100000"/>
              <a:buFontTx/>
              <a:buAutoNum type="arabicPeriod"/>
            </a:pPr>
            <a:r>
              <a:rPr lang="en-US" sz="1500" dirty="0">
                <a:solidFill>
                  <a:srgbClr val="3A322C"/>
                </a:solidFill>
                <a:latin typeface="Carlito" pitchFamily="34" charset="0"/>
                <a:ea typeface="Carlito" pitchFamily="34" charset="-122"/>
                <a:cs typeface="Carlito" pitchFamily="34" charset="-120"/>
              </a:rPr>
              <a:t>Overlapping regions are identified.</a:t>
            </a:r>
            <a:endParaRPr lang="en-US" sz="1500" dirty="0"/>
          </a:p>
          <a:p>
            <a:pPr marL="187771" indent="-187771" algn="l">
              <a:lnSpc>
                <a:spcPts val="1950"/>
              </a:lnSpc>
              <a:buSzPct val="100000"/>
              <a:buFontTx/>
              <a:buAutoNum type="arabicPeriod"/>
            </a:pPr>
            <a:r>
              <a:rPr lang="en-US" sz="1500" dirty="0">
                <a:solidFill>
                  <a:srgbClr val="3A322C"/>
                </a:solidFill>
                <a:latin typeface="Carlito" pitchFamily="34" charset="0"/>
                <a:ea typeface="Carlito" pitchFamily="34" charset="-122"/>
                <a:cs typeface="Carlito" pitchFamily="34" charset="-120"/>
              </a:rPr>
              <a:t>Each read is a node in a graph; each overlap is an edge joining two reads.</a:t>
            </a:r>
            <a:endParaRPr lang="en-US" sz="1500" dirty="0"/>
          </a:p>
          <a:p>
            <a:pPr marL="187771" indent="-187771" algn="l">
              <a:lnSpc>
                <a:spcPts val="1950"/>
              </a:lnSpc>
              <a:buSzPct val="100000"/>
              <a:buFontTx/>
              <a:buAutoNum type="arabicPeriod"/>
            </a:pPr>
            <a:r>
              <a:rPr lang="en-US" sz="1500" dirty="0">
                <a:solidFill>
                  <a:srgbClr val="3A322C"/>
                </a:solidFill>
                <a:latin typeface="Carlito" pitchFamily="34" charset="0"/>
                <a:ea typeface="Carlito" pitchFamily="34" charset="-122"/>
                <a:cs typeface="Carlito" pitchFamily="34" charset="-120"/>
              </a:rPr>
              <a:t>The algorithm finds the best path through the graph (a Hamiltonian path); unused nodes and edges are discarded.</a:t>
            </a:r>
            <a:endParaRPr lang="en-US" sz="1500" dirty="0"/>
          </a:p>
          <a:p>
            <a:pPr marL="187771" indent="-187771" algn="l">
              <a:lnSpc>
                <a:spcPts val="1950"/>
              </a:lnSpc>
              <a:buSzPct val="100000"/>
              <a:buFontTx/>
              <a:buAutoNum type="arabicPeriod"/>
            </a:pPr>
            <a:r>
              <a:rPr lang="en-US" sz="1500" dirty="0">
                <a:solidFill>
                  <a:srgbClr val="3A322C"/>
                </a:solidFill>
                <a:latin typeface="Carlito" pitchFamily="34" charset="0"/>
                <a:ea typeface="Carlito" pitchFamily="34" charset="-122"/>
                <a:cs typeface="Carlito" pitchFamily="34" charset="-120"/>
              </a:rPr>
              <a:t>This is repeated, and the results are combined into a consensus sequence that represents the genome.</a:t>
            </a:r>
            <a:endParaRPr lang="en-US" sz="1500" dirty="0"/>
          </a:p>
        </p:txBody>
      </p:sp>
      <p:pic>
        <p:nvPicPr>
          <p:cNvPr id="8" name="Image 1" descr="ILRI and CGIAR logos"/>
          <p:cNvPicPr>
            <a:picLocks noChangeAspect="1"/>
          </p:cNvPicPr>
          <p:nvPr/>
        </p:nvPicPr>
        <p:blipFill>
          <a:blip r:embed="rId5"/>
          <a:srcRect l="-56" r="-56"/>
          <a:stretch/>
        </p:blipFill>
        <p:spPr>
          <a:xfrm>
            <a:off x="10033000" y="254000"/>
            <a:ext cx="1346200" cy="381000"/>
          </a:xfrm>
          <a:prstGeom prst="rect">
            <a:avLst/>
          </a:prstGeom>
        </p:spPr>
      </p:pic>
      <p:sp>
        <p:nvSpPr>
          <p:cNvPr id="9" name="Text 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10" name="Text 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Assembly algorithms: de Bruijn graph</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41524" y="1709390"/>
            <a:ext cx="7485231" cy="1214041"/>
          </a:xfrm>
          <a:prstGeom prst="rect">
            <a:avLst/>
          </a:prstGeom>
          <a:noFill/>
          <a:ln/>
        </p:spPr>
        <p:txBody>
          <a:bodyPr wrap="square" lIns="0" tIns="0" rIns="0" bIns="0" rtlCol="0" anchor="t">
            <a:normAutofit/>
          </a:bodyPr>
          <a:lstStyle/>
          <a:p>
            <a:pPr marL="225276" indent="-225276" algn="l">
              <a:lnSpc>
                <a:spcPts val="2340"/>
              </a:lnSpc>
              <a:buSzPct val="100000"/>
              <a:buFontTx/>
              <a:buAutoNum type="arabicPeriod"/>
            </a:pPr>
            <a:r>
              <a:rPr lang="en-US" sz="1800" dirty="0">
                <a:solidFill>
                  <a:srgbClr val="3A322C"/>
                </a:solidFill>
                <a:latin typeface="Carlito" pitchFamily="34" charset="0"/>
                <a:ea typeface="Carlito" pitchFamily="34" charset="-122"/>
                <a:cs typeface="Carlito" pitchFamily="34" charset="-120"/>
              </a:rPr>
              <a:t>Chop the reads into much shorter </a:t>
            </a:r>
            <a:r>
              <a:rPr lang="en-US" sz="1800" i="1" dirty="0">
                <a:solidFill>
                  <a:srgbClr val="3A322C"/>
                </a:solidFill>
                <a:latin typeface="Carlito" pitchFamily="34" charset="0"/>
                <a:ea typeface="Carlito" pitchFamily="34" charset="-122"/>
                <a:cs typeface="Carlito" pitchFamily="34" charset="-120"/>
              </a:rPr>
              <a:t>k</a:t>
            </a:r>
            <a:r>
              <a:rPr lang="en-US" sz="1800" dirty="0">
                <a:solidFill>
                  <a:srgbClr val="3A322C"/>
                </a:solidFill>
                <a:latin typeface="Carlito" pitchFamily="34" charset="0"/>
                <a:ea typeface="Carlito" pitchFamily="34" charset="-122"/>
                <a:cs typeface="Carlito" pitchFamily="34" charset="-120"/>
              </a:rPr>
              <a:t>-mers.</a:t>
            </a:r>
            <a:endParaRPr lang="en-US" sz="1800" dirty="0"/>
          </a:p>
          <a:p>
            <a:pPr marL="225276" indent="-225276" algn="l">
              <a:lnSpc>
                <a:spcPts val="2340"/>
              </a:lnSpc>
              <a:buSzPct val="100000"/>
              <a:buFontTx/>
              <a:buAutoNum type="arabicPeriod"/>
            </a:pPr>
            <a:r>
              <a:rPr lang="en-US" sz="1800" dirty="0">
                <a:solidFill>
                  <a:srgbClr val="3A322C"/>
                </a:solidFill>
                <a:latin typeface="Carlito" pitchFamily="34" charset="0"/>
                <a:ea typeface="Carlito" pitchFamily="34" charset="-122"/>
                <a:cs typeface="Carlito" pitchFamily="34" charset="-120"/>
              </a:rPr>
              <a:t>Use all the </a:t>
            </a:r>
            <a:r>
              <a:rPr lang="en-US" sz="1800" i="1" dirty="0">
                <a:solidFill>
                  <a:srgbClr val="3A322C"/>
                </a:solidFill>
                <a:latin typeface="Carlito" pitchFamily="34" charset="0"/>
                <a:ea typeface="Carlito" pitchFamily="34" charset="-122"/>
                <a:cs typeface="Carlito" pitchFamily="34" charset="-120"/>
              </a:rPr>
              <a:t>k</a:t>
            </a:r>
            <a:r>
              <a:rPr lang="en-US" sz="1800" dirty="0">
                <a:solidFill>
                  <a:srgbClr val="3A322C"/>
                </a:solidFill>
                <a:latin typeface="Carlito" pitchFamily="34" charset="0"/>
                <a:ea typeface="Carlito" pitchFamily="34" charset="-122"/>
                <a:cs typeface="Carlito" pitchFamily="34" charset="-120"/>
              </a:rPr>
              <a:t>-mers to form a de Bruijn graph: two </a:t>
            </a:r>
            <a:r>
              <a:rPr lang="en-US" sz="1800" i="1" dirty="0">
                <a:solidFill>
                  <a:srgbClr val="3A322C"/>
                </a:solidFill>
                <a:latin typeface="Carlito" pitchFamily="34" charset="0"/>
                <a:ea typeface="Carlito" pitchFamily="34" charset="-122"/>
                <a:cs typeface="Carlito" pitchFamily="34" charset="-120"/>
              </a:rPr>
              <a:t>k</a:t>
            </a:r>
            <a:r>
              <a:rPr lang="en-US" sz="1800" dirty="0">
                <a:solidFill>
                  <a:srgbClr val="3A322C"/>
                </a:solidFill>
                <a:latin typeface="Carlito" pitchFamily="34" charset="0"/>
                <a:ea typeface="Carlito" pitchFamily="34" charset="-122"/>
                <a:cs typeface="Carlito" pitchFamily="34" charset="-120"/>
              </a:rPr>
              <a:t>-mers that share </a:t>
            </a:r>
            <a:r>
              <a:rPr lang="en-US" sz="1800" i="1" dirty="0">
                <a:solidFill>
                  <a:srgbClr val="3A322C"/>
                </a:solidFill>
                <a:latin typeface="Carlito" pitchFamily="34" charset="0"/>
                <a:ea typeface="Carlito" pitchFamily="34" charset="-122"/>
                <a:cs typeface="Carlito" pitchFamily="34" charset="-120"/>
              </a:rPr>
              <a:t>k</a:t>
            </a:r>
            <a:r>
              <a:rPr lang="en-US" sz="1800" dirty="0">
                <a:solidFill>
                  <a:srgbClr val="3A322C"/>
                </a:solidFill>
                <a:latin typeface="Carlito" pitchFamily="34" charset="0"/>
                <a:ea typeface="Carlito" pitchFamily="34" charset="-122"/>
                <a:cs typeface="Carlito" pitchFamily="34" charset="-120"/>
              </a:rPr>
              <a:t>–1 bases are joined by an edge.</a:t>
            </a:r>
            <a:endParaRPr lang="en-US" sz="1800" dirty="0"/>
          </a:p>
          <a:p>
            <a:pPr marL="225276" indent="-225276" algn="l">
              <a:lnSpc>
                <a:spcPts val="2340"/>
              </a:lnSpc>
              <a:buSzPct val="100000"/>
              <a:buFontTx/>
              <a:buAutoNum type="arabicPeriod"/>
            </a:pPr>
            <a:r>
              <a:rPr lang="en-US" sz="1800" dirty="0">
                <a:solidFill>
                  <a:srgbClr val="3A322C"/>
                </a:solidFill>
                <a:latin typeface="Carlito" pitchFamily="34" charset="0"/>
                <a:ea typeface="Carlito" pitchFamily="34" charset="-122"/>
                <a:cs typeface="Carlito" pitchFamily="34" charset="-120"/>
              </a:rPr>
              <a:t>Infer the genome sequence from paths through the graph.</a:t>
            </a:r>
            <a:endParaRPr lang="en-US" sz="1800" dirty="0"/>
          </a:p>
        </p:txBody>
      </p:sp>
      <p:sp>
        <p:nvSpPr>
          <p:cNvPr id="5" name="Shape 3"/>
          <p:cNvSpPr/>
          <p:nvPr/>
        </p:nvSpPr>
        <p:spPr>
          <a:xfrm>
            <a:off x="812800" y="3126631"/>
            <a:ext cx="3575050" cy="1046460"/>
          </a:xfrm>
          <a:prstGeom prst="roundRect">
            <a:avLst>
              <a:gd name="adj" fmla="val 4854"/>
            </a:avLst>
          </a:prstGeom>
          <a:solidFill>
            <a:srgbClr val="FFFFFF"/>
          </a:solidFill>
          <a:ln/>
        </p:spPr>
        <p:txBody>
          <a:bodyPr/>
          <a:lstStyle/>
          <a:p>
            <a:endParaRPr lang="en-KE"/>
          </a:p>
        </p:txBody>
      </p:sp>
      <p:sp>
        <p:nvSpPr>
          <p:cNvPr id="6" name="Shape 4"/>
          <p:cNvSpPr/>
          <p:nvPr/>
        </p:nvSpPr>
        <p:spPr>
          <a:xfrm>
            <a:off x="812800" y="3126631"/>
            <a:ext cx="3575050" cy="1046460"/>
          </a:xfrm>
          <a:custGeom>
            <a:avLst/>
            <a:gdLst/>
            <a:ahLst/>
            <a:cxnLst/>
            <a:rect l="l" t="t" r="r" b="b"/>
            <a:pathLst>
              <a:path w="3575050" h="1046460">
                <a:moveTo>
                  <a:pt x="50800" y="1046460"/>
                </a:moveTo>
                <a:lnTo>
                  <a:pt x="50800" y="1046460"/>
                </a:lnTo>
                <a:arcTo wR="50800" hR="50800" stAng="5400000" swAng="5400000"/>
                <a:lnTo>
                  <a:pt x="0" y="50800"/>
                </a:lnTo>
                <a:arcTo wR="50800" hR="50800" stAng="10800000" swAng="5400000"/>
                <a:lnTo>
                  <a:pt x="50800" y="0"/>
                </a:lnTo>
                <a:lnTo>
                  <a:pt x="50800" y="1046460"/>
                </a:lnTo>
                <a:close/>
              </a:path>
            </a:pathLst>
          </a:custGeom>
          <a:solidFill>
            <a:srgbClr val="891F15"/>
          </a:solidFill>
          <a:ln/>
        </p:spPr>
        <p:txBody>
          <a:bodyPr/>
          <a:lstStyle/>
          <a:p>
            <a:endParaRPr lang="en-KE"/>
          </a:p>
        </p:txBody>
      </p:sp>
      <p:sp>
        <p:nvSpPr>
          <p:cNvPr id="7" name="Text 5"/>
          <p:cNvSpPr/>
          <p:nvPr/>
        </p:nvSpPr>
        <p:spPr>
          <a:xfrm>
            <a:off x="1041400" y="3279031"/>
            <a:ext cx="326371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891F15"/>
                </a:solidFill>
                <a:latin typeface="Carlito" pitchFamily="34" charset="0"/>
                <a:ea typeface="Carlito" pitchFamily="34" charset="-122"/>
                <a:cs typeface="Carlito" pitchFamily="34" charset="-120"/>
              </a:rPr>
              <a:t>Short reads → de Bruijn graph</a:t>
            </a:r>
            <a:endParaRPr lang="en-US" sz="1500" dirty="0"/>
          </a:p>
        </p:txBody>
      </p:sp>
      <p:sp>
        <p:nvSpPr>
          <p:cNvPr id="8" name="Text 6"/>
          <p:cNvSpPr/>
          <p:nvPr/>
        </p:nvSpPr>
        <p:spPr>
          <a:xfrm>
            <a:off x="1041400" y="3558431"/>
            <a:ext cx="3263710"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A322C"/>
                </a:solidFill>
                <a:latin typeface="Carlito" pitchFamily="34" charset="0"/>
                <a:ea typeface="Carlito" pitchFamily="34" charset="-122"/>
                <a:cs typeface="Carlito" pitchFamily="34" charset="-120"/>
              </a:rPr>
              <a:t>Millions of short, accurate reads. SPAdes (inside Shovill) works this way.</a:t>
            </a:r>
            <a:endParaRPr lang="en-US" sz="1400" dirty="0"/>
          </a:p>
        </p:txBody>
      </p:sp>
      <p:sp>
        <p:nvSpPr>
          <p:cNvPr id="9" name="Shape 7"/>
          <p:cNvSpPr/>
          <p:nvPr/>
        </p:nvSpPr>
        <p:spPr>
          <a:xfrm>
            <a:off x="4540250" y="3126631"/>
            <a:ext cx="3575050" cy="1046460"/>
          </a:xfrm>
          <a:prstGeom prst="roundRect">
            <a:avLst>
              <a:gd name="adj" fmla="val 4854"/>
            </a:avLst>
          </a:prstGeom>
          <a:solidFill>
            <a:srgbClr val="FFFFFF"/>
          </a:solidFill>
          <a:ln/>
        </p:spPr>
        <p:txBody>
          <a:bodyPr/>
          <a:lstStyle/>
          <a:p>
            <a:endParaRPr lang="en-KE"/>
          </a:p>
        </p:txBody>
      </p:sp>
      <p:sp>
        <p:nvSpPr>
          <p:cNvPr id="10" name="Shape 8"/>
          <p:cNvSpPr/>
          <p:nvPr/>
        </p:nvSpPr>
        <p:spPr>
          <a:xfrm>
            <a:off x="4540250" y="3126631"/>
            <a:ext cx="3575050" cy="1046460"/>
          </a:xfrm>
          <a:custGeom>
            <a:avLst/>
            <a:gdLst/>
            <a:ahLst/>
            <a:cxnLst/>
            <a:rect l="l" t="t" r="r" b="b"/>
            <a:pathLst>
              <a:path w="3575050" h="1046460">
                <a:moveTo>
                  <a:pt x="50800" y="1046460"/>
                </a:moveTo>
                <a:lnTo>
                  <a:pt x="50800" y="1046460"/>
                </a:lnTo>
                <a:arcTo wR="50800" hR="50800" stAng="5400000" swAng="5400000"/>
                <a:lnTo>
                  <a:pt x="0" y="50800"/>
                </a:lnTo>
                <a:arcTo wR="50800" hR="50800" stAng="10800000" swAng="5400000"/>
                <a:lnTo>
                  <a:pt x="50800" y="0"/>
                </a:lnTo>
                <a:lnTo>
                  <a:pt x="50800" y="1046460"/>
                </a:lnTo>
                <a:close/>
              </a:path>
            </a:pathLst>
          </a:custGeom>
          <a:solidFill>
            <a:srgbClr val="273003"/>
          </a:solidFill>
          <a:ln/>
        </p:spPr>
        <p:txBody>
          <a:bodyPr/>
          <a:lstStyle/>
          <a:p>
            <a:endParaRPr lang="en-KE"/>
          </a:p>
        </p:txBody>
      </p:sp>
      <p:sp>
        <p:nvSpPr>
          <p:cNvPr id="11" name="Text 9"/>
          <p:cNvSpPr/>
          <p:nvPr/>
        </p:nvSpPr>
        <p:spPr>
          <a:xfrm>
            <a:off x="4768850" y="3279031"/>
            <a:ext cx="326371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73003"/>
                </a:solidFill>
                <a:latin typeface="Carlito" pitchFamily="34" charset="0"/>
                <a:ea typeface="Carlito" pitchFamily="34" charset="-122"/>
                <a:cs typeface="Carlito" pitchFamily="34" charset="-120"/>
              </a:rPr>
              <a:t>Long reads → overlap graphs</a:t>
            </a:r>
            <a:endParaRPr lang="en-US" sz="1500" dirty="0"/>
          </a:p>
        </p:txBody>
      </p:sp>
      <p:sp>
        <p:nvSpPr>
          <p:cNvPr id="12" name="Text 10"/>
          <p:cNvSpPr/>
          <p:nvPr/>
        </p:nvSpPr>
        <p:spPr>
          <a:xfrm>
            <a:off x="4768850" y="3558431"/>
            <a:ext cx="3263710"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A322C"/>
                </a:solidFill>
                <a:latin typeface="Carlito" pitchFamily="34" charset="0"/>
                <a:ea typeface="Carlito" pitchFamily="34" charset="-122"/>
                <a:cs typeface="Carlito" pitchFamily="34" charset="-120"/>
              </a:rPr>
              <a:t>Fewer, longer reads with more errors. Flye and Raven (inside Autocycler).</a:t>
            </a:r>
            <a:endParaRPr lang="en-US" sz="1400" dirty="0"/>
          </a:p>
        </p:txBody>
      </p:sp>
      <p:sp>
        <p:nvSpPr>
          <p:cNvPr id="13" name="Text 11"/>
          <p:cNvSpPr/>
          <p:nvPr/>
        </p:nvSpPr>
        <p:spPr>
          <a:xfrm>
            <a:off x="812800" y="4401691"/>
            <a:ext cx="752157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Liao X, et al. </a:t>
            </a:r>
            <a:r>
              <a:rPr lang="en-US" sz="1200" i="1" dirty="0">
                <a:solidFill>
                  <a:srgbClr val="6B6460"/>
                </a:solidFill>
                <a:latin typeface="Carlito" pitchFamily="34" charset="0"/>
                <a:ea typeface="Carlito" pitchFamily="34" charset="-122"/>
                <a:cs typeface="Carlito" pitchFamily="34" charset="-120"/>
              </a:rPr>
              <a:t>Quantitative Biology</a:t>
            </a:r>
            <a:r>
              <a:rPr lang="en-US" sz="1200" dirty="0">
                <a:solidFill>
                  <a:srgbClr val="6B6460"/>
                </a:solidFill>
                <a:latin typeface="Carlito" pitchFamily="34" charset="0"/>
                <a:ea typeface="Carlito" pitchFamily="34" charset="-122"/>
                <a:cs typeface="Carlito" pitchFamily="34" charset="-120"/>
              </a:rPr>
              <a:t> 2019. </a:t>
            </a:r>
            <a:r>
              <a:rPr lang="en-US" sz="1200" u="sng" dirty="0">
                <a:solidFill>
                  <a:srgbClr val="6B6460"/>
                </a:solidFill>
                <a:latin typeface="Carlito" pitchFamily="34" charset="0"/>
                <a:ea typeface="Carlito" pitchFamily="34" charset="-122"/>
                <a:cs typeface="Carlito" pitchFamily="34" charset="-120"/>
                <a:hlinkClick r:id="rId3">
                  <a:extLst>
                    <a:ext uri="{A12FA001-AC4F-418D-AE19-62706E023703}">
                      <ahyp:hlinkClr xmlns:ahyp="http://schemas.microsoft.com/office/drawing/2018/hyperlinkcolor" val="tx"/>
                    </a:ext>
                  </a:extLst>
                </a:hlinkClick>
              </a:rPr>
              <a:t>doi:10.1007/s40484-019-0166-9</a:t>
            </a:r>
            <a:endParaRPr lang="en-US" sz="1200" dirty="0"/>
          </a:p>
        </p:txBody>
      </p:sp>
      <p:sp>
        <p:nvSpPr>
          <p:cNvPr id="14" name="Shape 12"/>
          <p:cNvSpPr/>
          <p:nvPr/>
        </p:nvSpPr>
        <p:spPr>
          <a:xfrm>
            <a:off x="8521700" y="1709390"/>
            <a:ext cx="2857500" cy="4191000"/>
          </a:xfrm>
          <a:prstGeom prst="roundRect">
            <a:avLst>
              <a:gd name="adj" fmla="val 2667"/>
            </a:avLst>
          </a:prstGeom>
          <a:solidFill>
            <a:srgbClr val="FFFFFF"/>
          </a:solidFill>
          <a:ln/>
        </p:spPr>
        <p:txBody>
          <a:bodyPr/>
          <a:lstStyle/>
          <a:p>
            <a:endParaRPr lang="en-KE"/>
          </a:p>
        </p:txBody>
      </p:sp>
      <p:pic>
        <p:nvPicPr>
          <p:cNvPr id="15" name="Image 0" descr="Short and long reads, de Bruijn graph construction from k-mers, OLC string graph construction, scaffolding and gap filling, consensus, and the final assembly"/>
          <p:cNvPicPr>
            <a:picLocks noChangeAspect="1"/>
          </p:cNvPicPr>
          <p:nvPr/>
        </p:nvPicPr>
        <p:blipFill>
          <a:blip r:embed="rId4"/>
          <a:srcRect l="-50" r="-50"/>
          <a:stretch/>
        </p:blipFill>
        <p:spPr>
          <a:xfrm>
            <a:off x="8521700" y="1709390"/>
            <a:ext cx="2857500" cy="4191000"/>
          </a:xfrm>
          <a:prstGeom prst="roundRect">
            <a:avLst>
              <a:gd name="adj" fmla="val 2667"/>
            </a:avLst>
          </a:prstGeom>
        </p:spPr>
      </p:pic>
      <p:pic>
        <p:nvPicPr>
          <p:cNvPr id="16" name="Image 1" descr="ILRI and CGIAR logos"/>
          <p:cNvPicPr>
            <a:picLocks noChangeAspect="1"/>
          </p:cNvPicPr>
          <p:nvPr/>
        </p:nvPicPr>
        <p:blipFill>
          <a:blip r:embed="rId5"/>
          <a:srcRect l="-56" r="-56"/>
          <a:stretch/>
        </p:blipFill>
        <p:spPr>
          <a:xfrm>
            <a:off x="10033000" y="254000"/>
            <a:ext cx="1346200" cy="381000"/>
          </a:xfrm>
          <a:prstGeom prst="rect">
            <a:avLst/>
          </a:prstGeom>
        </p:spPr>
      </p:pic>
      <p:sp>
        <p:nvSpPr>
          <p:cNvPr id="17" name="Text 1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18" name="Text 1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Why repeats break short-read assemblies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810990"/>
            <a:ext cx="183134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A322C"/>
                </a:solidFill>
                <a:latin typeface="Carlito" pitchFamily="34" charset="0"/>
                <a:ea typeface="Carlito" pitchFamily="34" charset="-122"/>
                <a:cs typeface="Carlito" pitchFamily="34" charset="-120"/>
              </a:rPr>
              <a:t>Genome</a:t>
            </a:r>
            <a:endParaRPr lang="en-US" sz="1400" dirty="0"/>
          </a:p>
        </p:txBody>
      </p:sp>
      <p:sp>
        <p:nvSpPr>
          <p:cNvPr id="5" name="Shape 3"/>
          <p:cNvSpPr/>
          <p:nvPr/>
        </p:nvSpPr>
        <p:spPr>
          <a:xfrm>
            <a:off x="2717800" y="1810990"/>
            <a:ext cx="2540000" cy="254000"/>
          </a:xfrm>
          <a:prstGeom prst="rect">
            <a:avLst/>
          </a:prstGeom>
          <a:solidFill>
            <a:srgbClr val="C2CA6E"/>
          </a:solidFill>
          <a:ln/>
        </p:spPr>
        <p:txBody>
          <a:bodyPr/>
          <a:lstStyle/>
          <a:p>
            <a:endParaRPr lang="en-KE"/>
          </a:p>
        </p:txBody>
      </p:sp>
      <p:sp>
        <p:nvSpPr>
          <p:cNvPr id="6" name="Shape 4"/>
          <p:cNvSpPr/>
          <p:nvPr/>
        </p:nvSpPr>
        <p:spPr>
          <a:xfrm>
            <a:off x="5257800" y="1810990"/>
            <a:ext cx="952500" cy="254000"/>
          </a:xfrm>
          <a:prstGeom prst="rect">
            <a:avLst/>
          </a:prstGeom>
          <a:solidFill>
            <a:srgbClr val="FFCE00"/>
          </a:solidFill>
          <a:ln/>
        </p:spPr>
        <p:txBody>
          <a:bodyPr/>
          <a:lstStyle/>
          <a:p>
            <a:endParaRPr lang="en-KE"/>
          </a:p>
        </p:txBody>
      </p:sp>
      <p:sp>
        <p:nvSpPr>
          <p:cNvPr id="7" name="Shape 5"/>
          <p:cNvSpPr/>
          <p:nvPr/>
        </p:nvSpPr>
        <p:spPr>
          <a:xfrm>
            <a:off x="6210300" y="1810990"/>
            <a:ext cx="2095500" cy="254000"/>
          </a:xfrm>
          <a:prstGeom prst="rect">
            <a:avLst/>
          </a:prstGeom>
          <a:solidFill>
            <a:srgbClr val="C2CA6E"/>
          </a:solidFill>
          <a:ln/>
        </p:spPr>
        <p:txBody>
          <a:bodyPr/>
          <a:lstStyle/>
          <a:p>
            <a:endParaRPr lang="en-KE"/>
          </a:p>
        </p:txBody>
      </p:sp>
      <p:sp>
        <p:nvSpPr>
          <p:cNvPr id="8" name="Shape 6"/>
          <p:cNvSpPr/>
          <p:nvPr/>
        </p:nvSpPr>
        <p:spPr>
          <a:xfrm>
            <a:off x="8305800" y="1810990"/>
            <a:ext cx="952500" cy="254000"/>
          </a:xfrm>
          <a:prstGeom prst="rect">
            <a:avLst/>
          </a:prstGeom>
          <a:solidFill>
            <a:srgbClr val="FFCE00"/>
          </a:solidFill>
          <a:ln/>
        </p:spPr>
        <p:txBody>
          <a:bodyPr/>
          <a:lstStyle/>
          <a:p>
            <a:endParaRPr lang="en-KE"/>
          </a:p>
        </p:txBody>
      </p:sp>
      <p:sp>
        <p:nvSpPr>
          <p:cNvPr id="9" name="Shape 7"/>
          <p:cNvSpPr/>
          <p:nvPr/>
        </p:nvSpPr>
        <p:spPr>
          <a:xfrm>
            <a:off x="9258300" y="1810990"/>
            <a:ext cx="2120900" cy="254000"/>
          </a:xfrm>
          <a:prstGeom prst="rect">
            <a:avLst/>
          </a:prstGeom>
          <a:solidFill>
            <a:srgbClr val="C2CA6E"/>
          </a:solidFill>
          <a:ln/>
        </p:spPr>
        <p:txBody>
          <a:bodyPr/>
          <a:lstStyle/>
          <a:p>
            <a:endParaRPr lang="en-KE"/>
          </a:p>
        </p:txBody>
      </p:sp>
      <p:sp>
        <p:nvSpPr>
          <p:cNvPr id="10" name="Text 8"/>
          <p:cNvSpPr/>
          <p:nvPr/>
        </p:nvSpPr>
        <p:spPr>
          <a:xfrm>
            <a:off x="5232400" y="211579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D2637"/>
                </a:solidFill>
                <a:latin typeface="Carlito" pitchFamily="34" charset="0"/>
                <a:ea typeface="Carlito" pitchFamily="34" charset="-122"/>
                <a:cs typeface="Carlito" pitchFamily="34" charset="-120"/>
              </a:rPr>
              <a:t>IS26</a:t>
            </a:r>
            <a:endParaRPr lang="en-US" sz="1200" dirty="0"/>
          </a:p>
        </p:txBody>
      </p:sp>
      <p:sp>
        <p:nvSpPr>
          <p:cNvPr id="11" name="Text 9"/>
          <p:cNvSpPr/>
          <p:nvPr/>
        </p:nvSpPr>
        <p:spPr>
          <a:xfrm>
            <a:off x="8280400" y="2115790"/>
            <a:ext cx="10033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D2637"/>
                </a:solidFill>
                <a:latin typeface="Carlito" pitchFamily="34" charset="0"/>
                <a:ea typeface="Carlito" pitchFamily="34" charset="-122"/>
                <a:cs typeface="Carlito" pitchFamily="34" charset="-120"/>
              </a:rPr>
              <a:t>IS26</a:t>
            </a:r>
            <a:endParaRPr lang="en-US" sz="1200" dirty="0"/>
          </a:p>
        </p:txBody>
      </p:sp>
      <p:sp>
        <p:nvSpPr>
          <p:cNvPr id="12" name="Text 10"/>
          <p:cNvSpPr/>
          <p:nvPr/>
        </p:nvSpPr>
        <p:spPr>
          <a:xfrm>
            <a:off x="812800" y="2471390"/>
            <a:ext cx="183134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A322C"/>
                </a:solidFill>
                <a:latin typeface="Carlito" pitchFamily="34" charset="0"/>
                <a:ea typeface="Carlito" pitchFamily="34" charset="-122"/>
                <a:cs typeface="Carlito" pitchFamily="34" charset="-120"/>
              </a:rPr>
              <a:t>Short reads</a:t>
            </a:r>
            <a:endParaRPr lang="en-US" sz="1400" dirty="0"/>
          </a:p>
        </p:txBody>
      </p:sp>
      <p:sp>
        <p:nvSpPr>
          <p:cNvPr id="13" name="Shape 11"/>
          <p:cNvSpPr/>
          <p:nvPr/>
        </p:nvSpPr>
        <p:spPr>
          <a:xfrm>
            <a:off x="2908300" y="2509490"/>
            <a:ext cx="508000" cy="76200"/>
          </a:xfrm>
          <a:prstGeom prst="roundRect">
            <a:avLst>
              <a:gd name="adj" fmla="val 50000"/>
            </a:avLst>
          </a:prstGeom>
          <a:solidFill>
            <a:srgbClr val="891F15"/>
          </a:solidFill>
          <a:ln/>
        </p:spPr>
        <p:txBody>
          <a:bodyPr/>
          <a:lstStyle/>
          <a:p>
            <a:endParaRPr lang="en-KE"/>
          </a:p>
        </p:txBody>
      </p:sp>
      <p:sp>
        <p:nvSpPr>
          <p:cNvPr id="14" name="Shape 12"/>
          <p:cNvSpPr/>
          <p:nvPr/>
        </p:nvSpPr>
        <p:spPr>
          <a:xfrm>
            <a:off x="4114800" y="2636490"/>
            <a:ext cx="508000" cy="76200"/>
          </a:xfrm>
          <a:prstGeom prst="roundRect">
            <a:avLst>
              <a:gd name="adj" fmla="val 50000"/>
            </a:avLst>
          </a:prstGeom>
          <a:solidFill>
            <a:srgbClr val="891F15"/>
          </a:solidFill>
          <a:ln/>
        </p:spPr>
        <p:txBody>
          <a:bodyPr/>
          <a:lstStyle/>
          <a:p>
            <a:endParaRPr lang="en-KE"/>
          </a:p>
        </p:txBody>
      </p:sp>
      <p:sp>
        <p:nvSpPr>
          <p:cNvPr id="15" name="Shape 13"/>
          <p:cNvSpPr/>
          <p:nvPr/>
        </p:nvSpPr>
        <p:spPr>
          <a:xfrm>
            <a:off x="5480050" y="2509490"/>
            <a:ext cx="508000" cy="76200"/>
          </a:xfrm>
          <a:prstGeom prst="roundRect">
            <a:avLst>
              <a:gd name="adj" fmla="val 50000"/>
            </a:avLst>
          </a:prstGeom>
          <a:solidFill>
            <a:srgbClr val="891F15"/>
          </a:solidFill>
          <a:ln/>
        </p:spPr>
        <p:txBody>
          <a:bodyPr/>
          <a:lstStyle/>
          <a:p>
            <a:endParaRPr lang="en-KE"/>
          </a:p>
        </p:txBody>
      </p:sp>
      <p:sp>
        <p:nvSpPr>
          <p:cNvPr id="16" name="Shape 14"/>
          <p:cNvSpPr/>
          <p:nvPr/>
        </p:nvSpPr>
        <p:spPr>
          <a:xfrm>
            <a:off x="6908800" y="2636490"/>
            <a:ext cx="508000" cy="76200"/>
          </a:xfrm>
          <a:prstGeom prst="roundRect">
            <a:avLst>
              <a:gd name="adj" fmla="val 50000"/>
            </a:avLst>
          </a:prstGeom>
          <a:solidFill>
            <a:srgbClr val="891F15"/>
          </a:solidFill>
          <a:ln/>
        </p:spPr>
        <p:txBody>
          <a:bodyPr/>
          <a:lstStyle/>
          <a:p>
            <a:endParaRPr lang="en-KE"/>
          </a:p>
        </p:txBody>
      </p:sp>
      <p:sp>
        <p:nvSpPr>
          <p:cNvPr id="17" name="Shape 15"/>
          <p:cNvSpPr/>
          <p:nvPr/>
        </p:nvSpPr>
        <p:spPr>
          <a:xfrm>
            <a:off x="8528050" y="2509490"/>
            <a:ext cx="508000" cy="76200"/>
          </a:xfrm>
          <a:prstGeom prst="roundRect">
            <a:avLst>
              <a:gd name="adj" fmla="val 50000"/>
            </a:avLst>
          </a:prstGeom>
          <a:solidFill>
            <a:srgbClr val="891F15"/>
          </a:solidFill>
          <a:ln/>
        </p:spPr>
        <p:txBody>
          <a:bodyPr/>
          <a:lstStyle/>
          <a:p>
            <a:endParaRPr lang="en-KE"/>
          </a:p>
        </p:txBody>
      </p:sp>
      <p:sp>
        <p:nvSpPr>
          <p:cNvPr id="18" name="Shape 16"/>
          <p:cNvSpPr/>
          <p:nvPr/>
        </p:nvSpPr>
        <p:spPr>
          <a:xfrm>
            <a:off x="10020300" y="2636490"/>
            <a:ext cx="508000" cy="76200"/>
          </a:xfrm>
          <a:prstGeom prst="roundRect">
            <a:avLst>
              <a:gd name="adj" fmla="val 50000"/>
            </a:avLst>
          </a:prstGeom>
          <a:solidFill>
            <a:srgbClr val="891F15"/>
          </a:solidFill>
          <a:ln/>
        </p:spPr>
        <p:txBody>
          <a:bodyPr/>
          <a:lstStyle/>
          <a:p>
            <a:endParaRPr lang="en-KE"/>
          </a:p>
        </p:txBody>
      </p:sp>
      <p:sp>
        <p:nvSpPr>
          <p:cNvPr id="19" name="Text 17"/>
          <p:cNvSpPr/>
          <p:nvPr/>
        </p:nvSpPr>
        <p:spPr>
          <a:xfrm>
            <a:off x="812800" y="3080990"/>
            <a:ext cx="183134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A322C"/>
                </a:solidFill>
                <a:latin typeface="Carlito" pitchFamily="34" charset="0"/>
                <a:ea typeface="Carlito" pitchFamily="34" charset="-122"/>
                <a:cs typeface="Carlito" pitchFamily="34" charset="-120"/>
              </a:rPr>
              <a:t>Long read</a:t>
            </a:r>
            <a:endParaRPr lang="en-US" sz="1400" dirty="0"/>
          </a:p>
        </p:txBody>
      </p:sp>
      <p:sp>
        <p:nvSpPr>
          <p:cNvPr id="20" name="Shape 18"/>
          <p:cNvSpPr/>
          <p:nvPr/>
        </p:nvSpPr>
        <p:spPr>
          <a:xfrm>
            <a:off x="4368800" y="3131790"/>
            <a:ext cx="5461000" cy="101600"/>
          </a:xfrm>
          <a:prstGeom prst="roundRect">
            <a:avLst>
              <a:gd name="adj" fmla="val 50000"/>
            </a:avLst>
          </a:prstGeom>
          <a:solidFill>
            <a:srgbClr val="273003"/>
          </a:solidFill>
          <a:ln/>
        </p:spPr>
        <p:txBody>
          <a:bodyPr/>
          <a:lstStyle/>
          <a:p>
            <a:endParaRPr lang="en-KE"/>
          </a:p>
        </p:txBody>
      </p:sp>
      <p:sp>
        <p:nvSpPr>
          <p:cNvPr id="21" name="Shape 19"/>
          <p:cNvSpPr/>
          <p:nvPr/>
        </p:nvSpPr>
        <p:spPr>
          <a:xfrm>
            <a:off x="812800" y="3804890"/>
            <a:ext cx="5181600" cy="1155650"/>
          </a:xfrm>
          <a:prstGeom prst="roundRect">
            <a:avLst>
              <a:gd name="adj" fmla="val 4396"/>
            </a:avLst>
          </a:prstGeom>
          <a:solidFill>
            <a:srgbClr val="FFFFFF"/>
          </a:solidFill>
          <a:ln/>
        </p:spPr>
        <p:txBody>
          <a:bodyPr/>
          <a:lstStyle/>
          <a:p>
            <a:endParaRPr lang="en-KE"/>
          </a:p>
        </p:txBody>
      </p:sp>
      <p:sp>
        <p:nvSpPr>
          <p:cNvPr id="22" name="Shape 20"/>
          <p:cNvSpPr/>
          <p:nvPr/>
        </p:nvSpPr>
        <p:spPr>
          <a:xfrm>
            <a:off x="812800" y="3804890"/>
            <a:ext cx="5181600" cy="1155650"/>
          </a:xfrm>
          <a:custGeom>
            <a:avLst/>
            <a:gdLst/>
            <a:ahLst/>
            <a:cxnLst/>
            <a:rect l="l" t="t" r="r" b="b"/>
            <a:pathLst>
              <a:path w="5181600" h="1155650">
                <a:moveTo>
                  <a:pt x="50800" y="1155650"/>
                </a:moveTo>
                <a:lnTo>
                  <a:pt x="50800" y="1155650"/>
                </a:lnTo>
                <a:arcTo wR="50800" hR="50800" stAng="5400000" swAng="5400000"/>
                <a:lnTo>
                  <a:pt x="0" y="50800"/>
                </a:lnTo>
                <a:arcTo wR="50800" hR="50800" stAng="10800000" swAng="5400000"/>
                <a:lnTo>
                  <a:pt x="50800" y="0"/>
                </a:lnTo>
                <a:lnTo>
                  <a:pt x="50800" y="1155650"/>
                </a:lnTo>
                <a:close/>
              </a:path>
            </a:pathLst>
          </a:custGeom>
          <a:solidFill>
            <a:srgbClr val="891F15"/>
          </a:solidFill>
          <a:ln/>
        </p:spPr>
        <p:txBody>
          <a:bodyPr/>
          <a:lstStyle/>
          <a:p>
            <a:endParaRPr lang="en-KE"/>
          </a:p>
        </p:txBody>
      </p:sp>
      <p:sp>
        <p:nvSpPr>
          <p:cNvPr id="23" name="Text 21"/>
          <p:cNvSpPr/>
          <p:nvPr/>
        </p:nvSpPr>
        <p:spPr>
          <a:xfrm>
            <a:off x="1066800" y="3982690"/>
            <a:ext cx="486613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91F15"/>
                </a:solidFill>
                <a:latin typeface="Carlito" pitchFamily="34" charset="0"/>
                <a:ea typeface="Carlito" pitchFamily="34" charset="-122"/>
                <a:cs typeface="Carlito" pitchFamily="34" charset="-120"/>
              </a:rPr>
              <a:t>Short read inside a repeat</a:t>
            </a:r>
            <a:endParaRPr lang="en-US" sz="1600" dirty="0"/>
          </a:p>
        </p:txBody>
      </p:sp>
      <p:sp>
        <p:nvSpPr>
          <p:cNvPr id="24" name="Text 22"/>
          <p:cNvSpPr/>
          <p:nvPr/>
        </p:nvSpPr>
        <p:spPr>
          <a:xfrm>
            <a:off x="1066800" y="4302720"/>
            <a:ext cx="4866132"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It fits both IS26 copies equally well, so the assembler cannot tell which unique sequence follows. The contig stops at the repeat.</a:t>
            </a:r>
            <a:endParaRPr lang="en-US" sz="1400" dirty="0"/>
          </a:p>
        </p:txBody>
      </p:sp>
      <p:sp>
        <p:nvSpPr>
          <p:cNvPr id="25" name="Shape 23"/>
          <p:cNvSpPr/>
          <p:nvPr/>
        </p:nvSpPr>
        <p:spPr>
          <a:xfrm>
            <a:off x="6197600" y="3804890"/>
            <a:ext cx="5181600" cy="1155650"/>
          </a:xfrm>
          <a:prstGeom prst="roundRect">
            <a:avLst>
              <a:gd name="adj" fmla="val 4396"/>
            </a:avLst>
          </a:prstGeom>
          <a:solidFill>
            <a:srgbClr val="FFFFFF"/>
          </a:solidFill>
          <a:ln/>
        </p:spPr>
        <p:txBody>
          <a:bodyPr/>
          <a:lstStyle/>
          <a:p>
            <a:endParaRPr lang="en-KE"/>
          </a:p>
        </p:txBody>
      </p:sp>
      <p:sp>
        <p:nvSpPr>
          <p:cNvPr id="26" name="Shape 24"/>
          <p:cNvSpPr/>
          <p:nvPr/>
        </p:nvSpPr>
        <p:spPr>
          <a:xfrm>
            <a:off x="6197600" y="3804890"/>
            <a:ext cx="5181600" cy="1155650"/>
          </a:xfrm>
          <a:custGeom>
            <a:avLst/>
            <a:gdLst/>
            <a:ahLst/>
            <a:cxnLst/>
            <a:rect l="l" t="t" r="r" b="b"/>
            <a:pathLst>
              <a:path w="5181600" h="1155650">
                <a:moveTo>
                  <a:pt x="50800" y="1155650"/>
                </a:moveTo>
                <a:lnTo>
                  <a:pt x="50800" y="1155650"/>
                </a:lnTo>
                <a:arcTo wR="50800" hR="50800" stAng="5400000" swAng="5400000"/>
                <a:lnTo>
                  <a:pt x="0" y="50800"/>
                </a:lnTo>
                <a:arcTo wR="50800" hR="50800" stAng="10800000" swAng="5400000"/>
                <a:lnTo>
                  <a:pt x="50800" y="0"/>
                </a:lnTo>
                <a:lnTo>
                  <a:pt x="50800" y="1155650"/>
                </a:lnTo>
                <a:close/>
              </a:path>
            </a:pathLst>
          </a:custGeom>
          <a:solidFill>
            <a:srgbClr val="273003"/>
          </a:solidFill>
          <a:ln/>
        </p:spPr>
        <p:txBody>
          <a:bodyPr/>
          <a:lstStyle/>
          <a:p>
            <a:endParaRPr lang="en-KE"/>
          </a:p>
        </p:txBody>
      </p:sp>
      <p:sp>
        <p:nvSpPr>
          <p:cNvPr id="27" name="Text 25"/>
          <p:cNvSpPr/>
          <p:nvPr/>
        </p:nvSpPr>
        <p:spPr>
          <a:xfrm>
            <a:off x="6451600" y="3982690"/>
            <a:ext cx="486613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73003"/>
                </a:solidFill>
                <a:latin typeface="Carlito" pitchFamily="34" charset="0"/>
                <a:ea typeface="Carlito" pitchFamily="34" charset="-122"/>
                <a:cs typeface="Carlito" pitchFamily="34" charset="-120"/>
              </a:rPr>
              <a:t>Long read across a repeat</a:t>
            </a:r>
            <a:endParaRPr lang="en-US" sz="1600" dirty="0"/>
          </a:p>
        </p:txBody>
      </p:sp>
      <p:sp>
        <p:nvSpPr>
          <p:cNvPr id="28" name="Text 26"/>
          <p:cNvSpPr/>
          <p:nvPr/>
        </p:nvSpPr>
        <p:spPr>
          <a:xfrm>
            <a:off x="6451600" y="4302720"/>
            <a:ext cx="4866132"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It covers the whole repeat with unique sequence on both sides, so the path through the genome is clear.</a:t>
            </a:r>
            <a:endParaRPr lang="en-US" sz="1400" dirty="0"/>
          </a:p>
        </p:txBody>
      </p:sp>
      <p:pic>
        <p:nvPicPr>
          <p:cNvPr id="29"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30" name="Text 27"/>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31" name="Text 28"/>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Shovill: assembly of bacterial isolates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71290"/>
          <a:ext cx="10553700" cy="3326800"/>
        </p:xfrm>
        <a:graphic>
          <a:graphicData uri="http://schemas.openxmlformats.org/drawingml/2006/table">
            <a:tbl>
              <a:tblPr/>
              <a:tblGrid>
                <a:gridCol w="633222">
                  <a:extLst>
                    <a:ext uri="{9D8B030D-6E8A-4147-A177-3AD203B41FA5}">
                      <a16:colId xmlns:a16="http://schemas.microsoft.com/office/drawing/2014/main" val="20000"/>
                    </a:ext>
                  </a:extLst>
                </a:gridCol>
                <a:gridCol w="6965442">
                  <a:extLst>
                    <a:ext uri="{9D8B030D-6E8A-4147-A177-3AD203B41FA5}">
                      <a16:colId xmlns:a16="http://schemas.microsoft.com/office/drawing/2014/main" val="20001"/>
                    </a:ext>
                  </a:extLst>
                </a:gridCol>
                <a:gridCol w="2955036">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F9F2EA"/>
                          </a:solidFill>
                          <a:latin typeface="Carlito" pitchFamily="34" charset="0"/>
                          <a:ea typeface="Carlito" pitchFamily="34" charset="-122"/>
                          <a:cs typeface="Carlito" pitchFamily="34" charset="-120"/>
                        </a:rPr>
                        <a:t>#</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1680"/>
                        </a:lnSpc>
                        <a:buNone/>
                      </a:pPr>
                      <a:r>
                        <a:rPr lang="en-US" sz="1200" b="1" dirty="0">
                          <a:solidFill>
                            <a:srgbClr val="F9F2EA"/>
                          </a:solidFill>
                          <a:latin typeface="Carlito" pitchFamily="34" charset="0"/>
                          <a:ea typeface="Carlito" pitchFamily="34" charset="-122"/>
                          <a:cs typeface="Carlito" pitchFamily="34" charset="-120"/>
                        </a:rPr>
                        <a:t>What Shovill does</a:t>
                      </a:r>
                      <a:endParaRPr lang="en-US" sz="1200" dirty="0">
                        <a:latin typeface="Carlito" charset="0"/>
                        <a:ea typeface="Carlito" charset="0"/>
                        <a:cs typeface="Carlito" charset="0"/>
                      </a:endParaRPr>
                    </a:p>
                  </a:txBody>
                  <a:tcPr marL="53340" marR="53340" marT="53340" marB="53340">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1680"/>
                        </a:lnSpc>
                        <a:buNone/>
                      </a:pPr>
                      <a:r>
                        <a:rPr lang="en-US" sz="1200" b="1" dirty="0">
                          <a:solidFill>
                            <a:srgbClr val="F9F2EA"/>
                          </a:solidFill>
                          <a:latin typeface="Carlito" pitchFamily="34" charset="0"/>
                          <a:ea typeface="Carlito" pitchFamily="34" charset="-122"/>
                          <a:cs typeface="Carlito" pitchFamily="34" charset="-120"/>
                        </a:rPr>
                        <a:t>Tool</a:t>
                      </a:r>
                      <a:endParaRPr lang="en-US" sz="1200" dirty="0">
                        <a:latin typeface="Carlito" charset="0"/>
                        <a:ea typeface="Carlito" charset="0"/>
                        <a:cs typeface="Carlito" charset="0"/>
                      </a:endParaRPr>
                    </a:p>
                  </a:txBody>
                  <a:tcPr marL="53340" marR="53340" marT="53340" marB="53340">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1</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Estimate genome size and read length (unless --gsize is given)</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mash</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2</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Subsample the reads to a sensible depth (default --depth 100)</a:t>
                      </a: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seqtk</a:t>
                      </a: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3</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Trim adapters from the reads (with --trim only)</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trimmomatic</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4</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Conservatively correct sequencing errors in the reads</a:t>
                      </a: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lighter</a:t>
                      </a: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5</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Pre-overlap ("stitch") paired-end reads</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flash</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5"/>
                  </a:ext>
                </a:extLst>
              </a:tr>
              <a:tr h="332680">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6</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Assemble, with a modified k-mer range, paired + stitched reads</a:t>
                      </a: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SPAdes (or SKESA, Megahit)</a:t>
                      </a: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6"/>
                  </a:ext>
                </a:extLst>
              </a:tr>
              <a:tr h="332680">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7</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Correct minor errors by mapping the reads back to the contigs</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bwa mem + pilon</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7"/>
                  </a:ext>
                </a:extLst>
              </a:tr>
              <a:tr h="332680">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8</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Remove contigs that are too short, low coverage, or homopolymers</a:t>
                      </a: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680"/>
                        </a:lnSpc>
                        <a:buNone/>
                      </a:pP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8"/>
                  </a:ext>
                </a:extLst>
              </a:tr>
              <a:tr h="332680">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9</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Write the final FASTA with tidy names and annotations</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p:cNvSpPr/>
          <p:nvPr/>
        </p:nvSpPr>
        <p:spPr>
          <a:xfrm>
            <a:off x="812800" y="5201295"/>
            <a:ext cx="10883392"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038"/>
                </a:solidFill>
                <a:latin typeface="Carlito" pitchFamily="34" charset="0"/>
                <a:ea typeface="Carlito" pitchFamily="34" charset="-122"/>
                <a:cs typeface="Carlito" pitchFamily="34" charset="-120"/>
              </a:rPr>
              <a:t>On the course: reads already trimmed by fastp (no </a:t>
            </a:r>
            <a:r>
              <a:rPr lang="en-US" sz="1300" b="1" dirty="0">
                <a:solidFill>
                  <a:srgbClr val="4A4038"/>
                </a:solidFill>
                <a:latin typeface="Carlito" pitchFamily="34" charset="0"/>
                <a:ea typeface="Carlito" pitchFamily="34" charset="-122"/>
                <a:cs typeface="Carlito" pitchFamily="34" charset="-120"/>
              </a:rPr>
              <a:t>--trim</a:t>
            </a:r>
            <a:r>
              <a:rPr lang="en-US" sz="1300" dirty="0">
                <a:solidFill>
                  <a:srgbClr val="4A4038"/>
                </a:solidFill>
                <a:latin typeface="Carlito" pitchFamily="34" charset="0"/>
                <a:ea typeface="Carlito" pitchFamily="34" charset="-122"/>
                <a:cs typeface="Carlito" pitchFamily="34" charset="-120"/>
              </a:rPr>
              <a:t>); </a:t>
            </a:r>
            <a:r>
              <a:rPr lang="en-US" sz="1300" b="1" dirty="0">
                <a:solidFill>
                  <a:srgbClr val="4A4038"/>
                </a:solidFill>
                <a:latin typeface="Carlito" pitchFamily="34" charset="0"/>
                <a:ea typeface="Carlito" pitchFamily="34" charset="-122"/>
                <a:cs typeface="Carlito" pitchFamily="34" charset="-120"/>
              </a:rPr>
              <a:t>--minlen 200</a:t>
            </a:r>
            <a:r>
              <a:rPr lang="en-US" sz="1300" dirty="0">
                <a:solidFill>
                  <a:srgbClr val="4A4038"/>
                </a:solidFill>
                <a:latin typeface="Carlito" pitchFamily="34" charset="0"/>
                <a:ea typeface="Carlito" pitchFamily="34" charset="-122"/>
                <a:cs typeface="Carlito" pitchFamily="34" charset="-120"/>
              </a:rPr>
              <a:t> drops short contigs.</a:t>
            </a:r>
            <a:endParaRPr lang="en-US" sz="1300" dirty="0"/>
          </a:p>
        </p:txBody>
      </p:sp>
      <p:pic>
        <p:nvPicPr>
          <p:cNvPr id="6"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7"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8"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Hands-on: assemble CHI11E with Shovill</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709390"/>
            <a:ext cx="10566400" cy="2372122"/>
          </a:xfrm>
          <a:prstGeom prst="roundRect">
            <a:avLst>
              <a:gd name="adj" fmla="val 3212"/>
            </a:avLst>
          </a:prstGeom>
          <a:solidFill>
            <a:srgbClr val="273003"/>
          </a:solidFill>
          <a:ln/>
        </p:spPr>
        <p:txBody>
          <a:bodyPr wrap="square" lIns="257082" tIns="206282" rIns="0" bIns="180882" rtlCol="0" anchor="t">
            <a:normAutofit/>
          </a:bodyPr>
          <a:lstStyle/>
          <a:p>
            <a:pPr marL="0" indent="0" algn="l">
              <a:lnSpc>
                <a:spcPts val="1885"/>
              </a:lnSpc>
              <a:buNone/>
            </a:pPr>
            <a:r>
              <a:rPr lang="en-US" sz="1300" dirty="0">
                <a:solidFill>
                  <a:srgbClr val="F3EEDF"/>
                </a:solidFill>
                <a:latin typeface="Consolas" panose="020B0609020204030204" pitchFamily="49" charset="0"/>
                <a:ea typeface="JetBrains Mono" pitchFamily="49" charset="-122"/>
                <a:cs typeface="Consolas" panose="020B0609020204030204" pitchFamily="49" charset="0"/>
              </a:rPr>
              <a:t>use_tools assembly</a:t>
            </a:r>
            <a:endParaRPr lang="en-US" sz="1300" dirty="0">
              <a:latin typeface="Consolas" panose="020B0609020204030204" pitchFamily="49" charset="0"/>
              <a:cs typeface="Consolas" panose="020B0609020204030204" pitchFamily="49" charset="0"/>
            </a:endParaRPr>
          </a:p>
          <a:p>
            <a:pPr marL="0" indent="0" algn="l">
              <a:lnSpc>
                <a:spcPts val="1885"/>
              </a:lnSpc>
              <a:buNone/>
            </a:pPr>
            <a:r>
              <a:rPr lang="en-US" sz="1300" dirty="0">
                <a:solidFill>
                  <a:srgbClr val="F3EEDF"/>
                </a:solidFill>
                <a:latin typeface="Consolas" panose="020B0609020204030204" pitchFamily="49" charset="0"/>
                <a:ea typeface="JetBrains Mono" pitchFamily="49" charset="-122"/>
                <a:cs typeface="Consolas" panose="020B0609020204030204" pitchFamily="49" charset="0"/>
              </a:rPr>
              <a:t>mkdir -p $RESULTS/02_assembly/shovill</a:t>
            </a:r>
            <a:endParaRPr lang="en-US" sz="1300" dirty="0">
              <a:latin typeface="Consolas" panose="020B0609020204030204" pitchFamily="49" charset="0"/>
              <a:cs typeface="Consolas" panose="020B0609020204030204" pitchFamily="49" charset="0"/>
            </a:endParaRPr>
          </a:p>
          <a:p>
            <a:pPr marL="0" indent="0" algn="l">
              <a:lnSpc>
                <a:spcPts val="1885"/>
              </a:lnSpc>
              <a:buNone/>
            </a:pPr>
            <a:r>
              <a:rPr lang="en-US" sz="1300" dirty="0">
                <a:solidFill>
                  <a:srgbClr val="C2CA6E"/>
                </a:solidFill>
                <a:latin typeface="JetBrains Mono" pitchFamily="49" charset="0"/>
                <a:ea typeface="JetBrains Mono" pitchFamily="49" charset="-122"/>
                <a:cs typeface="JetBrains Mono" pitchFamily="49" charset="-120"/>
              </a:rPr>
              <a:t># One sample first: with 1 thread allow about an hour, so start it before a break</a:t>
            </a:r>
            <a:endParaRPr lang="en-US" sz="1300" dirty="0"/>
          </a:p>
          <a:p>
            <a:pPr marL="0" indent="0" algn="l">
              <a:lnSpc>
                <a:spcPts val="1885"/>
              </a:lnSpc>
              <a:buNone/>
            </a:pPr>
            <a:r>
              <a:rPr lang="en-US" sz="1300" dirty="0">
                <a:solidFill>
                  <a:srgbClr val="F3EEDF"/>
                </a:solidFill>
                <a:latin typeface="Consolas" panose="020B0609020204030204" pitchFamily="49" charset="0"/>
                <a:ea typeface="JetBrains Mono" pitchFamily="49" charset="-122"/>
                <a:cs typeface="Consolas" panose="020B0609020204030204" pitchFamily="49" charset="0"/>
              </a:rPr>
              <a:t>s=CHI11E</a:t>
            </a:r>
            <a:endParaRPr lang="en-US" sz="1300" dirty="0">
              <a:latin typeface="Consolas" panose="020B0609020204030204" pitchFamily="49" charset="0"/>
              <a:cs typeface="Consolas" panose="020B0609020204030204" pitchFamily="49" charset="0"/>
            </a:endParaRPr>
          </a:p>
          <a:p>
            <a:pPr marL="0" indent="0" algn="l">
              <a:lnSpc>
                <a:spcPts val="1885"/>
              </a:lnSpc>
              <a:buNone/>
            </a:pPr>
            <a:r>
              <a:rPr lang="en-US" sz="1300" dirty="0">
                <a:solidFill>
                  <a:srgbClr val="F3EEDF"/>
                </a:solidFill>
                <a:latin typeface="Consolas" panose="020B0609020204030204" pitchFamily="49" charset="0"/>
                <a:ea typeface="JetBrains Mono" pitchFamily="49" charset="-122"/>
                <a:cs typeface="Consolas" panose="020B0609020204030204" pitchFamily="49" charset="0"/>
              </a:rPr>
              <a:t>shovill --R1 $COURSE/trimmed/${s}_R1.fastq.gz --R2 $COURSE/trimmed/${s}_R2.fastq.gz \</a:t>
            </a:r>
            <a:endParaRPr lang="en-US" sz="1300" dirty="0">
              <a:latin typeface="Consolas" panose="020B0609020204030204" pitchFamily="49" charset="0"/>
              <a:cs typeface="Consolas" panose="020B0609020204030204" pitchFamily="49" charset="0"/>
            </a:endParaRPr>
          </a:p>
          <a:p>
            <a:pPr marL="0" indent="0" algn="l">
              <a:lnSpc>
                <a:spcPts val="1885"/>
              </a:lnSpc>
              <a:buNone/>
            </a:pPr>
            <a:r>
              <a:rPr lang="en-US" sz="1300" dirty="0">
                <a:solidFill>
                  <a:srgbClr val="F3EEDF"/>
                </a:solidFill>
                <a:latin typeface="Consolas" panose="020B0609020204030204" pitchFamily="49" charset="0"/>
                <a:ea typeface="JetBrains Mono" pitchFamily="49" charset="-122"/>
                <a:cs typeface="Consolas" panose="020B0609020204030204" pitchFamily="49" charset="0"/>
              </a:rPr>
              <a:t>    --outdir $RESULTS/02_assembly/shovill/$s --cpus $THREADS --minlen 200</a:t>
            </a:r>
            <a:endParaRPr lang="en-US" sz="1300" dirty="0">
              <a:latin typeface="Consolas" panose="020B0609020204030204" pitchFamily="49" charset="0"/>
              <a:cs typeface="Consolas" panose="020B0609020204030204" pitchFamily="49" charset="0"/>
            </a:endParaRPr>
          </a:p>
          <a:p>
            <a:pPr marL="0" indent="0" algn="l">
              <a:lnSpc>
                <a:spcPts val="1885"/>
              </a:lnSpc>
              <a:buNone/>
            </a:pPr>
            <a:r>
              <a:rPr lang="en-US" sz="1300" dirty="0">
                <a:solidFill>
                  <a:srgbClr val="C2CA6E"/>
                </a:solidFill>
                <a:latin typeface="JetBrains Mono" pitchFamily="49" charset="0"/>
                <a:ea typeface="JetBrains Mono" pitchFamily="49" charset="-122"/>
                <a:cs typeface="JetBrains Mono" pitchFamily="49" charset="-120"/>
              </a:rPr>
              <a:t># How many contigs?</a:t>
            </a:r>
            <a:endParaRPr lang="en-US" sz="1300" dirty="0"/>
          </a:p>
          <a:p>
            <a:pPr marL="0" indent="0" algn="l">
              <a:lnSpc>
                <a:spcPts val="1885"/>
              </a:lnSpc>
              <a:buNone/>
            </a:pPr>
            <a:r>
              <a:rPr lang="en-US" sz="1300" dirty="0">
                <a:solidFill>
                  <a:srgbClr val="F3EEDF"/>
                </a:solidFill>
                <a:latin typeface="Consolas" panose="020B0609020204030204" pitchFamily="49" charset="0"/>
                <a:ea typeface="JetBrains Mono" pitchFamily="49" charset="-122"/>
                <a:cs typeface="Consolas" panose="020B0609020204030204" pitchFamily="49" charset="0"/>
              </a:rPr>
              <a:t>grep -c "&gt;" $RESULTS/02_assembly/shovill/$s/contigs.fa</a:t>
            </a:r>
            <a:endParaRPr lang="en-US" sz="1300" dirty="0">
              <a:latin typeface="Consolas" panose="020B0609020204030204" pitchFamily="49" charset="0"/>
              <a:cs typeface="Consolas" panose="020B0609020204030204" pitchFamily="49" charset="0"/>
            </a:endParaRPr>
          </a:p>
        </p:txBody>
      </p:sp>
      <p:sp>
        <p:nvSpPr>
          <p:cNvPr id="5" name="Shape 3"/>
          <p:cNvSpPr/>
          <p:nvPr/>
        </p:nvSpPr>
        <p:spPr>
          <a:xfrm>
            <a:off x="812800" y="4335512"/>
            <a:ext cx="10566400" cy="1102271"/>
          </a:xfrm>
          <a:prstGeom prst="roundRect">
            <a:avLst>
              <a:gd name="adj" fmla="val 4609"/>
            </a:avLst>
          </a:prstGeom>
          <a:solidFill>
            <a:srgbClr val="FFF6CC"/>
          </a:solidFill>
          <a:ln/>
        </p:spPr>
        <p:txBody>
          <a:bodyPr/>
          <a:lstStyle/>
          <a:p>
            <a:endParaRPr lang="en-KE"/>
          </a:p>
        </p:txBody>
      </p:sp>
      <p:sp>
        <p:nvSpPr>
          <p:cNvPr id="6" name="Shape 4"/>
          <p:cNvSpPr/>
          <p:nvPr/>
        </p:nvSpPr>
        <p:spPr>
          <a:xfrm>
            <a:off x="812800" y="4335512"/>
            <a:ext cx="10566400" cy="1102271"/>
          </a:xfrm>
          <a:custGeom>
            <a:avLst/>
            <a:gdLst/>
            <a:ahLst/>
            <a:cxnLst/>
            <a:rect l="l" t="t" r="r" b="b"/>
            <a:pathLst>
              <a:path w="10566400" h="1102271">
                <a:moveTo>
                  <a:pt x="50800" y="1102271"/>
                </a:moveTo>
                <a:lnTo>
                  <a:pt x="50800" y="1102271"/>
                </a:lnTo>
                <a:arcTo wR="50800" hR="50800" stAng="5400000" swAng="5400000"/>
                <a:lnTo>
                  <a:pt x="0" y="50800"/>
                </a:lnTo>
                <a:arcTo wR="50800" hR="50800" stAng="10800000" swAng="5400000"/>
                <a:lnTo>
                  <a:pt x="50800" y="0"/>
                </a:lnTo>
                <a:lnTo>
                  <a:pt x="50800" y="1102271"/>
                </a:lnTo>
                <a:close/>
              </a:path>
            </a:pathLst>
          </a:custGeom>
          <a:solidFill>
            <a:srgbClr val="FFCE00"/>
          </a:solidFill>
          <a:ln/>
        </p:spPr>
        <p:txBody>
          <a:bodyPr/>
          <a:lstStyle/>
          <a:p>
            <a:endParaRPr lang="en-KE"/>
          </a:p>
        </p:txBody>
      </p:sp>
      <p:sp>
        <p:nvSpPr>
          <p:cNvPr id="7" name="Text 5"/>
          <p:cNvSpPr/>
          <p:nvPr/>
        </p:nvSpPr>
        <p:spPr>
          <a:xfrm>
            <a:off x="1092200" y="4513312"/>
            <a:ext cx="258862" cy="292100"/>
          </a:xfrm>
          <a:prstGeom prst="rect">
            <a:avLst/>
          </a:prstGeom>
          <a:noFill/>
          <a:ln/>
        </p:spPr>
        <p:txBody>
          <a:bodyPr wrap="none" lIns="0" tIns="0" rIns="0" bIns="0" rtlCol="0" anchor="t">
            <a:normAutofit/>
          </a:bodyPr>
          <a:lstStyle/>
          <a:p>
            <a:pPr marL="0" indent="0" algn="l">
              <a:lnSpc>
                <a:spcPts val="2100"/>
              </a:lnSpc>
              <a:buNone/>
            </a:pPr>
            <a:r>
              <a:rPr lang="en-US" sz="1500" b="1" dirty="0">
                <a:solidFill>
                  <a:srgbClr val="6D2637"/>
                </a:solidFill>
                <a:latin typeface="Carlito" pitchFamily="34" charset="0"/>
                <a:ea typeface="Carlito" pitchFamily="34" charset="-122"/>
                <a:cs typeface="Carlito" pitchFamily="34" charset="-120"/>
              </a:rPr>
              <a:t>Tip</a:t>
            </a:r>
            <a:endParaRPr lang="en-US" sz="1500" dirty="0"/>
          </a:p>
        </p:txBody>
      </p:sp>
      <p:sp>
        <p:nvSpPr>
          <p:cNvPr id="8" name="Text 6"/>
          <p:cNvSpPr/>
          <p:nvPr/>
        </p:nvSpPr>
        <p:spPr>
          <a:xfrm>
            <a:off x="1478062" y="4513312"/>
            <a:ext cx="9962714"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322C"/>
                </a:solidFill>
                <a:latin typeface="Carlito" pitchFamily="34" charset="0"/>
                <a:ea typeface="Carlito" pitchFamily="34" charset="-122"/>
                <a:cs typeface="Carlito" pitchFamily="34" charset="-120"/>
              </a:rPr>
              <a:t>Pre-computed Shovill assemblies for all 29 isolates are in </a:t>
            </a:r>
            <a:r>
              <a:rPr lang="en-US" sz="1400" b="1" dirty="0">
                <a:solidFill>
                  <a:srgbClr val="3A322C"/>
                </a:solidFill>
                <a:latin typeface="Consolas" panose="020B0609020204030204" pitchFamily="49" charset="0"/>
                <a:ea typeface="Carlito" pitchFamily="34" charset="-122"/>
                <a:cs typeface="Consolas" panose="020B0609020204030204" pitchFamily="49" charset="0"/>
              </a:rPr>
              <a:t>$SHARED/precomputed/02_assembly/shovill/</a:t>
            </a:r>
            <a:r>
              <a:rPr lang="en-US" sz="1400" dirty="0">
                <a:solidFill>
                  <a:srgbClr val="3A322C"/>
                </a:solidFill>
                <a:latin typeface="Consolas" panose="020B0609020204030204" pitchFamily="49" charset="0"/>
                <a:ea typeface="Carlito" pitchFamily="34" charset="-122"/>
                <a:cs typeface="Consolas" panose="020B0609020204030204" pitchFamily="49" charset="0"/>
              </a:rPr>
              <a:t>. </a:t>
            </a:r>
          </a:p>
          <a:p>
            <a:pPr marL="0" indent="0" algn="l">
              <a:lnSpc>
                <a:spcPts val="1960"/>
              </a:lnSpc>
              <a:buNone/>
            </a:pPr>
            <a:r>
              <a:rPr lang="en-US" sz="1400" dirty="0">
                <a:solidFill>
                  <a:srgbClr val="3A322C"/>
                </a:solidFill>
                <a:latin typeface="Carlito" pitchFamily="34" charset="0"/>
                <a:ea typeface="Carlito" pitchFamily="34" charset="-122"/>
                <a:cs typeface="Carlito" pitchFamily="34" charset="-120"/>
              </a:rPr>
              <a:t>Assemble two or three yourself, then copy the rest:</a:t>
            </a:r>
            <a:endParaRPr lang="en-US" sz="1400" dirty="0"/>
          </a:p>
          <a:p>
            <a:pPr marL="0" indent="0" algn="l">
              <a:lnSpc>
                <a:spcPts val="1960"/>
              </a:lnSpc>
              <a:buNone/>
            </a:pPr>
            <a:r>
              <a:rPr lang="en-US" sz="1400" b="1" dirty="0">
                <a:solidFill>
                  <a:srgbClr val="273003"/>
                </a:solidFill>
                <a:latin typeface="Consolas" panose="020B0609020204030204" pitchFamily="49" charset="0"/>
                <a:ea typeface="Carlito" pitchFamily="34" charset="-122"/>
                <a:cs typeface="Consolas" panose="020B0609020204030204" pitchFamily="49" charset="0"/>
              </a:rPr>
              <a:t>cp -rn $SHARED/precomputed/02_assembly/shovill/* $RESULTS/02_assembly/shovill/</a:t>
            </a:r>
            <a:endParaRPr lang="en-US" sz="1400" dirty="0">
              <a:latin typeface="Consolas" panose="020B0609020204030204" pitchFamily="49" charset="0"/>
              <a:cs typeface="Consolas" panose="020B0609020204030204" pitchFamily="49" charset="0"/>
            </a:endParaRPr>
          </a:p>
        </p:txBody>
      </p:sp>
      <p:pic>
        <p:nvPicPr>
          <p:cNvPr id="9"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10" name="Text 7"/>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11" name="Text 8"/>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7300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9448800" y="609600"/>
            <a:ext cx="2743200" cy="5600700"/>
          </a:xfrm>
          <a:prstGeom prst="rect">
            <a:avLst/>
          </a:prstGeom>
        </p:spPr>
      </p:pic>
      <p:sp>
        <p:nvSpPr>
          <p:cNvPr id="3" name="Text 0"/>
          <p:cNvSpPr/>
          <p:nvPr/>
        </p:nvSpPr>
        <p:spPr>
          <a:xfrm>
            <a:off x="274320" y="2623840"/>
            <a:ext cx="3119120" cy="33020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C2CA6E"/>
                </a:solidFill>
                <a:latin typeface="Carlito" pitchFamily="34" charset="0"/>
                <a:ea typeface="Carlito" pitchFamily="34" charset="-122"/>
                <a:cs typeface="Carlito" pitchFamily="34" charset="-120"/>
              </a:rPr>
              <a:t>SESSION 2 · 11:00–12:30</a:t>
            </a:r>
            <a:endParaRPr lang="en-US" sz="1600" dirty="0"/>
          </a:p>
        </p:txBody>
      </p:sp>
      <p:sp>
        <p:nvSpPr>
          <p:cNvPr id="4" name="Text 1"/>
          <p:cNvSpPr>
            <a:spLocks noGrp="1"/>
          </p:cNvSpPr>
          <p:nvPr>
            <p:ph type="title"/>
          </p:nvPr>
        </p:nvSpPr>
        <p:spPr>
          <a:xfrm>
            <a:off x="203200" y="3107710"/>
            <a:ext cx="7437120" cy="66294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9F2EA"/>
                </a:solidFill>
                <a:latin typeface="Carlito" pitchFamily="34" charset="0"/>
                <a:ea typeface="Carlito" pitchFamily="34" charset="-122"/>
                <a:cs typeface="Carlito" pitchFamily="34" charset="-120"/>
              </a:rPr>
              <a:t>Assembly quality</a:t>
            </a:r>
            <a:endParaRPr lang="en-US" sz="4800" dirty="0"/>
          </a:p>
        </p:txBody>
      </p:sp>
      <p:sp>
        <p:nvSpPr>
          <p:cNvPr id="5" name="Text 2"/>
          <p:cNvSpPr/>
          <p:nvPr/>
        </p:nvSpPr>
        <p:spPr>
          <a:xfrm>
            <a:off x="203200" y="3924320"/>
            <a:ext cx="8280400" cy="39372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DDE2B0"/>
                </a:solidFill>
                <a:latin typeface="Carlito" pitchFamily="34" charset="0"/>
                <a:ea typeface="Carlito" pitchFamily="34" charset="-122"/>
                <a:cs typeface="Carlito" pitchFamily="34" charset="-120"/>
              </a:rPr>
              <a:t>QUAST, CheckM2 and Bandage: is this assembly good enough, and for what?</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8A"/>
                </a:solidFill>
                <a:latin typeface="Carlito" pitchFamily="34" charset="0"/>
                <a:ea typeface="Carlito" pitchFamily="34" charset="-122"/>
                <a:cs typeface="Carlito" pitchFamily="34" charset="-120"/>
              </a:rPr>
              <a:t>Module 2 · Genome assembly | Day 2</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08A"/>
                </a:solidFill>
                <a:latin typeface="Carlito" pitchFamily="34" charset="0"/>
                <a:ea typeface="Carlito" pitchFamily="34" charset="-122"/>
                <a:cs typeface="Carlit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What to look at in an assembly</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709390"/>
            <a:ext cx="2508250" cy="1425426"/>
          </a:xfrm>
          <a:prstGeom prst="roundRect">
            <a:avLst>
              <a:gd name="adj" fmla="val 3564"/>
            </a:avLst>
          </a:prstGeom>
          <a:solidFill>
            <a:srgbClr val="FFFFFF"/>
          </a:solidFill>
          <a:ln/>
        </p:spPr>
        <p:txBody>
          <a:bodyPr/>
          <a:lstStyle/>
          <a:p>
            <a:endParaRPr lang="en-KE"/>
          </a:p>
        </p:txBody>
      </p:sp>
      <p:sp>
        <p:nvSpPr>
          <p:cNvPr id="5" name="Shape 3"/>
          <p:cNvSpPr/>
          <p:nvPr/>
        </p:nvSpPr>
        <p:spPr>
          <a:xfrm>
            <a:off x="812800" y="1709390"/>
            <a:ext cx="2508250" cy="1425426"/>
          </a:xfrm>
          <a:custGeom>
            <a:avLst/>
            <a:gdLst/>
            <a:ahLst/>
            <a:cxnLst/>
            <a:rect l="l" t="t" r="r" b="b"/>
            <a:pathLst>
              <a:path w="2508250" h="1425426">
                <a:moveTo>
                  <a:pt x="0" y="50800"/>
                </a:moveTo>
                <a:lnTo>
                  <a:pt x="0" y="50800"/>
                </a:lnTo>
                <a:arcTo wR="50800" hR="50800" stAng="10800000" swAng="5400000"/>
                <a:lnTo>
                  <a:pt x="2457450" y="0"/>
                </a:lnTo>
                <a:arcTo wR="50800" hR="50800" stAng="16200000" swAng="5400000"/>
                <a:lnTo>
                  <a:pt x="2508250" y="50800"/>
                </a:lnTo>
                <a:lnTo>
                  <a:pt x="0" y="50800"/>
                </a:lnTo>
                <a:close/>
              </a:path>
            </a:pathLst>
          </a:custGeom>
          <a:solidFill>
            <a:srgbClr val="891F15"/>
          </a:solidFill>
          <a:ln/>
        </p:spPr>
        <p:txBody>
          <a:bodyPr/>
          <a:lstStyle/>
          <a:p>
            <a:endParaRPr lang="en-KE"/>
          </a:p>
        </p:txBody>
      </p:sp>
      <p:sp>
        <p:nvSpPr>
          <p:cNvPr id="6" name="Text 4"/>
          <p:cNvSpPr/>
          <p:nvPr/>
        </p:nvSpPr>
        <p:spPr>
          <a:xfrm>
            <a:off x="990600" y="1937990"/>
            <a:ext cx="221723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891F15"/>
                </a:solidFill>
                <a:latin typeface="Carlito" pitchFamily="34" charset="0"/>
                <a:ea typeface="Carlito" pitchFamily="34" charset="-122"/>
                <a:cs typeface="Carlito" pitchFamily="34" charset="-120"/>
              </a:rPr>
              <a:t>Contigs</a:t>
            </a:r>
            <a:endParaRPr lang="en-US" sz="1800" dirty="0"/>
          </a:p>
        </p:txBody>
      </p:sp>
      <p:sp>
        <p:nvSpPr>
          <p:cNvPr id="7" name="Text 5"/>
          <p:cNvSpPr/>
          <p:nvPr/>
        </p:nvSpPr>
        <p:spPr>
          <a:xfrm>
            <a:off x="990600" y="2288480"/>
            <a:ext cx="221723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Fewer is better. Short-read </a:t>
            </a:r>
            <a:r>
              <a:rPr lang="en-US" sz="1300" i="1" dirty="0">
                <a:solidFill>
                  <a:srgbClr val="3A322C"/>
                </a:solidFill>
                <a:latin typeface="Carlito" pitchFamily="34" charset="0"/>
                <a:ea typeface="Carlito" pitchFamily="34" charset="-122"/>
                <a:cs typeface="Carlito" pitchFamily="34" charset="-120"/>
              </a:rPr>
              <a:t>K. pneumoniae</a:t>
            </a:r>
            <a:r>
              <a:rPr lang="en-US" sz="1300" dirty="0">
                <a:solidFill>
                  <a:srgbClr val="3A322C"/>
                </a:solidFill>
                <a:latin typeface="Carlito" pitchFamily="34" charset="0"/>
                <a:ea typeface="Carlito" pitchFamily="34" charset="-122"/>
                <a:cs typeface="Carlito" pitchFamily="34" charset="-120"/>
              </a:rPr>
              <a:t>: typically 30–100.</a:t>
            </a:r>
            <a:endParaRPr lang="en-US" sz="1300" dirty="0"/>
          </a:p>
        </p:txBody>
      </p:sp>
      <p:sp>
        <p:nvSpPr>
          <p:cNvPr id="8" name="Shape 6"/>
          <p:cNvSpPr/>
          <p:nvPr/>
        </p:nvSpPr>
        <p:spPr>
          <a:xfrm>
            <a:off x="3498850" y="1709390"/>
            <a:ext cx="2508250" cy="1425426"/>
          </a:xfrm>
          <a:prstGeom prst="roundRect">
            <a:avLst>
              <a:gd name="adj" fmla="val 3564"/>
            </a:avLst>
          </a:prstGeom>
          <a:solidFill>
            <a:srgbClr val="FFFFFF"/>
          </a:solidFill>
          <a:ln/>
        </p:spPr>
        <p:txBody>
          <a:bodyPr/>
          <a:lstStyle/>
          <a:p>
            <a:endParaRPr lang="en-KE"/>
          </a:p>
        </p:txBody>
      </p:sp>
      <p:sp>
        <p:nvSpPr>
          <p:cNvPr id="9" name="Shape 7"/>
          <p:cNvSpPr/>
          <p:nvPr/>
        </p:nvSpPr>
        <p:spPr>
          <a:xfrm>
            <a:off x="3498850" y="1709390"/>
            <a:ext cx="2508250" cy="1425426"/>
          </a:xfrm>
          <a:custGeom>
            <a:avLst/>
            <a:gdLst/>
            <a:ahLst/>
            <a:cxnLst/>
            <a:rect l="l" t="t" r="r" b="b"/>
            <a:pathLst>
              <a:path w="2508250" h="1425426">
                <a:moveTo>
                  <a:pt x="0" y="50800"/>
                </a:moveTo>
                <a:lnTo>
                  <a:pt x="0" y="50800"/>
                </a:lnTo>
                <a:arcTo wR="50800" hR="50800" stAng="10800000" swAng="5400000"/>
                <a:lnTo>
                  <a:pt x="2457450" y="0"/>
                </a:lnTo>
                <a:arcTo wR="50800" hR="50800" stAng="16200000" swAng="5400000"/>
                <a:lnTo>
                  <a:pt x="2508250" y="50800"/>
                </a:lnTo>
                <a:lnTo>
                  <a:pt x="0" y="50800"/>
                </a:lnTo>
                <a:close/>
              </a:path>
            </a:pathLst>
          </a:custGeom>
          <a:solidFill>
            <a:srgbClr val="891F15"/>
          </a:solidFill>
          <a:ln/>
        </p:spPr>
        <p:txBody>
          <a:bodyPr/>
          <a:lstStyle/>
          <a:p>
            <a:endParaRPr lang="en-KE"/>
          </a:p>
        </p:txBody>
      </p:sp>
      <p:sp>
        <p:nvSpPr>
          <p:cNvPr id="10" name="Text 8"/>
          <p:cNvSpPr/>
          <p:nvPr/>
        </p:nvSpPr>
        <p:spPr>
          <a:xfrm>
            <a:off x="3676650" y="1937990"/>
            <a:ext cx="221723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891F15"/>
                </a:solidFill>
                <a:latin typeface="Carlito" pitchFamily="34" charset="0"/>
                <a:ea typeface="Carlito" pitchFamily="34" charset="-122"/>
                <a:cs typeface="Carlito" pitchFamily="34" charset="-120"/>
              </a:rPr>
              <a:t>Total length</a:t>
            </a:r>
            <a:endParaRPr lang="en-US" sz="1800" dirty="0"/>
          </a:p>
        </p:txBody>
      </p:sp>
      <p:sp>
        <p:nvSpPr>
          <p:cNvPr id="11" name="Text 9"/>
          <p:cNvSpPr/>
          <p:nvPr/>
        </p:nvSpPr>
        <p:spPr>
          <a:xfrm>
            <a:off x="3676650" y="2288480"/>
            <a:ext cx="2217230" cy="471091"/>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3A322C"/>
                </a:solidFill>
                <a:latin typeface="Carlito" pitchFamily="34" charset="0"/>
                <a:ea typeface="Carlito" pitchFamily="34" charset="-122"/>
                <a:cs typeface="Carlito" pitchFamily="34" charset="-120"/>
              </a:rPr>
              <a:t>K. pneumoniae</a:t>
            </a:r>
            <a:r>
              <a:rPr lang="en-US" sz="1300" dirty="0">
                <a:solidFill>
                  <a:srgbClr val="3A322C"/>
                </a:solidFill>
                <a:latin typeface="Carlito" pitchFamily="34" charset="0"/>
                <a:ea typeface="Carlito" pitchFamily="34" charset="-122"/>
                <a:cs typeface="Carlito" pitchFamily="34" charset="-120"/>
              </a:rPr>
              <a:t> 5.2–5.8 Mb; </a:t>
            </a:r>
            <a:r>
              <a:rPr lang="en-US" sz="1300" i="1" dirty="0">
                <a:solidFill>
                  <a:srgbClr val="3A322C"/>
                </a:solidFill>
                <a:latin typeface="Carlito" pitchFamily="34" charset="0"/>
                <a:ea typeface="Carlito" pitchFamily="34" charset="-122"/>
                <a:cs typeface="Carlito" pitchFamily="34" charset="-120"/>
              </a:rPr>
              <a:t>E. coli</a:t>
            </a:r>
            <a:r>
              <a:rPr lang="en-US" sz="1300" dirty="0">
                <a:solidFill>
                  <a:srgbClr val="3A322C"/>
                </a:solidFill>
                <a:latin typeface="Carlito" pitchFamily="34" charset="0"/>
                <a:ea typeface="Carlito" pitchFamily="34" charset="-122"/>
                <a:cs typeface="Carlito" pitchFamily="34" charset="-120"/>
              </a:rPr>
              <a:t> 4.6–5.5 Mb.</a:t>
            </a:r>
            <a:endParaRPr lang="en-US" sz="1300" dirty="0"/>
          </a:p>
        </p:txBody>
      </p:sp>
      <p:sp>
        <p:nvSpPr>
          <p:cNvPr id="12" name="Shape 10"/>
          <p:cNvSpPr/>
          <p:nvPr/>
        </p:nvSpPr>
        <p:spPr>
          <a:xfrm>
            <a:off x="6184900" y="1709390"/>
            <a:ext cx="2508250" cy="1425426"/>
          </a:xfrm>
          <a:prstGeom prst="roundRect">
            <a:avLst>
              <a:gd name="adj" fmla="val 3564"/>
            </a:avLst>
          </a:prstGeom>
          <a:solidFill>
            <a:srgbClr val="FFFFFF"/>
          </a:solidFill>
          <a:ln/>
        </p:spPr>
        <p:txBody>
          <a:bodyPr/>
          <a:lstStyle/>
          <a:p>
            <a:endParaRPr lang="en-KE"/>
          </a:p>
        </p:txBody>
      </p:sp>
      <p:sp>
        <p:nvSpPr>
          <p:cNvPr id="13" name="Shape 11"/>
          <p:cNvSpPr/>
          <p:nvPr/>
        </p:nvSpPr>
        <p:spPr>
          <a:xfrm>
            <a:off x="6184900" y="1709390"/>
            <a:ext cx="2508250" cy="1425426"/>
          </a:xfrm>
          <a:custGeom>
            <a:avLst/>
            <a:gdLst/>
            <a:ahLst/>
            <a:cxnLst/>
            <a:rect l="l" t="t" r="r" b="b"/>
            <a:pathLst>
              <a:path w="2508250" h="1425426">
                <a:moveTo>
                  <a:pt x="0" y="50800"/>
                </a:moveTo>
                <a:lnTo>
                  <a:pt x="0" y="50800"/>
                </a:lnTo>
                <a:arcTo wR="50800" hR="50800" stAng="10800000" swAng="5400000"/>
                <a:lnTo>
                  <a:pt x="2457450" y="0"/>
                </a:lnTo>
                <a:arcTo wR="50800" hR="50800" stAng="16200000" swAng="5400000"/>
                <a:lnTo>
                  <a:pt x="2508250" y="50800"/>
                </a:lnTo>
                <a:lnTo>
                  <a:pt x="0" y="50800"/>
                </a:lnTo>
                <a:close/>
              </a:path>
            </a:pathLst>
          </a:custGeom>
          <a:solidFill>
            <a:srgbClr val="891F15"/>
          </a:solidFill>
          <a:ln/>
        </p:spPr>
        <p:txBody>
          <a:bodyPr/>
          <a:lstStyle/>
          <a:p>
            <a:endParaRPr lang="en-KE"/>
          </a:p>
        </p:txBody>
      </p:sp>
      <p:sp>
        <p:nvSpPr>
          <p:cNvPr id="14" name="Text 12"/>
          <p:cNvSpPr/>
          <p:nvPr/>
        </p:nvSpPr>
        <p:spPr>
          <a:xfrm>
            <a:off x="6362700" y="1937990"/>
            <a:ext cx="221723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891F15"/>
                </a:solidFill>
                <a:latin typeface="Carlito" pitchFamily="34" charset="0"/>
                <a:ea typeface="Carlito" pitchFamily="34" charset="-122"/>
                <a:cs typeface="Carlito" pitchFamily="34" charset="-120"/>
              </a:rPr>
              <a:t>N50</a:t>
            </a:r>
            <a:endParaRPr lang="en-US" sz="1800" dirty="0"/>
          </a:p>
        </p:txBody>
      </p:sp>
      <p:sp>
        <p:nvSpPr>
          <p:cNvPr id="15" name="Text 13"/>
          <p:cNvSpPr/>
          <p:nvPr/>
        </p:nvSpPr>
        <p:spPr>
          <a:xfrm>
            <a:off x="6362700" y="2288480"/>
            <a:ext cx="2217230"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Half of the assembly is in contigs at least this long. Higher is better.</a:t>
            </a:r>
            <a:endParaRPr lang="en-US" sz="1300" dirty="0"/>
          </a:p>
        </p:txBody>
      </p:sp>
      <p:sp>
        <p:nvSpPr>
          <p:cNvPr id="16" name="Shape 14"/>
          <p:cNvSpPr/>
          <p:nvPr/>
        </p:nvSpPr>
        <p:spPr>
          <a:xfrm>
            <a:off x="8870950" y="1709390"/>
            <a:ext cx="2508250" cy="1425426"/>
          </a:xfrm>
          <a:prstGeom prst="roundRect">
            <a:avLst>
              <a:gd name="adj" fmla="val 3564"/>
            </a:avLst>
          </a:prstGeom>
          <a:solidFill>
            <a:srgbClr val="FFFFFF"/>
          </a:solidFill>
          <a:ln/>
        </p:spPr>
        <p:txBody>
          <a:bodyPr/>
          <a:lstStyle/>
          <a:p>
            <a:endParaRPr lang="en-KE"/>
          </a:p>
        </p:txBody>
      </p:sp>
      <p:sp>
        <p:nvSpPr>
          <p:cNvPr id="17" name="Shape 15"/>
          <p:cNvSpPr/>
          <p:nvPr/>
        </p:nvSpPr>
        <p:spPr>
          <a:xfrm>
            <a:off x="8870950" y="1709390"/>
            <a:ext cx="2508250" cy="1425426"/>
          </a:xfrm>
          <a:custGeom>
            <a:avLst/>
            <a:gdLst/>
            <a:ahLst/>
            <a:cxnLst/>
            <a:rect l="l" t="t" r="r" b="b"/>
            <a:pathLst>
              <a:path w="2508250" h="1425426">
                <a:moveTo>
                  <a:pt x="0" y="50800"/>
                </a:moveTo>
                <a:lnTo>
                  <a:pt x="0" y="50800"/>
                </a:lnTo>
                <a:arcTo wR="50800" hR="50800" stAng="10800000" swAng="5400000"/>
                <a:lnTo>
                  <a:pt x="2457450" y="0"/>
                </a:lnTo>
                <a:arcTo wR="50800" hR="50800" stAng="16200000" swAng="5400000"/>
                <a:lnTo>
                  <a:pt x="2508250" y="50800"/>
                </a:lnTo>
                <a:lnTo>
                  <a:pt x="0" y="50800"/>
                </a:lnTo>
                <a:close/>
              </a:path>
            </a:pathLst>
          </a:custGeom>
          <a:solidFill>
            <a:srgbClr val="891F15"/>
          </a:solidFill>
          <a:ln/>
        </p:spPr>
        <p:txBody>
          <a:bodyPr/>
          <a:lstStyle/>
          <a:p>
            <a:endParaRPr lang="en-KE"/>
          </a:p>
        </p:txBody>
      </p:sp>
      <p:sp>
        <p:nvSpPr>
          <p:cNvPr id="18" name="Text 16"/>
          <p:cNvSpPr/>
          <p:nvPr/>
        </p:nvSpPr>
        <p:spPr>
          <a:xfrm>
            <a:off x="9048750" y="1937990"/>
            <a:ext cx="221723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891F15"/>
                </a:solidFill>
                <a:latin typeface="Carlito" pitchFamily="34" charset="0"/>
                <a:ea typeface="Carlito" pitchFamily="34" charset="-122"/>
                <a:cs typeface="Carlito" pitchFamily="34" charset="-120"/>
              </a:rPr>
              <a:t>GC content</a:t>
            </a:r>
            <a:endParaRPr lang="en-US" sz="1800" dirty="0"/>
          </a:p>
        </p:txBody>
      </p:sp>
      <p:sp>
        <p:nvSpPr>
          <p:cNvPr id="19" name="Text 17"/>
          <p:cNvSpPr/>
          <p:nvPr/>
        </p:nvSpPr>
        <p:spPr>
          <a:xfrm>
            <a:off x="9048750" y="2288480"/>
            <a:ext cx="2217230" cy="471091"/>
          </a:xfrm>
          <a:prstGeom prst="rect">
            <a:avLst/>
          </a:prstGeom>
          <a:noFill/>
          <a:ln/>
        </p:spPr>
        <p:txBody>
          <a:bodyPr wrap="square" lIns="0" tIns="0" rIns="0" bIns="0" rtlCol="0" anchor="t">
            <a:normAutofit/>
          </a:bodyPr>
          <a:lstStyle/>
          <a:p>
            <a:pPr marL="0" indent="0" algn="l">
              <a:lnSpc>
                <a:spcPts val="1755"/>
              </a:lnSpc>
              <a:buNone/>
            </a:pPr>
            <a:r>
              <a:rPr lang="en-US" sz="1300" i="1" dirty="0">
                <a:solidFill>
                  <a:srgbClr val="3A322C"/>
                </a:solidFill>
                <a:latin typeface="Carlito" pitchFamily="34" charset="0"/>
                <a:ea typeface="Carlito" pitchFamily="34" charset="-122"/>
                <a:cs typeface="Carlito" pitchFamily="34" charset="-120"/>
              </a:rPr>
              <a:t>K. pneumoniae</a:t>
            </a:r>
            <a:r>
              <a:rPr lang="en-US" sz="1300" dirty="0">
                <a:solidFill>
                  <a:srgbClr val="3A322C"/>
                </a:solidFill>
                <a:latin typeface="Carlito" pitchFamily="34" charset="0"/>
                <a:ea typeface="Carlito" pitchFamily="34" charset="-122"/>
                <a:cs typeface="Carlito" pitchFamily="34" charset="-120"/>
              </a:rPr>
              <a:t> about 57%; </a:t>
            </a:r>
            <a:r>
              <a:rPr lang="en-US" sz="1300" i="1" dirty="0">
                <a:solidFill>
                  <a:srgbClr val="3A322C"/>
                </a:solidFill>
                <a:latin typeface="Carlito" pitchFamily="34" charset="0"/>
                <a:ea typeface="Carlito" pitchFamily="34" charset="-122"/>
                <a:cs typeface="Carlito" pitchFamily="34" charset="-120"/>
              </a:rPr>
              <a:t>E. coli</a:t>
            </a:r>
            <a:r>
              <a:rPr lang="en-US" sz="1300" dirty="0">
                <a:solidFill>
                  <a:srgbClr val="3A322C"/>
                </a:solidFill>
                <a:latin typeface="Carlito" pitchFamily="34" charset="0"/>
                <a:ea typeface="Carlito" pitchFamily="34" charset="-122"/>
                <a:cs typeface="Carlito" pitchFamily="34" charset="-120"/>
              </a:rPr>
              <a:t> about 51%.</a:t>
            </a:r>
            <a:endParaRPr lang="en-US" sz="1300" dirty="0"/>
          </a:p>
        </p:txBody>
      </p:sp>
      <p:sp>
        <p:nvSpPr>
          <p:cNvPr id="20" name="Shape 18"/>
          <p:cNvSpPr/>
          <p:nvPr/>
        </p:nvSpPr>
        <p:spPr>
          <a:xfrm>
            <a:off x="812800" y="3388816"/>
            <a:ext cx="10566400" cy="990600"/>
          </a:xfrm>
          <a:prstGeom prst="roundRect">
            <a:avLst>
              <a:gd name="adj" fmla="val 7692"/>
            </a:avLst>
          </a:prstGeom>
          <a:solidFill>
            <a:srgbClr val="273003"/>
          </a:solidFill>
          <a:ln/>
        </p:spPr>
        <p:txBody>
          <a:bodyPr/>
          <a:lstStyle/>
          <a:p>
            <a:endParaRPr lang="en-KE"/>
          </a:p>
        </p:txBody>
      </p:sp>
      <p:sp>
        <p:nvSpPr>
          <p:cNvPr id="21" name="Text 19"/>
          <p:cNvSpPr/>
          <p:nvPr/>
        </p:nvSpPr>
        <p:spPr>
          <a:xfrm>
            <a:off x="1092200" y="3645396"/>
            <a:ext cx="76309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CA6E"/>
                </a:solidFill>
                <a:latin typeface="Carlito" pitchFamily="34" charset="0"/>
                <a:ea typeface="Carlito" pitchFamily="34" charset="-122"/>
                <a:cs typeface="Carlito" pitchFamily="34" charset="-120"/>
              </a:rPr>
              <a:t>QUAST</a:t>
            </a:r>
            <a:endParaRPr lang="en-US" sz="1200" dirty="0"/>
          </a:p>
        </p:txBody>
      </p:sp>
      <p:sp>
        <p:nvSpPr>
          <p:cNvPr id="22" name="Text 20"/>
          <p:cNvSpPr/>
          <p:nvPr/>
        </p:nvSpPr>
        <p:spPr>
          <a:xfrm>
            <a:off x="1092200" y="3909516"/>
            <a:ext cx="85475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E00"/>
                </a:solidFill>
                <a:latin typeface="Carlito" pitchFamily="34" charset="0"/>
                <a:ea typeface="Carlito" pitchFamily="34" charset="-122"/>
                <a:cs typeface="Carlito" pitchFamily="34" charset="-120"/>
              </a:rPr>
              <a:t>CHECKM2</a:t>
            </a:r>
            <a:endParaRPr lang="en-US" sz="1200" dirty="0"/>
          </a:p>
        </p:txBody>
      </p:sp>
      <p:sp>
        <p:nvSpPr>
          <p:cNvPr id="23" name="Text 21"/>
          <p:cNvSpPr/>
          <p:nvPr/>
        </p:nvSpPr>
        <p:spPr>
          <a:xfrm>
            <a:off x="2058491" y="3617416"/>
            <a:ext cx="9312548"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9F2EA"/>
                </a:solidFill>
                <a:latin typeface="Carlito" pitchFamily="34" charset="0"/>
                <a:ea typeface="Carlito" pitchFamily="34" charset="-122"/>
                <a:cs typeface="Carlito" pitchFamily="34" charset="-120"/>
              </a:rPr>
              <a:t>QUAST reports the four numbers above for each assembly. CheckM2 estimates </a:t>
            </a:r>
            <a:r>
              <a:rPr lang="en-US" sz="1500" b="1" dirty="0">
                <a:solidFill>
                  <a:srgbClr val="F9F2EA"/>
                </a:solidFill>
                <a:latin typeface="Carlito" pitchFamily="34" charset="0"/>
                <a:ea typeface="Carlito" pitchFamily="34" charset="-122"/>
                <a:cs typeface="Carlito" pitchFamily="34" charset="-120"/>
              </a:rPr>
              <a:t>completeness</a:t>
            </a:r>
            <a:r>
              <a:rPr lang="en-US" sz="1500" dirty="0">
                <a:solidFill>
                  <a:srgbClr val="F9F2EA"/>
                </a:solidFill>
                <a:latin typeface="Carlito" pitchFamily="34" charset="0"/>
                <a:ea typeface="Carlito" pitchFamily="34" charset="-122"/>
                <a:cs typeface="Carlito" pitchFamily="34" charset="-120"/>
              </a:rPr>
              <a:t> (how much of the expected gene content is there) and </a:t>
            </a:r>
            <a:r>
              <a:rPr lang="en-US" sz="1500" b="1" dirty="0">
                <a:solidFill>
                  <a:srgbClr val="F9F2EA"/>
                </a:solidFill>
                <a:latin typeface="Carlito" pitchFamily="34" charset="0"/>
                <a:ea typeface="Carlito" pitchFamily="34" charset="-122"/>
                <a:cs typeface="Carlito" pitchFamily="34" charset="-120"/>
              </a:rPr>
              <a:t>contamination</a:t>
            </a:r>
            <a:r>
              <a:rPr lang="en-US" sz="1500" dirty="0">
                <a:solidFill>
                  <a:srgbClr val="F9F2EA"/>
                </a:solidFill>
                <a:latin typeface="Carlito" pitchFamily="34" charset="0"/>
                <a:ea typeface="Carlito" pitchFamily="34" charset="-122"/>
                <a:cs typeface="Carlito" pitchFamily="34" charset="-120"/>
              </a:rPr>
              <a:t> (genes from more than one genome).</a:t>
            </a:r>
            <a:endParaRPr lang="en-US" sz="1500" dirty="0"/>
          </a:p>
        </p:txBody>
      </p:sp>
      <p:pic>
        <p:nvPicPr>
          <p:cNvPr id="24"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25" name="Text 22"/>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26" name="Text 23"/>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QC standards for </a:t>
            </a:r>
            <a:r>
              <a:rPr lang="en-US" sz="3600" b="1" i="1" dirty="0">
                <a:solidFill>
                  <a:srgbClr val="6D2637"/>
                </a:solidFill>
                <a:latin typeface="Carlito" pitchFamily="34" charset="0"/>
                <a:ea typeface="Carlito" pitchFamily="34" charset="-122"/>
                <a:cs typeface="Carlito" pitchFamily="34" charset="-120"/>
              </a:rPr>
              <a:t>K. pneumoniae</a:t>
            </a:r>
            <a:r>
              <a:rPr lang="en-US" sz="3600" b="1" i="0" dirty="0">
                <a:solidFill>
                  <a:srgbClr val="6D2637"/>
                </a:solidFill>
                <a:latin typeface="Carlito" pitchFamily="34" charset="0"/>
                <a:ea typeface="Carlito" pitchFamily="34" charset="-122"/>
                <a:cs typeface="Carlito" pitchFamily="34" charset="-120"/>
              </a:rPr>
              <a:t> genome assemblies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709390"/>
            <a:ext cx="6604000" cy="3067050"/>
          </a:xfrm>
          <a:prstGeom prst="roundRect">
            <a:avLst>
              <a:gd name="adj" fmla="val 2484"/>
            </a:avLst>
          </a:prstGeom>
          <a:solidFill>
            <a:srgbClr val="FFFFFF"/>
          </a:solidFill>
          <a:ln/>
        </p:spPr>
        <p:txBody>
          <a:bodyPr/>
          <a:lstStyle/>
          <a:p>
            <a:endParaRPr lang="en-KE"/>
          </a:p>
        </p:txBody>
      </p:sp>
      <p:pic>
        <p:nvPicPr>
          <p:cNvPr id="5" name="Image 0" descr="Institut Pasteur BIGSdb page: quality criteria for accepting Klebsiella whole genome sequencing data, with genome size, number of contigs, GC and coverage limits per species"/>
          <p:cNvPicPr>
            <a:picLocks noChangeAspect="1"/>
          </p:cNvPicPr>
          <p:nvPr/>
        </p:nvPicPr>
        <p:blipFill>
          <a:blip r:embed="rId3"/>
          <a:srcRect t="-38" b="-38"/>
          <a:stretch/>
        </p:blipFill>
        <p:spPr>
          <a:xfrm>
            <a:off x="812800" y="1709390"/>
            <a:ext cx="6604000" cy="3067050"/>
          </a:xfrm>
          <a:prstGeom prst="roundRect">
            <a:avLst>
              <a:gd name="adj" fmla="val 2484"/>
            </a:avLst>
          </a:prstGeom>
        </p:spPr>
      </p:pic>
      <p:sp>
        <p:nvSpPr>
          <p:cNvPr id="6" name="Text 3"/>
          <p:cNvSpPr/>
          <p:nvPr/>
        </p:nvSpPr>
        <p:spPr>
          <a:xfrm>
            <a:off x="812800" y="4852640"/>
            <a:ext cx="68021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Institut Pasteur, </a:t>
            </a:r>
            <a:r>
              <a:rPr lang="en-US" sz="1200" i="1" dirty="0">
                <a:solidFill>
                  <a:srgbClr val="6B6460"/>
                </a:solidFill>
                <a:latin typeface="Carlito" pitchFamily="34" charset="0"/>
                <a:ea typeface="Carlito" pitchFamily="34" charset="-122"/>
                <a:cs typeface="Carlito" pitchFamily="34" charset="-120"/>
              </a:rPr>
              <a:t>Klebsiella</a:t>
            </a:r>
            <a:r>
              <a:rPr lang="en-US" sz="1200" dirty="0">
                <a:solidFill>
                  <a:srgbClr val="6B6460"/>
                </a:solidFill>
                <a:latin typeface="Carlito" pitchFamily="34" charset="0"/>
                <a:ea typeface="Carlito" pitchFamily="34" charset="-122"/>
                <a:cs typeface="Carlito" pitchFamily="34" charset="-120"/>
              </a:rPr>
              <a:t> BIGSdb · </a:t>
            </a:r>
            <a:r>
              <a:rPr lang="en-US" sz="1200" u="sng" dirty="0">
                <a:solidFill>
                  <a:srgbClr val="6B6460"/>
                </a:solidFill>
                <a:latin typeface="Carlito" pitchFamily="34" charset="0"/>
                <a:ea typeface="Carlito" pitchFamily="34" charset="-122"/>
                <a:cs typeface="Carlito" pitchFamily="34" charset="-120"/>
                <a:hlinkClick r:id="rId4">
                  <a:extLst>
                    <a:ext uri="{A12FA001-AC4F-418D-AE19-62706E023703}">
                      <ahyp:hlinkClr xmlns:ahyp="http://schemas.microsoft.com/office/drawing/2018/hyperlinkcolor" val="tx"/>
                    </a:ext>
                  </a:extLst>
                </a:hlinkClick>
              </a:rPr>
              <a:t>github.com/klebgenomics/Klebsiella-genome-metadata</a:t>
            </a:r>
            <a:endParaRPr lang="en-US" sz="1200" dirty="0"/>
          </a:p>
        </p:txBody>
      </p:sp>
      <p:sp>
        <p:nvSpPr>
          <p:cNvPr id="7" name="Text 4"/>
          <p:cNvSpPr/>
          <p:nvPr/>
        </p:nvSpPr>
        <p:spPr>
          <a:xfrm>
            <a:off x="7721600" y="2453630"/>
            <a:ext cx="376732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73003"/>
                </a:solidFill>
                <a:latin typeface="Carlito" pitchFamily="34" charset="0"/>
                <a:ea typeface="Carlito" pitchFamily="34" charset="-122"/>
                <a:cs typeface="Carlito" pitchFamily="34" charset="-120"/>
              </a:rPr>
              <a:t>To be accepted, an assembly needs</a:t>
            </a:r>
            <a:endParaRPr lang="en-US" sz="1400" dirty="0"/>
          </a:p>
        </p:txBody>
      </p:sp>
      <p:sp>
        <p:nvSpPr>
          <p:cNvPr id="8" name="Shape 5"/>
          <p:cNvSpPr/>
          <p:nvPr/>
        </p:nvSpPr>
        <p:spPr>
          <a:xfrm>
            <a:off x="7721600" y="3524200"/>
            <a:ext cx="3657600" cy="0"/>
          </a:xfrm>
          <a:prstGeom prst="line">
            <a:avLst/>
          </a:prstGeom>
          <a:noFill/>
          <a:ln w="12700">
            <a:solidFill>
              <a:srgbClr val="D9CDBF"/>
            </a:solidFill>
            <a:prstDash val="solid"/>
          </a:ln>
        </p:spPr>
        <p:txBody>
          <a:bodyPr/>
          <a:lstStyle/>
          <a:p>
            <a:endParaRPr lang="en-KE"/>
          </a:p>
        </p:txBody>
      </p:sp>
      <p:sp>
        <p:nvSpPr>
          <p:cNvPr id="9" name="Text 6"/>
          <p:cNvSpPr/>
          <p:nvPr/>
        </p:nvSpPr>
        <p:spPr>
          <a:xfrm>
            <a:off x="7721600" y="2829520"/>
            <a:ext cx="3767328"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891F15"/>
                </a:solidFill>
                <a:latin typeface="Carlito" pitchFamily="34" charset="0"/>
                <a:ea typeface="Carlito" pitchFamily="34" charset="-122"/>
                <a:cs typeface="Carlito" pitchFamily="34" charset="-120"/>
              </a:rPr>
              <a:t>≤ 500 contigs</a:t>
            </a:r>
            <a:endParaRPr lang="en-US" sz="2000" dirty="0"/>
          </a:p>
        </p:txBody>
      </p:sp>
      <p:sp>
        <p:nvSpPr>
          <p:cNvPr id="10" name="Text 7"/>
          <p:cNvSpPr/>
          <p:nvPr/>
        </p:nvSpPr>
        <p:spPr>
          <a:xfrm>
            <a:off x="7721600" y="3210520"/>
            <a:ext cx="3767328"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322C"/>
                </a:solidFill>
                <a:latin typeface="Carlito" pitchFamily="34" charset="0"/>
                <a:ea typeface="Carlito" pitchFamily="34" charset="-122"/>
                <a:cs typeface="Carlito" pitchFamily="34" charset="-120"/>
              </a:rPr>
              <a:t>and N50 of 20 kb or more</a:t>
            </a:r>
            <a:endParaRPr lang="en-US" sz="1300" dirty="0"/>
          </a:p>
        </p:txBody>
      </p:sp>
      <p:sp>
        <p:nvSpPr>
          <p:cNvPr id="11" name="Shape 8"/>
          <p:cNvSpPr/>
          <p:nvPr/>
        </p:nvSpPr>
        <p:spPr>
          <a:xfrm>
            <a:off x="7721600" y="4352230"/>
            <a:ext cx="3657600" cy="0"/>
          </a:xfrm>
          <a:prstGeom prst="line">
            <a:avLst/>
          </a:prstGeom>
          <a:noFill/>
          <a:ln w="12700">
            <a:solidFill>
              <a:srgbClr val="D9CDBF"/>
            </a:solidFill>
            <a:prstDash val="solid"/>
          </a:ln>
        </p:spPr>
        <p:txBody>
          <a:bodyPr/>
          <a:lstStyle/>
          <a:p>
            <a:endParaRPr lang="en-KE"/>
          </a:p>
        </p:txBody>
      </p:sp>
      <p:sp>
        <p:nvSpPr>
          <p:cNvPr id="12" name="Text 9"/>
          <p:cNvSpPr/>
          <p:nvPr/>
        </p:nvSpPr>
        <p:spPr>
          <a:xfrm>
            <a:off x="7721600" y="3657550"/>
            <a:ext cx="3767328"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891F15"/>
                </a:solidFill>
                <a:latin typeface="Carlito" pitchFamily="34" charset="0"/>
                <a:ea typeface="Carlito" pitchFamily="34" charset="-122"/>
                <a:cs typeface="Carlito" pitchFamily="34" charset="-120"/>
              </a:rPr>
              <a:t>4.7–6.3 Mb</a:t>
            </a:r>
            <a:endParaRPr lang="en-US" sz="2000" dirty="0"/>
          </a:p>
        </p:txBody>
      </p:sp>
      <p:sp>
        <p:nvSpPr>
          <p:cNvPr id="13" name="Text 10"/>
          <p:cNvSpPr/>
          <p:nvPr/>
        </p:nvSpPr>
        <p:spPr>
          <a:xfrm>
            <a:off x="7721600" y="4038550"/>
            <a:ext cx="3767328" cy="256530"/>
          </a:xfrm>
          <a:prstGeom prst="rect">
            <a:avLst/>
          </a:prstGeom>
          <a:noFill/>
          <a:ln/>
        </p:spPr>
        <p:txBody>
          <a:bodyPr wrap="square" lIns="0" tIns="0" rIns="0" bIns="0" rtlCol="0" anchor="t">
            <a:normAutofit/>
          </a:bodyPr>
          <a:lstStyle/>
          <a:p>
            <a:pPr marL="0" indent="0" algn="l">
              <a:lnSpc>
                <a:spcPts val="1820"/>
              </a:lnSpc>
              <a:buNone/>
            </a:pPr>
            <a:r>
              <a:rPr lang="en-US" sz="1300" i="1" dirty="0">
                <a:solidFill>
                  <a:srgbClr val="3A322C"/>
                </a:solidFill>
                <a:latin typeface="Carlito" pitchFamily="34" charset="0"/>
                <a:ea typeface="Carlito" pitchFamily="34" charset="-122"/>
                <a:cs typeface="Carlito" pitchFamily="34" charset="-120"/>
              </a:rPr>
              <a:t>K. pneumoniae</a:t>
            </a:r>
            <a:r>
              <a:rPr lang="en-US" sz="1300" dirty="0">
                <a:solidFill>
                  <a:srgbClr val="3A322C"/>
                </a:solidFill>
                <a:latin typeface="Carlito" pitchFamily="34" charset="0"/>
                <a:ea typeface="Carlito" pitchFamily="34" charset="-122"/>
                <a:cs typeface="Carlito" pitchFamily="34" charset="-120"/>
              </a:rPr>
              <a:t> genome size</a:t>
            </a:r>
            <a:endParaRPr lang="en-US" sz="1300" dirty="0"/>
          </a:p>
        </p:txBody>
      </p:sp>
      <p:sp>
        <p:nvSpPr>
          <p:cNvPr id="14" name="Text 11"/>
          <p:cNvSpPr/>
          <p:nvPr/>
        </p:nvSpPr>
        <p:spPr>
          <a:xfrm>
            <a:off x="7721600" y="4485580"/>
            <a:ext cx="3767328"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891F15"/>
                </a:solidFill>
                <a:latin typeface="Carlito" pitchFamily="34" charset="0"/>
                <a:ea typeface="Carlito" pitchFamily="34" charset="-122"/>
                <a:cs typeface="Carlito" pitchFamily="34" charset="-120"/>
              </a:rPr>
              <a:t>≥ 40× coverage</a:t>
            </a:r>
            <a:endParaRPr lang="en-US" sz="2000" dirty="0"/>
          </a:p>
        </p:txBody>
      </p:sp>
      <p:sp>
        <p:nvSpPr>
          <p:cNvPr id="15" name="Text 12"/>
          <p:cNvSpPr/>
          <p:nvPr/>
        </p:nvSpPr>
        <p:spPr>
          <a:xfrm>
            <a:off x="7721600" y="4866580"/>
            <a:ext cx="3767328"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A322C"/>
                </a:solidFill>
                <a:latin typeface="Carlito" pitchFamily="34" charset="0"/>
                <a:ea typeface="Carlito" pitchFamily="34" charset="-122"/>
                <a:cs typeface="Carlito" pitchFamily="34" charset="-120"/>
              </a:rPr>
              <a:t>from a pure culture</a:t>
            </a:r>
            <a:endParaRPr lang="en-US" sz="1300" dirty="0"/>
          </a:p>
        </p:txBody>
      </p:sp>
      <p:pic>
        <p:nvPicPr>
          <p:cNvPr id="16" name="Image 1" descr="ILRI and CGIAR logos"/>
          <p:cNvPicPr>
            <a:picLocks noChangeAspect="1"/>
          </p:cNvPicPr>
          <p:nvPr/>
        </p:nvPicPr>
        <p:blipFill>
          <a:blip r:embed="rId5"/>
          <a:srcRect l="-56" r="-56"/>
          <a:stretch/>
        </p:blipFill>
        <p:spPr>
          <a:xfrm>
            <a:off x="10033000" y="254000"/>
            <a:ext cx="1346200" cy="381000"/>
          </a:xfrm>
          <a:prstGeom prst="rect">
            <a:avLst/>
          </a:prstGeom>
        </p:spPr>
      </p:pic>
      <p:sp>
        <p:nvSpPr>
          <p:cNvPr id="17" name="Text 1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18" name="Text 1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Red flags in a short-read assembly</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709390"/>
            <a:ext cx="3403600" cy="914400"/>
          </a:xfrm>
          <a:prstGeom prst="roundRect">
            <a:avLst>
              <a:gd name="adj" fmla="val 8333"/>
            </a:avLst>
          </a:prstGeom>
          <a:solidFill>
            <a:srgbClr val="891F15"/>
          </a:solidFill>
          <a:ln/>
        </p:spPr>
        <p:txBody>
          <a:bodyPr/>
          <a:lstStyle/>
          <a:p>
            <a:endParaRPr lang="en-KE"/>
          </a:p>
        </p:txBody>
      </p:sp>
      <p:pic>
        <p:nvPicPr>
          <p:cNvPr id="5" name="Image 0" descr="Warning"/>
          <p:cNvPicPr>
            <a:picLocks noChangeAspect="1"/>
          </p:cNvPicPr>
          <p:nvPr/>
        </p:nvPicPr>
        <p:blipFill>
          <a:blip r:embed="rId3"/>
          <a:srcRect/>
          <a:stretch/>
        </p:blipFill>
        <p:spPr>
          <a:xfrm>
            <a:off x="1016000" y="1988790"/>
            <a:ext cx="355600" cy="355600"/>
          </a:xfrm>
          <a:prstGeom prst="rect">
            <a:avLst/>
          </a:prstGeom>
        </p:spPr>
      </p:pic>
      <p:sp>
        <p:nvSpPr>
          <p:cNvPr id="6" name="Text 3"/>
          <p:cNvSpPr/>
          <p:nvPr/>
        </p:nvSpPr>
        <p:spPr>
          <a:xfrm>
            <a:off x="1498600" y="2039590"/>
            <a:ext cx="2015847"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9F2EA"/>
                </a:solidFill>
                <a:latin typeface="Carlito" pitchFamily="34" charset="0"/>
                <a:ea typeface="Carlito" pitchFamily="34" charset="-122"/>
                <a:cs typeface="Carlito" pitchFamily="34" charset="-120"/>
              </a:rPr>
              <a:t>Hundreds of contigs</a:t>
            </a:r>
            <a:endParaRPr lang="en-US" sz="1600" dirty="0"/>
          </a:p>
        </p:txBody>
      </p:sp>
      <p:sp>
        <p:nvSpPr>
          <p:cNvPr id="7" name="Shape 4"/>
          <p:cNvSpPr/>
          <p:nvPr/>
        </p:nvSpPr>
        <p:spPr>
          <a:xfrm>
            <a:off x="4394200" y="1709390"/>
            <a:ext cx="3403600" cy="914400"/>
          </a:xfrm>
          <a:prstGeom prst="roundRect">
            <a:avLst>
              <a:gd name="adj" fmla="val 8333"/>
            </a:avLst>
          </a:prstGeom>
          <a:solidFill>
            <a:srgbClr val="891F15"/>
          </a:solidFill>
          <a:ln/>
        </p:spPr>
        <p:txBody>
          <a:bodyPr/>
          <a:lstStyle/>
          <a:p>
            <a:endParaRPr lang="en-KE"/>
          </a:p>
        </p:txBody>
      </p:sp>
      <p:pic>
        <p:nvPicPr>
          <p:cNvPr id="8" name="Image 1" descr="Warning"/>
          <p:cNvPicPr>
            <a:picLocks noChangeAspect="1"/>
          </p:cNvPicPr>
          <p:nvPr/>
        </p:nvPicPr>
        <p:blipFill>
          <a:blip r:embed="rId4"/>
          <a:srcRect t="-36" b="-36"/>
          <a:stretch/>
        </p:blipFill>
        <p:spPr>
          <a:xfrm>
            <a:off x="4597400" y="1988790"/>
            <a:ext cx="272852" cy="355600"/>
          </a:xfrm>
          <a:prstGeom prst="rect">
            <a:avLst/>
          </a:prstGeom>
        </p:spPr>
      </p:pic>
      <p:sp>
        <p:nvSpPr>
          <p:cNvPr id="9" name="Text 5"/>
          <p:cNvSpPr/>
          <p:nvPr/>
        </p:nvSpPr>
        <p:spPr>
          <a:xfrm>
            <a:off x="4997252" y="1912590"/>
            <a:ext cx="2675269"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9F2EA"/>
                </a:solidFill>
                <a:latin typeface="Carlito" pitchFamily="34" charset="0"/>
                <a:ea typeface="Carlito" pitchFamily="34" charset="-122"/>
                <a:cs typeface="Carlito" pitchFamily="34" charset="-120"/>
              </a:rPr>
              <a:t>Total size far outside the expected range</a:t>
            </a:r>
            <a:endParaRPr lang="en-US" sz="1600" dirty="0"/>
          </a:p>
        </p:txBody>
      </p:sp>
      <p:sp>
        <p:nvSpPr>
          <p:cNvPr id="10" name="Shape 6"/>
          <p:cNvSpPr/>
          <p:nvPr/>
        </p:nvSpPr>
        <p:spPr>
          <a:xfrm>
            <a:off x="7975600" y="1709390"/>
            <a:ext cx="3403600" cy="914400"/>
          </a:xfrm>
          <a:prstGeom prst="roundRect">
            <a:avLst>
              <a:gd name="adj" fmla="val 8333"/>
            </a:avLst>
          </a:prstGeom>
          <a:solidFill>
            <a:srgbClr val="891F15"/>
          </a:solidFill>
          <a:ln/>
        </p:spPr>
        <p:txBody>
          <a:bodyPr/>
          <a:lstStyle/>
          <a:p>
            <a:endParaRPr lang="en-KE"/>
          </a:p>
        </p:txBody>
      </p:sp>
      <p:pic>
        <p:nvPicPr>
          <p:cNvPr id="11" name="Image 2" descr="Warning"/>
          <p:cNvPicPr>
            <a:picLocks noChangeAspect="1"/>
          </p:cNvPicPr>
          <p:nvPr/>
        </p:nvPicPr>
        <p:blipFill>
          <a:blip r:embed="rId5"/>
          <a:srcRect l="-151" r="-151"/>
          <a:stretch/>
        </p:blipFill>
        <p:spPr>
          <a:xfrm>
            <a:off x="8178800" y="1988790"/>
            <a:ext cx="312093" cy="355600"/>
          </a:xfrm>
          <a:prstGeom prst="rect">
            <a:avLst/>
          </a:prstGeom>
        </p:spPr>
      </p:pic>
      <p:sp>
        <p:nvSpPr>
          <p:cNvPr id="12" name="Text 7"/>
          <p:cNvSpPr/>
          <p:nvPr/>
        </p:nvSpPr>
        <p:spPr>
          <a:xfrm>
            <a:off x="8617893" y="1912590"/>
            <a:ext cx="2634851"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F9F2EA"/>
                </a:solidFill>
                <a:latin typeface="Carlito" pitchFamily="34" charset="0"/>
                <a:ea typeface="Carlito" pitchFamily="34" charset="-122"/>
                <a:cs typeface="Carlito" pitchFamily="34" charset="-120"/>
              </a:rPr>
              <a:t>CheckM2 contamination above 5%</a:t>
            </a:r>
            <a:endParaRPr lang="en-US" sz="1600" dirty="0"/>
          </a:p>
        </p:txBody>
      </p:sp>
      <p:sp>
        <p:nvSpPr>
          <p:cNvPr id="13" name="Text 8"/>
          <p:cNvSpPr/>
          <p:nvPr/>
        </p:nvSpPr>
        <p:spPr>
          <a:xfrm>
            <a:off x="812800" y="2877790"/>
            <a:ext cx="10883392"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3A322C"/>
                </a:solidFill>
                <a:latin typeface="Carlito" pitchFamily="34" charset="0"/>
                <a:ea typeface="Carlito" pitchFamily="34" charset="-122"/>
                <a:cs typeface="Carlito" pitchFamily="34" charset="-120"/>
              </a:rPr>
              <a:t>Any one of these makes SNP calling and gene detection unreliable. Two isolates in the training set:</a:t>
            </a:r>
            <a:endParaRPr lang="en-US" sz="1500" dirty="0"/>
          </a:p>
        </p:txBody>
      </p:sp>
      <p:sp>
        <p:nvSpPr>
          <p:cNvPr id="14" name="Shape 9"/>
          <p:cNvSpPr/>
          <p:nvPr/>
        </p:nvSpPr>
        <p:spPr>
          <a:xfrm>
            <a:off x="812800" y="3388964"/>
            <a:ext cx="5194300" cy="1447195"/>
          </a:xfrm>
          <a:prstGeom prst="roundRect">
            <a:avLst>
              <a:gd name="adj" fmla="val 5495"/>
            </a:avLst>
          </a:prstGeom>
          <a:solidFill>
            <a:srgbClr val="FFFFFF"/>
          </a:solidFill>
          <a:ln/>
        </p:spPr>
        <p:txBody>
          <a:bodyPr/>
          <a:lstStyle/>
          <a:p>
            <a:endParaRPr lang="en-KE"/>
          </a:p>
        </p:txBody>
      </p:sp>
      <p:sp>
        <p:nvSpPr>
          <p:cNvPr id="15" name="Shape 10"/>
          <p:cNvSpPr/>
          <p:nvPr/>
        </p:nvSpPr>
        <p:spPr>
          <a:xfrm>
            <a:off x="812800" y="3388965"/>
            <a:ext cx="5194300" cy="924520"/>
          </a:xfrm>
          <a:custGeom>
            <a:avLst/>
            <a:gdLst/>
            <a:ahLst/>
            <a:cxnLst/>
            <a:rect l="l" t="t" r="r" b="b"/>
            <a:pathLst>
              <a:path w="5194300" h="924520">
                <a:moveTo>
                  <a:pt x="50800" y="924520"/>
                </a:moveTo>
                <a:lnTo>
                  <a:pt x="50800" y="924520"/>
                </a:lnTo>
                <a:arcTo wR="50800" hR="50800" stAng="5400000" swAng="5400000"/>
                <a:lnTo>
                  <a:pt x="0" y="50800"/>
                </a:lnTo>
                <a:arcTo wR="50800" hR="50800" stAng="10800000" swAng="5400000"/>
                <a:lnTo>
                  <a:pt x="50800" y="0"/>
                </a:lnTo>
                <a:lnTo>
                  <a:pt x="50800" y="924520"/>
                </a:lnTo>
                <a:close/>
              </a:path>
            </a:pathLst>
          </a:custGeom>
          <a:solidFill>
            <a:srgbClr val="891F15"/>
          </a:solidFill>
          <a:ln/>
        </p:spPr>
        <p:txBody>
          <a:bodyPr/>
          <a:lstStyle/>
          <a:p>
            <a:endParaRPr lang="en-KE"/>
          </a:p>
        </p:txBody>
      </p:sp>
      <p:sp>
        <p:nvSpPr>
          <p:cNvPr id="16" name="Text 11"/>
          <p:cNvSpPr/>
          <p:nvPr/>
        </p:nvSpPr>
        <p:spPr>
          <a:xfrm>
            <a:off x="1066800" y="3566765"/>
            <a:ext cx="1046212" cy="594320"/>
          </a:xfrm>
          <a:prstGeom prst="rect">
            <a:avLst/>
          </a:prstGeom>
          <a:noFill/>
          <a:ln/>
        </p:spPr>
        <p:txBody>
          <a:bodyPr wrap="none" lIns="0" tIns="0" rIns="0" bIns="0" rtlCol="0" anchor="t">
            <a:normAutofit/>
          </a:bodyPr>
          <a:lstStyle/>
          <a:p>
            <a:pPr marL="0" indent="0" algn="l">
              <a:lnSpc>
                <a:spcPts val="4480"/>
              </a:lnSpc>
              <a:buNone/>
            </a:pPr>
            <a:r>
              <a:rPr lang="en-US" sz="3200" b="1" dirty="0">
                <a:solidFill>
                  <a:srgbClr val="891F15"/>
                </a:solidFill>
                <a:latin typeface="Carlito" pitchFamily="34" charset="0"/>
                <a:ea typeface="Carlito" pitchFamily="34" charset="-122"/>
                <a:cs typeface="Carlito" pitchFamily="34" charset="-120"/>
              </a:rPr>
              <a:t>9.46 Mb</a:t>
            </a:r>
            <a:endParaRPr lang="en-US" sz="3200" dirty="0"/>
          </a:p>
        </p:txBody>
      </p:sp>
      <p:sp>
        <p:nvSpPr>
          <p:cNvPr id="17" name="Text 12"/>
          <p:cNvSpPr/>
          <p:nvPr/>
        </p:nvSpPr>
        <p:spPr>
          <a:xfrm>
            <a:off x="2290812" y="4148091"/>
            <a:ext cx="3670805" cy="50542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A322C"/>
                </a:solidFill>
                <a:latin typeface="Carlito" pitchFamily="34" charset="0"/>
                <a:ea typeface="Carlito" pitchFamily="34" charset="-122"/>
                <a:cs typeface="Carlito" pitchFamily="34" charset="-120"/>
              </a:rPr>
              <a:t>D38119</a:t>
            </a:r>
            <a:r>
              <a:rPr lang="en-US" sz="1400" dirty="0">
                <a:solidFill>
                  <a:srgbClr val="3A322C"/>
                </a:solidFill>
                <a:latin typeface="Carlito" pitchFamily="34" charset="0"/>
                <a:ea typeface="Carlito" pitchFamily="34" charset="-122"/>
                <a:cs typeface="Carlito" pitchFamily="34" charset="-120"/>
              </a:rPr>
              <a:t>: about twice a </a:t>
            </a:r>
            <a:r>
              <a:rPr lang="en-US" sz="1400" i="1" dirty="0">
                <a:solidFill>
                  <a:srgbClr val="3A322C"/>
                </a:solidFill>
                <a:latin typeface="Carlito" pitchFamily="34" charset="0"/>
                <a:ea typeface="Carlito" pitchFamily="34" charset="-122"/>
                <a:cs typeface="Carlito" pitchFamily="34" charset="-120"/>
              </a:rPr>
              <a:t>K. pneumoniae</a:t>
            </a:r>
            <a:r>
              <a:rPr lang="en-US" sz="1400" dirty="0">
                <a:solidFill>
                  <a:srgbClr val="3A322C"/>
                </a:solidFill>
                <a:latin typeface="Carlito" pitchFamily="34" charset="0"/>
                <a:ea typeface="Carlito" pitchFamily="34" charset="-122"/>
                <a:cs typeface="Carlito" pitchFamily="34" charset="-120"/>
              </a:rPr>
              <a:t> genome, likely a mixed culture</a:t>
            </a:r>
            <a:endParaRPr lang="en-US" sz="1400" dirty="0"/>
          </a:p>
        </p:txBody>
      </p:sp>
      <p:sp>
        <p:nvSpPr>
          <p:cNvPr id="18" name="Shape 13"/>
          <p:cNvSpPr/>
          <p:nvPr/>
        </p:nvSpPr>
        <p:spPr>
          <a:xfrm>
            <a:off x="6184900" y="3388965"/>
            <a:ext cx="5194300" cy="1447194"/>
          </a:xfrm>
          <a:prstGeom prst="roundRect">
            <a:avLst>
              <a:gd name="adj" fmla="val 5495"/>
            </a:avLst>
          </a:prstGeom>
          <a:solidFill>
            <a:srgbClr val="FFFFFF"/>
          </a:solidFill>
          <a:ln/>
        </p:spPr>
        <p:txBody>
          <a:bodyPr/>
          <a:lstStyle/>
          <a:p>
            <a:endParaRPr lang="en-KE"/>
          </a:p>
        </p:txBody>
      </p:sp>
      <p:sp>
        <p:nvSpPr>
          <p:cNvPr id="19" name="Shape 14"/>
          <p:cNvSpPr/>
          <p:nvPr/>
        </p:nvSpPr>
        <p:spPr>
          <a:xfrm>
            <a:off x="6184900" y="3388965"/>
            <a:ext cx="5194300" cy="924520"/>
          </a:xfrm>
          <a:custGeom>
            <a:avLst/>
            <a:gdLst/>
            <a:ahLst/>
            <a:cxnLst/>
            <a:rect l="l" t="t" r="r" b="b"/>
            <a:pathLst>
              <a:path w="5194300" h="924520">
                <a:moveTo>
                  <a:pt x="50800" y="924520"/>
                </a:moveTo>
                <a:lnTo>
                  <a:pt x="50800" y="924520"/>
                </a:lnTo>
                <a:arcTo wR="50800" hR="50800" stAng="5400000" swAng="5400000"/>
                <a:lnTo>
                  <a:pt x="0" y="50800"/>
                </a:lnTo>
                <a:arcTo wR="50800" hR="50800" stAng="10800000" swAng="5400000"/>
                <a:lnTo>
                  <a:pt x="50800" y="0"/>
                </a:lnTo>
                <a:lnTo>
                  <a:pt x="50800" y="924520"/>
                </a:lnTo>
                <a:close/>
              </a:path>
            </a:pathLst>
          </a:custGeom>
          <a:solidFill>
            <a:srgbClr val="891F15"/>
          </a:solidFill>
          <a:ln/>
        </p:spPr>
        <p:txBody>
          <a:bodyPr/>
          <a:lstStyle/>
          <a:p>
            <a:endParaRPr lang="en-KE"/>
          </a:p>
        </p:txBody>
      </p:sp>
      <p:sp>
        <p:nvSpPr>
          <p:cNvPr id="20" name="Text 15"/>
          <p:cNvSpPr/>
          <p:nvPr/>
        </p:nvSpPr>
        <p:spPr>
          <a:xfrm>
            <a:off x="6438900" y="3566765"/>
            <a:ext cx="729605" cy="594320"/>
          </a:xfrm>
          <a:prstGeom prst="rect">
            <a:avLst/>
          </a:prstGeom>
          <a:noFill/>
          <a:ln/>
        </p:spPr>
        <p:txBody>
          <a:bodyPr wrap="none" lIns="0" tIns="0" rIns="0" bIns="0" rtlCol="0" anchor="t">
            <a:normAutofit/>
          </a:bodyPr>
          <a:lstStyle/>
          <a:p>
            <a:pPr marL="0" indent="0" algn="l">
              <a:lnSpc>
                <a:spcPts val="4480"/>
              </a:lnSpc>
              <a:buNone/>
            </a:pPr>
            <a:r>
              <a:rPr lang="en-US" sz="3200" b="1" dirty="0">
                <a:solidFill>
                  <a:srgbClr val="891F15"/>
                </a:solidFill>
                <a:latin typeface="Carlito" pitchFamily="34" charset="0"/>
                <a:ea typeface="Carlito" pitchFamily="34" charset="-122"/>
                <a:cs typeface="Carlito" pitchFamily="34" charset="-120"/>
              </a:rPr>
              <a:t>1,468</a:t>
            </a:r>
            <a:endParaRPr lang="en-US" sz="3200" dirty="0"/>
          </a:p>
        </p:txBody>
      </p:sp>
      <p:sp>
        <p:nvSpPr>
          <p:cNvPr id="21" name="Text 16"/>
          <p:cNvSpPr/>
          <p:nvPr/>
        </p:nvSpPr>
        <p:spPr>
          <a:xfrm>
            <a:off x="7422505" y="4057066"/>
            <a:ext cx="3996910" cy="50542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A322C"/>
                </a:solidFill>
                <a:latin typeface="Carlito" pitchFamily="34" charset="0"/>
                <a:ea typeface="Carlito" pitchFamily="34" charset="-122"/>
                <a:cs typeface="Carlito" pitchFamily="34" charset="-120"/>
              </a:rPr>
              <a:t>CES13U</a:t>
            </a:r>
            <a:r>
              <a:rPr lang="en-US" sz="1400" dirty="0">
                <a:solidFill>
                  <a:srgbClr val="3A322C"/>
                </a:solidFill>
                <a:latin typeface="Carlito" pitchFamily="34" charset="0"/>
                <a:ea typeface="Carlito" pitchFamily="34" charset="-122"/>
                <a:cs typeface="Carlito" pitchFamily="34" charset="-120"/>
              </a:rPr>
              <a:t>: contigs. Neither isolate is fit for SNP-based transmission analysis.</a:t>
            </a:r>
            <a:endParaRPr lang="en-US" sz="1400" dirty="0"/>
          </a:p>
        </p:txBody>
      </p:sp>
      <p:pic>
        <p:nvPicPr>
          <p:cNvPr id="22" name="Image 3" descr="ILRI and CGIAR logos"/>
          <p:cNvPicPr>
            <a:picLocks noChangeAspect="1"/>
          </p:cNvPicPr>
          <p:nvPr/>
        </p:nvPicPr>
        <p:blipFill>
          <a:blip r:embed="rId6"/>
          <a:srcRect l="-56" r="-56"/>
          <a:stretch/>
        </p:blipFill>
        <p:spPr>
          <a:xfrm>
            <a:off x="10033000" y="254000"/>
            <a:ext cx="1346200" cy="381000"/>
          </a:xfrm>
          <a:prstGeom prst="rect">
            <a:avLst/>
          </a:prstGeom>
        </p:spPr>
      </p:pic>
      <p:sp>
        <p:nvSpPr>
          <p:cNvPr id="23" name="Text 17"/>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24" name="Text 18"/>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Hands-on: QUAST and CheckM2</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709390"/>
            <a:ext cx="10566400" cy="3179564"/>
          </a:xfrm>
          <a:prstGeom prst="roundRect">
            <a:avLst>
              <a:gd name="adj" fmla="val 2397"/>
            </a:avLst>
          </a:prstGeom>
          <a:solidFill>
            <a:srgbClr val="273003"/>
          </a:solidFill>
          <a:ln/>
        </p:spPr>
        <p:txBody>
          <a:bodyPr wrap="square" lIns="257082" tIns="180882" rIns="0" bIns="155482" rtlCol="0" anchor="t">
            <a:normAutofit/>
          </a:bodyPr>
          <a:lstStyle/>
          <a:p>
            <a:pPr marL="0" indent="0" algn="l">
              <a:lnSpc>
                <a:spcPts val="1680"/>
              </a:lnSpc>
              <a:buNone/>
            </a:pPr>
            <a:r>
              <a:rPr lang="en-US" sz="1200" dirty="0">
                <a:solidFill>
                  <a:srgbClr val="C2CA6E"/>
                </a:solidFill>
                <a:latin typeface="JetBrains Mono" pitchFamily="49" charset="0"/>
                <a:ea typeface="JetBrains Mono" pitchFamily="49" charset="-122"/>
                <a:cs typeface="JetBrains Mono" pitchFamily="49" charset="-120"/>
              </a:rPr>
              <a:t># Collect the Shovill assemblies in one folder</a:t>
            </a:r>
            <a:endParaRPr lang="en-US" sz="1200" dirty="0"/>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mkdir -p $COURSE/assemblies</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for d in $RESULTS/02_assembly/shovill/*/; do</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    s=$(basename $d); cp $d/contigs.fa $COURSE/assemblies/${s}.fasta</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done</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C2CA6E"/>
                </a:solidFill>
                <a:latin typeface="JetBrains Mono" pitchFamily="49" charset="0"/>
                <a:ea typeface="JetBrains Mono" pitchFamily="49" charset="-122"/>
                <a:cs typeface="JetBrains Mono" pitchFamily="49" charset="-120"/>
              </a:rPr>
              <a:t># QUAST: one row per assembly; look at contigs, total length, N50 and GC</a:t>
            </a:r>
            <a:endParaRPr lang="en-US" sz="1200" dirty="0"/>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quast.py $COURSE/assemblies/*.fasta -o $RESULTS/02_assembly/quast_shovill -t $THREADS</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less -S $RESULTS/02_assembly/quast_shovill/transposed_report.tsv</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C2CA6E"/>
                </a:solidFill>
                <a:latin typeface="JetBrains Mono" pitchFamily="49" charset="0"/>
                <a:ea typeface="JetBrains Mono" pitchFamily="49" charset="-122"/>
                <a:cs typeface="JetBrains Mono" pitchFamily="49" charset="-120"/>
              </a:rPr>
              <a:t># CheckM2: completeness and contamination</a:t>
            </a:r>
            <a:endParaRPr lang="en-US" sz="1200" dirty="0"/>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checkm2 predict --input $COURSE/assemblies -x fasta \</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    --output-directory $RESULTS/02_assembly/checkm2 --threads $THREADS \</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    --database_path $SHARED/databases/checkm2/CheckM2_database/uniref100.KO.1.dmnd</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cut -f1-3 $RESULTS/02_assembly/checkm2/quality_report.tsv | sort -t$'\t' -k3,3gr | head</a:t>
            </a:r>
            <a:endParaRPr lang="en-US" sz="1200" dirty="0">
              <a:latin typeface="Consolas" panose="020B0609020204030204" pitchFamily="49" charset="0"/>
              <a:cs typeface="Consolas" panose="020B0609020204030204" pitchFamily="49" charset="0"/>
            </a:endParaRPr>
          </a:p>
        </p:txBody>
      </p:sp>
      <p:pic>
        <p:nvPicPr>
          <p:cNvPr id="5"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Looking at the assembly graph: Bandage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709390"/>
            <a:ext cx="5194300" cy="1206450"/>
          </a:xfrm>
          <a:prstGeom prst="roundRect">
            <a:avLst>
              <a:gd name="adj" fmla="val 4211"/>
            </a:avLst>
          </a:prstGeom>
          <a:solidFill>
            <a:srgbClr val="FFFFFF"/>
          </a:solidFill>
          <a:ln/>
        </p:spPr>
        <p:txBody>
          <a:bodyPr/>
          <a:lstStyle/>
          <a:p>
            <a:endParaRPr lang="en-KE"/>
          </a:p>
        </p:txBody>
      </p:sp>
      <p:sp>
        <p:nvSpPr>
          <p:cNvPr id="5" name="Shape 3"/>
          <p:cNvSpPr/>
          <p:nvPr/>
        </p:nvSpPr>
        <p:spPr>
          <a:xfrm>
            <a:off x="812800" y="1709390"/>
            <a:ext cx="5194300" cy="1206450"/>
          </a:xfrm>
          <a:custGeom>
            <a:avLst/>
            <a:gdLst/>
            <a:ahLst/>
            <a:cxnLst/>
            <a:rect l="l" t="t" r="r" b="b"/>
            <a:pathLst>
              <a:path w="5194300" h="1206450">
                <a:moveTo>
                  <a:pt x="0" y="50800"/>
                </a:moveTo>
                <a:lnTo>
                  <a:pt x="0" y="50800"/>
                </a:lnTo>
                <a:arcTo wR="50800" hR="50800" stAng="10800000" swAng="5400000"/>
                <a:lnTo>
                  <a:pt x="5143500" y="0"/>
                </a:lnTo>
                <a:arcTo wR="50800" hR="50800" stAng="16200000" swAng="5400000"/>
                <a:lnTo>
                  <a:pt x="5194300" y="50800"/>
                </a:lnTo>
                <a:lnTo>
                  <a:pt x="0" y="50800"/>
                </a:lnTo>
                <a:close/>
              </a:path>
            </a:pathLst>
          </a:custGeom>
          <a:solidFill>
            <a:srgbClr val="891F15"/>
          </a:solidFill>
          <a:ln/>
        </p:spPr>
        <p:txBody>
          <a:bodyPr/>
          <a:lstStyle/>
          <a:p>
            <a:endParaRPr lang="en-KE"/>
          </a:p>
        </p:txBody>
      </p:sp>
      <p:sp>
        <p:nvSpPr>
          <p:cNvPr id="6" name="Text 4"/>
          <p:cNvSpPr/>
          <p:nvPr/>
        </p:nvSpPr>
        <p:spPr>
          <a:xfrm>
            <a:off x="1016000" y="1937990"/>
            <a:ext cx="493153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91F15"/>
                </a:solidFill>
                <a:latin typeface="Carlito" pitchFamily="34" charset="0"/>
                <a:ea typeface="Carlito" pitchFamily="34" charset="-122"/>
                <a:cs typeface="Carlito" pitchFamily="34" charset="-120"/>
              </a:rPr>
              <a:t>Short-read graph</a:t>
            </a:r>
            <a:endParaRPr lang="en-US" sz="1600" dirty="0"/>
          </a:p>
        </p:txBody>
      </p:sp>
      <p:sp>
        <p:nvSpPr>
          <p:cNvPr id="7" name="Text 5"/>
          <p:cNvSpPr/>
          <p:nvPr/>
        </p:nvSpPr>
        <p:spPr>
          <a:xfrm>
            <a:off x="1016000" y="2258020"/>
            <a:ext cx="4931537"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A tangle: many contigs joined where repeats could not be resolved.</a:t>
            </a:r>
            <a:endParaRPr lang="en-US" sz="1400" dirty="0"/>
          </a:p>
        </p:txBody>
      </p:sp>
      <p:sp>
        <p:nvSpPr>
          <p:cNvPr id="8" name="Shape 6"/>
          <p:cNvSpPr/>
          <p:nvPr/>
        </p:nvSpPr>
        <p:spPr>
          <a:xfrm>
            <a:off x="6184900" y="1709390"/>
            <a:ext cx="5194300" cy="1206450"/>
          </a:xfrm>
          <a:prstGeom prst="roundRect">
            <a:avLst>
              <a:gd name="adj" fmla="val 4211"/>
            </a:avLst>
          </a:prstGeom>
          <a:solidFill>
            <a:srgbClr val="FFFFFF"/>
          </a:solidFill>
          <a:ln/>
        </p:spPr>
        <p:txBody>
          <a:bodyPr/>
          <a:lstStyle/>
          <a:p>
            <a:endParaRPr lang="en-KE"/>
          </a:p>
        </p:txBody>
      </p:sp>
      <p:sp>
        <p:nvSpPr>
          <p:cNvPr id="9" name="Shape 7"/>
          <p:cNvSpPr/>
          <p:nvPr/>
        </p:nvSpPr>
        <p:spPr>
          <a:xfrm>
            <a:off x="6184900" y="1709390"/>
            <a:ext cx="5194300" cy="1206450"/>
          </a:xfrm>
          <a:custGeom>
            <a:avLst/>
            <a:gdLst/>
            <a:ahLst/>
            <a:cxnLst/>
            <a:rect l="l" t="t" r="r" b="b"/>
            <a:pathLst>
              <a:path w="5194300" h="1206450">
                <a:moveTo>
                  <a:pt x="0" y="50800"/>
                </a:moveTo>
                <a:lnTo>
                  <a:pt x="0" y="50800"/>
                </a:lnTo>
                <a:arcTo wR="50800" hR="50800" stAng="10800000" swAng="5400000"/>
                <a:lnTo>
                  <a:pt x="5143500" y="0"/>
                </a:lnTo>
                <a:arcTo wR="50800" hR="50800" stAng="16200000" swAng="5400000"/>
                <a:lnTo>
                  <a:pt x="5194300" y="50800"/>
                </a:lnTo>
                <a:lnTo>
                  <a:pt x="0" y="50800"/>
                </a:lnTo>
                <a:close/>
              </a:path>
            </a:pathLst>
          </a:custGeom>
          <a:solidFill>
            <a:srgbClr val="273003"/>
          </a:solidFill>
          <a:ln/>
        </p:spPr>
        <p:txBody>
          <a:bodyPr/>
          <a:lstStyle/>
          <a:p>
            <a:endParaRPr lang="en-KE"/>
          </a:p>
        </p:txBody>
      </p:sp>
      <p:sp>
        <p:nvSpPr>
          <p:cNvPr id="10" name="Text 8"/>
          <p:cNvSpPr/>
          <p:nvPr/>
        </p:nvSpPr>
        <p:spPr>
          <a:xfrm>
            <a:off x="6388100" y="1937990"/>
            <a:ext cx="493153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73003"/>
                </a:solidFill>
                <a:latin typeface="Carlito" pitchFamily="34" charset="0"/>
                <a:ea typeface="Carlito" pitchFamily="34" charset="-122"/>
                <a:cs typeface="Carlito" pitchFamily="34" charset="-120"/>
              </a:rPr>
              <a:t>Long-read or hybrid graph</a:t>
            </a:r>
            <a:endParaRPr lang="en-US" sz="1600" dirty="0"/>
          </a:p>
        </p:txBody>
      </p:sp>
      <p:sp>
        <p:nvSpPr>
          <p:cNvPr id="11" name="Text 9"/>
          <p:cNvSpPr/>
          <p:nvPr/>
        </p:nvSpPr>
        <p:spPr>
          <a:xfrm>
            <a:off x="6388100" y="2258020"/>
            <a:ext cx="4931537"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Ideally one closed loop per replicon: the chromosome and each plasmid.</a:t>
            </a:r>
            <a:endParaRPr lang="en-US" sz="1400" dirty="0"/>
          </a:p>
        </p:txBody>
      </p:sp>
      <p:sp>
        <p:nvSpPr>
          <p:cNvPr id="12" name="Text 10"/>
          <p:cNvSpPr/>
          <p:nvPr/>
        </p:nvSpPr>
        <p:spPr>
          <a:xfrm>
            <a:off x="812800" y="3169841"/>
            <a:ext cx="1088339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A322C"/>
                </a:solidFill>
                <a:latin typeface="Carlito" pitchFamily="34" charset="0"/>
                <a:ea typeface="Carlito" pitchFamily="34" charset="-122"/>
                <a:cs typeface="Carlito" pitchFamily="34" charset="-120"/>
              </a:rPr>
              <a:t>The server has no screen, so Bandage draws each graph as an image. Copy the PNG files to your computer, or open the </a:t>
            </a:r>
            <a:r>
              <a:rPr lang="en-US" sz="1400" b="1" dirty="0">
                <a:solidFill>
                  <a:srgbClr val="3A322C"/>
                </a:solidFill>
                <a:latin typeface="Carlito" pitchFamily="34" charset="0"/>
                <a:ea typeface="Carlito" pitchFamily="34" charset="-122"/>
                <a:cs typeface="Carlito" pitchFamily="34" charset="-120"/>
              </a:rPr>
              <a:t>.gfa</a:t>
            </a:r>
            <a:r>
              <a:rPr lang="en-US" sz="1400" dirty="0">
                <a:solidFill>
                  <a:srgbClr val="3A322C"/>
                </a:solidFill>
                <a:latin typeface="Carlito" pitchFamily="34" charset="0"/>
                <a:ea typeface="Carlito" pitchFamily="34" charset="-122"/>
                <a:cs typeface="Carlito" pitchFamily="34" charset="-120"/>
              </a:rPr>
              <a:t> files in Bandage on your own computer.</a:t>
            </a:r>
            <a:endParaRPr lang="en-US" sz="1400" dirty="0"/>
          </a:p>
        </p:txBody>
      </p:sp>
      <p:sp>
        <p:nvSpPr>
          <p:cNvPr id="13" name="Text 11"/>
          <p:cNvSpPr/>
          <p:nvPr/>
        </p:nvSpPr>
        <p:spPr>
          <a:xfrm>
            <a:off x="812800" y="3921621"/>
            <a:ext cx="10566400" cy="1259681"/>
          </a:xfrm>
          <a:prstGeom prst="roundRect">
            <a:avLst>
              <a:gd name="adj" fmla="val 6049"/>
            </a:avLst>
          </a:prstGeom>
          <a:solidFill>
            <a:srgbClr val="273003"/>
          </a:solidFill>
          <a:ln/>
        </p:spPr>
        <p:txBody>
          <a:bodyPr wrap="square" lIns="257082" tIns="180882" rIns="0" bIns="155482" rtlCol="0" anchor="t">
            <a:normAutofit/>
          </a:bodyPr>
          <a:lstStyle/>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s=CHI11E</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Bandage image $RESULTS/02_assembly/shovill/$s/contigs.gfa $RESULTS/02_assembly/${s}_shovill.png</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Bandage image $RESULTS/02_assembly/autocycler/$s/autocycler_out/consensus_assembly.gfa \</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    $RESULTS/02_assembly/${s}_autocycler.png</a:t>
            </a:r>
            <a:endParaRPr lang="en-US" sz="1200" dirty="0">
              <a:latin typeface="Consolas" panose="020B0609020204030204" pitchFamily="49" charset="0"/>
              <a:cs typeface="Consolas" panose="020B0609020204030204" pitchFamily="49" charset="0"/>
            </a:endParaRPr>
          </a:p>
        </p:txBody>
      </p:sp>
      <p:pic>
        <p:nvPicPr>
          <p:cNvPr id="14"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15" name="Text 12"/>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16" name="Text 13"/>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CE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9372600" y="914400"/>
            <a:ext cx="2819400" cy="5219700"/>
          </a:xfrm>
          <a:prstGeom prst="rect">
            <a:avLst/>
          </a:prstGeom>
        </p:spPr>
      </p:pic>
      <p:sp>
        <p:nvSpPr>
          <p:cNvPr id="3" name="Text 0"/>
          <p:cNvSpPr/>
          <p:nvPr/>
        </p:nvSpPr>
        <p:spPr>
          <a:xfrm>
            <a:off x="213360" y="2644160"/>
            <a:ext cx="4602480" cy="35560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891F15"/>
                </a:solidFill>
                <a:latin typeface="Carlito" pitchFamily="34" charset="0"/>
                <a:ea typeface="Carlito" pitchFamily="34" charset="-122"/>
                <a:cs typeface="Carlito" pitchFamily="34" charset="-120"/>
              </a:rPr>
              <a:t>SESSION 3 · 13:30–15:00</a:t>
            </a:r>
            <a:endParaRPr lang="en-US" sz="1600" dirty="0"/>
          </a:p>
        </p:txBody>
      </p:sp>
      <p:sp>
        <p:nvSpPr>
          <p:cNvPr id="4" name="Text 1"/>
          <p:cNvSpPr>
            <a:spLocks noGrp="1"/>
          </p:cNvSpPr>
          <p:nvPr>
            <p:ph type="title"/>
          </p:nvPr>
        </p:nvSpPr>
        <p:spPr>
          <a:xfrm>
            <a:off x="213360" y="3086100"/>
            <a:ext cx="6807200" cy="8178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6D2637"/>
                </a:solidFill>
                <a:latin typeface="Carlito" pitchFamily="34" charset="0"/>
                <a:ea typeface="Carlito" pitchFamily="34" charset="-122"/>
                <a:cs typeface="Carlito" pitchFamily="34" charset="-120"/>
              </a:rPr>
              <a:t>Long-read assembly</a:t>
            </a:r>
            <a:endParaRPr lang="en-US" sz="4800" dirty="0"/>
          </a:p>
        </p:txBody>
      </p:sp>
      <p:sp>
        <p:nvSpPr>
          <p:cNvPr id="5" name="Text 2"/>
          <p:cNvSpPr/>
          <p:nvPr/>
        </p:nvSpPr>
        <p:spPr>
          <a:xfrm>
            <a:off x="213360" y="3920420"/>
            <a:ext cx="7904480" cy="44452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5A1F2E"/>
                </a:solidFill>
                <a:latin typeface="Carlito" pitchFamily="34" charset="0"/>
                <a:ea typeface="Carlito" pitchFamily="34" charset="-122"/>
                <a:cs typeface="Carlito" pitchFamily="34" charset="-120"/>
              </a:rPr>
              <a:t>Spanning the repeats: whole chromosomes and plasmids with Autocycler</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D2637"/>
                </a:solidFill>
                <a:latin typeface="Carlito" pitchFamily="34" charset="0"/>
                <a:ea typeface="Carlito" pitchFamily="34" charset="-122"/>
                <a:cs typeface="Carlito" pitchFamily="34" charset="-120"/>
              </a:rPr>
              <a:t>Module 2 · Genome assembly | Day 2</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D2637"/>
                </a:solidFill>
                <a:latin typeface="Carlito" pitchFamily="34" charset="0"/>
                <a:ea typeface="Carlito" pitchFamily="34" charset="-122"/>
                <a:cs typeface="Carlito"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Long reads span the repeats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760190"/>
            <a:ext cx="10883392" cy="75178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273003"/>
                </a:solidFill>
                <a:latin typeface="Carlito" pitchFamily="34" charset="0"/>
                <a:ea typeface="Carlito" pitchFamily="34" charset="-122"/>
                <a:cs typeface="Carlito" pitchFamily="34" charset="-120"/>
              </a:rPr>
              <a:t>A read longer than the longest repeat crosses it, so each chromosome and plasmid can come out as one contig, often circular.</a:t>
            </a:r>
            <a:endParaRPr lang="en-US" sz="2200" dirty="0"/>
          </a:p>
        </p:txBody>
      </p:sp>
      <p:sp>
        <p:nvSpPr>
          <p:cNvPr id="5" name="Shape 3"/>
          <p:cNvSpPr/>
          <p:nvPr/>
        </p:nvSpPr>
        <p:spPr>
          <a:xfrm>
            <a:off x="812800" y="2791371"/>
            <a:ext cx="3403600" cy="1460450"/>
          </a:xfrm>
          <a:prstGeom prst="roundRect">
            <a:avLst>
              <a:gd name="adj" fmla="val 3478"/>
            </a:avLst>
          </a:prstGeom>
          <a:solidFill>
            <a:srgbClr val="FFFFFF"/>
          </a:solidFill>
          <a:ln/>
        </p:spPr>
        <p:txBody>
          <a:bodyPr/>
          <a:lstStyle/>
          <a:p>
            <a:endParaRPr lang="en-KE"/>
          </a:p>
        </p:txBody>
      </p:sp>
      <p:sp>
        <p:nvSpPr>
          <p:cNvPr id="6" name="Shape 4"/>
          <p:cNvSpPr/>
          <p:nvPr/>
        </p:nvSpPr>
        <p:spPr>
          <a:xfrm>
            <a:off x="812800" y="2791371"/>
            <a:ext cx="3403600" cy="1460450"/>
          </a:xfrm>
          <a:custGeom>
            <a:avLst/>
            <a:gdLst/>
            <a:ahLst/>
            <a:cxnLst/>
            <a:rect l="l" t="t" r="r" b="b"/>
            <a:pathLst>
              <a:path w="3403600" h="1460450">
                <a:moveTo>
                  <a:pt x="0" y="50800"/>
                </a:moveTo>
                <a:lnTo>
                  <a:pt x="0" y="50800"/>
                </a:lnTo>
                <a:arcTo wR="50800" hR="50800" stAng="10800000" swAng="5400000"/>
                <a:lnTo>
                  <a:pt x="3352800" y="0"/>
                </a:lnTo>
                <a:arcTo wR="50800" hR="50800" stAng="16200000" swAng="5400000"/>
                <a:lnTo>
                  <a:pt x="3403600" y="50800"/>
                </a:lnTo>
                <a:lnTo>
                  <a:pt x="0" y="50800"/>
                </a:lnTo>
                <a:close/>
              </a:path>
            </a:pathLst>
          </a:custGeom>
          <a:solidFill>
            <a:srgbClr val="273003"/>
          </a:solidFill>
          <a:ln/>
        </p:spPr>
        <p:txBody>
          <a:bodyPr/>
          <a:lstStyle/>
          <a:p>
            <a:endParaRPr lang="en-KE"/>
          </a:p>
        </p:txBody>
      </p:sp>
      <p:sp>
        <p:nvSpPr>
          <p:cNvPr id="7" name="Text 5"/>
          <p:cNvSpPr/>
          <p:nvPr/>
        </p:nvSpPr>
        <p:spPr>
          <a:xfrm>
            <a:off x="1016000" y="3019971"/>
            <a:ext cx="3087116" cy="52323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273003"/>
                </a:solidFill>
                <a:latin typeface="Carlito" pitchFamily="34" charset="0"/>
                <a:ea typeface="Carlito" pitchFamily="34" charset="-122"/>
                <a:cs typeface="Carlito" pitchFamily="34" charset="-120"/>
              </a:rPr>
              <a:t>1–100+ kb</a:t>
            </a:r>
            <a:endParaRPr lang="en-US" sz="2800" dirty="0"/>
          </a:p>
        </p:txBody>
      </p:sp>
      <p:sp>
        <p:nvSpPr>
          <p:cNvPr id="8" name="Text 6"/>
          <p:cNvSpPr/>
          <p:nvPr/>
        </p:nvSpPr>
        <p:spPr>
          <a:xfrm>
            <a:off x="1016000" y="3594001"/>
            <a:ext cx="3087116"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Nanopore read lengths, against 150 bp for Illumina</a:t>
            </a:r>
            <a:endParaRPr lang="en-US" sz="1400" dirty="0"/>
          </a:p>
        </p:txBody>
      </p:sp>
      <p:sp>
        <p:nvSpPr>
          <p:cNvPr id="9" name="Shape 7"/>
          <p:cNvSpPr/>
          <p:nvPr/>
        </p:nvSpPr>
        <p:spPr>
          <a:xfrm>
            <a:off x="4394200" y="2791371"/>
            <a:ext cx="3403600" cy="1460450"/>
          </a:xfrm>
          <a:prstGeom prst="roundRect">
            <a:avLst>
              <a:gd name="adj" fmla="val 3478"/>
            </a:avLst>
          </a:prstGeom>
          <a:solidFill>
            <a:srgbClr val="FFFFFF"/>
          </a:solidFill>
          <a:ln/>
        </p:spPr>
        <p:txBody>
          <a:bodyPr/>
          <a:lstStyle/>
          <a:p>
            <a:endParaRPr lang="en-KE"/>
          </a:p>
        </p:txBody>
      </p:sp>
      <p:sp>
        <p:nvSpPr>
          <p:cNvPr id="10" name="Shape 8"/>
          <p:cNvSpPr/>
          <p:nvPr/>
        </p:nvSpPr>
        <p:spPr>
          <a:xfrm>
            <a:off x="4394200" y="2791371"/>
            <a:ext cx="3403600" cy="1460450"/>
          </a:xfrm>
          <a:custGeom>
            <a:avLst/>
            <a:gdLst/>
            <a:ahLst/>
            <a:cxnLst/>
            <a:rect l="l" t="t" r="r" b="b"/>
            <a:pathLst>
              <a:path w="3403600" h="1460450">
                <a:moveTo>
                  <a:pt x="0" y="50800"/>
                </a:moveTo>
                <a:lnTo>
                  <a:pt x="0" y="50800"/>
                </a:lnTo>
                <a:arcTo wR="50800" hR="50800" stAng="10800000" swAng="5400000"/>
                <a:lnTo>
                  <a:pt x="3352800" y="0"/>
                </a:lnTo>
                <a:arcTo wR="50800" hR="50800" stAng="16200000" swAng="5400000"/>
                <a:lnTo>
                  <a:pt x="3403600" y="50800"/>
                </a:lnTo>
                <a:lnTo>
                  <a:pt x="0" y="50800"/>
                </a:lnTo>
                <a:close/>
              </a:path>
            </a:pathLst>
          </a:custGeom>
          <a:solidFill>
            <a:srgbClr val="891F15"/>
          </a:solidFill>
          <a:ln/>
        </p:spPr>
        <p:txBody>
          <a:bodyPr/>
          <a:lstStyle/>
          <a:p>
            <a:endParaRPr lang="en-KE"/>
          </a:p>
        </p:txBody>
      </p:sp>
      <p:sp>
        <p:nvSpPr>
          <p:cNvPr id="11" name="Text 9"/>
          <p:cNvSpPr/>
          <p:nvPr/>
        </p:nvSpPr>
        <p:spPr>
          <a:xfrm>
            <a:off x="4597400" y="3019971"/>
            <a:ext cx="308711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91F15"/>
                </a:solidFill>
                <a:latin typeface="Carlito" pitchFamily="34" charset="0"/>
                <a:ea typeface="Carlito" pitchFamily="34" charset="-122"/>
                <a:cs typeface="Carlito" pitchFamily="34" charset="-120"/>
              </a:rPr>
              <a:t>Small plasmids can be missed</a:t>
            </a:r>
            <a:endParaRPr lang="en-US" sz="1600" dirty="0"/>
          </a:p>
        </p:txBody>
      </p:sp>
      <p:sp>
        <p:nvSpPr>
          <p:cNvPr id="12" name="Text 10"/>
          <p:cNvSpPr/>
          <p:nvPr/>
        </p:nvSpPr>
        <p:spPr>
          <a:xfrm>
            <a:off x="4597400" y="3340001"/>
            <a:ext cx="3087116"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They are under-represented in long-read libraries.</a:t>
            </a:r>
            <a:endParaRPr lang="en-US" sz="1400" dirty="0"/>
          </a:p>
        </p:txBody>
      </p:sp>
      <p:sp>
        <p:nvSpPr>
          <p:cNvPr id="13" name="Shape 11"/>
          <p:cNvSpPr/>
          <p:nvPr/>
        </p:nvSpPr>
        <p:spPr>
          <a:xfrm>
            <a:off x="7975600" y="2791371"/>
            <a:ext cx="3403600" cy="1460450"/>
          </a:xfrm>
          <a:prstGeom prst="roundRect">
            <a:avLst>
              <a:gd name="adj" fmla="val 3478"/>
            </a:avLst>
          </a:prstGeom>
          <a:solidFill>
            <a:srgbClr val="FFFFFF"/>
          </a:solidFill>
          <a:ln/>
        </p:spPr>
        <p:txBody>
          <a:bodyPr/>
          <a:lstStyle/>
          <a:p>
            <a:endParaRPr lang="en-KE"/>
          </a:p>
        </p:txBody>
      </p:sp>
      <p:sp>
        <p:nvSpPr>
          <p:cNvPr id="14" name="Shape 12"/>
          <p:cNvSpPr/>
          <p:nvPr/>
        </p:nvSpPr>
        <p:spPr>
          <a:xfrm>
            <a:off x="7975600" y="2791371"/>
            <a:ext cx="3403600" cy="1460450"/>
          </a:xfrm>
          <a:custGeom>
            <a:avLst/>
            <a:gdLst/>
            <a:ahLst/>
            <a:cxnLst/>
            <a:rect l="l" t="t" r="r" b="b"/>
            <a:pathLst>
              <a:path w="3403600" h="1460450">
                <a:moveTo>
                  <a:pt x="0" y="50800"/>
                </a:moveTo>
                <a:lnTo>
                  <a:pt x="0" y="50800"/>
                </a:lnTo>
                <a:arcTo wR="50800" hR="50800" stAng="10800000" swAng="5400000"/>
                <a:lnTo>
                  <a:pt x="3352800" y="0"/>
                </a:lnTo>
                <a:arcTo wR="50800" hR="50800" stAng="16200000" swAng="5400000"/>
                <a:lnTo>
                  <a:pt x="3403600" y="50800"/>
                </a:lnTo>
                <a:lnTo>
                  <a:pt x="0" y="50800"/>
                </a:lnTo>
                <a:close/>
              </a:path>
            </a:pathLst>
          </a:custGeom>
          <a:solidFill>
            <a:srgbClr val="891F15"/>
          </a:solidFill>
          <a:ln/>
        </p:spPr>
        <p:txBody>
          <a:bodyPr/>
          <a:lstStyle/>
          <a:p>
            <a:endParaRPr lang="en-KE"/>
          </a:p>
        </p:txBody>
      </p:sp>
      <p:sp>
        <p:nvSpPr>
          <p:cNvPr id="15" name="Text 13"/>
          <p:cNvSpPr/>
          <p:nvPr/>
        </p:nvSpPr>
        <p:spPr>
          <a:xfrm>
            <a:off x="8178800" y="3019971"/>
            <a:ext cx="308711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91F15"/>
                </a:solidFill>
                <a:latin typeface="Carlito" pitchFamily="34" charset="0"/>
                <a:ea typeface="Carlito" pitchFamily="34" charset="-122"/>
                <a:cs typeface="Carlito" pitchFamily="34" charset="-120"/>
              </a:rPr>
              <a:t>Base errors before polishing</a:t>
            </a:r>
            <a:endParaRPr lang="en-US" sz="1600" dirty="0"/>
          </a:p>
        </p:txBody>
      </p:sp>
      <p:sp>
        <p:nvSpPr>
          <p:cNvPr id="16" name="Text 14"/>
          <p:cNvSpPr/>
          <p:nvPr/>
        </p:nvSpPr>
        <p:spPr>
          <a:xfrm>
            <a:off x="8178800" y="3340001"/>
            <a:ext cx="3087116"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Fixed in Session 4 with Medaka and the Illumina reads.</a:t>
            </a:r>
            <a:endParaRPr lang="en-US" sz="1400" dirty="0"/>
          </a:p>
        </p:txBody>
      </p:sp>
      <p:pic>
        <p:nvPicPr>
          <p:cNvPr id="17"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18" name="Text 1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19" name="Text 1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Autocycler: a consensus of many assemblies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83990"/>
            <a:ext cx="10883392"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3A322C"/>
                </a:solidFill>
                <a:latin typeface="Carlito" pitchFamily="34" charset="0"/>
                <a:ea typeface="Carlito" pitchFamily="34" charset="-122"/>
                <a:cs typeface="Carlito" pitchFamily="34" charset="-120"/>
              </a:rPr>
              <a:t>Several assemblies from subsets of the reads, with different assemblers, then a consensus. This removes errors that only one assembler makes.</a:t>
            </a:r>
            <a:endParaRPr lang="en-US" sz="1600" dirty="0"/>
          </a:p>
        </p:txBody>
      </p:sp>
      <p:sp>
        <p:nvSpPr>
          <p:cNvPr id="5" name="Shape 3"/>
          <p:cNvSpPr/>
          <p:nvPr/>
        </p:nvSpPr>
        <p:spPr>
          <a:xfrm>
            <a:off x="812800" y="2568476"/>
            <a:ext cx="2279650" cy="783530"/>
          </a:xfrm>
          <a:prstGeom prst="roundRect">
            <a:avLst>
              <a:gd name="adj" fmla="val 9725"/>
            </a:avLst>
          </a:prstGeom>
          <a:solidFill>
            <a:srgbClr val="273003"/>
          </a:solidFill>
          <a:ln/>
        </p:spPr>
        <p:txBody>
          <a:bodyPr/>
          <a:lstStyle/>
          <a:p>
            <a:endParaRPr lang="en-KE"/>
          </a:p>
        </p:txBody>
      </p:sp>
      <p:sp>
        <p:nvSpPr>
          <p:cNvPr id="6" name="Text 4"/>
          <p:cNvSpPr/>
          <p:nvPr/>
        </p:nvSpPr>
        <p:spPr>
          <a:xfrm>
            <a:off x="965200" y="2720876"/>
            <a:ext cx="203409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CE00"/>
                </a:solidFill>
                <a:latin typeface="Carlito" pitchFamily="34" charset="0"/>
                <a:ea typeface="Carlito" pitchFamily="34" charset="-122"/>
                <a:cs typeface="Carlito" pitchFamily="34" charset="-120"/>
              </a:rPr>
              <a:t>1 · helper genome_size</a:t>
            </a:r>
            <a:endParaRPr lang="en-US" sz="1200" dirty="0"/>
          </a:p>
        </p:txBody>
      </p:sp>
      <p:sp>
        <p:nvSpPr>
          <p:cNvPr id="7" name="Text 5"/>
          <p:cNvSpPr/>
          <p:nvPr/>
        </p:nvSpPr>
        <p:spPr>
          <a:xfrm>
            <a:off x="965200" y="2984996"/>
            <a:ext cx="2034095"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9F2EA"/>
                </a:solidFill>
                <a:latin typeface="Carlito" pitchFamily="34" charset="0"/>
                <a:ea typeface="Carlito" pitchFamily="34" charset="-122"/>
                <a:cs typeface="Carlito" pitchFamily="34" charset="-120"/>
              </a:rPr>
              <a:t>Estimate the genome size</a:t>
            </a:r>
            <a:endParaRPr lang="en-US" sz="1300" dirty="0"/>
          </a:p>
        </p:txBody>
      </p:sp>
      <p:pic>
        <p:nvPicPr>
          <p:cNvPr id="8" name="Image 0" descr="arrow-right"/>
          <p:cNvPicPr>
            <a:picLocks noChangeAspect="1"/>
          </p:cNvPicPr>
          <p:nvPr/>
        </p:nvPicPr>
        <p:blipFill>
          <a:blip r:embed="rId3"/>
          <a:srcRect/>
          <a:stretch/>
        </p:blipFill>
        <p:spPr>
          <a:xfrm>
            <a:off x="3194050" y="2884041"/>
            <a:ext cx="279400" cy="152400"/>
          </a:xfrm>
          <a:prstGeom prst="rect">
            <a:avLst/>
          </a:prstGeom>
        </p:spPr>
      </p:pic>
      <p:sp>
        <p:nvSpPr>
          <p:cNvPr id="9" name="Shape 6"/>
          <p:cNvSpPr/>
          <p:nvPr/>
        </p:nvSpPr>
        <p:spPr>
          <a:xfrm>
            <a:off x="3575050" y="2568476"/>
            <a:ext cx="2279650" cy="783530"/>
          </a:xfrm>
          <a:prstGeom prst="roundRect">
            <a:avLst>
              <a:gd name="adj" fmla="val 9725"/>
            </a:avLst>
          </a:prstGeom>
          <a:solidFill>
            <a:srgbClr val="273003"/>
          </a:solidFill>
          <a:ln/>
        </p:spPr>
        <p:txBody>
          <a:bodyPr/>
          <a:lstStyle/>
          <a:p>
            <a:endParaRPr lang="en-KE"/>
          </a:p>
        </p:txBody>
      </p:sp>
      <p:sp>
        <p:nvSpPr>
          <p:cNvPr id="10" name="Text 7"/>
          <p:cNvSpPr/>
          <p:nvPr/>
        </p:nvSpPr>
        <p:spPr>
          <a:xfrm>
            <a:off x="3727450" y="2720876"/>
            <a:ext cx="203409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CE00"/>
                </a:solidFill>
                <a:latin typeface="Carlito" pitchFamily="34" charset="0"/>
                <a:ea typeface="Carlito" pitchFamily="34" charset="-122"/>
                <a:cs typeface="Carlito" pitchFamily="34" charset="-120"/>
              </a:rPr>
              <a:t>2 · subsample</a:t>
            </a:r>
            <a:endParaRPr lang="en-US" sz="1200" dirty="0"/>
          </a:p>
        </p:txBody>
      </p:sp>
      <p:sp>
        <p:nvSpPr>
          <p:cNvPr id="11" name="Text 8"/>
          <p:cNvSpPr/>
          <p:nvPr/>
        </p:nvSpPr>
        <p:spPr>
          <a:xfrm>
            <a:off x="3727450" y="2984996"/>
            <a:ext cx="212725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9F2EA"/>
                </a:solidFill>
                <a:latin typeface="Carlito" pitchFamily="34" charset="0"/>
                <a:ea typeface="Carlito" pitchFamily="34" charset="-122"/>
                <a:cs typeface="Carlito" pitchFamily="34" charset="-120"/>
              </a:rPr>
              <a:t>Split the reads into 4 subsets</a:t>
            </a:r>
            <a:endParaRPr lang="en-US" sz="1300" dirty="0"/>
          </a:p>
        </p:txBody>
      </p:sp>
      <p:pic>
        <p:nvPicPr>
          <p:cNvPr id="12" name="Image 1" descr="arrow-right"/>
          <p:cNvPicPr>
            <a:picLocks noChangeAspect="1"/>
          </p:cNvPicPr>
          <p:nvPr/>
        </p:nvPicPr>
        <p:blipFill>
          <a:blip r:embed="rId3"/>
          <a:srcRect/>
          <a:stretch/>
        </p:blipFill>
        <p:spPr>
          <a:xfrm>
            <a:off x="5956300" y="2884041"/>
            <a:ext cx="279400" cy="152400"/>
          </a:xfrm>
          <a:prstGeom prst="rect">
            <a:avLst/>
          </a:prstGeom>
        </p:spPr>
      </p:pic>
      <p:sp>
        <p:nvSpPr>
          <p:cNvPr id="13" name="Shape 9"/>
          <p:cNvSpPr/>
          <p:nvPr/>
        </p:nvSpPr>
        <p:spPr>
          <a:xfrm>
            <a:off x="6337300" y="2461171"/>
            <a:ext cx="2279650" cy="998141"/>
          </a:xfrm>
          <a:prstGeom prst="roundRect">
            <a:avLst>
              <a:gd name="adj" fmla="val 7634"/>
            </a:avLst>
          </a:prstGeom>
          <a:solidFill>
            <a:srgbClr val="273003"/>
          </a:solidFill>
          <a:ln/>
        </p:spPr>
        <p:txBody>
          <a:bodyPr/>
          <a:lstStyle/>
          <a:p>
            <a:endParaRPr lang="en-KE"/>
          </a:p>
        </p:txBody>
      </p:sp>
      <p:sp>
        <p:nvSpPr>
          <p:cNvPr id="14" name="Text 10"/>
          <p:cNvSpPr/>
          <p:nvPr/>
        </p:nvSpPr>
        <p:spPr>
          <a:xfrm>
            <a:off x="6489700" y="2613571"/>
            <a:ext cx="203409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CE00"/>
                </a:solidFill>
                <a:latin typeface="Carlito" pitchFamily="34" charset="0"/>
                <a:ea typeface="Carlito" pitchFamily="34" charset="-122"/>
                <a:cs typeface="Carlito" pitchFamily="34" charset="-120"/>
              </a:rPr>
              <a:t>3 · helper flye, raven</a:t>
            </a:r>
            <a:endParaRPr lang="en-US" sz="1200" dirty="0"/>
          </a:p>
        </p:txBody>
      </p:sp>
      <p:sp>
        <p:nvSpPr>
          <p:cNvPr id="15" name="Text 11"/>
          <p:cNvSpPr/>
          <p:nvPr/>
        </p:nvSpPr>
        <p:spPr>
          <a:xfrm>
            <a:off x="6489700" y="2877691"/>
            <a:ext cx="2034095"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9F2EA"/>
                </a:solidFill>
                <a:latin typeface="Carlito" pitchFamily="34" charset="0"/>
                <a:ea typeface="Carlito" pitchFamily="34" charset="-122"/>
                <a:cs typeface="Carlito" pitchFamily="34" charset="-120"/>
              </a:rPr>
              <a:t>4 × Flye + 4 × Raven = 8 assemblies</a:t>
            </a:r>
            <a:endParaRPr lang="en-US" sz="1300" dirty="0"/>
          </a:p>
        </p:txBody>
      </p:sp>
      <p:pic>
        <p:nvPicPr>
          <p:cNvPr id="16" name="Image 2" descr="arrow-right"/>
          <p:cNvPicPr>
            <a:picLocks noChangeAspect="1"/>
          </p:cNvPicPr>
          <p:nvPr/>
        </p:nvPicPr>
        <p:blipFill>
          <a:blip r:embed="rId3"/>
          <a:srcRect/>
          <a:stretch/>
        </p:blipFill>
        <p:spPr>
          <a:xfrm>
            <a:off x="8718550" y="2884041"/>
            <a:ext cx="279400" cy="152400"/>
          </a:xfrm>
          <a:prstGeom prst="rect">
            <a:avLst/>
          </a:prstGeom>
        </p:spPr>
      </p:pic>
      <p:sp>
        <p:nvSpPr>
          <p:cNvPr id="17" name="Shape 12"/>
          <p:cNvSpPr/>
          <p:nvPr/>
        </p:nvSpPr>
        <p:spPr>
          <a:xfrm>
            <a:off x="9099550" y="2568476"/>
            <a:ext cx="2279650" cy="783530"/>
          </a:xfrm>
          <a:prstGeom prst="roundRect">
            <a:avLst>
              <a:gd name="adj" fmla="val 9725"/>
            </a:avLst>
          </a:prstGeom>
          <a:solidFill>
            <a:srgbClr val="273003"/>
          </a:solidFill>
          <a:ln/>
        </p:spPr>
        <p:txBody>
          <a:bodyPr/>
          <a:lstStyle/>
          <a:p>
            <a:endParaRPr lang="en-KE"/>
          </a:p>
        </p:txBody>
      </p:sp>
      <p:sp>
        <p:nvSpPr>
          <p:cNvPr id="18" name="Text 13"/>
          <p:cNvSpPr/>
          <p:nvPr/>
        </p:nvSpPr>
        <p:spPr>
          <a:xfrm>
            <a:off x="9251950" y="2720876"/>
            <a:ext cx="203409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CE00"/>
                </a:solidFill>
                <a:latin typeface="Carlito" pitchFamily="34" charset="0"/>
                <a:ea typeface="Carlito" pitchFamily="34" charset="-122"/>
                <a:cs typeface="Carlito" pitchFamily="34" charset="-120"/>
              </a:rPr>
              <a:t>4 · compress</a:t>
            </a:r>
            <a:endParaRPr lang="en-US" sz="1200" dirty="0"/>
          </a:p>
        </p:txBody>
      </p:sp>
      <p:sp>
        <p:nvSpPr>
          <p:cNvPr id="19" name="Text 14"/>
          <p:cNvSpPr/>
          <p:nvPr/>
        </p:nvSpPr>
        <p:spPr>
          <a:xfrm>
            <a:off x="9251950" y="2984996"/>
            <a:ext cx="2034095"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9F2EA"/>
                </a:solidFill>
                <a:latin typeface="Carlito" pitchFamily="34" charset="0"/>
                <a:ea typeface="Carlito" pitchFamily="34" charset="-122"/>
                <a:cs typeface="Carlito" pitchFamily="34" charset="-120"/>
              </a:rPr>
              <a:t>Merge all 8 into one graph</a:t>
            </a:r>
            <a:endParaRPr lang="en-US" sz="1300" dirty="0"/>
          </a:p>
        </p:txBody>
      </p:sp>
      <p:sp>
        <p:nvSpPr>
          <p:cNvPr id="20" name="Shape 15"/>
          <p:cNvSpPr/>
          <p:nvPr/>
        </p:nvSpPr>
        <p:spPr>
          <a:xfrm>
            <a:off x="812800" y="3687911"/>
            <a:ext cx="2279650" cy="783530"/>
          </a:xfrm>
          <a:prstGeom prst="roundRect">
            <a:avLst>
              <a:gd name="adj" fmla="val 9725"/>
            </a:avLst>
          </a:prstGeom>
          <a:solidFill>
            <a:srgbClr val="891F15"/>
          </a:solidFill>
          <a:ln/>
        </p:spPr>
        <p:txBody>
          <a:bodyPr/>
          <a:lstStyle/>
          <a:p>
            <a:endParaRPr lang="en-KE"/>
          </a:p>
        </p:txBody>
      </p:sp>
      <p:sp>
        <p:nvSpPr>
          <p:cNvPr id="21" name="Text 16"/>
          <p:cNvSpPr/>
          <p:nvPr/>
        </p:nvSpPr>
        <p:spPr>
          <a:xfrm>
            <a:off x="965200" y="3840311"/>
            <a:ext cx="203409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CE00"/>
                </a:solidFill>
                <a:latin typeface="Carlito" pitchFamily="34" charset="0"/>
                <a:ea typeface="Carlito" pitchFamily="34" charset="-122"/>
                <a:cs typeface="Carlito" pitchFamily="34" charset="-120"/>
              </a:rPr>
              <a:t>5 · cluster</a:t>
            </a:r>
            <a:endParaRPr lang="en-US" sz="1200" dirty="0"/>
          </a:p>
        </p:txBody>
      </p:sp>
      <p:sp>
        <p:nvSpPr>
          <p:cNvPr id="22" name="Text 17"/>
          <p:cNvSpPr/>
          <p:nvPr/>
        </p:nvSpPr>
        <p:spPr>
          <a:xfrm>
            <a:off x="965200" y="4104432"/>
            <a:ext cx="2034095"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9F2EA"/>
                </a:solidFill>
                <a:latin typeface="Carlito" pitchFamily="34" charset="0"/>
                <a:ea typeface="Carlito" pitchFamily="34" charset="-122"/>
                <a:cs typeface="Carlito" pitchFamily="34" charset="-120"/>
              </a:rPr>
              <a:t>Group contigs by replicon</a:t>
            </a:r>
            <a:endParaRPr lang="en-US" sz="1300" dirty="0"/>
          </a:p>
        </p:txBody>
      </p:sp>
      <p:pic>
        <p:nvPicPr>
          <p:cNvPr id="23" name="Image 3" descr="arrow-right"/>
          <p:cNvPicPr>
            <a:picLocks noChangeAspect="1"/>
          </p:cNvPicPr>
          <p:nvPr/>
        </p:nvPicPr>
        <p:blipFill>
          <a:blip r:embed="rId4"/>
          <a:srcRect/>
          <a:stretch/>
        </p:blipFill>
        <p:spPr>
          <a:xfrm>
            <a:off x="3194050" y="4003477"/>
            <a:ext cx="279400" cy="152400"/>
          </a:xfrm>
          <a:prstGeom prst="rect">
            <a:avLst/>
          </a:prstGeom>
        </p:spPr>
      </p:pic>
      <p:sp>
        <p:nvSpPr>
          <p:cNvPr id="24" name="Shape 18"/>
          <p:cNvSpPr/>
          <p:nvPr/>
        </p:nvSpPr>
        <p:spPr>
          <a:xfrm>
            <a:off x="3575050" y="3687911"/>
            <a:ext cx="2279650" cy="783530"/>
          </a:xfrm>
          <a:prstGeom prst="roundRect">
            <a:avLst>
              <a:gd name="adj" fmla="val 9725"/>
            </a:avLst>
          </a:prstGeom>
          <a:solidFill>
            <a:srgbClr val="891F15"/>
          </a:solidFill>
          <a:ln/>
        </p:spPr>
        <p:txBody>
          <a:bodyPr/>
          <a:lstStyle/>
          <a:p>
            <a:endParaRPr lang="en-KE"/>
          </a:p>
        </p:txBody>
      </p:sp>
      <p:sp>
        <p:nvSpPr>
          <p:cNvPr id="25" name="Text 19"/>
          <p:cNvSpPr/>
          <p:nvPr/>
        </p:nvSpPr>
        <p:spPr>
          <a:xfrm>
            <a:off x="3727450" y="3840311"/>
            <a:ext cx="203409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CE00"/>
                </a:solidFill>
                <a:latin typeface="Carlito" pitchFamily="34" charset="0"/>
                <a:ea typeface="Carlito" pitchFamily="34" charset="-122"/>
                <a:cs typeface="Carlito" pitchFamily="34" charset="-120"/>
              </a:rPr>
              <a:t>6 · trim</a:t>
            </a:r>
            <a:endParaRPr lang="en-US" sz="1200" dirty="0"/>
          </a:p>
        </p:txBody>
      </p:sp>
      <p:sp>
        <p:nvSpPr>
          <p:cNvPr id="26" name="Text 20"/>
          <p:cNvSpPr/>
          <p:nvPr/>
        </p:nvSpPr>
        <p:spPr>
          <a:xfrm>
            <a:off x="3727450" y="4104432"/>
            <a:ext cx="2034095"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9F2EA"/>
                </a:solidFill>
                <a:latin typeface="Carlito" pitchFamily="34" charset="0"/>
                <a:ea typeface="Carlito" pitchFamily="34" charset="-122"/>
                <a:cs typeface="Carlito" pitchFamily="34" charset="-120"/>
              </a:rPr>
              <a:t>Remove overlapping ends</a:t>
            </a:r>
            <a:endParaRPr lang="en-US" sz="1300" dirty="0"/>
          </a:p>
        </p:txBody>
      </p:sp>
      <p:pic>
        <p:nvPicPr>
          <p:cNvPr id="27" name="Image 4" descr="arrow-right"/>
          <p:cNvPicPr>
            <a:picLocks noChangeAspect="1"/>
          </p:cNvPicPr>
          <p:nvPr/>
        </p:nvPicPr>
        <p:blipFill>
          <a:blip r:embed="rId4"/>
          <a:srcRect/>
          <a:stretch/>
        </p:blipFill>
        <p:spPr>
          <a:xfrm>
            <a:off x="5956300" y="4003477"/>
            <a:ext cx="279400" cy="152400"/>
          </a:xfrm>
          <a:prstGeom prst="rect">
            <a:avLst/>
          </a:prstGeom>
        </p:spPr>
      </p:pic>
      <p:sp>
        <p:nvSpPr>
          <p:cNvPr id="28" name="Shape 21"/>
          <p:cNvSpPr/>
          <p:nvPr/>
        </p:nvSpPr>
        <p:spPr>
          <a:xfrm>
            <a:off x="6337300" y="3687911"/>
            <a:ext cx="2279650" cy="783530"/>
          </a:xfrm>
          <a:prstGeom prst="roundRect">
            <a:avLst>
              <a:gd name="adj" fmla="val 9725"/>
            </a:avLst>
          </a:prstGeom>
          <a:solidFill>
            <a:srgbClr val="891F15"/>
          </a:solidFill>
          <a:ln/>
        </p:spPr>
        <p:txBody>
          <a:bodyPr/>
          <a:lstStyle/>
          <a:p>
            <a:endParaRPr lang="en-KE"/>
          </a:p>
        </p:txBody>
      </p:sp>
      <p:sp>
        <p:nvSpPr>
          <p:cNvPr id="29" name="Text 22"/>
          <p:cNvSpPr/>
          <p:nvPr/>
        </p:nvSpPr>
        <p:spPr>
          <a:xfrm>
            <a:off x="6489700" y="3840311"/>
            <a:ext cx="203409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CE00"/>
                </a:solidFill>
                <a:latin typeface="Carlito" pitchFamily="34" charset="0"/>
                <a:ea typeface="Carlito" pitchFamily="34" charset="-122"/>
                <a:cs typeface="Carlito" pitchFamily="34" charset="-120"/>
              </a:rPr>
              <a:t>7 · resolve</a:t>
            </a:r>
            <a:endParaRPr lang="en-US" sz="1200" dirty="0"/>
          </a:p>
        </p:txBody>
      </p:sp>
      <p:sp>
        <p:nvSpPr>
          <p:cNvPr id="30" name="Text 23"/>
          <p:cNvSpPr/>
          <p:nvPr/>
        </p:nvSpPr>
        <p:spPr>
          <a:xfrm>
            <a:off x="6489700" y="4104432"/>
            <a:ext cx="2034095"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9F2EA"/>
                </a:solidFill>
                <a:latin typeface="Carlito" pitchFamily="34" charset="0"/>
                <a:ea typeface="Carlito" pitchFamily="34" charset="-122"/>
                <a:cs typeface="Carlito" pitchFamily="34" charset="-120"/>
              </a:rPr>
              <a:t>One consensus per cluster</a:t>
            </a:r>
            <a:endParaRPr lang="en-US" sz="1300" dirty="0"/>
          </a:p>
        </p:txBody>
      </p:sp>
      <p:pic>
        <p:nvPicPr>
          <p:cNvPr id="31" name="Image 5" descr="arrow-right"/>
          <p:cNvPicPr>
            <a:picLocks noChangeAspect="1"/>
          </p:cNvPicPr>
          <p:nvPr/>
        </p:nvPicPr>
        <p:blipFill>
          <a:blip r:embed="rId4"/>
          <a:srcRect/>
          <a:stretch/>
        </p:blipFill>
        <p:spPr>
          <a:xfrm>
            <a:off x="8718550" y="4003477"/>
            <a:ext cx="279400" cy="152400"/>
          </a:xfrm>
          <a:prstGeom prst="rect">
            <a:avLst/>
          </a:prstGeom>
        </p:spPr>
      </p:pic>
      <p:sp>
        <p:nvSpPr>
          <p:cNvPr id="32" name="Shape 24"/>
          <p:cNvSpPr/>
          <p:nvPr/>
        </p:nvSpPr>
        <p:spPr>
          <a:xfrm>
            <a:off x="9099550" y="3687911"/>
            <a:ext cx="2279650" cy="783530"/>
          </a:xfrm>
          <a:prstGeom prst="roundRect">
            <a:avLst>
              <a:gd name="adj" fmla="val 9725"/>
            </a:avLst>
          </a:prstGeom>
          <a:solidFill>
            <a:srgbClr val="891F15"/>
          </a:solidFill>
          <a:ln/>
        </p:spPr>
        <p:txBody>
          <a:bodyPr/>
          <a:lstStyle/>
          <a:p>
            <a:endParaRPr lang="en-KE"/>
          </a:p>
        </p:txBody>
      </p:sp>
      <p:sp>
        <p:nvSpPr>
          <p:cNvPr id="33" name="Text 25"/>
          <p:cNvSpPr/>
          <p:nvPr/>
        </p:nvSpPr>
        <p:spPr>
          <a:xfrm>
            <a:off x="9251950" y="3840311"/>
            <a:ext cx="203409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CE00"/>
                </a:solidFill>
                <a:latin typeface="Carlito" pitchFamily="34" charset="0"/>
                <a:ea typeface="Carlito" pitchFamily="34" charset="-122"/>
                <a:cs typeface="Carlito" pitchFamily="34" charset="-120"/>
              </a:rPr>
              <a:t>8 · combine</a:t>
            </a:r>
            <a:endParaRPr lang="en-US" sz="1200" dirty="0"/>
          </a:p>
        </p:txBody>
      </p:sp>
      <p:sp>
        <p:nvSpPr>
          <p:cNvPr id="34" name="Text 26"/>
          <p:cNvSpPr/>
          <p:nvPr/>
        </p:nvSpPr>
        <p:spPr>
          <a:xfrm>
            <a:off x="9251950" y="4104432"/>
            <a:ext cx="212725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9F2EA"/>
                </a:solidFill>
                <a:latin typeface="Carlito" pitchFamily="34" charset="0"/>
                <a:ea typeface="Carlito" pitchFamily="34" charset="-122"/>
                <a:cs typeface="Carlito" pitchFamily="34" charset="-120"/>
              </a:rPr>
              <a:t>The final consensus assembly</a:t>
            </a:r>
            <a:endParaRPr lang="en-US" sz="1300" dirty="0"/>
          </a:p>
        </p:txBody>
      </p:sp>
      <p:pic>
        <p:nvPicPr>
          <p:cNvPr id="35" name="Image 6" descr="ILRI and CGIAR logos"/>
          <p:cNvPicPr>
            <a:picLocks noChangeAspect="1"/>
          </p:cNvPicPr>
          <p:nvPr/>
        </p:nvPicPr>
        <p:blipFill>
          <a:blip r:embed="rId5"/>
          <a:srcRect l="-56" r="-56"/>
          <a:stretch/>
        </p:blipFill>
        <p:spPr>
          <a:xfrm>
            <a:off x="10033000" y="254000"/>
            <a:ext cx="1346200" cy="381000"/>
          </a:xfrm>
          <a:prstGeom prst="rect">
            <a:avLst/>
          </a:prstGeom>
        </p:spPr>
      </p:pic>
      <p:sp>
        <p:nvSpPr>
          <p:cNvPr id="36" name="Text 27"/>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37" name="Text 28"/>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Hands-on: Autocycler for CHI11E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58590"/>
            <a:ext cx="10566400" cy="3525044"/>
          </a:xfrm>
          <a:prstGeom prst="roundRect">
            <a:avLst>
              <a:gd name="adj" fmla="val 2162"/>
            </a:avLst>
          </a:prstGeom>
          <a:solidFill>
            <a:srgbClr val="273003"/>
          </a:solidFill>
          <a:ln/>
        </p:spPr>
        <p:txBody>
          <a:bodyPr wrap="square" lIns="231682" tIns="155482" rIns="0" bIns="130082" rtlCol="0" anchor="t">
            <a:noAutofit/>
          </a:bodyPr>
          <a:lstStyle/>
          <a:p>
            <a:pPr marL="0" indent="0" algn="l">
              <a:lnSpc>
                <a:spcPts val="156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use_tools assembly; s=CHI11E; reads=$COURSE/trimmed/${s}_ont.fastq.gz</a:t>
            </a:r>
            <a:endParaRPr lang="en-US" sz="1200" dirty="0">
              <a:latin typeface="Consolas" panose="020B0609020204030204" pitchFamily="49" charset="0"/>
              <a:cs typeface="Consolas" panose="020B0609020204030204" pitchFamily="49" charset="0"/>
            </a:endParaRPr>
          </a:p>
          <a:p>
            <a:pPr marL="0" indent="0" algn="l">
              <a:lnSpc>
                <a:spcPts val="156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mkdir -p $RESULTS/02_assembly/autocycler/$s &amp;&amp; cd $RESULTS/02_assembly/autocycler/$s</a:t>
            </a:r>
            <a:endParaRPr lang="en-US" sz="1200" dirty="0">
              <a:latin typeface="Consolas" panose="020B0609020204030204" pitchFamily="49" charset="0"/>
              <a:cs typeface="Consolas" panose="020B0609020204030204" pitchFamily="49" charset="0"/>
            </a:endParaRPr>
          </a:p>
          <a:p>
            <a:pPr marL="0" indent="0" algn="l">
              <a:lnSpc>
                <a:spcPts val="156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genome_size=$(autocycler helper genome_size --reads $reads --threads $THREADS)</a:t>
            </a:r>
            <a:endParaRPr lang="en-US" sz="1200" dirty="0">
              <a:latin typeface="Consolas" panose="020B0609020204030204" pitchFamily="49" charset="0"/>
              <a:cs typeface="Consolas" panose="020B0609020204030204" pitchFamily="49" charset="0"/>
            </a:endParaRPr>
          </a:p>
          <a:p>
            <a:pPr marL="0" indent="0" algn="l">
              <a:lnSpc>
                <a:spcPts val="156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autocycler subsample --reads $reads --out_dir subsampled_reads --genome_size $genome_size</a:t>
            </a:r>
            <a:endParaRPr lang="en-US" sz="1200" dirty="0">
              <a:latin typeface="Consolas" panose="020B0609020204030204" pitchFamily="49" charset="0"/>
              <a:cs typeface="Consolas" panose="020B0609020204030204" pitchFamily="49" charset="0"/>
            </a:endParaRPr>
          </a:p>
          <a:p>
            <a:pPr marL="0" indent="0" algn="l">
              <a:lnSpc>
                <a:spcPts val="156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mkdir -p assemblies</a:t>
            </a:r>
            <a:endParaRPr lang="en-US" sz="1200" dirty="0">
              <a:latin typeface="Consolas" panose="020B0609020204030204" pitchFamily="49" charset="0"/>
              <a:cs typeface="Consolas" panose="020B0609020204030204" pitchFamily="49" charset="0"/>
            </a:endParaRPr>
          </a:p>
          <a:p>
            <a:pPr marL="0" indent="0" algn="l">
              <a:lnSpc>
                <a:spcPts val="156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for assembler in flye raven; do for i in 01 02 03 04; do</a:t>
            </a:r>
            <a:endParaRPr lang="en-US" sz="1200" dirty="0">
              <a:latin typeface="Consolas" panose="020B0609020204030204" pitchFamily="49" charset="0"/>
              <a:cs typeface="Consolas" panose="020B0609020204030204" pitchFamily="49" charset="0"/>
            </a:endParaRPr>
          </a:p>
          <a:p>
            <a:pPr marL="0" indent="0" algn="l">
              <a:lnSpc>
                <a:spcPts val="156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  autocycler helper $assembler --reads subsampled_reads/sample_$i.fastq \</a:t>
            </a:r>
            <a:endParaRPr lang="en-US" sz="1200" dirty="0">
              <a:latin typeface="Consolas" panose="020B0609020204030204" pitchFamily="49" charset="0"/>
              <a:cs typeface="Consolas" panose="020B0609020204030204" pitchFamily="49" charset="0"/>
            </a:endParaRPr>
          </a:p>
          <a:p>
            <a:pPr marL="0" indent="0" algn="l">
              <a:lnSpc>
                <a:spcPts val="156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    --out_prefix assemblies/${assembler}_$i --threads $THREADS --genome_size $genome_size</a:t>
            </a:r>
            <a:endParaRPr lang="en-US" sz="1200" dirty="0">
              <a:latin typeface="Consolas" panose="020B0609020204030204" pitchFamily="49" charset="0"/>
              <a:cs typeface="Consolas" panose="020B0609020204030204" pitchFamily="49" charset="0"/>
            </a:endParaRPr>
          </a:p>
          <a:p>
            <a:pPr marL="0" indent="0" algn="l">
              <a:lnSpc>
                <a:spcPts val="156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done; done</a:t>
            </a:r>
            <a:endParaRPr lang="en-US" sz="1200" dirty="0">
              <a:latin typeface="Consolas" panose="020B0609020204030204" pitchFamily="49" charset="0"/>
              <a:cs typeface="Consolas" panose="020B0609020204030204" pitchFamily="49" charset="0"/>
            </a:endParaRPr>
          </a:p>
          <a:p>
            <a:pPr marL="0" indent="0" algn="l">
              <a:lnSpc>
                <a:spcPts val="156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autocycler compress -i assemblies -a autocycler_out</a:t>
            </a:r>
            <a:endParaRPr lang="en-US" sz="1200" dirty="0">
              <a:latin typeface="Consolas" panose="020B0609020204030204" pitchFamily="49" charset="0"/>
              <a:cs typeface="Consolas" panose="020B0609020204030204" pitchFamily="49" charset="0"/>
            </a:endParaRPr>
          </a:p>
          <a:p>
            <a:pPr marL="0" indent="0" algn="l">
              <a:lnSpc>
                <a:spcPts val="156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autocycler cluster -a autocycler_out</a:t>
            </a:r>
            <a:endParaRPr lang="en-US" sz="1200" dirty="0">
              <a:latin typeface="Consolas" panose="020B0609020204030204" pitchFamily="49" charset="0"/>
              <a:cs typeface="Consolas" panose="020B0609020204030204" pitchFamily="49" charset="0"/>
            </a:endParaRPr>
          </a:p>
          <a:p>
            <a:pPr marL="0" indent="0" algn="l">
              <a:lnSpc>
                <a:spcPts val="156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for c in autocycler_out/clustering/qc_pass/cluster_*; do</a:t>
            </a:r>
            <a:endParaRPr lang="en-US" sz="1200" dirty="0">
              <a:latin typeface="Consolas" panose="020B0609020204030204" pitchFamily="49" charset="0"/>
              <a:cs typeface="Consolas" panose="020B0609020204030204" pitchFamily="49" charset="0"/>
            </a:endParaRPr>
          </a:p>
          <a:p>
            <a:pPr marL="0" indent="0" algn="l">
              <a:lnSpc>
                <a:spcPts val="156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  autocycler trim -c $c; autocycler resolve -c $c</a:t>
            </a:r>
            <a:endParaRPr lang="en-US" sz="1200" dirty="0">
              <a:latin typeface="Consolas" panose="020B0609020204030204" pitchFamily="49" charset="0"/>
              <a:cs typeface="Consolas" panose="020B0609020204030204" pitchFamily="49" charset="0"/>
            </a:endParaRPr>
          </a:p>
          <a:p>
            <a:pPr marL="0" indent="0" algn="l">
              <a:lnSpc>
                <a:spcPts val="156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done</a:t>
            </a:r>
            <a:endParaRPr lang="en-US" sz="1200" dirty="0">
              <a:latin typeface="Consolas" panose="020B0609020204030204" pitchFamily="49" charset="0"/>
              <a:cs typeface="Consolas" panose="020B0609020204030204" pitchFamily="49" charset="0"/>
            </a:endParaRPr>
          </a:p>
          <a:p>
            <a:pPr marL="0" indent="0" algn="l">
              <a:lnSpc>
                <a:spcPts val="156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autocycler combine -a autocycler_out -i autocycler_out/clustering/qc_pass/cluster_*/5_final.gfa</a:t>
            </a:r>
            <a:endParaRPr lang="en-US" sz="1200" dirty="0">
              <a:latin typeface="Consolas" panose="020B0609020204030204" pitchFamily="49" charset="0"/>
              <a:cs typeface="Consolas" panose="020B0609020204030204" pitchFamily="49" charset="0"/>
            </a:endParaRPr>
          </a:p>
          <a:p>
            <a:pPr marL="0" indent="0" algn="l">
              <a:lnSpc>
                <a:spcPts val="156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grep "&gt;" autocycler_out/consensus_assembly.fasta</a:t>
            </a:r>
            <a:endParaRPr lang="en-US" sz="1200" dirty="0">
              <a:latin typeface="Consolas" panose="020B0609020204030204" pitchFamily="49" charset="0"/>
              <a:cs typeface="Consolas" panose="020B0609020204030204" pitchFamily="49" charset="0"/>
            </a:endParaRPr>
          </a:p>
        </p:txBody>
      </p:sp>
      <p:pic>
        <p:nvPicPr>
          <p:cNvPr id="5" name="Image 0" descr="Clock"/>
          <p:cNvPicPr>
            <a:picLocks noChangeAspect="1"/>
          </p:cNvPicPr>
          <p:nvPr/>
        </p:nvPicPr>
        <p:blipFill>
          <a:blip r:embed="rId3"/>
          <a:srcRect/>
          <a:stretch/>
        </p:blipFill>
        <p:spPr>
          <a:xfrm>
            <a:off x="812800" y="5386834"/>
            <a:ext cx="279400" cy="279400"/>
          </a:xfrm>
          <a:prstGeom prst="rect">
            <a:avLst/>
          </a:prstGeom>
        </p:spPr>
      </p:pic>
      <p:sp>
        <p:nvSpPr>
          <p:cNvPr id="6" name="Text 3"/>
          <p:cNvSpPr/>
          <p:nvPr/>
        </p:nvSpPr>
        <p:spPr>
          <a:xfrm>
            <a:off x="1219200" y="5419229"/>
            <a:ext cx="887474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With 1 thread this takes hours: start it, then continue from </a:t>
            </a:r>
            <a:r>
              <a:rPr lang="en-US" sz="1300" b="1" dirty="0">
                <a:solidFill>
                  <a:srgbClr val="3A322C"/>
                </a:solidFill>
                <a:latin typeface="Carlito" pitchFamily="34" charset="0"/>
                <a:ea typeface="Carlito" pitchFamily="34" charset="-122"/>
                <a:cs typeface="Carlito" pitchFamily="34" charset="-120"/>
              </a:rPr>
              <a:t>$SHARED/precomputed/02_assembly/autocycler/</a:t>
            </a:r>
            <a:endParaRPr lang="en-US" sz="1300" dirty="0"/>
          </a:p>
        </p:txBody>
      </p:sp>
      <p:pic>
        <p:nvPicPr>
          <p:cNvPr id="7" name="Image 1"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8" name="Text 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9" name="Text 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891F1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9410700" y="704850"/>
            <a:ext cx="2781300" cy="5448300"/>
          </a:xfrm>
          <a:prstGeom prst="rect">
            <a:avLst/>
          </a:prstGeom>
        </p:spPr>
      </p:pic>
      <p:sp>
        <p:nvSpPr>
          <p:cNvPr id="3" name="Text 0"/>
          <p:cNvSpPr/>
          <p:nvPr/>
        </p:nvSpPr>
        <p:spPr>
          <a:xfrm>
            <a:off x="182880" y="2644180"/>
            <a:ext cx="12557760" cy="30986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FFCE00"/>
                </a:solidFill>
                <a:latin typeface="Carlito" pitchFamily="34" charset="0"/>
                <a:ea typeface="Carlito" pitchFamily="34" charset="-122"/>
                <a:cs typeface="Carlito" pitchFamily="34" charset="-120"/>
              </a:rPr>
              <a:t>SESSION 4 · 15:30–17:00</a:t>
            </a:r>
            <a:endParaRPr lang="en-US" sz="1600" dirty="0"/>
          </a:p>
        </p:txBody>
      </p:sp>
      <p:sp>
        <p:nvSpPr>
          <p:cNvPr id="4" name="Text 1"/>
          <p:cNvSpPr>
            <a:spLocks noGrp="1"/>
          </p:cNvSpPr>
          <p:nvPr>
            <p:ph type="title"/>
          </p:nvPr>
        </p:nvSpPr>
        <p:spPr>
          <a:xfrm>
            <a:off x="182880" y="3102610"/>
            <a:ext cx="8006080" cy="65278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9F2EA"/>
                </a:solidFill>
                <a:latin typeface="Carlito" pitchFamily="34" charset="0"/>
                <a:ea typeface="Carlito" pitchFamily="34" charset="-122"/>
                <a:cs typeface="Carlito" pitchFamily="34" charset="-120"/>
              </a:rPr>
              <a:t>Polishing to a hybrid assembly</a:t>
            </a:r>
            <a:endParaRPr lang="en-US" sz="4800" dirty="0"/>
          </a:p>
        </p:txBody>
      </p:sp>
      <p:sp>
        <p:nvSpPr>
          <p:cNvPr id="5" name="Text 2"/>
          <p:cNvSpPr/>
          <p:nvPr/>
        </p:nvSpPr>
        <p:spPr>
          <a:xfrm>
            <a:off x="182880" y="3903960"/>
            <a:ext cx="1255776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1D3C9"/>
                </a:solidFill>
                <a:latin typeface="Carlito" pitchFamily="34" charset="0"/>
                <a:ea typeface="Carlito" pitchFamily="34" charset="-122"/>
                <a:cs typeface="Carlito" pitchFamily="34" charset="-120"/>
              </a:rPr>
              <a:t>Medaka, Polypolish and Pypolca; then short-read, long-read and hybrid side by side</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B5A8"/>
                </a:solidFill>
                <a:latin typeface="Carlito" pitchFamily="34" charset="0"/>
                <a:ea typeface="Carlito" pitchFamily="34" charset="-122"/>
                <a:cs typeface="Carlito" pitchFamily="34" charset="-120"/>
              </a:rPr>
              <a:t>Module 2 · Genome assembly | Day 2</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E3B5A8"/>
                </a:solidFill>
                <a:latin typeface="Carlito" pitchFamily="34" charset="0"/>
                <a:ea typeface="Carlito" pitchFamily="34" charset="-122"/>
                <a:cs typeface="Carlito"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Polishing: long reads first, then short reads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9150" y="1766540"/>
            <a:ext cx="1775420" cy="1734691"/>
          </a:xfrm>
          <a:prstGeom prst="roundRect">
            <a:avLst>
              <a:gd name="adj" fmla="val 4027"/>
            </a:avLst>
          </a:prstGeom>
          <a:solidFill>
            <a:srgbClr val="FFFFFF"/>
          </a:solidFill>
          <a:ln w="12700">
            <a:solidFill>
              <a:srgbClr val="D9CDBF"/>
            </a:solidFill>
            <a:prstDash val="solid"/>
          </a:ln>
        </p:spPr>
        <p:txBody>
          <a:bodyPr/>
          <a:lstStyle/>
          <a:p>
            <a:endParaRPr lang="en-KE"/>
          </a:p>
        </p:txBody>
      </p:sp>
      <p:sp>
        <p:nvSpPr>
          <p:cNvPr id="5" name="Text 3"/>
          <p:cNvSpPr/>
          <p:nvPr/>
        </p:nvSpPr>
        <p:spPr>
          <a:xfrm>
            <a:off x="965200" y="1925290"/>
            <a:ext cx="153412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B6460"/>
                </a:solidFill>
                <a:latin typeface="Carlito" pitchFamily="34" charset="0"/>
                <a:ea typeface="Carlito" pitchFamily="34" charset="-122"/>
                <a:cs typeface="Carlito" pitchFamily="34" charset="-120"/>
              </a:rPr>
              <a:t>DRAFT</a:t>
            </a:r>
            <a:endParaRPr lang="en-US" sz="1200" dirty="0"/>
          </a:p>
        </p:txBody>
      </p:sp>
      <p:sp>
        <p:nvSpPr>
          <p:cNvPr id="6" name="Text 4"/>
          <p:cNvSpPr/>
          <p:nvPr/>
        </p:nvSpPr>
        <p:spPr>
          <a:xfrm>
            <a:off x="965200" y="2202111"/>
            <a:ext cx="1534120"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3A322C"/>
                </a:solidFill>
                <a:latin typeface="Carlito" pitchFamily="34" charset="0"/>
                <a:ea typeface="Carlito" pitchFamily="34" charset="-122"/>
                <a:cs typeface="Carlito" pitchFamily="34" charset="-120"/>
              </a:rPr>
              <a:t>Autocycler consensus</a:t>
            </a:r>
            <a:endParaRPr lang="en-US" sz="1600" dirty="0"/>
          </a:p>
        </p:txBody>
      </p:sp>
      <p:sp>
        <p:nvSpPr>
          <p:cNvPr id="7" name="Text 5"/>
          <p:cNvSpPr/>
          <p:nvPr/>
        </p:nvSpPr>
        <p:spPr>
          <a:xfrm>
            <a:off x="965200" y="2753271"/>
            <a:ext cx="1534120"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Right structure, but Nanopore base errors</a:t>
            </a:r>
            <a:endParaRPr lang="en-US" sz="1300" dirty="0"/>
          </a:p>
        </p:txBody>
      </p:sp>
      <p:pic>
        <p:nvPicPr>
          <p:cNvPr id="8" name="Image 0" descr="arrow-right"/>
          <p:cNvPicPr>
            <a:picLocks noChangeAspect="1"/>
          </p:cNvPicPr>
          <p:nvPr/>
        </p:nvPicPr>
        <p:blipFill>
          <a:blip r:embed="rId3"/>
          <a:srcRect/>
          <a:stretch/>
        </p:blipFill>
        <p:spPr>
          <a:xfrm>
            <a:off x="2689820" y="2564011"/>
            <a:ext cx="254000" cy="139700"/>
          </a:xfrm>
          <a:prstGeom prst="rect">
            <a:avLst/>
          </a:prstGeom>
        </p:spPr>
      </p:pic>
      <p:sp>
        <p:nvSpPr>
          <p:cNvPr id="9" name="Shape 6"/>
          <p:cNvSpPr/>
          <p:nvPr/>
        </p:nvSpPr>
        <p:spPr>
          <a:xfrm>
            <a:off x="3032720" y="1760190"/>
            <a:ext cx="1762770" cy="1747391"/>
          </a:xfrm>
          <a:prstGeom prst="roundRect">
            <a:avLst>
              <a:gd name="adj" fmla="val 4361"/>
            </a:avLst>
          </a:prstGeom>
          <a:solidFill>
            <a:srgbClr val="273003"/>
          </a:solidFill>
          <a:ln/>
        </p:spPr>
        <p:txBody>
          <a:bodyPr/>
          <a:lstStyle/>
          <a:p>
            <a:endParaRPr lang="en-KE"/>
          </a:p>
        </p:txBody>
      </p:sp>
      <p:sp>
        <p:nvSpPr>
          <p:cNvPr id="10" name="Text 7"/>
          <p:cNvSpPr/>
          <p:nvPr/>
        </p:nvSpPr>
        <p:spPr>
          <a:xfrm>
            <a:off x="3172420" y="1912590"/>
            <a:ext cx="153417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CA6E"/>
                </a:solidFill>
                <a:latin typeface="Carlito" pitchFamily="34" charset="0"/>
                <a:ea typeface="Carlito" pitchFamily="34" charset="-122"/>
                <a:cs typeface="Carlito" pitchFamily="34" charset="-120"/>
              </a:rPr>
              <a:t>LONG READS</a:t>
            </a:r>
            <a:endParaRPr lang="en-US" sz="1200" dirty="0"/>
          </a:p>
        </p:txBody>
      </p:sp>
      <p:sp>
        <p:nvSpPr>
          <p:cNvPr id="11" name="Text 8"/>
          <p:cNvSpPr/>
          <p:nvPr/>
        </p:nvSpPr>
        <p:spPr>
          <a:xfrm>
            <a:off x="3172420" y="2189411"/>
            <a:ext cx="153417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9F2EA"/>
                </a:solidFill>
                <a:latin typeface="Carlito" pitchFamily="34" charset="0"/>
                <a:ea typeface="Carlito" pitchFamily="34" charset="-122"/>
                <a:cs typeface="Carlito" pitchFamily="34" charset="-120"/>
              </a:rPr>
              <a:t>Medaka</a:t>
            </a:r>
            <a:endParaRPr lang="en-US" sz="1600" dirty="0"/>
          </a:p>
        </p:txBody>
      </p:sp>
      <p:sp>
        <p:nvSpPr>
          <p:cNvPr id="12" name="Text 9"/>
          <p:cNvSpPr/>
          <p:nvPr/>
        </p:nvSpPr>
        <p:spPr>
          <a:xfrm>
            <a:off x="3172420" y="2496741"/>
            <a:ext cx="1534170" cy="88384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9F2EA"/>
                </a:solidFill>
                <a:latin typeface="Carlito" pitchFamily="34" charset="0"/>
                <a:ea typeface="Carlito" pitchFamily="34" charset="-122"/>
                <a:cs typeface="Carlito" pitchFamily="34" charset="-120"/>
              </a:rPr>
              <a:t>A neural network corrects the consensus using the Nanopore reads</a:t>
            </a:r>
            <a:endParaRPr lang="en-US" sz="1300" dirty="0"/>
          </a:p>
        </p:txBody>
      </p:sp>
      <p:pic>
        <p:nvPicPr>
          <p:cNvPr id="13" name="Image 1" descr="arrow-right"/>
          <p:cNvPicPr>
            <a:picLocks noChangeAspect="1"/>
          </p:cNvPicPr>
          <p:nvPr/>
        </p:nvPicPr>
        <p:blipFill>
          <a:blip r:embed="rId3"/>
          <a:srcRect/>
          <a:stretch/>
        </p:blipFill>
        <p:spPr>
          <a:xfrm>
            <a:off x="4884390" y="2564011"/>
            <a:ext cx="254000" cy="139700"/>
          </a:xfrm>
          <a:prstGeom prst="rect">
            <a:avLst/>
          </a:prstGeom>
        </p:spPr>
      </p:pic>
      <p:sp>
        <p:nvSpPr>
          <p:cNvPr id="14" name="Shape 10"/>
          <p:cNvSpPr/>
          <p:nvPr/>
        </p:nvSpPr>
        <p:spPr>
          <a:xfrm>
            <a:off x="5227290" y="1760190"/>
            <a:ext cx="1762770" cy="1747391"/>
          </a:xfrm>
          <a:prstGeom prst="roundRect">
            <a:avLst>
              <a:gd name="adj" fmla="val 4361"/>
            </a:avLst>
          </a:prstGeom>
          <a:solidFill>
            <a:srgbClr val="891F15"/>
          </a:solidFill>
          <a:ln/>
        </p:spPr>
        <p:txBody>
          <a:bodyPr/>
          <a:lstStyle/>
          <a:p>
            <a:endParaRPr lang="en-KE"/>
          </a:p>
        </p:txBody>
      </p:sp>
      <p:sp>
        <p:nvSpPr>
          <p:cNvPr id="15" name="Text 11"/>
          <p:cNvSpPr/>
          <p:nvPr/>
        </p:nvSpPr>
        <p:spPr>
          <a:xfrm>
            <a:off x="5366990" y="1912590"/>
            <a:ext cx="153417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E00"/>
                </a:solidFill>
                <a:latin typeface="Carlito" pitchFamily="34" charset="0"/>
                <a:ea typeface="Carlito" pitchFamily="34" charset="-122"/>
                <a:cs typeface="Carlito" pitchFamily="34" charset="-120"/>
              </a:rPr>
              <a:t>SHORT READS</a:t>
            </a:r>
            <a:endParaRPr lang="en-US" sz="1200" dirty="0"/>
          </a:p>
        </p:txBody>
      </p:sp>
      <p:sp>
        <p:nvSpPr>
          <p:cNvPr id="16" name="Text 12"/>
          <p:cNvSpPr/>
          <p:nvPr/>
        </p:nvSpPr>
        <p:spPr>
          <a:xfrm>
            <a:off x="5366990" y="2189411"/>
            <a:ext cx="153417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9F2EA"/>
                </a:solidFill>
                <a:latin typeface="Carlito" pitchFamily="34" charset="0"/>
                <a:ea typeface="Carlito" pitchFamily="34" charset="-122"/>
                <a:cs typeface="Carlito" pitchFamily="34" charset="-120"/>
              </a:rPr>
              <a:t>Polypolish</a:t>
            </a:r>
            <a:endParaRPr lang="en-US" sz="1600" dirty="0"/>
          </a:p>
        </p:txBody>
      </p:sp>
      <p:sp>
        <p:nvSpPr>
          <p:cNvPr id="17" name="Text 13"/>
          <p:cNvSpPr/>
          <p:nvPr/>
        </p:nvSpPr>
        <p:spPr>
          <a:xfrm>
            <a:off x="5366990" y="2496741"/>
            <a:ext cx="1534170" cy="883841"/>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9F2EA"/>
                </a:solidFill>
                <a:latin typeface="Carlito" pitchFamily="34" charset="0"/>
                <a:ea typeface="Carlito" pitchFamily="34" charset="-122"/>
                <a:cs typeface="Carlito" pitchFamily="34" charset="-120"/>
              </a:rPr>
              <a:t>Uses every alignment of each read (bwa mem -a), so repeats get polished too</a:t>
            </a:r>
            <a:endParaRPr lang="en-US" sz="1300" dirty="0"/>
          </a:p>
        </p:txBody>
      </p:sp>
      <p:pic>
        <p:nvPicPr>
          <p:cNvPr id="18" name="Image 2" descr="arrow-right"/>
          <p:cNvPicPr>
            <a:picLocks noChangeAspect="1"/>
          </p:cNvPicPr>
          <p:nvPr/>
        </p:nvPicPr>
        <p:blipFill>
          <a:blip r:embed="rId3"/>
          <a:srcRect/>
          <a:stretch/>
        </p:blipFill>
        <p:spPr>
          <a:xfrm>
            <a:off x="7078960" y="2564011"/>
            <a:ext cx="254000" cy="139700"/>
          </a:xfrm>
          <a:prstGeom prst="rect">
            <a:avLst/>
          </a:prstGeom>
        </p:spPr>
      </p:pic>
      <p:sp>
        <p:nvSpPr>
          <p:cNvPr id="19" name="Shape 14"/>
          <p:cNvSpPr/>
          <p:nvPr/>
        </p:nvSpPr>
        <p:spPr>
          <a:xfrm>
            <a:off x="7421860" y="1760190"/>
            <a:ext cx="1762770" cy="1747391"/>
          </a:xfrm>
          <a:prstGeom prst="roundRect">
            <a:avLst>
              <a:gd name="adj" fmla="val 4361"/>
            </a:avLst>
          </a:prstGeom>
          <a:solidFill>
            <a:srgbClr val="891F15"/>
          </a:solidFill>
          <a:ln/>
        </p:spPr>
        <p:txBody>
          <a:bodyPr/>
          <a:lstStyle/>
          <a:p>
            <a:endParaRPr lang="en-KE"/>
          </a:p>
        </p:txBody>
      </p:sp>
      <p:sp>
        <p:nvSpPr>
          <p:cNvPr id="20" name="Text 15"/>
          <p:cNvSpPr/>
          <p:nvPr/>
        </p:nvSpPr>
        <p:spPr>
          <a:xfrm>
            <a:off x="7561560" y="1912590"/>
            <a:ext cx="153417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E00"/>
                </a:solidFill>
                <a:latin typeface="Carlito" pitchFamily="34" charset="0"/>
                <a:ea typeface="Carlito" pitchFamily="34" charset="-122"/>
                <a:cs typeface="Carlito" pitchFamily="34" charset="-120"/>
              </a:rPr>
              <a:t>SHORT READS</a:t>
            </a:r>
            <a:endParaRPr lang="en-US" sz="1200" dirty="0"/>
          </a:p>
        </p:txBody>
      </p:sp>
      <p:sp>
        <p:nvSpPr>
          <p:cNvPr id="21" name="Text 16"/>
          <p:cNvSpPr/>
          <p:nvPr/>
        </p:nvSpPr>
        <p:spPr>
          <a:xfrm>
            <a:off x="7561560" y="2189411"/>
            <a:ext cx="153417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9F2EA"/>
                </a:solidFill>
                <a:latin typeface="Carlito" pitchFamily="34" charset="0"/>
                <a:ea typeface="Carlito" pitchFamily="34" charset="-122"/>
                <a:cs typeface="Carlito" pitchFamily="34" charset="-120"/>
              </a:rPr>
              <a:t>Pypolca</a:t>
            </a:r>
            <a:endParaRPr lang="en-US" sz="1600" dirty="0"/>
          </a:p>
        </p:txBody>
      </p:sp>
      <p:sp>
        <p:nvSpPr>
          <p:cNvPr id="22" name="Text 17"/>
          <p:cNvSpPr/>
          <p:nvPr/>
        </p:nvSpPr>
        <p:spPr>
          <a:xfrm>
            <a:off x="7561560" y="2496741"/>
            <a:ext cx="1534170" cy="66923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9F2EA"/>
                </a:solidFill>
                <a:latin typeface="Carlito" pitchFamily="34" charset="0"/>
                <a:ea typeface="Carlito" pitchFamily="34" charset="-122"/>
                <a:cs typeface="Carlito" pitchFamily="34" charset="-120"/>
              </a:rPr>
              <a:t>Fixes the remaining small errors (--careful)</a:t>
            </a:r>
            <a:endParaRPr lang="en-US" sz="1300" dirty="0"/>
          </a:p>
        </p:txBody>
      </p:sp>
      <p:pic>
        <p:nvPicPr>
          <p:cNvPr id="23" name="Image 3" descr="arrow-right"/>
          <p:cNvPicPr>
            <a:picLocks noChangeAspect="1"/>
          </p:cNvPicPr>
          <p:nvPr/>
        </p:nvPicPr>
        <p:blipFill>
          <a:blip r:embed="rId3"/>
          <a:srcRect/>
          <a:stretch/>
        </p:blipFill>
        <p:spPr>
          <a:xfrm>
            <a:off x="9273530" y="2564011"/>
            <a:ext cx="254000" cy="139700"/>
          </a:xfrm>
          <a:prstGeom prst="rect">
            <a:avLst/>
          </a:prstGeom>
        </p:spPr>
      </p:pic>
      <p:sp>
        <p:nvSpPr>
          <p:cNvPr id="24" name="Shape 18"/>
          <p:cNvSpPr/>
          <p:nvPr/>
        </p:nvSpPr>
        <p:spPr>
          <a:xfrm>
            <a:off x="9616430" y="1760190"/>
            <a:ext cx="1762770" cy="1747391"/>
          </a:xfrm>
          <a:prstGeom prst="roundRect">
            <a:avLst>
              <a:gd name="adj" fmla="val 4361"/>
            </a:avLst>
          </a:prstGeom>
          <a:solidFill>
            <a:srgbClr val="FFCE00"/>
          </a:solidFill>
          <a:ln/>
        </p:spPr>
        <p:txBody>
          <a:bodyPr/>
          <a:lstStyle/>
          <a:p>
            <a:endParaRPr lang="en-KE"/>
          </a:p>
        </p:txBody>
      </p:sp>
      <p:sp>
        <p:nvSpPr>
          <p:cNvPr id="25" name="Text 19"/>
          <p:cNvSpPr/>
          <p:nvPr/>
        </p:nvSpPr>
        <p:spPr>
          <a:xfrm>
            <a:off x="9756130" y="1912590"/>
            <a:ext cx="153417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D2637"/>
                </a:solidFill>
                <a:latin typeface="Carlito" pitchFamily="34" charset="0"/>
                <a:ea typeface="Carlito" pitchFamily="34" charset="-122"/>
                <a:cs typeface="Carlito" pitchFamily="34" charset="-120"/>
              </a:rPr>
              <a:t>RESULT</a:t>
            </a:r>
            <a:endParaRPr lang="en-US" sz="1200" dirty="0"/>
          </a:p>
        </p:txBody>
      </p:sp>
      <p:sp>
        <p:nvSpPr>
          <p:cNvPr id="26" name="Text 20"/>
          <p:cNvSpPr/>
          <p:nvPr/>
        </p:nvSpPr>
        <p:spPr>
          <a:xfrm>
            <a:off x="9756130" y="2189411"/>
            <a:ext cx="153417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3A322C"/>
                </a:solidFill>
                <a:latin typeface="Carlito" pitchFamily="34" charset="0"/>
                <a:ea typeface="Carlito" pitchFamily="34" charset="-122"/>
                <a:cs typeface="Carlito" pitchFamily="34" charset="-120"/>
              </a:rPr>
              <a:t>Hybrid assembly</a:t>
            </a:r>
            <a:endParaRPr lang="en-US" sz="1600" dirty="0"/>
          </a:p>
        </p:txBody>
      </p:sp>
      <p:sp>
        <p:nvSpPr>
          <p:cNvPr id="27" name="Text 21"/>
          <p:cNvSpPr/>
          <p:nvPr/>
        </p:nvSpPr>
        <p:spPr>
          <a:xfrm>
            <a:off x="9756130" y="2496741"/>
            <a:ext cx="1534170"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Complete and base-accurate</a:t>
            </a:r>
            <a:endParaRPr lang="en-US" sz="1300" dirty="0"/>
          </a:p>
        </p:txBody>
      </p:sp>
      <p:sp>
        <p:nvSpPr>
          <p:cNvPr id="28" name="Shape 22"/>
          <p:cNvSpPr/>
          <p:nvPr/>
        </p:nvSpPr>
        <p:spPr>
          <a:xfrm>
            <a:off x="812800" y="3812381"/>
            <a:ext cx="10566400" cy="584200"/>
          </a:xfrm>
          <a:prstGeom prst="roundRect">
            <a:avLst>
              <a:gd name="adj" fmla="val 8696"/>
            </a:avLst>
          </a:prstGeom>
          <a:solidFill>
            <a:srgbClr val="FFF6CC"/>
          </a:solidFill>
          <a:ln/>
        </p:spPr>
        <p:txBody>
          <a:bodyPr/>
          <a:lstStyle/>
          <a:p>
            <a:endParaRPr lang="en-KE"/>
          </a:p>
        </p:txBody>
      </p:sp>
      <p:sp>
        <p:nvSpPr>
          <p:cNvPr id="29" name="Shape 23"/>
          <p:cNvSpPr/>
          <p:nvPr/>
        </p:nvSpPr>
        <p:spPr>
          <a:xfrm>
            <a:off x="812800" y="3812381"/>
            <a:ext cx="10566400" cy="584200"/>
          </a:xfrm>
          <a:custGeom>
            <a:avLst/>
            <a:gdLst/>
            <a:ahLst/>
            <a:cxnLst/>
            <a:rect l="l" t="t" r="r" b="b"/>
            <a:pathLst>
              <a:path w="10566400" h="584200">
                <a:moveTo>
                  <a:pt x="50800" y="584200"/>
                </a:moveTo>
                <a:lnTo>
                  <a:pt x="50800" y="584200"/>
                </a:lnTo>
                <a:arcTo wR="50800" hR="50800" stAng="5400000" swAng="5400000"/>
                <a:lnTo>
                  <a:pt x="0" y="50800"/>
                </a:lnTo>
                <a:arcTo wR="50800" hR="50800" stAng="10800000" swAng="5400000"/>
                <a:lnTo>
                  <a:pt x="50800" y="0"/>
                </a:lnTo>
                <a:lnTo>
                  <a:pt x="50800" y="584200"/>
                </a:lnTo>
                <a:close/>
              </a:path>
            </a:pathLst>
          </a:custGeom>
          <a:solidFill>
            <a:srgbClr val="FFCE00"/>
          </a:solidFill>
          <a:ln/>
        </p:spPr>
        <p:txBody>
          <a:bodyPr/>
          <a:lstStyle/>
          <a:p>
            <a:endParaRPr lang="en-KE"/>
          </a:p>
        </p:txBody>
      </p:sp>
      <p:pic>
        <p:nvPicPr>
          <p:cNvPr id="30" name="Image 4" descr="Lightbulb"/>
          <p:cNvPicPr>
            <a:picLocks noChangeAspect="1"/>
          </p:cNvPicPr>
          <p:nvPr/>
        </p:nvPicPr>
        <p:blipFill>
          <a:blip r:embed="rId4"/>
          <a:srcRect/>
          <a:stretch/>
        </p:blipFill>
        <p:spPr>
          <a:xfrm>
            <a:off x="1066800" y="3964781"/>
            <a:ext cx="279400" cy="279400"/>
          </a:xfrm>
          <a:prstGeom prst="rect">
            <a:avLst/>
          </a:prstGeom>
        </p:spPr>
      </p:pic>
      <p:sp>
        <p:nvSpPr>
          <p:cNvPr id="31" name="Text 24"/>
          <p:cNvSpPr/>
          <p:nvPr/>
        </p:nvSpPr>
        <p:spPr>
          <a:xfrm>
            <a:off x="1473200" y="3984476"/>
            <a:ext cx="990600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Medaka 2 can use a bacteria-specific model if your basecalling model supports it: check </a:t>
            </a:r>
            <a:r>
              <a:rPr lang="en-US" sz="1400" b="1" dirty="0">
                <a:solidFill>
                  <a:srgbClr val="3A322C"/>
                </a:solidFill>
                <a:latin typeface="Consolas" panose="020B0609020204030204" pitchFamily="49" charset="0"/>
                <a:ea typeface="Carlito" pitchFamily="34" charset="-122"/>
                <a:cs typeface="Consolas" panose="020B0609020204030204" pitchFamily="49" charset="0"/>
              </a:rPr>
              <a:t>medaka_consensus -h</a:t>
            </a:r>
            <a:r>
              <a:rPr lang="en-US" sz="1400" dirty="0">
                <a:solidFill>
                  <a:srgbClr val="3A322C"/>
                </a:solidFill>
                <a:latin typeface="Consolas" panose="020B0609020204030204" pitchFamily="49" charset="0"/>
                <a:ea typeface="Carlito" pitchFamily="34" charset="-122"/>
                <a:cs typeface="Consolas" panose="020B0609020204030204" pitchFamily="49" charset="0"/>
              </a:rPr>
              <a:t> </a:t>
            </a:r>
            <a:r>
              <a:rPr lang="en-US" sz="1400" dirty="0">
                <a:solidFill>
                  <a:srgbClr val="3A322C"/>
                </a:solidFill>
                <a:latin typeface="Carlito" pitchFamily="34" charset="0"/>
                <a:ea typeface="Carlito" pitchFamily="34" charset="-122"/>
                <a:cs typeface="Carlito" pitchFamily="34" charset="-120"/>
              </a:rPr>
              <a:t>for </a:t>
            </a:r>
            <a:r>
              <a:rPr lang="en-US" sz="1400" b="1" dirty="0">
                <a:solidFill>
                  <a:srgbClr val="3A322C"/>
                </a:solidFill>
                <a:latin typeface="Consolas" panose="020B0609020204030204" pitchFamily="49" charset="0"/>
                <a:ea typeface="Carlito" pitchFamily="34" charset="-122"/>
                <a:cs typeface="Consolas" panose="020B0609020204030204" pitchFamily="49" charset="0"/>
              </a:rPr>
              <a:t>--bacteria</a:t>
            </a:r>
            <a:r>
              <a:rPr lang="en-US" sz="1400" dirty="0">
                <a:solidFill>
                  <a:srgbClr val="3A322C"/>
                </a:solidFill>
                <a:latin typeface="Carlito" pitchFamily="34" charset="0"/>
                <a:ea typeface="Carlito" pitchFamily="34" charset="-122"/>
                <a:cs typeface="Carlito" pitchFamily="34" charset="-120"/>
              </a:rPr>
              <a:t>.</a:t>
            </a:r>
            <a:endParaRPr lang="en-US" sz="1400" dirty="0"/>
          </a:p>
        </p:txBody>
      </p:sp>
      <p:pic>
        <p:nvPicPr>
          <p:cNvPr id="32" name="Image 5" descr="ILRI and CGIAR logos"/>
          <p:cNvPicPr>
            <a:picLocks noChangeAspect="1"/>
          </p:cNvPicPr>
          <p:nvPr/>
        </p:nvPicPr>
        <p:blipFill>
          <a:blip r:embed="rId5"/>
          <a:srcRect l="-56" r="-56"/>
          <a:stretch/>
        </p:blipFill>
        <p:spPr>
          <a:xfrm>
            <a:off x="10033000" y="254000"/>
            <a:ext cx="1346200" cy="381000"/>
          </a:xfrm>
          <a:prstGeom prst="rect">
            <a:avLst/>
          </a:prstGeom>
        </p:spPr>
      </p:pic>
      <p:sp>
        <p:nvSpPr>
          <p:cNvPr id="33" name="Text 2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34" name="Text 2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Hands-on: polish CHI11E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58590"/>
            <a:ext cx="10566400" cy="3723134"/>
          </a:xfrm>
          <a:prstGeom prst="roundRect">
            <a:avLst>
              <a:gd name="adj" fmla="val 2047"/>
            </a:avLst>
          </a:prstGeom>
          <a:solidFill>
            <a:srgbClr val="273003"/>
          </a:solidFill>
          <a:ln/>
        </p:spPr>
        <p:txBody>
          <a:bodyPr wrap="square" lIns="231682" tIns="155482" rIns="0" bIns="130082" rtlCol="0" anchor="t">
            <a:normAutofit fontScale="25000" lnSpcReduction="20000"/>
          </a:bodyPr>
          <a:lstStyle/>
          <a:p>
            <a:pPr marL="0" indent="0" algn="l">
              <a:lnSpc>
                <a:spcPts val="1560"/>
              </a:lnSpc>
              <a:buNone/>
            </a:pPr>
            <a:r>
              <a:rPr lang="en-US" sz="4800" dirty="0">
                <a:solidFill>
                  <a:srgbClr val="F3EEDF"/>
                </a:solidFill>
                <a:latin typeface="Consolas" panose="020B0609020204030204" pitchFamily="49" charset="0"/>
                <a:ea typeface="JetBrains Mono" pitchFamily="49" charset="-122"/>
                <a:cs typeface="Consolas" panose="020B0609020204030204" pitchFamily="49" charset="0"/>
              </a:rPr>
              <a:t>s=CHI11E; out=$RESULTS/02_assembly/hybrid/$s; mkdir -p $out</a:t>
            </a:r>
            <a:endParaRPr lang="en-US" sz="4800" dirty="0">
              <a:latin typeface="Consolas" panose="020B0609020204030204" pitchFamily="49" charset="0"/>
              <a:cs typeface="Consolas" panose="020B0609020204030204" pitchFamily="49" charset="0"/>
            </a:endParaRPr>
          </a:p>
          <a:p>
            <a:pPr marL="0" indent="0" algn="l">
              <a:lnSpc>
                <a:spcPts val="1560"/>
              </a:lnSpc>
              <a:buNone/>
            </a:pPr>
            <a:r>
              <a:rPr lang="en-US" sz="4800" dirty="0">
                <a:solidFill>
                  <a:srgbClr val="F3EEDF"/>
                </a:solidFill>
                <a:latin typeface="Consolas" panose="020B0609020204030204" pitchFamily="49" charset="0"/>
                <a:ea typeface="JetBrains Mono" pitchFamily="49" charset="-122"/>
                <a:cs typeface="Consolas" panose="020B0609020204030204" pitchFamily="49" charset="0"/>
              </a:rPr>
              <a:t>draft=$RESULTS/02_assembly/autocycler/$s/autocycler_out/consensus_assembly.fasta</a:t>
            </a:r>
            <a:endParaRPr lang="en-US" sz="4800" dirty="0">
              <a:latin typeface="Consolas" panose="020B0609020204030204" pitchFamily="49" charset="0"/>
              <a:cs typeface="Consolas" panose="020B0609020204030204" pitchFamily="49" charset="0"/>
            </a:endParaRPr>
          </a:p>
          <a:p>
            <a:pPr marL="0" indent="0" algn="l">
              <a:lnSpc>
                <a:spcPts val="1560"/>
              </a:lnSpc>
              <a:buNone/>
            </a:pPr>
            <a:r>
              <a:rPr lang="en-US" sz="4800" dirty="0">
                <a:solidFill>
                  <a:srgbClr val="C2CA6E"/>
                </a:solidFill>
                <a:latin typeface="JetBrains Mono" pitchFamily="49" charset="0"/>
                <a:ea typeface="JetBrains Mono" pitchFamily="49" charset="-122"/>
                <a:cs typeface="JetBrains Mono" pitchFamily="49" charset="-120"/>
              </a:rPr>
              <a:t># 1. Long-read polishing</a:t>
            </a:r>
            <a:endParaRPr lang="en-US" sz="4800" dirty="0"/>
          </a:p>
          <a:p>
            <a:pPr marL="0" indent="0" algn="l">
              <a:lnSpc>
                <a:spcPts val="1560"/>
              </a:lnSpc>
              <a:buNone/>
            </a:pPr>
            <a:r>
              <a:rPr lang="en-US" sz="4800" dirty="0">
                <a:solidFill>
                  <a:srgbClr val="F3EEDF"/>
                </a:solidFill>
                <a:latin typeface="Consolas" panose="020B0609020204030204" pitchFamily="49" charset="0"/>
                <a:ea typeface="JetBrains Mono" pitchFamily="49" charset="-122"/>
                <a:cs typeface="Consolas" panose="020B0609020204030204" pitchFamily="49" charset="0"/>
              </a:rPr>
              <a:t>use_tools medaka</a:t>
            </a:r>
            <a:endParaRPr lang="en-US" sz="4800" dirty="0">
              <a:latin typeface="Consolas" panose="020B0609020204030204" pitchFamily="49" charset="0"/>
              <a:cs typeface="Consolas" panose="020B0609020204030204" pitchFamily="49" charset="0"/>
            </a:endParaRPr>
          </a:p>
          <a:p>
            <a:pPr marL="0" indent="0" algn="l">
              <a:lnSpc>
                <a:spcPts val="1560"/>
              </a:lnSpc>
              <a:buNone/>
            </a:pPr>
            <a:r>
              <a:rPr lang="en-US" sz="4800" dirty="0">
                <a:solidFill>
                  <a:srgbClr val="F3EEDF"/>
                </a:solidFill>
                <a:latin typeface="Consolas" panose="020B0609020204030204" pitchFamily="49" charset="0"/>
                <a:ea typeface="JetBrains Mono" pitchFamily="49" charset="-122"/>
                <a:cs typeface="Consolas" panose="020B0609020204030204" pitchFamily="49" charset="0"/>
              </a:rPr>
              <a:t>medaka_consensus -i $COURSE/trimmed/${s}_ont.fastq.gz -d $draft -o $out/medaka -t $THREADS</a:t>
            </a:r>
            <a:endParaRPr lang="en-US" sz="4800" dirty="0">
              <a:latin typeface="Consolas" panose="020B0609020204030204" pitchFamily="49" charset="0"/>
              <a:cs typeface="Consolas" panose="020B0609020204030204" pitchFamily="49" charset="0"/>
            </a:endParaRPr>
          </a:p>
          <a:p>
            <a:pPr marL="0" indent="0" algn="l">
              <a:lnSpc>
                <a:spcPts val="1560"/>
              </a:lnSpc>
              <a:buNone/>
            </a:pPr>
            <a:r>
              <a:rPr lang="en-US" sz="4800" dirty="0">
                <a:solidFill>
                  <a:srgbClr val="C2CA6E"/>
                </a:solidFill>
                <a:latin typeface="JetBrains Mono" pitchFamily="49" charset="0"/>
                <a:ea typeface="JetBrains Mono" pitchFamily="49" charset="-122"/>
                <a:cs typeface="JetBrains Mono" pitchFamily="49" charset="-120"/>
              </a:rPr>
              <a:t># 2. Short-read polishing: each read file aligned separately, all alignments kept (-a)</a:t>
            </a:r>
            <a:endParaRPr lang="en-US" sz="4800" dirty="0"/>
          </a:p>
          <a:p>
            <a:pPr marL="0" indent="0" algn="l">
              <a:lnSpc>
                <a:spcPts val="1560"/>
              </a:lnSpc>
              <a:buNone/>
            </a:pPr>
            <a:r>
              <a:rPr lang="en-US" sz="4800" dirty="0">
                <a:solidFill>
                  <a:srgbClr val="F3EEDF"/>
                </a:solidFill>
                <a:latin typeface="Consolas" panose="020B0609020204030204" pitchFamily="49" charset="0"/>
                <a:ea typeface="JetBrains Mono" pitchFamily="49" charset="-122"/>
                <a:cs typeface="Consolas" panose="020B0609020204030204" pitchFamily="49" charset="0"/>
              </a:rPr>
              <a:t>use_tools assembly</a:t>
            </a:r>
            <a:endParaRPr lang="en-US" sz="4800" dirty="0">
              <a:latin typeface="Consolas" panose="020B0609020204030204" pitchFamily="49" charset="0"/>
              <a:cs typeface="Consolas" panose="020B0609020204030204" pitchFamily="49" charset="0"/>
            </a:endParaRPr>
          </a:p>
          <a:p>
            <a:pPr marL="0" indent="0" algn="l">
              <a:lnSpc>
                <a:spcPts val="1560"/>
              </a:lnSpc>
              <a:buNone/>
            </a:pPr>
            <a:r>
              <a:rPr lang="en-US" sz="4800" dirty="0">
                <a:solidFill>
                  <a:srgbClr val="F3EEDF"/>
                </a:solidFill>
                <a:latin typeface="Consolas" panose="020B0609020204030204" pitchFamily="49" charset="0"/>
                <a:ea typeface="JetBrains Mono" pitchFamily="49" charset="-122"/>
                <a:cs typeface="Consolas" panose="020B0609020204030204" pitchFamily="49" charset="0"/>
              </a:rPr>
              <a:t>cp $out/medaka/consensus.fasta $out/medaka.fasta &amp;&amp; bwa index $out/medaka.fasta</a:t>
            </a:r>
            <a:endParaRPr lang="en-US" sz="4800" dirty="0">
              <a:latin typeface="Consolas" panose="020B0609020204030204" pitchFamily="49" charset="0"/>
              <a:cs typeface="Consolas" panose="020B0609020204030204" pitchFamily="49" charset="0"/>
            </a:endParaRPr>
          </a:p>
          <a:p>
            <a:pPr marL="0" indent="0" algn="l">
              <a:lnSpc>
                <a:spcPts val="1560"/>
              </a:lnSpc>
              <a:buNone/>
            </a:pPr>
            <a:r>
              <a:rPr lang="en-US" sz="4800" dirty="0">
                <a:solidFill>
                  <a:srgbClr val="F3EEDF"/>
                </a:solidFill>
                <a:latin typeface="Consolas" panose="020B0609020204030204" pitchFamily="49" charset="0"/>
                <a:ea typeface="JetBrains Mono" pitchFamily="49" charset="-122"/>
                <a:cs typeface="Consolas" panose="020B0609020204030204" pitchFamily="49" charset="0"/>
              </a:rPr>
              <a:t>bwa mem -t $THREADS -a $out/medaka.fasta $COURSE/trimmed/${s}_R1.fastq.gz &gt; $out/aln_1.sam</a:t>
            </a:r>
            <a:endParaRPr lang="en-US" sz="4800" dirty="0">
              <a:latin typeface="Consolas" panose="020B0609020204030204" pitchFamily="49" charset="0"/>
              <a:cs typeface="Consolas" panose="020B0609020204030204" pitchFamily="49" charset="0"/>
            </a:endParaRPr>
          </a:p>
          <a:p>
            <a:pPr marL="0" indent="0" algn="l">
              <a:lnSpc>
                <a:spcPts val="1560"/>
              </a:lnSpc>
              <a:buNone/>
            </a:pPr>
            <a:r>
              <a:rPr lang="en-US" sz="4800" dirty="0">
                <a:solidFill>
                  <a:srgbClr val="F3EEDF"/>
                </a:solidFill>
                <a:latin typeface="Consolas" panose="020B0609020204030204" pitchFamily="49" charset="0"/>
                <a:ea typeface="JetBrains Mono" pitchFamily="49" charset="-122"/>
                <a:cs typeface="Consolas" panose="020B0609020204030204" pitchFamily="49" charset="0"/>
              </a:rPr>
              <a:t>bwa mem -t $THREADS -a $out/medaka.fasta $COURSE/trimmed/${s}_R2.fastq.gz &gt; $out/aln_2.sam</a:t>
            </a:r>
            <a:endParaRPr lang="en-US" sz="4800" dirty="0">
              <a:latin typeface="Consolas" panose="020B0609020204030204" pitchFamily="49" charset="0"/>
              <a:cs typeface="Consolas" panose="020B0609020204030204" pitchFamily="49" charset="0"/>
            </a:endParaRPr>
          </a:p>
          <a:p>
            <a:pPr marL="0" indent="0" algn="l">
              <a:lnSpc>
                <a:spcPts val="1560"/>
              </a:lnSpc>
              <a:buNone/>
            </a:pPr>
            <a:r>
              <a:rPr lang="en-US" sz="4800" dirty="0">
                <a:solidFill>
                  <a:srgbClr val="F3EEDF"/>
                </a:solidFill>
                <a:latin typeface="Consolas" panose="020B0609020204030204" pitchFamily="49" charset="0"/>
                <a:ea typeface="JetBrains Mono" pitchFamily="49" charset="-122"/>
                <a:cs typeface="Consolas" panose="020B0609020204030204" pitchFamily="49" charset="0"/>
              </a:rPr>
              <a:t>polypolish filter --in1 $out/aln_1.sam --in2 $out/aln_2.sam \</a:t>
            </a:r>
            <a:endParaRPr lang="en-US" sz="4800" dirty="0">
              <a:latin typeface="Consolas" panose="020B0609020204030204" pitchFamily="49" charset="0"/>
              <a:cs typeface="Consolas" panose="020B0609020204030204" pitchFamily="49" charset="0"/>
            </a:endParaRPr>
          </a:p>
          <a:p>
            <a:pPr marL="0" indent="0" algn="l">
              <a:lnSpc>
                <a:spcPts val="1560"/>
              </a:lnSpc>
              <a:buNone/>
            </a:pPr>
            <a:r>
              <a:rPr lang="en-US" sz="4800" dirty="0">
                <a:solidFill>
                  <a:srgbClr val="F3EEDF"/>
                </a:solidFill>
                <a:latin typeface="Consolas" panose="020B0609020204030204" pitchFamily="49" charset="0"/>
                <a:ea typeface="JetBrains Mono" pitchFamily="49" charset="-122"/>
                <a:cs typeface="Consolas" panose="020B0609020204030204" pitchFamily="49" charset="0"/>
              </a:rPr>
              <a:t>    --out1 $out/filt_1.sam --out2 $out/filt_2.sam</a:t>
            </a:r>
            <a:endParaRPr lang="en-US" sz="4800" dirty="0">
              <a:latin typeface="Consolas" panose="020B0609020204030204" pitchFamily="49" charset="0"/>
              <a:cs typeface="Consolas" panose="020B0609020204030204" pitchFamily="49" charset="0"/>
            </a:endParaRPr>
          </a:p>
          <a:p>
            <a:pPr marL="0" indent="0" algn="l">
              <a:lnSpc>
                <a:spcPts val="1560"/>
              </a:lnSpc>
              <a:buNone/>
            </a:pPr>
            <a:r>
              <a:rPr lang="en-US" sz="4800" dirty="0">
                <a:solidFill>
                  <a:srgbClr val="F3EEDF"/>
                </a:solidFill>
                <a:latin typeface="Consolas" panose="020B0609020204030204" pitchFamily="49" charset="0"/>
                <a:ea typeface="JetBrains Mono" pitchFamily="49" charset="-122"/>
                <a:cs typeface="Consolas" panose="020B0609020204030204" pitchFamily="49" charset="0"/>
              </a:rPr>
              <a:t>polypolish polish $out/medaka.fasta $out/filt_1.sam $out/filt_2.sam &gt; $out/polypolish.fasta</a:t>
            </a:r>
            <a:endParaRPr lang="en-US" sz="4800" dirty="0">
              <a:latin typeface="Consolas" panose="020B0609020204030204" pitchFamily="49" charset="0"/>
              <a:cs typeface="Consolas" panose="020B0609020204030204" pitchFamily="49" charset="0"/>
            </a:endParaRPr>
          </a:p>
          <a:p>
            <a:pPr marL="0" indent="0" algn="l">
              <a:lnSpc>
                <a:spcPts val="1560"/>
              </a:lnSpc>
              <a:buNone/>
            </a:pPr>
            <a:r>
              <a:rPr lang="en-US" sz="4800" dirty="0">
                <a:solidFill>
                  <a:srgbClr val="F3EEDF"/>
                </a:solidFill>
                <a:latin typeface="Consolas" panose="020B0609020204030204" pitchFamily="49" charset="0"/>
                <a:ea typeface="JetBrains Mono" pitchFamily="49" charset="-122"/>
                <a:cs typeface="Consolas" panose="020B0609020204030204" pitchFamily="49" charset="0"/>
              </a:rPr>
              <a:t>pypolca run -a $out/polypolish.fasta -1 $COURSE/trimmed/${s}_R1.fastq.gz \</a:t>
            </a:r>
            <a:endParaRPr lang="en-US" sz="4800" dirty="0">
              <a:latin typeface="Consolas" panose="020B0609020204030204" pitchFamily="49" charset="0"/>
              <a:cs typeface="Consolas" panose="020B0609020204030204" pitchFamily="49" charset="0"/>
            </a:endParaRPr>
          </a:p>
          <a:p>
            <a:pPr marL="0" indent="0" algn="l">
              <a:lnSpc>
                <a:spcPts val="1560"/>
              </a:lnSpc>
              <a:buNone/>
            </a:pPr>
            <a:r>
              <a:rPr lang="en-US" sz="4800" dirty="0">
                <a:solidFill>
                  <a:srgbClr val="F3EEDF"/>
                </a:solidFill>
                <a:latin typeface="Consolas" panose="020B0609020204030204" pitchFamily="49" charset="0"/>
                <a:ea typeface="JetBrains Mono" pitchFamily="49" charset="-122"/>
                <a:cs typeface="Consolas" panose="020B0609020204030204" pitchFamily="49" charset="0"/>
              </a:rPr>
              <a:t>    -2 $COURSE/trimmed/${s}_R2.fastq.gz -t $THREADS -o $out/pypolca --careful</a:t>
            </a:r>
            <a:endParaRPr lang="en-US" sz="4800" dirty="0">
              <a:latin typeface="Consolas" panose="020B0609020204030204" pitchFamily="49" charset="0"/>
              <a:cs typeface="Consolas" panose="020B0609020204030204" pitchFamily="49" charset="0"/>
            </a:endParaRPr>
          </a:p>
          <a:p>
            <a:pPr marL="0" indent="0" algn="l">
              <a:lnSpc>
                <a:spcPts val="1560"/>
              </a:lnSpc>
              <a:buNone/>
            </a:pPr>
            <a:r>
              <a:rPr lang="en-US" sz="4800" dirty="0">
                <a:solidFill>
                  <a:srgbClr val="F3EEDF"/>
                </a:solidFill>
                <a:latin typeface="Consolas" panose="020B0609020204030204" pitchFamily="49" charset="0"/>
                <a:ea typeface="JetBrains Mono" pitchFamily="49" charset="-122"/>
                <a:cs typeface="Consolas" panose="020B0609020204030204" pitchFamily="49" charset="0"/>
              </a:rPr>
              <a:t>cp $out/pypolca/pypolca_corrected.fasta $COURSE/assemblies/${s}.hybrid.fasta</a:t>
            </a:r>
            <a:endParaRPr lang="en-US" sz="4800" dirty="0">
              <a:latin typeface="Consolas" panose="020B0609020204030204" pitchFamily="49" charset="0"/>
              <a:cs typeface="Consolas" panose="020B0609020204030204" pitchFamily="49" charset="0"/>
            </a:endParaRPr>
          </a:p>
          <a:p>
            <a:pPr marL="0" indent="0" algn="l">
              <a:lnSpc>
                <a:spcPts val="1560"/>
              </a:lnSpc>
              <a:buNone/>
            </a:pPr>
            <a:r>
              <a:rPr lang="en-US" sz="4800" dirty="0">
                <a:solidFill>
                  <a:srgbClr val="F3EEDF"/>
                </a:solidFill>
                <a:latin typeface="Consolas" panose="020B0609020204030204" pitchFamily="49" charset="0"/>
                <a:ea typeface="JetBrains Mono" pitchFamily="49" charset="-122"/>
                <a:cs typeface="Consolas" panose="020B0609020204030204" pitchFamily="49" charset="0"/>
              </a:rPr>
              <a:t>rm $out/*.sam</a:t>
            </a:r>
            <a:endParaRPr lang="en-US" sz="4800" dirty="0">
              <a:latin typeface="Consolas" panose="020B0609020204030204" pitchFamily="49" charset="0"/>
              <a:cs typeface="Consolas" panose="020B0609020204030204" pitchFamily="49" charset="0"/>
            </a:endParaRPr>
          </a:p>
        </p:txBody>
      </p:sp>
      <p:pic>
        <p:nvPicPr>
          <p:cNvPr id="5"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Short-read, long-read and hybrid: CHI11E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58590"/>
            <a:ext cx="10566400" cy="1295251"/>
          </a:xfrm>
          <a:prstGeom prst="roundRect">
            <a:avLst>
              <a:gd name="adj" fmla="val 5883"/>
            </a:avLst>
          </a:prstGeom>
          <a:solidFill>
            <a:srgbClr val="273003"/>
          </a:solidFill>
          <a:ln/>
        </p:spPr>
        <p:txBody>
          <a:bodyPr wrap="square" lIns="231682" tIns="130082" rIns="0" bIns="104682" rtlCol="0" anchor="t">
            <a:normAutofit/>
          </a:bodyPr>
          <a:lstStyle/>
          <a:p>
            <a:pPr marL="0" indent="0" algn="l">
              <a:lnSpc>
                <a:spcPts val="1560"/>
              </a:lnSpc>
              <a:buNone/>
            </a:pPr>
            <a:r>
              <a:rPr lang="en-US" sz="1200" dirty="0">
                <a:solidFill>
                  <a:srgbClr val="F3EEDF"/>
                </a:solidFill>
                <a:latin typeface="JetBrains Mono" pitchFamily="49" charset="0"/>
                <a:ea typeface="JetBrains Mono" pitchFamily="49" charset="-122"/>
                <a:cs typeface="JetBrains Mono" pitchFamily="49" charset="-120"/>
              </a:rPr>
              <a:t>s=CHI11E</a:t>
            </a:r>
            <a:endParaRPr lang="en-US" sz="1200" dirty="0"/>
          </a:p>
          <a:p>
            <a:pPr marL="0" indent="0" algn="l">
              <a:lnSpc>
                <a:spcPts val="1560"/>
              </a:lnSpc>
              <a:buNone/>
            </a:pPr>
            <a:r>
              <a:rPr lang="en-US" sz="1200" dirty="0">
                <a:solidFill>
                  <a:srgbClr val="F3EEDF"/>
                </a:solidFill>
                <a:latin typeface="JetBrains Mono" pitchFamily="49" charset="0"/>
                <a:ea typeface="JetBrains Mono" pitchFamily="49" charset="-122"/>
                <a:cs typeface="JetBrains Mono" pitchFamily="49" charset="-120"/>
              </a:rPr>
              <a:t>quast.py $COURSE/assemblies/${s}.fasta \</a:t>
            </a:r>
            <a:endParaRPr lang="en-US" sz="1200" dirty="0"/>
          </a:p>
          <a:p>
            <a:pPr marL="0" indent="0" algn="l">
              <a:lnSpc>
                <a:spcPts val="1560"/>
              </a:lnSpc>
              <a:buNone/>
            </a:pPr>
            <a:r>
              <a:rPr lang="en-US" sz="1200" dirty="0">
                <a:solidFill>
                  <a:srgbClr val="F3EEDF"/>
                </a:solidFill>
                <a:latin typeface="JetBrains Mono" pitchFamily="49" charset="0"/>
                <a:ea typeface="JetBrains Mono" pitchFamily="49" charset="-122"/>
                <a:cs typeface="JetBrains Mono" pitchFamily="49" charset="-120"/>
              </a:rPr>
              <a:t>    $RESULTS/02_assembly/autocycler/$s/autocycler_out/consensus_assembly.fasta \</a:t>
            </a:r>
            <a:endParaRPr lang="en-US" sz="1200" dirty="0"/>
          </a:p>
          <a:p>
            <a:pPr marL="0" indent="0" algn="l">
              <a:lnSpc>
                <a:spcPts val="1560"/>
              </a:lnSpc>
              <a:buNone/>
            </a:pPr>
            <a:r>
              <a:rPr lang="en-US" sz="1200" dirty="0">
                <a:solidFill>
                  <a:srgbClr val="F3EEDF"/>
                </a:solidFill>
                <a:latin typeface="JetBrains Mono" pitchFamily="49" charset="0"/>
                <a:ea typeface="JetBrains Mono" pitchFamily="49" charset="-122"/>
                <a:cs typeface="JetBrains Mono" pitchFamily="49" charset="-120"/>
              </a:rPr>
              <a:t>    $COURSE/assemblies/${s}.hybrid.fasta -l "shovill,autocycler,hybrid" \</a:t>
            </a:r>
            <a:endParaRPr lang="en-US" sz="1200" dirty="0"/>
          </a:p>
          <a:p>
            <a:pPr marL="0" indent="0" algn="l">
              <a:lnSpc>
                <a:spcPts val="1560"/>
              </a:lnSpc>
              <a:buNone/>
            </a:pPr>
            <a:r>
              <a:rPr lang="en-US" sz="1200" dirty="0">
                <a:solidFill>
                  <a:srgbClr val="F3EEDF"/>
                </a:solidFill>
                <a:latin typeface="JetBrains Mono" pitchFamily="49" charset="0"/>
                <a:ea typeface="JetBrains Mono" pitchFamily="49" charset="-122"/>
                <a:cs typeface="JetBrains Mono" pitchFamily="49" charset="-120"/>
              </a:rPr>
              <a:t>    -o $RESULTS/02_assembly/quast_compare_$s -t $THREADS</a:t>
            </a:r>
            <a:endParaRPr lang="en-US" sz="1200" dirty="0"/>
          </a:p>
        </p:txBody>
      </p:sp>
      <p:sp>
        <p:nvSpPr>
          <p:cNvPr id="5" name="Text 3"/>
          <p:cNvSpPr/>
          <p:nvPr/>
        </p:nvSpPr>
        <p:spPr>
          <a:xfrm>
            <a:off x="812800" y="3157041"/>
            <a:ext cx="528472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73003"/>
                </a:solidFill>
                <a:latin typeface="Carlito" pitchFamily="34" charset="0"/>
                <a:ea typeface="Carlito" pitchFamily="34" charset="-122"/>
                <a:cs typeface="Carlito" pitchFamily="34" charset="-120"/>
              </a:rPr>
              <a:t>Fill in: your three assemblies</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3474541"/>
          <a:ext cx="5118100" cy="1544041"/>
        </p:xfrm>
        <a:graphic>
          <a:graphicData uri="http://schemas.openxmlformats.org/drawingml/2006/table">
            <a:tbl>
              <a:tblPr/>
              <a:tblGrid>
                <a:gridCol w="1125982">
                  <a:extLst>
                    <a:ext uri="{9D8B030D-6E8A-4147-A177-3AD203B41FA5}">
                      <a16:colId xmlns:a16="http://schemas.microsoft.com/office/drawing/2014/main" val="20000"/>
                    </a:ext>
                  </a:extLst>
                </a:gridCol>
                <a:gridCol w="818896">
                  <a:extLst>
                    <a:ext uri="{9D8B030D-6E8A-4147-A177-3AD203B41FA5}">
                      <a16:colId xmlns:a16="http://schemas.microsoft.com/office/drawing/2014/main" val="20001"/>
                    </a:ext>
                  </a:extLst>
                </a:gridCol>
                <a:gridCol w="1125982">
                  <a:extLst>
                    <a:ext uri="{9D8B030D-6E8A-4147-A177-3AD203B41FA5}">
                      <a16:colId xmlns:a16="http://schemas.microsoft.com/office/drawing/2014/main" val="20002"/>
                    </a:ext>
                  </a:extLst>
                </a:gridCol>
                <a:gridCol w="1125982">
                  <a:extLst>
                    <a:ext uri="{9D8B030D-6E8A-4147-A177-3AD203B41FA5}">
                      <a16:colId xmlns:a16="http://schemas.microsoft.com/office/drawing/2014/main" val="20003"/>
                    </a:ext>
                  </a:extLst>
                </a:gridCol>
                <a:gridCol w="921258">
                  <a:extLst>
                    <a:ext uri="{9D8B030D-6E8A-4147-A177-3AD203B41FA5}">
                      <a16:colId xmlns:a16="http://schemas.microsoft.com/office/drawing/2014/main" val="20004"/>
                    </a:ext>
                  </a:extLst>
                </a:gridCol>
              </a:tblGrid>
              <a:tr h="546001">
                <a:tc>
                  <a:txBody>
                    <a:bodyPr/>
                    <a:lstStyle/>
                    <a:p>
                      <a:pPr marL="0" indent="0">
                        <a:lnSpc>
                          <a:spcPts val="1680"/>
                        </a:lnSpc>
                        <a:buNone/>
                      </a:pPr>
                      <a:r>
                        <a:rPr lang="en-US" sz="1200" b="1" dirty="0">
                          <a:solidFill>
                            <a:srgbClr val="F9F2EA"/>
                          </a:solidFill>
                          <a:latin typeface="Carlito" pitchFamily="34" charset="0"/>
                          <a:ea typeface="Carlito" pitchFamily="34" charset="-122"/>
                          <a:cs typeface="Carlito" pitchFamily="34" charset="-120"/>
                        </a:rPr>
                        <a:t>Assembly</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1680"/>
                        </a:lnSpc>
                        <a:buNone/>
                      </a:pPr>
                      <a:r>
                        <a:rPr lang="en-US" sz="1200" b="1" dirty="0">
                          <a:solidFill>
                            <a:srgbClr val="F9F2EA"/>
                          </a:solidFill>
                          <a:latin typeface="Carlito" pitchFamily="34" charset="0"/>
                          <a:ea typeface="Carlito" pitchFamily="34" charset="-122"/>
                          <a:cs typeface="Carlito" pitchFamily="34" charset="-120"/>
                        </a:rPr>
                        <a:t>Contigs</a:t>
                      </a:r>
                      <a:endParaRPr lang="en-US" sz="1200" dirty="0">
                        <a:latin typeface="Carlito" charset="0"/>
                        <a:ea typeface="Carlito" charset="0"/>
                        <a:cs typeface="Carlito" charset="0"/>
                      </a:endParaRPr>
                    </a:p>
                  </a:txBody>
                  <a:tcPr marL="53340" marR="53340" marT="53340" marB="53340">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1680"/>
                        </a:lnSpc>
                        <a:buNone/>
                      </a:pPr>
                      <a:r>
                        <a:rPr lang="en-US" sz="1200" b="1" dirty="0">
                          <a:solidFill>
                            <a:srgbClr val="F9F2EA"/>
                          </a:solidFill>
                          <a:latin typeface="Carlito" pitchFamily="34" charset="0"/>
                          <a:ea typeface="Carlito" pitchFamily="34" charset="-122"/>
                          <a:cs typeface="Carlito" pitchFamily="34" charset="-120"/>
                        </a:rPr>
                        <a:t>Largest contig (bp)</a:t>
                      </a:r>
                      <a:endParaRPr lang="en-US" sz="1200" dirty="0">
                        <a:latin typeface="Carlito" charset="0"/>
                        <a:ea typeface="Carlito" charset="0"/>
                        <a:cs typeface="Carlito" charset="0"/>
                      </a:endParaRPr>
                    </a:p>
                  </a:txBody>
                  <a:tcPr marL="53340" marR="53340" marT="53340" marB="53340">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1680"/>
                        </a:lnSpc>
                        <a:buNone/>
                      </a:pPr>
                      <a:r>
                        <a:rPr lang="en-US" sz="1200" b="1" dirty="0">
                          <a:solidFill>
                            <a:srgbClr val="F9F2EA"/>
                          </a:solidFill>
                          <a:latin typeface="Carlito" pitchFamily="34" charset="0"/>
                          <a:ea typeface="Carlito" pitchFamily="34" charset="-122"/>
                          <a:cs typeface="Carlito" pitchFamily="34" charset="-120"/>
                        </a:rPr>
                        <a:t>Total length (bp)</a:t>
                      </a:r>
                      <a:endParaRPr lang="en-US" sz="1200" dirty="0">
                        <a:latin typeface="Carlito" charset="0"/>
                        <a:ea typeface="Carlito" charset="0"/>
                        <a:cs typeface="Carlito" charset="0"/>
                      </a:endParaRPr>
                    </a:p>
                  </a:txBody>
                  <a:tcPr marL="53340" marR="53340" marT="53340" marB="53340">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1680"/>
                        </a:lnSpc>
                        <a:buNone/>
                      </a:pPr>
                      <a:r>
                        <a:rPr lang="en-US" sz="1200" b="1" dirty="0">
                          <a:solidFill>
                            <a:srgbClr val="F9F2EA"/>
                          </a:solidFill>
                          <a:latin typeface="Carlito" pitchFamily="34" charset="0"/>
                          <a:ea typeface="Carlito" pitchFamily="34" charset="-122"/>
                          <a:cs typeface="Carlito" pitchFamily="34" charset="-120"/>
                        </a:rPr>
                        <a:t>Circular contigs</a:t>
                      </a:r>
                      <a:endParaRPr lang="en-US" sz="1200" dirty="0">
                        <a:latin typeface="Carlito" charset="0"/>
                        <a:ea typeface="Carlito" charset="0"/>
                        <a:cs typeface="Carlito" charset="0"/>
                      </a:endParaRPr>
                    </a:p>
                  </a:txBody>
                  <a:tcPr marL="53340" marR="53340" marT="53340" marB="53340">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Shovill</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Autocycler</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680"/>
                        </a:lnSpc>
                        <a:buNone/>
                      </a:pP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680"/>
                        </a:lnSpc>
                        <a:buNone/>
                      </a:pP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680"/>
                        </a:lnSpc>
                        <a:buNone/>
                      </a:pP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680"/>
                        </a:lnSpc>
                        <a:buNone/>
                      </a:pP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Hybrid</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p:nvPr/>
        </p:nvSpPr>
        <p:spPr>
          <a:xfrm>
            <a:off x="6248400" y="3157041"/>
            <a:ext cx="528472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891F15"/>
                </a:solidFill>
                <a:latin typeface="Carlito" pitchFamily="34" charset="0"/>
                <a:ea typeface="Carlito" pitchFamily="34" charset="-122"/>
                <a:cs typeface="Carlito" pitchFamily="34" charset="-120"/>
              </a:rPr>
              <a:t>The study's closed genome</a:t>
            </a:r>
            <a:endParaRPr lang="en-US" sz="1500" dirty="0"/>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6261100" y="3474541"/>
          <a:ext cx="5118100" cy="1663400"/>
        </p:xfrm>
        <a:graphic>
          <a:graphicData uri="http://schemas.openxmlformats.org/drawingml/2006/table">
            <a:tbl>
              <a:tblPr/>
              <a:tblGrid>
                <a:gridCol w="1535430">
                  <a:extLst>
                    <a:ext uri="{9D8B030D-6E8A-4147-A177-3AD203B41FA5}">
                      <a16:colId xmlns:a16="http://schemas.microsoft.com/office/drawing/2014/main" val="20000"/>
                    </a:ext>
                  </a:extLst>
                </a:gridCol>
                <a:gridCol w="1535430">
                  <a:extLst>
                    <a:ext uri="{9D8B030D-6E8A-4147-A177-3AD203B41FA5}">
                      <a16:colId xmlns:a16="http://schemas.microsoft.com/office/drawing/2014/main" val="20001"/>
                    </a:ext>
                  </a:extLst>
                </a:gridCol>
                <a:gridCol w="2047240">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F9F2EA"/>
                          </a:solidFill>
                          <a:latin typeface="Carlito" pitchFamily="34" charset="0"/>
                          <a:ea typeface="Carlito" pitchFamily="34" charset="-122"/>
                          <a:cs typeface="Carlito" pitchFamily="34" charset="-120"/>
                        </a:rPr>
                        <a:t>Contig</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6F1D15"/>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6F1D15"/>
                      </a:solidFill>
                      <a:prstDash val="solid"/>
                      <a:round/>
                      <a:headEnd type="none" w="med" len="med"/>
                      <a:tailEnd type="none" w="med" len="med"/>
                    </a:lnB>
                    <a:solidFill>
                      <a:srgbClr val="891F15"/>
                    </a:solidFill>
                  </a:tcPr>
                </a:tc>
                <a:tc>
                  <a:txBody>
                    <a:bodyPr/>
                    <a:lstStyle/>
                    <a:p>
                      <a:pPr marL="0" indent="0" algn="r">
                        <a:lnSpc>
                          <a:spcPts val="1680"/>
                        </a:lnSpc>
                        <a:buNone/>
                      </a:pPr>
                      <a:r>
                        <a:rPr lang="en-US" sz="1200" b="1" dirty="0">
                          <a:solidFill>
                            <a:srgbClr val="F9F2EA"/>
                          </a:solidFill>
                          <a:latin typeface="Carlito" pitchFamily="34" charset="0"/>
                          <a:ea typeface="Carlito" pitchFamily="34" charset="-122"/>
                          <a:cs typeface="Carlito" pitchFamily="34" charset="-120"/>
                        </a:rPr>
                        <a:t>Length (bp)</a:t>
                      </a:r>
                      <a:endParaRPr lang="en-US" sz="1200" dirty="0">
                        <a:latin typeface="Carlito" charset="0"/>
                        <a:ea typeface="Carlito" charset="0"/>
                        <a:cs typeface="Carlito" charset="0"/>
                      </a:endParaRPr>
                    </a:p>
                  </a:txBody>
                  <a:tcPr marL="53340" marR="53340" marT="53340" marB="53340">
                    <a:lnL w="12700" cap="flat" cmpd="sng" algn="ctr">
                      <a:solidFill>
                        <a:srgbClr val="6F1D15"/>
                      </a:solidFill>
                      <a:prstDash val="solid"/>
                      <a:round/>
                      <a:headEnd type="none" w="med" len="med"/>
                      <a:tailEnd type="none" w="med" len="med"/>
                    </a:lnL>
                    <a:lnR w="12700" cap="flat" cmpd="sng" algn="ctr">
                      <a:solidFill>
                        <a:srgbClr val="6F1D15"/>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6F1D15"/>
                      </a:solidFill>
                      <a:prstDash val="solid"/>
                      <a:round/>
                      <a:headEnd type="none" w="med" len="med"/>
                      <a:tailEnd type="none" w="med" len="med"/>
                    </a:lnB>
                    <a:solidFill>
                      <a:srgbClr val="891F15"/>
                    </a:solidFill>
                  </a:tcPr>
                </a:tc>
                <a:tc>
                  <a:txBody>
                    <a:bodyPr/>
                    <a:lstStyle/>
                    <a:p>
                      <a:pPr marL="0" indent="0">
                        <a:lnSpc>
                          <a:spcPts val="1680"/>
                        </a:lnSpc>
                        <a:buNone/>
                      </a:pPr>
                      <a:r>
                        <a:rPr lang="en-US" sz="1200" b="1" dirty="0">
                          <a:solidFill>
                            <a:srgbClr val="F9F2EA"/>
                          </a:solidFill>
                          <a:latin typeface="Carlito" pitchFamily="34" charset="0"/>
                          <a:ea typeface="Carlito" pitchFamily="34" charset="-122"/>
                          <a:cs typeface="Carlito" pitchFamily="34" charset="-120"/>
                        </a:rPr>
                        <a:t>Plasmid replicons</a:t>
                      </a:r>
                      <a:endParaRPr lang="en-US" sz="1200" dirty="0">
                        <a:latin typeface="Carlito" charset="0"/>
                        <a:ea typeface="Carlito" charset="0"/>
                        <a:cs typeface="Carlito" charset="0"/>
                      </a:endParaRPr>
                    </a:p>
                  </a:txBody>
                  <a:tcPr marL="53340" marR="53340" marT="53340" marB="53340">
                    <a:lnL w="12700" cap="flat" cmpd="sng" algn="ctr">
                      <a:solidFill>
                        <a:srgbClr val="6F1D15"/>
                      </a:solidFill>
                      <a:prstDash val="solid"/>
                      <a:round/>
                      <a:headEnd type="none" w="med" len="med"/>
                      <a:tailEnd type="none" w="med" len="med"/>
                    </a:lnL>
                    <a:lnR w="12700" cap="flat" cmpd="sng" algn="ctr">
                      <a:solidFill>
                        <a:srgbClr val="6F1D15"/>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6F1D15"/>
                      </a:solidFill>
                      <a:prstDash val="solid"/>
                      <a:round/>
                      <a:headEnd type="none" w="med" len="med"/>
                      <a:tailEnd type="none" w="med" len="med"/>
                    </a:lnB>
                    <a:solidFill>
                      <a:srgbClr val="891F15"/>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Chromosome</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6F1D15"/>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gn="r">
                        <a:lnSpc>
                          <a:spcPts val="1680"/>
                        </a:lnSpc>
                        <a:buNone/>
                      </a:pPr>
                      <a:r>
                        <a:rPr lang="en-US" sz="1200" dirty="0">
                          <a:solidFill>
                            <a:srgbClr val="3A322C"/>
                          </a:solidFill>
                          <a:latin typeface="Carlito" pitchFamily="34" charset="0"/>
                          <a:ea typeface="Carlito" pitchFamily="34" charset="-122"/>
                          <a:cs typeface="Carlito" pitchFamily="34" charset="-120"/>
                        </a:rPr>
                        <a:t>5,273,539</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6F1D15"/>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none</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6F1D15"/>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Plasmid</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gn="r">
                        <a:lnSpc>
                          <a:spcPts val="1680"/>
                        </a:lnSpc>
                        <a:buNone/>
                      </a:pPr>
                      <a:r>
                        <a:rPr lang="en-US" sz="1200" dirty="0">
                          <a:solidFill>
                            <a:srgbClr val="3A322C"/>
                          </a:solidFill>
                          <a:latin typeface="Carlito" pitchFamily="34" charset="0"/>
                          <a:ea typeface="Carlito" pitchFamily="34" charset="-122"/>
                          <a:cs typeface="Carlito" pitchFamily="34" charset="-120"/>
                        </a:rPr>
                        <a:t>143,302</a:t>
                      </a: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IncFII(K), IncR</a:t>
                      </a: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Plasmid</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gn="r">
                        <a:lnSpc>
                          <a:spcPts val="1680"/>
                        </a:lnSpc>
                        <a:buNone/>
                      </a:pPr>
                      <a:r>
                        <a:rPr lang="en-US" sz="1200" dirty="0">
                          <a:solidFill>
                            <a:srgbClr val="3A322C"/>
                          </a:solidFill>
                          <a:latin typeface="Carlito" pitchFamily="34" charset="0"/>
                          <a:ea typeface="Carlito" pitchFamily="34" charset="-122"/>
                          <a:cs typeface="Carlito" pitchFamily="34" charset="-120"/>
                        </a:rPr>
                        <a:t>11,493</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none</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Plasmid</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gn="r">
                        <a:lnSpc>
                          <a:spcPts val="1680"/>
                        </a:lnSpc>
                        <a:buNone/>
                      </a:pPr>
                      <a:r>
                        <a:rPr lang="en-US" sz="1200" dirty="0">
                          <a:solidFill>
                            <a:srgbClr val="3A322C"/>
                          </a:solidFill>
                          <a:latin typeface="Carlito" pitchFamily="34" charset="0"/>
                          <a:ea typeface="Carlito" pitchFamily="34" charset="-122"/>
                          <a:cs typeface="Carlito" pitchFamily="34" charset="-120"/>
                        </a:rPr>
                        <a:t>4,269</a:t>
                      </a: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none</a:t>
                      </a: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4"/>
                  </a:ext>
                </a:extLst>
              </a:tr>
            </a:tbl>
          </a:graphicData>
        </a:graphic>
      </p:graphicFrame>
      <p:pic>
        <p:nvPicPr>
          <p:cNvPr id="9"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10" name="Text 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11" name="Text 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7300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9F2EA"/>
                </a:solidFill>
                <a:latin typeface="Carlito" pitchFamily="34" charset="0"/>
                <a:ea typeface="Carlito" pitchFamily="34" charset="-122"/>
                <a:cs typeface="Carlito" pitchFamily="34" charset="-120"/>
              </a:rPr>
              <a:t>Check your understanding</a:t>
            </a:r>
            <a:endParaRPr lang="en-US" sz="3600" dirty="0"/>
          </a:p>
        </p:txBody>
      </p:sp>
      <p:sp>
        <p:nvSpPr>
          <p:cNvPr id="3" name="Shape 1"/>
          <p:cNvSpPr/>
          <p:nvPr/>
        </p:nvSpPr>
        <p:spPr>
          <a:xfrm>
            <a:off x="812800" y="1417290"/>
            <a:ext cx="1524000" cy="38100"/>
          </a:xfrm>
          <a:prstGeom prst="roundRect">
            <a:avLst>
              <a:gd name="adj" fmla="val 50000"/>
            </a:avLst>
          </a:prstGeom>
          <a:solidFill>
            <a:srgbClr val="FFCE00"/>
          </a:solidFill>
          <a:ln/>
        </p:spPr>
        <p:txBody>
          <a:bodyPr/>
          <a:lstStyle/>
          <a:p>
            <a:endParaRPr lang="en-KE"/>
          </a:p>
        </p:txBody>
      </p:sp>
      <p:sp>
        <p:nvSpPr>
          <p:cNvPr id="4" name="Text 2"/>
          <p:cNvSpPr/>
          <p:nvPr/>
        </p:nvSpPr>
        <p:spPr>
          <a:xfrm>
            <a:off x="812800" y="1709390"/>
            <a:ext cx="205284"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FCE00"/>
                </a:solidFill>
                <a:latin typeface="Carlito" pitchFamily="34" charset="0"/>
                <a:ea typeface="Carlito" pitchFamily="34" charset="-122"/>
                <a:cs typeface="Carlito" pitchFamily="34" charset="-120"/>
              </a:rPr>
              <a:t>1</a:t>
            </a:r>
            <a:endParaRPr lang="en-US" sz="2400" dirty="0"/>
          </a:p>
        </p:txBody>
      </p:sp>
      <p:sp>
        <p:nvSpPr>
          <p:cNvPr id="5" name="Text 3"/>
          <p:cNvSpPr/>
          <p:nvPr/>
        </p:nvSpPr>
        <p:spPr>
          <a:xfrm>
            <a:off x="1119684" y="1709390"/>
            <a:ext cx="4968634"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9F2EA"/>
                </a:solidFill>
                <a:latin typeface="Carlito" pitchFamily="34" charset="0"/>
                <a:ea typeface="Carlito" pitchFamily="34" charset="-122"/>
                <a:cs typeface="Carlito" pitchFamily="34" charset="-120"/>
              </a:rPr>
              <a:t>Your hybrid CHI11E against the closed genome: what is missing, and why?</a:t>
            </a:r>
            <a:endParaRPr lang="en-US" sz="1600" dirty="0"/>
          </a:p>
        </p:txBody>
      </p:sp>
      <p:sp>
        <p:nvSpPr>
          <p:cNvPr id="6" name="Text 4"/>
          <p:cNvSpPr/>
          <p:nvPr/>
        </p:nvSpPr>
        <p:spPr>
          <a:xfrm>
            <a:off x="812800" y="2435771"/>
            <a:ext cx="205284"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FCE00"/>
                </a:solidFill>
                <a:latin typeface="Carlito" pitchFamily="34" charset="0"/>
                <a:ea typeface="Carlito" pitchFamily="34" charset="-122"/>
                <a:cs typeface="Carlito" pitchFamily="34" charset="-120"/>
              </a:rPr>
              <a:t>2</a:t>
            </a:r>
            <a:endParaRPr lang="en-US" sz="2400" dirty="0"/>
          </a:p>
        </p:txBody>
      </p:sp>
      <p:sp>
        <p:nvSpPr>
          <p:cNvPr id="7" name="Text 5"/>
          <p:cNvSpPr/>
          <p:nvPr/>
        </p:nvSpPr>
        <p:spPr>
          <a:xfrm>
            <a:off x="1119684" y="2435771"/>
            <a:ext cx="4968634"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9F2EA"/>
                </a:solidFill>
                <a:latin typeface="Carlito" pitchFamily="34" charset="0"/>
                <a:ea typeface="Carlito" pitchFamily="34" charset="-122"/>
                <a:cs typeface="Carlito" pitchFamily="34" charset="-120"/>
              </a:rPr>
              <a:t>In the Shovill assembly, why might a resistance gene sit at the very end of a contig?</a:t>
            </a:r>
            <a:endParaRPr lang="en-US" sz="1600" dirty="0"/>
          </a:p>
        </p:txBody>
      </p:sp>
      <p:sp>
        <p:nvSpPr>
          <p:cNvPr id="8" name="Text 6"/>
          <p:cNvSpPr/>
          <p:nvPr/>
        </p:nvSpPr>
        <p:spPr>
          <a:xfrm>
            <a:off x="812800" y="3162151"/>
            <a:ext cx="205284"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FCE00"/>
                </a:solidFill>
                <a:latin typeface="Carlito" pitchFamily="34" charset="0"/>
                <a:ea typeface="Carlito" pitchFamily="34" charset="-122"/>
                <a:cs typeface="Carlito" pitchFamily="34" charset="-120"/>
              </a:rPr>
              <a:t>3</a:t>
            </a:r>
            <a:endParaRPr lang="en-US" sz="2400" dirty="0"/>
          </a:p>
        </p:txBody>
      </p:sp>
      <p:sp>
        <p:nvSpPr>
          <p:cNvPr id="9" name="Text 7"/>
          <p:cNvSpPr/>
          <p:nvPr/>
        </p:nvSpPr>
        <p:spPr>
          <a:xfrm>
            <a:off x="1119684" y="3162151"/>
            <a:ext cx="4968634"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9F2EA"/>
                </a:solidFill>
                <a:latin typeface="Carlito" pitchFamily="34" charset="0"/>
                <a:ea typeface="Carlito" pitchFamily="34" charset="-122"/>
                <a:cs typeface="Carlito" pitchFamily="34" charset="-120"/>
              </a:rPr>
              <a:t>D38119 (9.46 Mb) and CES13U (1,468 contigs): do your Day 1 Kraken2 and depth results explain them?</a:t>
            </a:r>
            <a:endParaRPr lang="en-US" sz="1600" dirty="0"/>
          </a:p>
        </p:txBody>
      </p:sp>
      <p:sp>
        <p:nvSpPr>
          <p:cNvPr id="10" name="Text 8"/>
          <p:cNvSpPr/>
          <p:nvPr/>
        </p:nvSpPr>
        <p:spPr>
          <a:xfrm>
            <a:off x="6299200" y="1709390"/>
            <a:ext cx="52324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C2CA6E"/>
                </a:solidFill>
                <a:latin typeface="Carlito" pitchFamily="34" charset="0"/>
                <a:ea typeface="Carlito" pitchFamily="34" charset="-122"/>
                <a:cs typeface="Carlito" pitchFamily="34" charset="-120"/>
              </a:rPr>
              <a:t>The other two hybrid isolates (closed genomes)</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311900" y="2052290"/>
          <a:ext cx="5067300" cy="1638003"/>
        </p:xfrm>
        <a:graphic>
          <a:graphicData uri="http://schemas.openxmlformats.org/drawingml/2006/table">
            <a:tbl>
              <a:tblPr/>
              <a:tblGrid>
                <a:gridCol w="1013460">
                  <a:extLst>
                    <a:ext uri="{9D8B030D-6E8A-4147-A177-3AD203B41FA5}">
                      <a16:colId xmlns:a16="http://schemas.microsoft.com/office/drawing/2014/main" val="20000"/>
                    </a:ext>
                  </a:extLst>
                </a:gridCol>
                <a:gridCol w="1317498">
                  <a:extLst>
                    <a:ext uri="{9D8B030D-6E8A-4147-A177-3AD203B41FA5}">
                      <a16:colId xmlns:a16="http://schemas.microsoft.com/office/drawing/2014/main" val="20001"/>
                    </a:ext>
                  </a:extLst>
                </a:gridCol>
                <a:gridCol w="2736342">
                  <a:extLst>
                    <a:ext uri="{9D8B030D-6E8A-4147-A177-3AD203B41FA5}">
                      <a16:colId xmlns:a16="http://schemas.microsoft.com/office/drawing/2014/main" val="20002"/>
                    </a:ext>
                  </a:extLst>
                </a:gridCol>
              </a:tblGrid>
              <a:tr h="546001">
                <a:tc>
                  <a:txBody>
                    <a:bodyPr/>
                    <a:lstStyle/>
                    <a:p>
                      <a:pPr marL="0" indent="0">
                        <a:lnSpc>
                          <a:spcPts val="1680"/>
                        </a:lnSpc>
                        <a:buNone/>
                      </a:pPr>
                      <a:r>
                        <a:rPr lang="en-US" sz="1200" b="1" dirty="0">
                          <a:solidFill>
                            <a:srgbClr val="FFCE00"/>
                          </a:solidFill>
                          <a:latin typeface="Carlito" pitchFamily="34" charset="0"/>
                          <a:ea typeface="Carlito" pitchFamily="34" charset="-122"/>
                          <a:cs typeface="Carlito" pitchFamily="34" charset="-120"/>
                        </a:rPr>
                        <a:t>Isolate</a:t>
                      </a:r>
                      <a:endParaRPr lang="en-US" sz="1200" dirty="0">
                        <a:latin typeface="Carlito" charset="0"/>
                        <a:ea typeface="Carlito" charset="0"/>
                        <a:cs typeface="Carlito" charset="0"/>
                      </a:endParaRPr>
                    </a:p>
                  </a:txBody>
                  <a:tcPr marL="53340" marR="53340" marT="53340" marB="53340">
                    <a:lnL w="12700" cap="flat" cmpd="sng" algn="ctr">
                      <a:solidFill>
                        <a:srgbClr val="555C38"/>
                      </a:solidFill>
                      <a:prstDash val="solid"/>
                      <a:round/>
                      <a:headEnd type="none" w="med" len="med"/>
                      <a:tailEnd type="none" w="med" len="med"/>
                    </a:lnL>
                    <a:lnR w="12700" cap="flat" cmpd="sng" algn="ctr">
                      <a:solidFill>
                        <a:srgbClr val="656D44"/>
                      </a:solidFill>
                      <a:prstDash val="solid"/>
                      <a:round/>
                      <a:headEnd type="none" w="med" len="med"/>
                      <a:tailEnd type="none" w="med" len="med"/>
                    </a:lnR>
                    <a:lnT w="12700" cap="flat" cmpd="sng" algn="ctr">
                      <a:solidFill>
                        <a:srgbClr val="555C38"/>
                      </a:solidFill>
                      <a:prstDash val="solid"/>
                      <a:round/>
                      <a:headEnd type="none" w="med" len="med"/>
                      <a:tailEnd type="none" w="med" len="med"/>
                    </a:lnT>
                    <a:lnB w="12700" cap="flat" cmpd="sng" algn="ctr">
                      <a:solidFill>
                        <a:srgbClr val="656D44"/>
                      </a:solidFill>
                      <a:prstDash val="solid"/>
                      <a:round/>
                      <a:headEnd type="none" w="med" len="med"/>
                      <a:tailEnd type="none" w="med" len="med"/>
                    </a:lnB>
                    <a:solidFill>
                      <a:srgbClr val="3B4512"/>
                    </a:solidFill>
                  </a:tcPr>
                </a:tc>
                <a:tc>
                  <a:txBody>
                    <a:bodyPr/>
                    <a:lstStyle/>
                    <a:p>
                      <a:pPr marL="0" indent="0">
                        <a:lnSpc>
                          <a:spcPts val="1680"/>
                        </a:lnSpc>
                        <a:buNone/>
                      </a:pPr>
                      <a:r>
                        <a:rPr lang="en-US" sz="1200" b="1" dirty="0">
                          <a:solidFill>
                            <a:srgbClr val="FFCE00"/>
                          </a:solidFill>
                          <a:latin typeface="Carlito" pitchFamily="34" charset="0"/>
                          <a:ea typeface="Carlito" pitchFamily="34" charset="-122"/>
                          <a:cs typeface="Carlito" pitchFamily="34" charset="-120"/>
                        </a:rPr>
                        <a:t>Chromosome (bp)</a:t>
                      </a:r>
                      <a:endParaRPr lang="en-US" sz="1200" dirty="0">
                        <a:latin typeface="Carlito" charset="0"/>
                        <a:ea typeface="Carlito" charset="0"/>
                        <a:cs typeface="Carlito" charset="0"/>
                      </a:endParaRPr>
                    </a:p>
                  </a:txBody>
                  <a:tcPr marL="53340" marR="53340" marT="53340" marB="53340">
                    <a:lnL w="12700" cap="flat" cmpd="sng" algn="ctr">
                      <a:solidFill>
                        <a:srgbClr val="656D44"/>
                      </a:solidFill>
                      <a:prstDash val="solid"/>
                      <a:round/>
                      <a:headEnd type="none" w="med" len="med"/>
                      <a:tailEnd type="none" w="med" len="med"/>
                    </a:lnL>
                    <a:lnR w="12700" cap="flat" cmpd="sng" algn="ctr">
                      <a:solidFill>
                        <a:srgbClr val="656D44"/>
                      </a:solidFill>
                      <a:prstDash val="solid"/>
                      <a:round/>
                      <a:headEnd type="none" w="med" len="med"/>
                      <a:tailEnd type="none" w="med" len="med"/>
                    </a:lnR>
                    <a:lnT w="12700" cap="flat" cmpd="sng" algn="ctr">
                      <a:solidFill>
                        <a:srgbClr val="555C38"/>
                      </a:solidFill>
                      <a:prstDash val="solid"/>
                      <a:round/>
                      <a:headEnd type="none" w="med" len="med"/>
                      <a:tailEnd type="none" w="med" len="med"/>
                    </a:lnT>
                    <a:lnB w="12700" cap="flat" cmpd="sng" algn="ctr">
                      <a:solidFill>
                        <a:srgbClr val="656D44"/>
                      </a:solidFill>
                      <a:prstDash val="solid"/>
                      <a:round/>
                      <a:headEnd type="none" w="med" len="med"/>
                      <a:tailEnd type="none" w="med" len="med"/>
                    </a:lnB>
                    <a:solidFill>
                      <a:srgbClr val="3B4512"/>
                    </a:solidFill>
                  </a:tcPr>
                </a:tc>
                <a:tc>
                  <a:txBody>
                    <a:bodyPr/>
                    <a:lstStyle/>
                    <a:p>
                      <a:pPr marL="0" indent="0">
                        <a:lnSpc>
                          <a:spcPts val="1680"/>
                        </a:lnSpc>
                        <a:buNone/>
                      </a:pPr>
                      <a:r>
                        <a:rPr lang="en-US" sz="1200" b="1" dirty="0">
                          <a:solidFill>
                            <a:srgbClr val="FFCE00"/>
                          </a:solidFill>
                          <a:latin typeface="Carlito" pitchFamily="34" charset="0"/>
                          <a:ea typeface="Carlito" pitchFamily="34" charset="-122"/>
                          <a:cs typeface="Carlito" pitchFamily="34" charset="-120"/>
                        </a:rPr>
                        <a:t>Plasmids (bp, replicons)</a:t>
                      </a:r>
                      <a:endParaRPr lang="en-US" sz="1200" dirty="0">
                        <a:latin typeface="Carlito" charset="0"/>
                        <a:ea typeface="Carlito" charset="0"/>
                        <a:cs typeface="Carlito" charset="0"/>
                      </a:endParaRPr>
                    </a:p>
                  </a:txBody>
                  <a:tcPr marL="53340" marR="53340" marT="53340" marB="53340">
                    <a:lnL w="12700" cap="flat" cmpd="sng" algn="ctr">
                      <a:solidFill>
                        <a:srgbClr val="656D44"/>
                      </a:solidFill>
                      <a:prstDash val="solid"/>
                      <a:round/>
                      <a:headEnd type="none" w="med" len="med"/>
                      <a:tailEnd type="none" w="med" len="med"/>
                    </a:lnL>
                    <a:lnR w="12700" cap="flat" cmpd="sng" algn="ctr">
                      <a:solidFill>
                        <a:srgbClr val="656D44"/>
                      </a:solidFill>
                      <a:prstDash val="solid"/>
                      <a:round/>
                      <a:headEnd type="none" w="med" len="med"/>
                      <a:tailEnd type="none" w="med" len="med"/>
                    </a:lnR>
                    <a:lnT w="12700" cap="flat" cmpd="sng" algn="ctr">
                      <a:solidFill>
                        <a:srgbClr val="555C38"/>
                      </a:solidFill>
                      <a:prstDash val="solid"/>
                      <a:round/>
                      <a:headEnd type="none" w="med" len="med"/>
                      <a:tailEnd type="none" w="med" len="med"/>
                    </a:lnT>
                    <a:lnB w="12700" cap="flat" cmpd="sng" algn="ctr">
                      <a:solidFill>
                        <a:srgbClr val="656D44"/>
                      </a:solidFill>
                      <a:prstDash val="solid"/>
                      <a:round/>
                      <a:headEnd type="none" w="med" len="med"/>
                      <a:tailEnd type="none" w="med" len="med"/>
                    </a:lnB>
                    <a:solidFill>
                      <a:srgbClr val="3B4512"/>
                    </a:solidFill>
                  </a:tcPr>
                </a:tc>
                <a:extLst>
                  <a:ext uri="{0D108BD9-81ED-4DB2-BD59-A6C34878D82A}">
                    <a16:rowId xmlns:a16="http://schemas.microsoft.com/office/drawing/2014/main" val="10000"/>
                  </a:ext>
                </a:extLst>
              </a:tr>
              <a:tr h="546001">
                <a:tc>
                  <a:txBody>
                    <a:bodyPr/>
                    <a:lstStyle/>
                    <a:p>
                      <a:pPr marL="0" indent="0">
                        <a:lnSpc>
                          <a:spcPts val="1680"/>
                        </a:lnSpc>
                        <a:buNone/>
                      </a:pPr>
                      <a:r>
                        <a:rPr lang="en-US" sz="1200" dirty="0">
                          <a:solidFill>
                            <a:srgbClr val="F9F2EA"/>
                          </a:solidFill>
                          <a:latin typeface="Carlito" pitchFamily="34" charset="0"/>
                          <a:ea typeface="Carlito" pitchFamily="34" charset="-122"/>
                          <a:cs typeface="Carlito" pitchFamily="34" charset="-120"/>
                        </a:rPr>
                        <a:t>CNS1F1</a:t>
                      </a:r>
                      <a:endParaRPr lang="en-US" sz="1200" dirty="0">
                        <a:latin typeface="Carlito" charset="0"/>
                        <a:ea typeface="Carlito" charset="0"/>
                        <a:cs typeface="Carlito" charset="0"/>
                      </a:endParaRPr>
                    </a:p>
                  </a:txBody>
                  <a:tcPr marL="53340" marR="53340" marT="53340" marB="53340">
                    <a:lnL w="12700" cap="flat" cmpd="sng" algn="ctr">
                      <a:solidFill>
                        <a:srgbClr val="555C38"/>
                      </a:solidFill>
                      <a:prstDash val="solid"/>
                      <a:round/>
                      <a:headEnd type="none" w="med" len="med"/>
                      <a:tailEnd type="none" w="med" len="med"/>
                    </a:lnL>
                    <a:lnR w="12700" cap="flat" cmpd="sng" algn="ctr">
                      <a:solidFill>
                        <a:srgbClr val="555C38"/>
                      </a:solidFill>
                      <a:prstDash val="solid"/>
                      <a:round/>
                      <a:headEnd type="none" w="med" len="med"/>
                      <a:tailEnd type="none" w="med" len="med"/>
                    </a:lnR>
                    <a:lnT w="12700" cap="flat" cmpd="sng" algn="ctr">
                      <a:solidFill>
                        <a:srgbClr val="656D44"/>
                      </a:solidFill>
                      <a:prstDash val="solid"/>
                      <a:round/>
                      <a:headEnd type="none" w="med" len="med"/>
                      <a:tailEnd type="none" w="med" len="med"/>
                    </a:lnT>
                    <a:lnB w="12700" cap="flat" cmpd="sng" algn="ctr">
                      <a:solidFill>
                        <a:srgbClr val="555C38"/>
                      </a:solidFill>
                      <a:prstDash val="solid"/>
                      <a:round/>
                      <a:headEnd type="none" w="med" len="med"/>
                      <a:tailEnd type="none" w="med" len="med"/>
                    </a:lnB>
                  </a:tcPr>
                </a:tc>
                <a:tc>
                  <a:txBody>
                    <a:bodyPr/>
                    <a:lstStyle/>
                    <a:p>
                      <a:pPr marL="0" indent="0">
                        <a:lnSpc>
                          <a:spcPts val="1680"/>
                        </a:lnSpc>
                        <a:buNone/>
                      </a:pPr>
                      <a:r>
                        <a:rPr lang="en-US" sz="1200" dirty="0">
                          <a:solidFill>
                            <a:srgbClr val="F9F2EA"/>
                          </a:solidFill>
                          <a:latin typeface="Carlito" pitchFamily="34" charset="0"/>
                          <a:ea typeface="Carlito" pitchFamily="34" charset="-122"/>
                          <a:cs typeface="Carlito" pitchFamily="34" charset="-120"/>
                        </a:rPr>
                        <a:t>5,301,730</a:t>
                      </a:r>
                      <a:endParaRPr lang="en-US" sz="1200" dirty="0">
                        <a:latin typeface="Carlito" charset="0"/>
                        <a:ea typeface="Carlito" charset="0"/>
                        <a:cs typeface="Carlito" charset="0"/>
                      </a:endParaRPr>
                    </a:p>
                  </a:txBody>
                  <a:tcPr marL="53340" marR="53340" marT="53340" marB="53340">
                    <a:lnL w="12700" cap="flat" cmpd="sng" algn="ctr">
                      <a:solidFill>
                        <a:srgbClr val="555C38"/>
                      </a:solidFill>
                      <a:prstDash val="solid"/>
                      <a:round/>
                      <a:headEnd type="none" w="med" len="med"/>
                      <a:tailEnd type="none" w="med" len="med"/>
                    </a:lnL>
                    <a:lnR w="12700" cap="flat" cmpd="sng" algn="ctr">
                      <a:solidFill>
                        <a:srgbClr val="555C38"/>
                      </a:solidFill>
                      <a:prstDash val="solid"/>
                      <a:round/>
                      <a:headEnd type="none" w="med" len="med"/>
                      <a:tailEnd type="none" w="med" len="med"/>
                    </a:lnR>
                    <a:lnT w="12700" cap="flat" cmpd="sng" algn="ctr">
                      <a:solidFill>
                        <a:srgbClr val="656D44"/>
                      </a:solidFill>
                      <a:prstDash val="solid"/>
                      <a:round/>
                      <a:headEnd type="none" w="med" len="med"/>
                      <a:tailEnd type="none" w="med" len="med"/>
                    </a:lnT>
                    <a:lnB w="12700" cap="flat" cmpd="sng" algn="ctr">
                      <a:solidFill>
                        <a:srgbClr val="555C38"/>
                      </a:solidFill>
                      <a:prstDash val="solid"/>
                      <a:round/>
                      <a:headEnd type="none" w="med" len="med"/>
                      <a:tailEnd type="none" w="med" len="med"/>
                    </a:lnB>
                  </a:tcPr>
                </a:tc>
                <a:tc>
                  <a:txBody>
                    <a:bodyPr/>
                    <a:lstStyle/>
                    <a:p>
                      <a:pPr marL="0" indent="0">
                        <a:lnSpc>
                          <a:spcPts val="1680"/>
                        </a:lnSpc>
                        <a:buNone/>
                      </a:pPr>
                      <a:r>
                        <a:rPr lang="en-US" sz="1200" dirty="0">
                          <a:solidFill>
                            <a:srgbClr val="F9F2EA"/>
                          </a:solidFill>
                          <a:latin typeface="Carlito" pitchFamily="34" charset="0"/>
                          <a:ea typeface="Carlito" pitchFamily="34" charset="-122"/>
                          <a:cs typeface="Carlito" pitchFamily="34" charset="-120"/>
                        </a:rPr>
                        <a:t>187,438 IncFIB(K)(pCAV1099-114); 142,041 IncFII(K), IncR; 16,361</a:t>
                      </a:r>
                      <a:endParaRPr lang="en-US" sz="1200" dirty="0">
                        <a:latin typeface="Carlito" charset="0"/>
                        <a:ea typeface="Carlito" charset="0"/>
                        <a:cs typeface="Carlito" charset="0"/>
                      </a:endParaRPr>
                    </a:p>
                  </a:txBody>
                  <a:tcPr marL="53340" marR="53340" marT="53340" marB="53340">
                    <a:lnL w="12700" cap="flat" cmpd="sng" algn="ctr">
                      <a:solidFill>
                        <a:srgbClr val="555C38"/>
                      </a:solidFill>
                      <a:prstDash val="solid"/>
                      <a:round/>
                      <a:headEnd type="none" w="med" len="med"/>
                      <a:tailEnd type="none" w="med" len="med"/>
                    </a:lnL>
                    <a:lnR w="12700" cap="flat" cmpd="sng" algn="ctr">
                      <a:solidFill>
                        <a:srgbClr val="555C38"/>
                      </a:solidFill>
                      <a:prstDash val="solid"/>
                      <a:round/>
                      <a:headEnd type="none" w="med" len="med"/>
                      <a:tailEnd type="none" w="med" len="med"/>
                    </a:lnR>
                    <a:lnT w="12700" cap="flat" cmpd="sng" algn="ctr">
                      <a:solidFill>
                        <a:srgbClr val="656D44"/>
                      </a:solidFill>
                      <a:prstDash val="solid"/>
                      <a:round/>
                      <a:headEnd type="none" w="med" len="med"/>
                      <a:tailEnd type="none" w="med" len="med"/>
                    </a:lnT>
                    <a:lnB w="12700" cap="flat" cmpd="sng" algn="ctr">
                      <a:solidFill>
                        <a:srgbClr val="555C38"/>
                      </a:solidFill>
                      <a:prstDash val="solid"/>
                      <a:round/>
                      <a:headEnd type="none" w="med" len="med"/>
                      <a:tailEnd type="none" w="med" len="med"/>
                    </a:lnB>
                  </a:tcPr>
                </a:tc>
                <a:extLst>
                  <a:ext uri="{0D108BD9-81ED-4DB2-BD59-A6C34878D82A}">
                    <a16:rowId xmlns:a16="http://schemas.microsoft.com/office/drawing/2014/main" val="10001"/>
                  </a:ext>
                </a:extLst>
              </a:tr>
              <a:tr h="546001">
                <a:tc>
                  <a:txBody>
                    <a:bodyPr/>
                    <a:lstStyle/>
                    <a:p>
                      <a:pPr marL="0" indent="0">
                        <a:lnSpc>
                          <a:spcPts val="1680"/>
                        </a:lnSpc>
                        <a:buNone/>
                      </a:pPr>
                      <a:r>
                        <a:rPr lang="en-US" sz="1200" dirty="0">
                          <a:solidFill>
                            <a:srgbClr val="F9F2EA"/>
                          </a:solidFill>
                          <a:latin typeface="Carlito" pitchFamily="34" charset="0"/>
                          <a:ea typeface="Carlito" pitchFamily="34" charset="-122"/>
                          <a:cs typeface="Carlito" pitchFamily="34" charset="-120"/>
                        </a:rPr>
                        <a:t>1013757</a:t>
                      </a:r>
                      <a:endParaRPr lang="en-US" sz="1200" dirty="0">
                        <a:latin typeface="Carlito" charset="0"/>
                        <a:ea typeface="Carlito" charset="0"/>
                        <a:cs typeface="Carlito" charset="0"/>
                      </a:endParaRPr>
                    </a:p>
                  </a:txBody>
                  <a:tcPr marL="53340" marR="53340" marT="53340" marB="53340">
                    <a:lnL w="12700" cap="flat" cmpd="sng" algn="ctr">
                      <a:solidFill>
                        <a:srgbClr val="555C38"/>
                      </a:solidFill>
                      <a:prstDash val="solid"/>
                      <a:round/>
                      <a:headEnd type="none" w="med" len="med"/>
                      <a:tailEnd type="none" w="med" len="med"/>
                    </a:lnL>
                    <a:lnR w="12700" cap="flat" cmpd="sng" algn="ctr">
                      <a:solidFill>
                        <a:srgbClr val="656D44"/>
                      </a:solidFill>
                      <a:prstDash val="solid"/>
                      <a:round/>
                      <a:headEnd type="none" w="med" len="med"/>
                      <a:tailEnd type="none" w="med" len="med"/>
                    </a:lnR>
                    <a:lnT w="12700" cap="flat" cmpd="sng" algn="ctr">
                      <a:solidFill>
                        <a:srgbClr val="555C38"/>
                      </a:solidFill>
                      <a:prstDash val="solid"/>
                      <a:round/>
                      <a:headEnd type="none" w="med" len="med"/>
                      <a:tailEnd type="none" w="med" len="med"/>
                    </a:lnT>
                    <a:lnB w="12700" cap="flat" cmpd="sng" algn="ctr">
                      <a:solidFill>
                        <a:srgbClr val="656D44"/>
                      </a:solidFill>
                      <a:prstDash val="solid"/>
                      <a:round/>
                      <a:headEnd type="none" w="med" len="med"/>
                      <a:tailEnd type="none" w="med" len="med"/>
                    </a:lnB>
                    <a:solidFill>
                      <a:srgbClr val="3B4512"/>
                    </a:solidFill>
                  </a:tcPr>
                </a:tc>
                <a:tc>
                  <a:txBody>
                    <a:bodyPr/>
                    <a:lstStyle/>
                    <a:p>
                      <a:pPr marL="0" indent="0">
                        <a:lnSpc>
                          <a:spcPts val="1680"/>
                        </a:lnSpc>
                        <a:buNone/>
                      </a:pPr>
                      <a:r>
                        <a:rPr lang="en-US" sz="1200" dirty="0">
                          <a:solidFill>
                            <a:srgbClr val="F9F2EA"/>
                          </a:solidFill>
                          <a:latin typeface="Carlito" pitchFamily="34" charset="0"/>
                          <a:ea typeface="Carlito" pitchFamily="34" charset="-122"/>
                          <a:cs typeface="Carlito" pitchFamily="34" charset="-120"/>
                        </a:rPr>
                        <a:t>5,315,055</a:t>
                      </a:r>
                      <a:endParaRPr lang="en-US" sz="1200" dirty="0">
                        <a:latin typeface="Carlito" charset="0"/>
                        <a:ea typeface="Carlito" charset="0"/>
                        <a:cs typeface="Carlito" charset="0"/>
                      </a:endParaRPr>
                    </a:p>
                  </a:txBody>
                  <a:tcPr marL="53340" marR="53340" marT="53340" marB="53340">
                    <a:lnL w="12700" cap="flat" cmpd="sng" algn="ctr">
                      <a:solidFill>
                        <a:srgbClr val="656D44"/>
                      </a:solidFill>
                      <a:prstDash val="solid"/>
                      <a:round/>
                      <a:headEnd type="none" w="med" len="med"/>
                      <a:tailEnd type="none" w="med" len="med"/>
                    </a:lnL>
                    <a:lnR w="12700" cap="flat" cmpd="sng" algn="ctr">
                      <a:solidFill>
                        <a:srgbClr val="656D44"/>
                      </a:solidFill>
                      <a:prstDash val="solid"/>
                      <a:round/>
                      <a:headEnd type="none" w="med" len="med"/>
                      <a:tailEnd type="none" w="med" len="med"/>
                    </a:lnR>
                    <a:lnT w="12700" cap="flat" cmpd="sng" algn="ctr">
                      <a:solidFill>
                        <a:srgbClr val="555C38"/>
                      </a:solidFill>
                      <a:prstDash val="solid"/>
                      <a:round/>
                      <a:headEnd type="none" w="med" len="med"/>
                      <a:tailEnd type="none" w="med" len="med"/>
                    </a:lnT>
                    <a:lnB w="12700" cap="flat" cmpd="sng" algn="ctr">
                      <a:solidFill>
                        <a:srgbClr val="656D44"/>
                      </a:solidFill>
                      <a:prstDash val="solid"/>
                      <a:round/>
                      <a:headEnd type="none" w="med" len="med"/>
                      <a:tailEnd type="none" w="med" len="med"/>
                    </a:lnB>
                    <a:solidFill>
                      <a:srgbClr val="3B4512"/>
                    </a:solidFill>
                  </a:tcPr>
                </a:tc>
                <a:tc>
                  <a:txBody>
                    <a:bodyPr/>
                    <a:lstStyle/>
                    <a:p>
                      <a:pPr marL="0" indent="0">
                        <a:lnSpc>
                          <a:spcPts val="1680"/>
                        </a:lnSpc>
                        <a:buNone/>
                      </a:pPr>
                      <a:r>
                        <a:rPr lang="en-US" sz="1200" dirty="0">
                          <a:solidFill>
                            <a:srgbClr val="F9F2EA"/>
                          </a:solidFill>
                          <a:latin typeface="Carlito" pitchFamily="34" charset="0"/>
                          <a:ea typeface="Carlito" pitchFamily="34" charset="-122"/>
                          <a:cs typeface="Carlito" pitchFamily="34" charset="-120"/>
                        </a:rPr>
                        <a:t>140,482 IncFIB(AP001918), IncFII; 81,013 IncY; 10,638</a:t>
                      </a:r>
                      <a:endParaRPr lang="en-US" sz="1200" dirty="0">
                        <a:latin typeface="Carlito" charset="0"/>
                        <a:ea typeface="Carlito" charset="0"/>
                        <a:cs typeface="Carlito" charset="0"/>
                      </a:endParaRPr>
                    </a:p>
                  </a:txBody>
                  <a:tcPr marL="53340" marR="53340" marT="53340" marB="53340">
                    <a:lnL w="12700" cap="flat" cmpd="sng" algn="ctr">
                      <a:solidFill>
                        <a:srgbClr val="656D44"/>
                      </a:solidFill>
                      <a:prstDash val="solid"/>
                      <a:round/>
                      <a:headEnd type="none" w="med" len="med"/>
                      <a:tailEnd type="none" w="med" len="med"/>
                    </a:lnL>
                    <a:lnR w="12700" cap="flat" cmpd="sng" algn="ctr">
                      <a:solidFill>
                        <a:srgbClr val="656D44"/>
                      </a:solidFill>
                      <a:prstDash val="solid"/>
                      <a:round/>
                      <a:headEnd type="none" w="med" len="med"/>
                      <a:tailEnd type="none" w="med" len="med"/>
                    </a:lnR>
                    <a:lnT w="12700" cap="flat" cmpd="sng" algn="ctr">
                      <a:solidFill>
                        <a:srgbClr val="555C38"/>
                      </a:solidFill>
                      <a:prstDash val="solid"/>
                      <a:round/>
                      <a:headEnd type="none" w="med" len="med"/>
                      <a:tailEnd type="none" w="med" len="med"/>
                    </a:lnT>
                    <a:lnB w="12700" cap="flat" cmpd="sng" algn="ctr">
                      <a:solidFill>
                        <a:srgbClr val="656D44"/>
                      </a:solidFill>
                      <a:prstDash val="solid"/>
                      <a:round/>
                      <a:headEnd type="none" w="med" len="med"/>
                      <a:tailEnd type="none" w="med" len="med"/>
                    </a:lnB>
                    <a:solidFill>
                      <a:srgbClr val="3B4512"/>
                    </a:solidFill>
                  </a:tcPr>
                </a:tc>
                <a:extLst>
                  <a:ext uri="{0D108BD9-81ED-4DB2-BD59-A6C34878D82A}">
                    <a16:rowId xmlns:a16="http://schemas.microsoft.com/office/drawing/2014/main" val="10002"/>
                  </a:ext>
                </a:extLst>
              </a:tr>
            </a:tbl>
          </a:graphicData>
        </a:graphic>
      </p:graphicFrame>
      <p:sp>
        <p:nvSpPr>
          <p:cNvPr id="12" name="Text 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8A"/>
                </a:solidFill>
                <a:latin typeface="Carlito" pitchFamily="34" charset="0"/>
                <a:ea typeface="Carlito" pitchFamily="34" charset="-122"/>
                <a:cs typeface="Carlito" pitchFamily="34" charset="-120"/>
              </a:rPr>
              <a:t>Module 2 · Genome assembly | Day 2</a:t>
            </a:r>
            <a:endParaRPr lang="en-US" sz="1200" dirty="0"/>
          </a:p>
        </p:txBody>
      </p:sp>
      <p:sp>
        <p:nvSpPr>
          <p:cNvPr id="13" name="Text 10"/>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08A"/>
                </a:solidFill>
                <a:latin typeface="Carlito" pitchFamily="34" charset="0"/>
                <a:ea typeface="Carlito" pitchFamily="34" charset="-122"/>
                <a:cs typeface="Carlito"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Assembly decision: fit for what?</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709390"/>
            <a:ext cx="10883392"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3A322C"/>
                </a:solidFill>
                <a:latin typeface="Carlito" pitchFamily="34" charset="0"/>
                <a:ea typeface="Carlito" pitchFamily="34" charset="-122"/>
                <a:cs typeface="Carlito" pitchFamily="34" charset="-120"/>
              </a:rPr>
              <a:t>Add these columns to your Day 1 QC table, one row per isolate:</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233265"/>
          <a:ext cx="10553700" cy="1406923"/>
        </p:xfrm>
        <a:graphic>
          <a:graphicData uri="http://schemas.openxmlformats.org/drawingml/2006/table">
            <a:tbl>
              <a:tblPr/>
              <a:tblGrid>
                <a:gridCol w="1477518">
                  <a:extLst>
                    <a:ext uri="{9D8B030D-6E8A-4147-A177-3AD203B41FA5}">
                      <a16:colId xmlns:a16="http://schemas.microsoft.com/office/drawing/2014/main" val="20000"/>
                    </a:ext>
                  </a:extLst>
                </a:gridCol>
                <a:gridCol w="1266444">
                  <a:extLst>
                    <a:ext uri="{9D8B030D-6E8A-4147-A177-3AD203B41FA5}">
                      <a16:colId xmlns:a16="http://schemas.microsoft.com/office/drawing/2014/main" val="20001"/>
                    </a:ext>
                  </a:extLst>
                </a:gridCol>
                <a:gridCol w="1794129">
                  <a:extLst>
                    <a:ext uri="{9D8B030D-6E8A-4147-A177-3AD203B41FA5}">
                      <a16:colId xmlns:a16="http://schemas.microsoft.com/office/drawing/2014/main" val="20002"/>
                    </a:ext>
                  </a:extLst>
                </a:gridCol>
                <a:gridCol w="2849499">
                  <a:extLst>
                    <a:ext uri="{9D8B030D-6E8A-4147-A177-3AD203B41FA5}">
                      <a16:colId xmlns:a16="http://schemas.microsoft.com/office/drawing/2014/main" val="20003"/>
                    </a:ext>
                  </a:extLst>
                </a:gridCol>
                <a:gridCol w="3166110">
                  <a:extLst>
                    <a:ext uri="{9D8B030D-6E8A-4147-A177-3AD203B41FA5}">
                      <a16:colId xmlns:a16="http://schemas.microsoft.com/office/drawing/2014/main" val="20004"/>
                    </a:ext>
                  </a:extLst>
                </a:gridCol>
              </a:tblGrid>
              <a:tr h="634901">
                <a:tc>
                  <a:txBody>
                    <a:bodyPr/>
                    <a:lstStyle/>
                    <a:p>
                      <a:pPr marL="0" indent="0">
                        <a:lnSpc>
                          <a:spcPts val="1960"/>
                        </a:lnSpc>
                        <a:buNone/>
                      </a:pPr>
                      <a:r>
                        <a:rPr lang="en-US" sz="1400" b="1" dirty="0">
                          <a:solidFill>
                            <a:srgbClr val="F9F2EA"/>
                          </a:solidFill>
                          <a:latin typeface="Carlito" pitchFamily="34" charset="0"/>
                          <a:ea typeface="Carlito" pitchFamily="34" charset="-122"/>
                          <a:cs typeface="Carlito" pitchFamily="34" charset="-120"/>
                        </a:rPr>
                        <a:t>Sample</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1960"/>
                        </a:lnSpc>
                        <a:buNone/>
                      </a:pPr>
                      <a:r>
                        <a:rPr lang="en-US" sz="1400" b="1" dirty="0">
                          <a:solidFill>
                            <a:srgbClr val="F9F2EA"/>
                          </a:solidFill>
                          <a:latin typeface="Carlito" pitchFamily="34" charset="0"/>
                          <a:ea typeface="Carlito" pitchFamily="34" charset="-122"/>
                          <a:cs typeface="Carlito" pitchFamily="34" charset="-120"/>
                        </a:rPr>
                        <a:t>Contigs</a:t>
                      </a:r>
                      <a:endParaRPr lang="en-US" sz="1400" dirty="0">
                        <a:latin typeface="Carlito" charset="0"/>
                        <a:ea typeface="Carlito" charset="0"/>
                        <a:cs typeface="Carlito" charset="0"/>
                      </a:endParaRPr>
                    </a:p>
                  </a:txBody>
                  <a:tcPr marL="62230" marR="62230" marT="62230" marB="62230">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1960"/>
                        </a:lnSpc>
                        <a:buNone/>
                      </a:pPr>
                      <a:r>
                        <a:rPr lang="en-US" sz="1400" b="1" dirty="0">
                          <a:solidFill>
                            <a:srgbClr val="F9F2EA"/>
                          </a:solidFill>
                          <a:latin typeface="Carlito" pitchFamily="34" charset="0"/>
                          <a:ea typeface="Carlito" pitchFamily="34" charset="-122"/>
                          <a:cs typeface="Carlito" pitchFamily="34" charset="-120"/>
                        </a:rPr>
                        <a:t>Total size (Mb)</a:t>
                      </a:r>
                      <a:endParaRPr lang="en-US" sz="1400" dirty="0">
                        <a:latin typeface="Carlito" charset="0"/>
                        <a:ea typeface="Carlito" charset="0"/>
                        <a:cs typeface="Carlito" charset="0"/>
                      </a:endParaRPr>
                    </a:p>
                  </a:txBody>
                  <a:tcPr marL="62230" marR="62230" marT="62230" marB="62230">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1960"/>
                        </a:lnSpc>
                        <a:buNone/>
                      </a:pPr>
                      <a:r>
                        <a:rPr lang="en-US" sz="1400" b="1" dirty="0">
                          <a:solidFill>
                            <a:srgbClr val="F9F2EA"/>
                          </a:solidFill>
                          <a:latin typeface="Carlito" pitchFamily="34" charset="0"/>
                          <a:ea typeface="Carlito" pitchFamily="34" charset="-122"/>
                          <a:cs typeface="Carlito" pitchFamily="34" charset="-120"/>
                        </a:rPr>
                        <a:t>CheckM2 completeness / contamination (%)</a:t>
                      </a:r>
                      <a:endParaRPr lang="en-US" sz="1400" dirty="0">
                        <a:latin typeface="Carlito" charset="0"/>
                        <a:ea typeface="Carlito" charset="0"/>
                        <a:cs typeface="Carlito" charset="0"/>
                      </a:endParaRPr>
                    </a:p>
                  </a:txBody>
                  <a:tcPr marL="62230" marR="62230" marT="62230" marB="62230">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1960"/>
                        </a:lnSpc>
                        <a:buNone/>
                      </a:pPr>
                      <a:r>
                        <a:rPr lang="en-US" sz="1400" b="1" dirty="0">
                          <a:solidFill>
                            <a:srgbClr val="F9F2EA"/>
                          </a:solidFill>
                          <a:latin typeface="Carlito" pitchFamily="34" charset="0"/>
                          <a:ea typeface="Carlito" pitchFamily="34" charset="-122"/>
                          <a:cs typeface="Carlito" pitchFamily="34" charset="-120"/>
                        </a:rPr>
                        <a:t>Fit for</a:t>
                      </a:r>
                      <a:endParaRPr lang="en-US" sz="1400" dirty="0">
                        <a:latin typeface="Carlito" charset="0"/>
                        <a:ea typeface="Carlito" charset="0"/>
                        <a:cs typeface="Carlito" charset="0"/>
                      </a:endParaRPr>
                    </a:p>
                  </a:txBody>
                  <a:tcPr marL="62230" marR="62230" marT="62230" marB="62230">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CAA65Z</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typing / SNPs / plasmids / exclude</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2"/>
                  </a:ext>
                </a:extLst>
              </a:tr>
            </a:tbl>
          </a:graphicData>
        </a:graphic>
      </p:graphicFrame>
      <p:sp>
        <p:nvSpPr>
          <p:cNvPr id="6" name="Shape 3"/>
          <p:cNvSpPr/>
          <p:nvPr/>
        </p:nvSpPr>
        <p:spPr>
          <a:xfrm>
            <a:off x="812800" y="3894187"/>
            <a:ext cx="2527300" cy="1064220"/>
          </a:xfrm>
          <a:prstGeom prst="roundRect">
            <a:avLst>
              <a:gd name="adj" fmla="val 4773"/>
            </a:avLst>
          </a:prstGeom>
          <a:solidFill>
            <a:srgbClr val="FFFFFF"/>
          </a:solidFill>
          <a:ln/>
        </p:spPr>
        <p:txBody>
          <a:bodyPr/>
          <a:lstStyle/>
          <a:p>
            <a:endParaRPr lang="en-KE"/>
          </a:p>
        </p:txBody>
      </p:sp>
      <p:sp>
        <p:nvSpPr>
          <p:cNvPr id="7" name="Shape 4"/>
          <p:cNvSpPr/>
          <p:nvPr/>
        </p:nvSpPr>
        <p:spPr>
          <a:xfrm>
            <a:off x="812800" y="3894187"/>
            <a:ext cx="2527300" cy="1064220"/>
          </a:xfrm>
          <a:custGeom>
            <a:avLst/>
            <a:gdLst/>
            <a:ahLst/>
            <a:cxnLst/>
            <a:rect l="l" t="t" r="r" b="b"/>
            <a:pathLst>
              <a:path w="2527300" h="1064220">
                <a:moveTo>
                  <a:pt x="0" y="50800"/>
                </a:moveTo>
                <a:lnTo>
                  <a:pt x="0" y="50800"/>
                </a:lnTo>
                <a:arcTo wR="50800" hR="50800" stAng="10800000" swAng="5400000"/>
                <a:lnTo>
                  <a:pt x="2476500" y="0"/>
                </a:lnTo>
                <a:arcTo wR="50800" hR="50800" stAng="16200000" swAng="5400000"/>
                <a:lnTo>
                  <a:pt x="2527300" y="50800"/>
                </a:lnTo>
                <a:lnTo>
                  <a:pt x="0" y="50800"/>
                </a:lnTo>
                <a:close/>
              </a:path>
            </a:pathLst>
          </a:custGeom>
          <a:solidFill>
            <a:srgbClr val="273003"/>
          </a:solidFill>
          <a:ln/>
        </p:spPr>
        <p:txBody>
          <a:bodyPr/>
          <a:lstStyle/>
          <a:p>
            <a:endParaRPr lang="en-KE"/>
          </a:p>
        </p:txBody>
      </p:sp>
      <p:sp>
        <p:nvSpPr>
          <p:cNvPr id="8" name="Text 5"/>
          <p:cNvSpPr/>
          <p:nvPr/>
        </p:nvSpPr>
        <p:spPr>
          <a:xfrm>
            <a:off x="990600" y="4097387"/>
            <a:ext cx="22368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73003"/>
                </a:solidFill>
                <a:latin typeface="Carlito" pitchFamily="34" charset="0"/>
                <a:ea typeface="Carlito" pitchFamily="34" charset="-122"/>
                <a:cs typeface="Carlito" pitchFamily="34" charset="-120"/>
              </a:rPr>
              <a:t>Typing and genes</a:t>
            </a:r>
            <a:endParaRPr lang="en-US" sz="1500" dirty="0"/>
          </a:p>
        </p:txBody>
      </p:sp>
      <p:sp>
        <p:nvSpPr>
          <p:cNvPr id="9" name="Text 6"/>
          <p:cNvSpPr/>
          <p:nvPr/>
        </p:nvSpPr>
        <p:spPr>
          <a:xfrm>
            <a:off x="990600" y="4376787"/>
            <a:ext cx="2236851"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A clean short-read assembly is enough</a:t>
            </a:r>
            <a:endParaRPr lang="en-US" sz="1300" dirty="0"/>
          </a:p>
        </p:txBody>
      </p:sp>
      <p:sp>
        <p:nvSpPr>
          <p:cNvPr id="10" name="Shape 7"/>
          <p:cNvSpPr/>
          <p:nvPr/>
        </p:nvSpPr>
        <p:spPr>
          <a:xfrm>
            <a:off x="3492500" y="3894187"/>
            <a:ext cx="2527300" cy="1064220"/>
          </a:xfrm>
          <a:prstGeom prst="roundRect">
            <a:avLst>
              <a:gd name="adj" fmla="val 4773"/>
            </a:avLst>
          </a:prstGeom>
          <a:solidFill>
            <a:srgbClr val="FFFFFF"/>
          </a:solidFill>
          <a:ln/>
        </p:spPr>
        <p:txBody>
          <a:bodyPr/>
          <a:lstStyle/>
          <a:p>
            <a:endParaRPr lang="en-KE"/>
          </a:p>
        </p:txBody>
      </p:sp>
      <p:sp>
        <p:nvSpPr>
          <p:cNvPr id="11" name="Shape 8"/>
          <p:cNvSpPr/>
          <p:nvPr/>
        </p:nvSpPr>
        <p:spPr>
          <a:xfrm>
            <a:off x="3492500" y="3894187"/>
            <a:ext cx="2527300" cy="1064220"/>
          </a:xfrm>
          <a:custGeom>
            <a:avLst/>
            <a:gdLst/>
            <a:ahLst/>
            <a:cxnLst/>
            <a:rect l="l" t="t" r="r" b="b"/>
            <a:pathLst>
              <a:path w="2527300" h="1064220">
                <a:moveTo>
                  <a:pt x="0" y="50800"/>
                </a:moveTo>
                <a:lnTo>
                  <a:pt x="0" y="50800"/>
                </a:lnTo>
                <a:arcTo wR="50800" hR="50800" stAng="10800000" swAng="5400000"/>
                <a:lnTo>
                  <a:pt x="2476500" y="0"/>
                </a:lnTo>
                <a:arcTo wR="50800" hR="50800" stAng="16200000" swAng="5400000"/>
                <a:lnTo>
                  <a:pt x="2527300" y="50800"/>
                </a:lnTo>
                <a:lnTo>
                  <a:pt x="0" y="50800"/>
                </a:lnTo>
                <a:close/>
              </a:path>
            </a:pathLst>
          </a:custGeom>
          <a:solidFill>
            <a:srgbClr val="273003"/>
          </a:solidFill>
          <a:ln/>
        </p:spPr>
        <p:txBody>
          <a:bodyPr/>
          <a:lstStyle/>
          <a:p>
            <a:endParaRPr lang="en-KE"/>
          </a:p>
        </p:txBody>
      </p:sp>
      <p:sp>
        <p:nvSpPr>
          <p:cNvPr id="12" name="Text 9"/>
          <p:cNvSpPr/>
          <p:nvPr/>
        </p:nvSpPr>
        <p:spPr>
          <a:xfrm>
            <a:off x="3670300" y="4097387"/>
            <a:ext cx="22368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73003"/>
                </a:solidFill>
                <a:latin typeface="Carlito" pitchFamily="34" charset="0"/>
                <a:ea typeface="Carlito" pitchFamily="34" charset="-122"/>
                <a:cs typeface="Carlito" pitchFamily="34" charset="-120"/>
              </a:rPr>
              <a:t>SNPs</a:t>
            </a:r>
            <a:endParaRPr lang="en-US" sz="1500" dirty="0"/>
          </a:p>
        </p:txBody>
      </p:sp>
      <p:sp>
        <p:nvSpPr>
          <p:cNvPr id="13" name="Text 10"/>
          <p:cNvSpPr/>
          <p:nvPr/>
        </p:nvSpPr>
        <p:spPr>
          <a:xfrm>
            <a:off x="3670300" y="4376787"/>
            <a:ext cx="2236851"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Pure culture, expected size, no red flags</a:t>
            </a:r>
            <a:endParaRPr lang="en-US" sz="1300" dirty="0"/>
          </a:p>
        </p:txBody>
      </p:sp>
      <p:sp>
        <p:nvSpPr>
          <p:cNvPr id="14" name="Shape 11"/>
          <p:cNvSpPr/>
          <p:nvPr/>
        </p:nvSpPr>
        <p:spPr>
          <a:xfrm>
            <a:off x="6172200" y="3894187"/>
            <a:ext cx="2527300" cy="1064220"/>
          </a:xfrm>
          <a:prstGeom prst="roundRect">
            <a:avLst>
              <a:gd name="adj" fmla="val 4773"/>
            </a:avLst>
          </a:prstGeom>
          <a:solidFill>
            <a:srgbClr val="FFFFFF"/>
          </a:solidFill>
          <a:ln/>
        </p:spPr>
        <p:txBody>
          <a:bodyPr/>
          <a:lstStyle/>
          <a:p>
            <a:endParaRPr lang="en-KE"/>
          </a:p>
        </p:txBody>
      </p:sp>
      <p:sp>
        <p:nvSpPr>
          <p:cNvPr id="15" name="Shape 12"/>
          <p:cNvSpPr/>
          <p:nvPr/>
        </p:nvSpPr>
        <p:spPr>
          <a:xfrm>
            <a:off x="6172200" y="3894187"/>
            <a:ext cx="2527300" cy="1064220"/>
          </a:xfrm>
          <a:custGeom>
            <a:avLst/>
            <a:gdLst/>
            <a:ahLst/>
            <a:cxnLst/>
            <a:rect l="l" t="t" r="r" b="b"/>
            <a:pathLst>
              <a:path w="2527300" h="1064220">
                <a:moveTo>
                  <a:pt x="0" y="50800"/>
                </a:moveTo>
                <a:lnTo>
                  <a:pt x="0" y="50800"/>
                </a:lnTo>
                <a:arcTo wR="50800" hR="50800" stAng="10800000" swAng="5400000"/>
                <a:lnTo>
                  <a:pt x="2476500" y="0"/>
                </a:lnTo>
                <a:arcTo wR="50800" hR="50800" stAng="16200000" swAng="5400000"/>
                <a:lnTo>
                  <a:pt x="2527300" y="50800"/>
                </a:lnTo>
                <a:lnTo>
                  <a:pt x="0" y="50800"/>
                </a:lnTo>
                <a:close/>
              </a:path>
            </a:pathLst>
          </a:custGeom>
          <a:solidFill>
            <a:srgbClr val="273003"/>
          </a:solidFill>
          <a:ln/>
        </p:spPr>
        <p:txBody>
          <a:bodyPr/>
          <a:lstStyle/>
          <a:p>
            <a:endParaRPr lang="en-KE"/>
          </a:p>
        </p:txBody>
      </p:sp>
      <p:sp>
        <p:nvSpPr>
          <p:cNvPr id="16" name="Text 13"/>
          <p:cNvSpPr/>
          <p:nvPr/>
        </p:nvSpPr>
        <p:spPr>
          <a:xfrm>
            <a:off x="6350000" y="4097387"/>
            <a:ext cx="22368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73003"/>
                </a:solidFill>
                <a:latin typeface="Carlito" pitchFamily="34" charset="0"/>
                <a:ea typeface="Carlito" pitchFamily="34" charset="-122"/>
                <a:cs typeface="Carlito" pitchFamily="34" charset="-120"/>
              </a:rPr>
              <a:t>Plasmids</a:t>
            </a:r>
            <a:endParaRPr lang="en-US" sz="1500" dirty="0"/>
          </a:p>
        </p:txBody>
      </p:sp>
      <p:sp>
        <p:nvSpPr>
          <p:cNvPr id="17" name="Text 14"/>
          <p:cNvSpPr/>
          <p:nvPr/>
        </p:nvSpPr>
        <p:spPr>
          <a:xfrm>
            <a:off x="6350000" y="4376787"/>
            <a:ext cx="2236851"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Needs a hybrid (or long-read) assembly</a:t>
            </a:r>
            <a:endParaRPr lang="en-US" sz="1300" dirty="0"/>
          </a:p>
        </p:txBody>
      </p:sp>
      <p:sp>
        <p:nvSpPr>
          <p:cNvPr id="18" name="Shape 15"/>
          <p:cNvSpPr/>
          <p:nvPr/>
        </p:nvSpPr>
        <p:spPr>
          <a:xfrm>
            <a:off x="8851900" y="3894187"/>
            <a:ext cx="2527300" cy="1064220"/>
          </a:xfrm>
          <a:prstGeom prst="roundRect">
            <a:avLst>
              <a:gd name="adj" fmla="val 4773"/>
            </a:avLst>
          </a:prstGeom>
          <a:solidFill>
            <a:srgbClr val="FFFFFF"/>
          </a:solidFill>
          <a:ln/>
        </p:spPr>
        <p:txBody>
          <a:bodyPr/>
          <a:lstStyle/>
          <a:p>
            <a:endParaRPr lang="en-KE"/>
          </a:p>
        </p:txBody>
      </p:sp>
      <p:sp>
        <p:nvSpPr>
          <p:cNvPr id="19" name="Shape 16"/>
          <p:cNvSpPr/>
          <p:nvPr/>
        </p:nvSpPr>
        <p:spPr>
          <a:xfrm>
            <a:off x="8851900" y="3894187"/>
            <a:ext cx="2527300" cy="1064220"/>
          </a:xfrm>
          <a:custGeom>
            <a:avLst/>
            <a:gdLst/>
            <a:ahLst/>
            <a:cxnLst/>
            <a:rect l="l" t="t" r="r" b="b"/>
            <a:pathLst>
              <a:path w="2527300" h="1064220">
                <a:moveTo>
                  <a:pt x="0" y="50800"/>
                </a:moveTo>
                <a:lnTo>
                  <a:pt x="0" y="50800"/>
                </a:lnTo>
                <a:arcTo wR="50800" hR="50800" stAng="10800000" swAng="5400000"/>
                <a:lnTo>
                  <a:pt x="2476500" y="0"/>
                </a:lnTo>
                <a:arcTo wR="50800" hR="50800" stAng="16200000" swAng="5400000"/>
                <a:lnTo>
                  <a:pt x="2527300" y="50800"/>
                </a:lnTo>
                <a:lnTo>
                  <a:pt x="0" y="50800"/>
                </a:lnTo>
                <a:close/>
              </a:path>
            </a:pathLst>
          </a:custGeom>
          <a:solidFill>
            <a:srgbClr val="891F15"/>
          </a:solidFill>
          <a:ln/>
        </p:spPr>
        <p:txBody>
          <a:bodyPr/>
          <a:lstStyle/>
          <a:p>
            <a:endParaRPr lang="en-KE"/>
          </a:p>
        </p:txBody>
      </p:sp>
      <p:sp>
        <p:nvSpPr>
          <p:cNvPr id="20" name="Text 17"/>
          <p:cNvSpPr/>
          <p:nvPr/>
        </p:nvSpPr>
        <p:spPr>
          <a:xfrm>
            <a:off x="9029700" y="4097387"/>
            <a:ext cx="22368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891F15"/>
                </a:solidFill>
                <a:latin typeface="Carlito" pitchFamily="34" charset="0"/>
                <a:ea typeface="Carlito" pitchFamily="34" charset="-122"/>
                <a:cs typeface="Carlito" pitchFamily="34" charset="-120"/>
              </a:rPr>
              <a:t>Exclude</a:t>
            </a:r>
            <a:endParaRPr lang="en-US" sz="1500" dirty="0"/>
          </a:p>
        </p:txBody>
      </p:sp>
      <p:sp>
        <p:nvSpPr>
          <p:cNvPr id="21" name="Text 18"/>
          <p:cNvSpPr/>
          <p:nvPr/>
        </p:nvSpPr>
        <p:spPr>
          <a:xfrm>
            <a:off x="9029700" y="4376787"/>
            <a:ext cx="2236851"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Mixed culture or badly fragmented</a:t>
            </a:r>
            <a:endParaRPr lang="en-US" sz="1300" dirty="0"/>
          </a:p>
        </p:txBody>
      </p:sp>
      <p:pic>
        <p:nvPicPr>
          <p:cNvPr id="22"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23" name="Text 1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24" name="Text 20"/>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Before you leave: one best assembly per isolate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709390"/>
            <a:ext cx="10883392" cy="29969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3A322C"/>
                </a:solidFill>
                <a:latin typeface="Carlito" pitchFamily="34" charset="0"/>
                <a:ea typeface="Carlito" pitchFamily="34" charset="-122"/>
                <a:cs typeface="Carlito" pitchFamily="34" charset="-120"/>
              </a:rPr>
              <a:t>From Day 3 onwards everything uses </a:t>
            </a:r>
            <a:r>
              <a:rPr lang="en-US" sz="1600" b="1" dirty="0">
                <a:solidFill>
                  <a:srgbClr val="3A322C"/>
                </a:solidFill>
                <a:latin typeface="Carlito" pitchFamily="34" charset="0"/>
                <a:ea typeface="Carlito" pitchFamily="34" charset="-122"/>
                <a:cs typeface="Carlito" pitchFamily="34" charset="-120"/>
              </a:rPr>
              <a:t>$COURSE/best/</a:t>
            </a:r>
            <a:r>
              <a:rPr lang="en-US" sz="1600" dirty="0">
                <a:solidFill>
                  <a:srgbClr val="3A322C"/>
                </a:solidFill>
                <a:latin typeface="Carlito" pitchFamily="34" charset="0"/>
                <a:ea typeface="Carlito" pitchFamily="34" charset="-122"/>
                <a:cs typeface="Carlito" pitchFamily="34" charset="-120"/>
              </a:rPr>
              <a:t>: the hybrid assembly where there is one, otherwise Shovill.</a:t>
            </a:r>
            <a:endParaRPr lang="en-US" sz="1600" dirty="0"/>
          </a:p>
        </p:txBody>
      </p:sp>
      <p:sp>
        <p:nvSpPr>
          <p:cNvPr id="5" name="Text 3"/>
          <p:cNvSpPr/>
          <p:nvPr/>
        </p:nvSpPr>
        <p:spPr>
          <a:xfrm>
            <a:off x="812800" y="2237680"/>
            <a:ext cx="10566400" cy="2966244"/>
          </a:xfrm>
          <a:prstGeom prst="roundRect">
            <a:avLst>
              <a:gd name="adj" fmla="val 2569"/>
            </a:avLst>
          </a:prstGeom>
          <a:solidFill>
            <a:srgbClr val="273003"/>
          </a:solidFill>
          <a:ln/>
        </p:spPr>
        <p:txBody>
          <a:bodyPr wrap="square" lIns="257082" tIns="180882" rIns="0" bIns="155482" rtlCol="0" anchor="t">
            <a:normAutofit/>
          </a:bodyPr>
          <a:lstStyle/>
          <a:p>
            <a:pPr marL="0" indent="0" algn="l">
              <a:lnSpc>
                <a:spcPts val="1680"/>
              </a:lnSpc>
              <a:buNone/>
            </a:pPr>
            <a:r>
              <a:rPr lang="en-US" sz="1200" dirty="0">
                <a:solidFill>
                  <a:srgbClr val="C2CA6E"/>
                </a:solidFill>
                <a:latin typeface="JetBrains Mono" pitchFamily="49" charset="0"/>
                <a:ea typeface="JetBrains Mono" pitchFamily="49" charset="-122"/>
                <a:cs typeface="JetBrains Mono" pitchFamily="49" charset="-120"/>
              </a:rPr>
              <a:t># Hybrid assemblies for the other two isolates, if you did not make them</a:t>
            </a:r>
            <a:endParaRPr lang="en-US" sz="1200" dirty="0"/>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cp -n $SHARED/precomputed/02_assembly/hybrid/*.hybrid.fasta $COURSE/assemblies/</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mkdir -p $COURSE/best</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for f in $COURSE/assemblies/*.fasta; do</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    s=$(basename $f .fasta); s=${s%.hybrid}</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    if [ -f $COURSE/assemblies/${s}.hybrid.fasta ]; then</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        cp $COURSE/assemblies/${s}.hybrid.fasta $COURSE/best/${s}.fasta</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    else</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        cp $COURSE/assemblies/${s}.fasta $COURSE/best/${s}.fasta</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    fi</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done</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ls $COURSE/best | wc -l    </a:t>
            </a:r>
            <a:r>
              <a:rPr lang="en-US" sz="1200" dirty="0">
                <a:solidFill>
                  <a:srgbClr val="C2CA6E"/>
                </a:solidFill>
                <a:latin typeface="Consolas" panose="020B0609020204030204" pitchFamily="49" charset="0"/>
                <a:ea typeface="JetBrains Mono" pitchFamily="49" charset="-122"/>
                <a:cs typeface="Consolas" panose="020B0609020204030204" pitchFamily="49" charset="0"/>
              </a:rPr>
              <a:t># 29</a:t>
            </a:r>
            <a:endParaRPr lang="en-US" sz="1200" dirty="0">
              <a:latin typeface="Consolas" panose="020B0609020204030204" pitchFamily="49" charset="0"/>
              <a:cs typeface="Consolas" panose="020B0609020204030204" pitchFamily="49" charset="0"/>
            </a:endParaRPr>
          </a:p>
        </p:txBody>
      </p:sp>
      <p:pic>
        <p:nvPicPr>
          <p:cNvPr id="6"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7" name="Text 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8" name="Text 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End-of-day checklist</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2147540"/>
            <a:ext cx="10566400" cy="0"/>
          </a:xfrm>
          <a:prstGeom prst="line">
            <a:avLst/>
          </a:prstGeom>
          <a:noFill/>
          <a:ln w="12700">
            <a:solidFill>
              <a:srgbClr val="D9CDBF"/>
            </a:solidFill>
            <a:prstDash val="solid"/>
          </a:ln>
        </p:spPr>
        <p:txBody>
          <a:bodyPr/>
          <a:lstStyle/>
          <a:p>
            <a:endParaRPr lang="en-KE"/>
          </a:p>
        </p:txBody>
      </p:sp>
      <p:pic>
        <p:nvPicPr>
          <p:cNvPr id="5" name="Image 0" descr="CheckCircle"/>
          <p:cNvPicPr>
            <a:picLocks noChangeAspect="1"/>
          </p:cNvPicPr>
          <p:nvPr/>
        </p:nvPicPr>
        <p:blipFill>
          <a:blip r:embed="rId3"/>
          <a:srcRect/>
          <a:stretch/>
        </p:blipFill>
        <p:spPr>
          <a:xfrm>
            <a:off x="812800" y="1709390"/>
            <a:ext cx="304800" cy="304800"/>
          </a:xfrm>
          <a:prstGeom prst="rect">
            <a:avLst/>
          </a:prstGeom>
        </p:spPr>
      </p:pic>
      <p:sp>
        <p:nvSpPr>
          <p:cNvPr id="6" name="Text 3"/>
          <p:cNvSpPr/>
          <p:nvPr/>
        </p:nvSpPr>
        <p:spPr>
          <a:xfrm>
            <a:off x="1295400" y="1729730"/>
            <a:ext cx="8703469"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3A322C"/>
                </a:solidFill>
                <a:latin typeface="Carlito" pitchFamily="34" charset="0"/>
                <a:ea typeface="Carlito" pitchFamily="34" charset="-122"/>
                <a:cs typeface="Carlito" pitchFamily="34" charset="-120"/>
              </a:rPr>
              <a:t>$COURSE/assemblies/</a:t>
            </a:r>
            <a:r>
              <a:rPr lang="en-US" sz="1600" dirty="0">
                <a:solidFill>
                  <a:srgbClr val="3A322C"/>
                </a:solidFill>
                <a:latin typeface="Carlito" pitchFamily="34" charset="0"/>
                <a:ea typeface="Carlito" pitchFamily="34" charset="-122"/>
                <a:cs typeface="Carlito" pitchFamily="34" charset="-120"/>
              </a:rPr>
              <a:t> has a Shovill assembly for all 29 isolates (yours or pre-computed)</a:t>
            </a:r>
            <a:endParaRPr lang="en-US" sz="1600" dirty="0"/>
          </a:p>
        </p:txBody>
      </p:sp>
      <p:sp>
        <p:nvSpPr>
          <p:cNvPr id="7" name="Shape 4"/>
          <p:cNvSpPr/>
          <p:nvPr/>
        </p:nvSpPr>
        <p:spPr>
          <a:xfrm>
            <a:off x="812800" y="2731740"/>
            <a:ext cx="10566400" cy="0"/>
          </a:xfrm>
          <a:prstGeom prst="line">
            <a:avLst/>
          </a:prstGeom>
          <a:noFill/>
          <a:ln w="12700">
            <a:solidFill>
              <a:srgbClr val="D9CDBF"/>
            </a:solidFill>
            <a:prstDash val="solid"/>
          </a:ln>
        </p:spPr>
        <p:txBody>
          <a:bodyPr/>
          <a:lstStyle/>
          <a:p>
            <a:endParaRPr lang="en-KE"/>
          </a:p>
        </p:txBody>
      </p:sp>
      <p:pic>
        <p:nvPicPr>
          <p:cNvPr id="8" name="Image 1" descr="CheckCircle"/>
          <p:cNvPicPr>
            <a:picLocks noChangeAspect="1"/>
          </p:cNvPicPr>
          <p:nvPr/>
        </p:nvPicPr>
        <p:blipFill>
          <a:blip r:embed="rId3"/>
          <a:srcRect/>
          <a:stretch/>
        </p:blipFill>
        <p:spPr>
          <a:xfrm>
            <a:off x="812800" y="2293590"/>
            <a:ext cx="304800" cy="304800"/>
          </a:xfrm>
          <a:prstGeom prst="rect">
            <a:avLst/>
          </a:prstGeom>
        </p:spPr>
      </p:pic>
      <p:sp>
        <p:nvSpPr>
          <p:cNvPr id="9" name="Text 5"/>
          <p:cNvSpPr/>
          <p:nvPr/>
        </p:nvSpPr>
        <p:spPr>
          <a:xfrm>
            <a:off x="1295400" y="2313930"/>
            <a:ext cx="7797284"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3A322C"/>
                </a:solidFill>
                <a:latin typeface="Carlito" pitchFamily="34" charset="0"/>
                <a:ea typeface="Carlito" pitchFamily="34" charset="-122"/>
                <a:cs typeface="Carlito" pitchFamily="34" charset="-120"/>
              </a:rPr>
              <a:t>$COURSE/assemblies/</a:t>
            </a:r>
            <a:r>
              <a:rPr lang="en-US" sz="1600" dirty="0">
                <a:solidFill>
                  <a:srgbClr val="3A322C"/>
                </a:solidFill>
                <a:latin typeface="Carlito" pitchFamily="34" charset="0"/>
                <a:ea typeface="Carlito" pitchFamily="34" charset="-122"/>
                <a:cs typeface="Carlito" pitchFamily="34" charset="-120"/>
              </a:rPr>
              <a:t> has hybrid assemblies for CHI11E, CNS1F1 and 1013757</a:t>
            </a:r>
            <a:endParaRPr lang="en-US" sz="1600" dirty="0"/>
          </a:p>
        </p:txBody>
      </p:sp>
      <p:sp>
        <p:nvSpPr>
          <p:cNvPr id="10" name="Shape 6"/>
          <p:cNvSpPr/>
          <p:nvPr/>
        </p:nvSpPr>
        <p:spPr>
          <a:xfrm>
            <a:off x="812800" y="3315940"/>
            <a:ext cx="10566400" cy="0"/>
          </a:xfrm>
          <a:prstGeom prst="line">
            <a:avLst/>
          </a:prstGeom>
          <a:noFill/>
          <a:ln w="12700">
            <a:solidFill>
              <a:srgbClr val="D9CDBF"/>
            </a:solidFill>
            <a:prstDash val="solid"/>
          </a:ln>
        </p:spPr>
        <p:txBody>
          <a:bodyPr/>
          <a:lstStyle/>
          <a:p>
            <a:endParaRPr lang="en-KE"/>
          </a:p>
        </p:txBody>
      </p:sp>
      <p:pic>
        <p:nvPicPr>
          <p:cNvPr id="11" name="Image 2" descr="CheckCircle"/>
          <p:cNvPicPr>
            <a:picLocks noChangeAspect="1"/>
          </p:cNvPicPr>
          <p:nvPr/>
        </p:nvPicPr>
        <p:blipFill>
          <a:blip r:embed="rId3"/>
          <a:srcRect/>
          <a:stretch/>
        </p:blipFill>
        <p:spPr>
          <a:xfrm>
            <a:off x="812800" y="2877790"/>
            <a:ext cx="304800" cy="304800"/>
          </a:xfrm>
          <a:prstGeom prst="rect">
            <a:avLst/>
          </a:prstGeom>
        </p:spPr>
      </p:pic>
      <p:sp>
        <p:nvSpPr>
          <p:cNvPr id="12" name="Text 7"/>
          <p:cNvSpPr/>
          <p:nvPr/>
        </p:nvSpPr>
        <p:spPr>
          <a:xfrm>
            <a:off x="1295400" y="2898130"/>
            <a:ext cx="3419475" cy="289520"/>
          </a:xfrm>
          <a:prstGeom prst="rect">
            <a:avLst/>
          </a:prstGeom>
          <a:noFill/>
          <a:ln/>
        </p:spPr>
        <p:txBody>
          <a:bodyPr wrap="square" lIns="0" tIns="0" rIns="0" bIns="0" rtlCol="0" anchor="t">
            <a:normAutofit/>
          </a:bodyPr>
          <a:lstStyle/>
          <a:p>
            <a:pPr marL="0" indent="0" algn="l">
              <a:lnSpc>
                <a:spcPts val="2080"/>
              </a:lnSpc>
              <a:buNone/>
            </a:pPr>
            <a:r>
              <a:rPr lang="en-US" sz="1600" b="1" dirty="0">
                <a:solidFill>
                  <a:srgbClr val="3A322C"/>
                </a:solidFill>
                <a:latin typeface="Carlito" pitchFamily="34" charset="0"/>
                <a:ea typeface="Carlito" pitchFamily="34" charset="-122"/>
                <a:cs typeface="Carlito" pitchFamily="34" charset="-120"/>
              </a:rPr>
              <a:t>$COURSE/best/</a:t>
            </a:r>
            <a:r>
              <a:rPr lang="en-US" sz="1600" dirty="0">
                <a:solidFill>
                  <a:srgbClr val="3A322C"/>
                </a:solidFill>
                <a:latin typeface="Carlito" pitchFamily="34" charset="0"/>
                <a:ea typeface="Carlito" pitchFamily="34" charset="-122"/>
                <a:cs typeface="Carlito" pitchFamily="34" charset="-120"/>
              </a:rPr>
              <a:t> has 29 assemblies</a:t>
            </a:r>
            <a:endParaRPr lang="en-US" sz="1600" dirty="0"/>
          </a:p>
        </p:txBody>
      </p:sp>
      <p:sp>
        <p:nvSpPr>
          <p:cNvPr id="13" name="Shape 8"/>
          <p:cNvSpPr/>
          <p:nvPr/>
        </p:nvSpPr>
        <p:spPr>
          <a:xfrm>
            <a:off x="812800" y="3900140"/>
            <a:ext cx="10566400" cy="0"/>
          </a:xfrm>
          <a:prstGeom prst="line">
            <a:avLst/>
          </a:prstGeom>
          <a:noFill/>
          <a:ln w="12700">
            <a:solidFill>
              <a:srgbClr val="D9CDBF"/>
            </a:solidFill>
            <a:prstDash val="solid"/>
          </a:ln>
        </p:spPr>
        <p:txBody>
          <a:bodyPr/>
          <a:lstStyle/>
          <a:p>
            <a:endParaRPr lang="en-KE"/>
          </a:p>
        </p:txBody>
      </p:sp>
      <p:pic>
        <p:nvPicPr>
          <p:cNvPr id="14" name="Image 3" descr="CheckCircle"/>
          <p:cNvPicPr>
            <a:picLocks noChangeAspect="1"/>
          </p:cNvPicPr>
          <p:nvPr/>
        </p:nvPicPr>
        <p:blipFill>
          <a:blip r:embed="rId3"/>
          <a:srcRect/>
          <a:stretch/>
        </p:blipFill>
        <p:spPr>
          <a:xfrm>
            <a:off x="812800" y="3461990"/>
            <a:ext cx="304800" cy="304800"/>
          </a:xfrm>
          <a:prstGeom prst="rect">
            <a:avLst/>
          </a:prstGeom>
        </p:spPr>
      </p:pic>
      <p:sp>
        <p:nvSpPr>
          <p:cNvPr id="15" name="Text 9"/>
          <p:cNvSpPr/>
          <p:nvPr/>
        </p:nvSpPr>
        <p:spPr>
          <a:xfrm>
            <a:off x="1295400" y="3482330"/>
            <a:ext cx="5462826"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3A322C"/>
                </a:solidFill>
                <a:latin typeface="Carlito" pitchFamily="34" charset="0"/>
                <a:ea typeface="Carlito" pitchFamily="34" charset="-122"/>
                <a:cs typeface="Carlito" pitchFamily="34" charset="-120"/>
              </a:rPr>
              <a:t>You filled in the three-way comparison table for CHI11E</a:t>
            </a:r>
            <a:endParaRPr lang="en-US" sz="1600" dirty="0"/>
          </a:p>
        </p:txBody>
      </p:sp>
      <p:pic>
        <p:nvPicPr>
          <p:cNvPr id="16" name="Image 4" descr="CheckCircle"/>
          <p:cNvPicPr>
            <a:picLocks noChangeAspect="1"/>
          </p:cNvPicPr>
          <p:nvPr/>
        </p:nvPicPr>
        <p:blipFill>
          <a:blip r:embed="rId3"/>
          <a:srcRect/>
          <a:stretch/>
        </p:blipFill>
        <p:spPr>
          <a:xfrm>
            <a:off x="812800" y="4046190"/>
            <a:ext cx="304800" cy="304800"/>
          </a:xfrm>
          <a:prstGeom prst="rect">
            <a:avLst/>
          </a:prstGeom>
        </p:spPr>
      </p:pic>
      <p:sp>
        <p:nvSpPr>
          <p:cNvPr id="17" name="Text 10"/>
          <p:cNvSpPr/>
          <p:nvPr/>
        </p:nvSpPr>
        <p:spPr>
          <a:xfrm>
            <a:off x="1295400" y="4066530"/>
            <a:ext cx="5532715"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3A322C"/>
                </a:solidFill>
                <a:latin typeface="Carlito" pitchFamily="34" charset="0"/>
                <a:ea typeface="Carlito" pitchFamily="34" charset="-122"/>
                <a:cs typeface="Carlito" pitchFamily="34" charset="-120"/>
              </a:rPr>
              <a:t>Your QC table has an assembly decision for every isolate</a:t>
            </a:r>
            <a:endParaRPr lang="en-US" sz="1600" dirty="0"/>
          </a:p>
        </p:txBody>
      </p:sp>
      <p:pic>
        <p:nvPicPr>
          <p:cNvPr id="18" name="Image 5"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19" name="Text 1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20" name="Text 12"/>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Further reading</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709390"/>
            <a:ext cx="680212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73003"/>
                </a:solidFill>
                <a:latin typeface="Carlito" pitchFamily="34" charset="0"/>
                <a:ea typeface="Carlito" pitchFamily="34" charset="-122"/>
                <a:cs typeface="Carlito" pitchFamily="34" charset="-120"/>
              </a:rPr>
              <a:t>Papers</a:t>
            </a:r>
            <a:endParaRPr lang="en-US" sz="1600" dirty="0"/>
          </a:p>
        </p:txBody>
      </p:sp>
      <p:sp>
        <p:nvSpPr>
          <p:cNvPr id="5" name="Text 3"/>
          <p:cNvSpPr/>
          <p:nvPr/>
        </p:nvSpPr>
        <p:spPr>
          <a:xfrm>
            <a:off x="910844" y="2054820"/>
            <a:ext cx="6696456"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A322C"/>
                </a:solidFill>
                <a:latin typeface="Carlito" pitchFamily="34" charset="0"/>
                <a:ea typeface="Carlito" pitchFamily="34" charset="-122"/>
                <a:cs typeface="Carlito" pitchFamily="34" charset="-120"/>
              </a:rPr>
              <a:t>Boolchandani M, et al. </a:t>
            </a:r>
            <a:r>
              <a:rPr lang="en-US" sz="1300" i="1" dirty="0">
                <a:solidFill>
                  <a:srgbClr val="3A322C"/>
                </a:solidFill>
                <a:latin typeface="Carlito" pitchFamily="34" charset="0"/>
                <a:ea typeface="Carlito" pitchFamily="34" charset="-122"/>
                <a:cs typeface="Carlito" pitchFamily="34" charset="-120"/>
              </a:rPr>
              <a:t>Nat Rev Genet</a:t>
            </a:r>
            <a:r>
              <a:rPr lang="en-US" sz="1300" dirty="0">
                <a:solidFill>
                  <a:srgbClr val="3A322C"/>
                </a:solidFill>
                <a:latin typeface="Carlito" pitchFamily="34" charset="0"/>
                <a:ea typeface="Carlito" pitchFamily="34" charset="-122"/>
                <a:cs typeface="Carlito" pitchFamily="34" charset="-120"/>
              </a:rPr>
              <a:t> 2019. doi:10.1038/s41576-019-0108-4</a:t>
            </a:r>
            <a:endParaRPr lang="en-US" sz="1300" dirty="0"/>
          </a:p>
          <a:p>
            <a:pPr marL="155956" indent="-155956" algn="l">
              <a:lnSpc>
                <a:spcPts val="1820"/>
              </a:lnSpc>
              <a:buSzPct val="100000"/>
              <a:buChar char="•"/>
            </a:pPr>
            <a:r>
              <a:rPr lang="en-US" sz="1300" dirty="0">
                <a:solidFill>
                  <a:srgbClr val="3A322C"/>
                </a:solidFill>
                <a:latin typeface="Carlito" pitchFamily="34" charset="0"/>
                <a:ea typeface="Carlito" pitchFamily="34" charset="-122"/>
                <a:cs typeface="Carlito" pitchFamily="34" charset="-120"/>
              </a:rPr>
              <a:t>Commins J, et al. </a:t>
            </a:r>
            <a:r>
              <a:rPr lang="en-US" sz="1300" i="1" dirty="0">
                <a:solidFill>
                  <a:srgbClr val="3A322C"/>
                </a:solidFill>
                <a:latin typeface="Carlito" pitchFamily="34" charset="0"/>
                <a:ea typeface="Carlito" pitchFamily="34" charset="-122"/>
                <a:cs typeface="Carlito" pitchFamily="34" charset="-120"/>
              </a:rPr>
              <a:t>Biol Proced Online</a:t>
            </a:r>
            <a:r>
              <a:rPr lang="en-US" sz="1300" dirty="0">
                <a:solidFill>
                  <a:srgbClr val="3A322C"/>
                </a:solidFill>
                <a:latin typeface="Carlito" pitchFamily="34" charset="0"/>
                <a:ea typeface="Carlito" pitchFamily="34" charset="-122"/>
                <a:cs typeface="Carlito" pitchFamily="34" charset="-120"/>
              </a:rPr>
              <a:t> 2009. doi:10.1007/s12575-009-9004-1</a:t>
            </a:r>
            <a:endParaRPr lang="en-US" sz="1300" dirty="0"/>
          </a:p>
          <a:p>
            <a:pPr marL="155956" indent="-155956" algn="l">
              <a:lnSpc>
                <a:spcPts val="1820"/>
              </a:lnSpc>
              <a:buSzPct val="100000"/>
              <a:buChar char="•"/>
            </a:pPr>
            <a:r>
              <a:rPr lang="en-US" sz="1300" dirty="0">
                <a:solidFill>
                  <a:srgbClr val="3A322C"/>
                </a:solidFill>
                <a:latin typeface="Carlito" pitchFamily="34" charset="0"/>
                <a:ea typeface="Carlito" pitchFamily="34" charset="-122"/>
                <a:cs typeface="Carlito" pitchFamily="34" charset="-120"/>
              </a:rPr>
              <a:t>Liao X, et al. </a:t>
            </a:r>
            <a:r>
              <a:rPr lang="en-US" sz="1300" i="1" dirty="0">
                <a:solidFill>
                  <a:srgbClr val="3A322C"/>
                </a:solidFill>
                <a:latin typeface="Carlito" pitchFamily="34" charset="0"/>
                <a:ea typeface="Carlito" pitchFamily="34" charset="-122"/>
                <a:cs typeface="Carlito" pitchFamily="34" charset="-120"/>
              </a:rPr>
              <a:t>Quantitative Biology</a:t>
            </a:r>
            <a:r>
              <a:rPr lang="en-US" sz="1300" dirty="0">
                <a:solidFill>
                  <a:srgbClr val="3A322C"/>
                </a:solidFill>
                <a:latin typeface="Carlito" pitchFamily="34" charset="0"/>
                <a:ea typeface="Carlito" pitchFamily="34" charset="-122"/>
                <a:cs typeface="Carlito" pitchFamily="34" charset="-120"/>
              </a:rPr>
              <a:t> 2019. doi:10.1007/s40484-019-0166-9</a:t>
            </a:r>
            <a:endParaRPr lang="en-US" sz="1300" dirty="0"/>
          </a:p>
          <a:p>
            <a:pPr marL="155956" indent="-155956" algn="l">
              <a:lnSpc>
                <a:spcPts val="1820"/>
              </a:lnSpc>
              <a:buSzPct val="100000"/>
              <a:buChar char="•"/>
            </a:pPr>
            <a:r>
              <a:rPr lang="en-US" sz="1300" dirty="0">
                <a:solidFill>
                  <a:srgbClr val="3A322C"/>
                </a:solidFill>
                <a:latin typeface="Carlito" pitchFamily="34" charset="0"/>
                <a:ea typeface="Carlito" pitchFamily="34" charset="-122"/>
                <a:cs typeface="Carlito" pitchFamily="34" charset="-120"/>
              </a:rPr>
              <a:t>Wick RR, Howden BP, Stinear TP. Autocycler: long-read consensus assembly for bacterial genomes. </a:t>
            </a:r>
            <a:r>
              <a:rPr lang="en-US" sz="1300" i="1" dirty="0">
                <a:solidFill>
                  <a:srgbClr val="3A322C"/>
                </a:solidFill>
                <a:latin typeface="Carlito" pitchFamily="34" charset="0"/>
                <a:ea typeface="Carlito" pitchFamily="34" charset="-122"/>
                <a:cs typeface="Carlito" pitchFamily="34" charset="-120"/>
              </a:rPr>
              <a:t>Bioinformatics</a:t>
            </a:r>
            <a:r>
              <a:rPr lang="en-US" sz="1300" dirty="0">
                <a:solidFill>
                  <a:srgbClr val="3A322C"/>
                </a:solidFill>
                <a:latin typeface="Carlito" pitchFamily="34" charset="0"/>
                <a:ea typeface="Carlito" pitchFamily="34" charset="-122"/>
                <a:cs typeface="Carlito" pitchFamily="34" charset="-120"/>
              </a:rPr>
              <a:t> 2025.</a:t>
            </a:r>
            <a:endParaRPr lang="en-US" sz="1300" dirty="0"/>
          </a:p>
        </p:txBody>
      </p:sp>
      <p:sp>
        <p:nvSpPr>
          <p:cNvPr id="6" name="Text 4"/>
          <p:cNvSpPr/>
          <p:nvPr/>
        </p:nvSpPr>
        <p:spPr>
          <a:xfrm>
            <a:off x="7823200" y="1709390"/>
            <a:ext cx="366268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73003"/>
                </a:solidFill>
                <a:latin typeface="Carlito" pitchFamily="34" charset="0"/>
                <a:ea typeface="Carlito" pitchFamily="34" charset="-122"/>
                <a:cs typeface="Carlito" pitchFamily="34" charset="-120"/>
              </a:rPr>
              <a:t>Tools and standards</a:t>
            </a:r>
            <a:endParaRPr lang="en-US" sz="1600" dirty="0"/>
          </a:p>
        </p:txBody>
      </p:sp>
      <p:sp>
        <p:nvSpPr>
          <p:cNvPr id="7" name="Text 5"/>
          <p:cNvSpPr/>
          <p:nvPr/>
        </p:nvSpPr>
        <p:spPr>
          <a:xfrm>
            <a:off x="7921244" y="2054820"/>
            <a:ext cx="3557016" cy="1643311"/>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3">
                  <a:extLst>
                    <a:ext uri="{A12FA001-AC4F-418D-AE19-62706E023703}">
                      <ahyp:hlinkClr xmlns:ahyp="http://schemas.microsoft.com/office/drawing/2018/hyperlinkcolor" val="tx"/>
                    </a:ext>
                  </a:extLst>
                </a:hlinkClick>
              </a:rPr>
              <a:t>Shovill</a:t>
            </a:r>
            <a:endParaRPr lang="en-US" sz="1300" dirty="0"/>
          </a:p>
          <a:p>
            <a:pPr marL="155956" indent="-155956" algn="l">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4">
                  <a:extLst>
                    <a:ext uri="{A12FA001-AC4F-418D-AE19-62706E023703}">
                      <ahyp:hlinkClr xmlns:ahyp="http://schemas.microsoft.com/office/drawing/2018/hyperlinkcolor" val="tx"/>
                    </a:ext>
                  </a:extLst>
                </a:hlinkClick>
              </a:rPr>
              <a:t>Autocycler</a:t>
            </a:r>
            <a:endParaRPr lang="en-US" sz="1300" dirty="0"/>
          </a:p>
          <a:p>
            <a:pPr marL="155956" indent="-155956" algn="l">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5">
                  <a:extLst>
                    <a:ext uri="{A12FA001-AC4F-418D-AE19-62706E023703}">
                      <ahyp:hlinkClr xmlns:ahyp="http://schemas.microsoft.com/office/drawing/2018/hyperlinkcolor" val="tx"/>
                    </a:ext>
                  </a:extLst>
                </a:hlinkClick>
              </a:rPr>
              <a:t>Medaka</a:t>
            </a:r>
            <a:endParaRPr lang="en-US" sz="1300" dirty="0"/>
          </a:p>
          <a:p>
            <a:pPr marL="155956" indent="-155956" algn="l">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6">
                  <a:extLst>
                    <a:ext uri="{A12FA001-AC4F-418D-AE19-62706E023703}">
                      <ahyp:hlinkClr xmlns:ahyp="http://schemas.microsoft.com/office/drawing/2018/hyperlinkcolor" val="tx"/>
                    </a:ext>
                  </a:extLst>
                </a:hlinkClick>
              </a:rPr>
              <a:t>Polypolish</a:t>
            </a:r>
            <a:endParaRPr lang="en-US" sz="1300" dirty="0"/>
          </a:p>
          <a:p>
            <a:pPr marL="155956" indent="-155956" algn="l">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7">
                  <a:extLst>
                    <a:ext uri="{A12FA001-AC4F-418D-AE19-62706E023703}">
                      <ahyp:hlinkClr xmlns:ahyp="http://schemas.microsoft.com/office/drawing/2018/hyperlinkcolor" val="tx"/>
                    </a:ext>
                  </a:extLst>
                </a:hlinkClick>
              </a:rPr>
              <a:t>QUAST</a:t>
            </a:r>
            <a:endParaRPr lang="en-US" sz="1300" dirty="0"/>
          </a:p>
          <a:p>
            <a:pPr marL="155956" indent="-155956" algn="l">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8">
                  <a:extLst>
                    <a:ext uri="{A12FA001-AC4F-418D-AE19-62706E023703}">
                      <ahyp:hlinkClr xmlns:ahyp="http://schemas.microsoft.com/office/drawing/2018/hyperlinkcolor" val="tx"/>
                    </a:ext>
                  </a:extLst>
                </a:hlinkClick>
              </a:rPr>
              <a:t>Bandage</a:t>
            </a:r>
            <a:endParaRPr lang="en-US" sz="1300" dirty="0"/>
          </a:p>
          <a:p>
            <a:pPr marL="155956" indent="-155956" algn="l">
              <a:lnSpc>
                <a:spcPts val="1820"/>
              </a:lnSpc>
              <a:buSzPct val="100000"/>
              <a:buChar char="•"/>
            </a:pPr>
            <a:r>
              <a:rPr lang="en-US" sz="1300" i="1" u="sng" dirty="0">
                <a:solidFill>
                  <a:srgbClr val="3A322C"/>
                </a:solidFill>
                <a:latin typeface="Carlito" pitchFamily="34" charset="0"/>
                <a:ea typeface="Carlito" pitchFamily="34" charset="-122"/>
                <a:cs typeface="Carlito" pitchFamily="34" charset="-120"/>
                <a:hlinkClick r:id="rId9">
                  <a:extLst>
                    <a:ext uri="{A12FA001-AC4F-418D-AE19-62706E023703}">
                      <ahyp:hlinkClr xmlns:ahyp="http://schemas.microsoft.com/office/drawing/2018/hyperlinkcolor" val="tx"/>
                    </a:ext>
                  </a:extLst>
                </a:hlinkClick>
              </a:rPr>
              <a:t>Klebsiella</a:t>
            </a:r>
            <a:r>
              <a:rPr lang="en-US" sz="1300" u="sng" dirty="0">
                <a:solidFill>
                  <a:srgbClr val="3A322C"/>
                </a:solidFill>
                <a:latin typeface="Carlito" pitchFamily="34" charset="0"/>
                <a:ea typeface="Carlito" pitchFamily="34" charset="-122"/>
                <a:cs typeface="Carlito" pitchFamily="34" charset="-120"/>
                <a:hlinkClick r:id="rId9">
                  <a:extLst>
                    <a:ext uri="{A12FA001-AC4F-418D-AE19-62706E023703}">
                      <ahyp:hlinkClr xmlns:ahyp="http://schemas.microsoft.com/office/drawing/2018/hyperlinkcolor" val="tx"/>
                    </a:ext>
                  </a:extLst>
                </a:hlinkClick>
              </a:rPr>
              <a:t> genome QC criteria</a:t>
            </a:r>
            <a:endParaRPr lang="en-US" sz="1300" dirty="0"/>
          </a:p>
        </p:txBody>
      </p:sp>
      <p:pic>
        <p:nvPicPr>
          <p:cNvPr id="8" name="Image 0" descr="ILRI and CGIAR logos"/>
          <p:cNvPicPr>
            <a:picLocks noChangeAspect="1"/>
          </p:cNvPicPr>
          <p:nvPr/>
        </p:nvPicPr>
        <p:blipFill>
          <a:blip r:embed="rId10"/>
          <a:srcRect l="-56" r="-56"/>
          <a:stretch/>
        </p:blipFill>
        <p:spPr>
          <a:xfrm>
            <a:off x="10033000" y="254000"/>
            <a:ext cx="1346200" cy="381000"/>
          </a:xfrm>
          <a:prstGeom prst="rect">
            <a:avLst/>
          </a:prstGeom>
        </p:spPr>
      </p:pic>
      <p:sp>
        <p:nvSpPr>
          <p:cNvPr id="9" name="Text 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10" name="Text 7"/>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9F2EA"/>
        </a:solidFill>
        <a:effectLst/>
      </p:bgPr>
    </p:bg>
    <p:spTree>
      <p:nvGrpSpPr>
        <p:cNvPr id="1" name=""/>
        <p:cNvGrpSpPr/>
        <p:nvPr/>
      </p:nvGrpSpPr>
      <p:grpSpPr>
        <a:xfrm>
          <a:off x="0" y="0"/>
          <a:ext cx="0" cy="0"/>
          <a:chOff x="0" y="0"/>
          <a:chExt cx="0" cy="0"/>
        </a:xfrm>
      </p:grpSpPr>
      <p:pic>
        <p:nvPicPr>
          <p:cNvPr id="2" name="Image 0" descr="ILRI and CGIAR logos"/>
          <p:cNvPicPr>
            <a:picLocks noChangeAspect="1"/>
          </p:cNvPicPr>
          <p:nvPr/>
        </p:nvPicPr>
        <p:blipFill>
          <a:blip r:embed="rId3"/>
          <a:srcRect t="-63" b="-63"/>
          <a:stretch/>
        </p:blipFill>
        <p:spPr>
          <a:xfrm>
            <a:off x="425450" y="393700"/>
            <a:ext cx="1790700" cy="508000"/>
          </a:xfrm>
          <a:prstGeom prst="rect">
            <a:avLst/>
          </a:prstGeom>
        </p:spPr>
      </p:pic>
      <p:sp>
        <p:nvSpPr>
          <p:cNvPr id="3" name="Text 0"/>
          <p:cNvSpPr>
            <a:spLocks noGrp="1"/>
          </p:cNvSpPr>
          <p:nvPr>
            <p:ph type="title"/>
          </p:nvPr>
        </p:nvSpPr>
        <p:spPr>
          <a:xfrm>
            <a:off x="812800" y="254000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6D2637"/>
                </a:solidFill>
                <a:latin typeface="Carlito" pitchFamily="34" charset="0"/>
                <a:ea typeface="Carlito" pitchFamily="34" charset="-122"/>
                <a:cs typeface="Carlito" pitchFamily="34" charset="-120"/>
              </a:rPr>
              <a:t>Questions?</a:t>
            </a:r>
            <a:endParaRPr lang="en-US" sz="6000" dirty="0"/>
          </a:p>
        </p:txBody>
      </p:sp>
      <p:sp>
        <p:nvSpPr>
          <p:cNvPr id="4" name="Shape 1"/>
          <p:cNvSpPr/>
          <p:nvPr/>
        </p:nvSpPr>
        <p:spPr>
          <a:xfrm>
            <a:off x="812800" y="3543300"/>
            <a:ext cx="1524000" cy="38100"/>
          </a:xfrm>
          <a:prstGeom prst="roundRect">
            <a:avLst>
              <a:gd name="adj" fmla="val 50000"/>
            </a:avLst>
          </a:prstGeom>
          <a:solidFill>
            <a:srgbClr val="6D2637"/>
          </a:solidFill>
          <a:ln/>
        </p:spPr>
        <p:txBody>
          <a:bodyPr/>
          <a:lstStyle/>
          <a:p>
            <a:endParaRPr lang="en-KE"/>
          </a:p>
        </p:txBody>
      </p:sp>
      <p:sp>
        <p:nvSpPr>
          <p:cNvPr id="5" name="Text 2"/>
          <p:cNvSpPr/>
          <p:nvPr/>
        </p:nvSpPr>
        <p:spPr>
          <a:xfrm>
            <a:off x="812800" y="3784600"/>
            <a:ext cx="10883392"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3A322C"/>
                </a:solidFill>
                <a:latin typeface="Carlito" pitchFamily="34" charset="0"/>
                <a:ea typeface="Carlito" pitchFamily="34" charset="-122"/>
                <a:cs typeface="Carlito" pitchFamily="34" charset="-120"/>
              </a:rPr>
              <a:t>Next: </a:t>
            </a:r>
            <a:r>
              <a:rPr lang="en-US" sz="2000" b="1" dirty="0">
                <a:solidFill>
                  <a:srgbClr val="3A322C"/>
                </a:solidFill>
                <a:latin typeface="Carlito" pitchFamily="34" charset="0"/>
                <a:ea typeface="Carlito" pitchFamily="34" charset="-122"/>
                <a:cs typeface="Carlito" pitchFamily="34" charset="-120"/>
              </a:rPr>
              <a:t>Day 3</a:t>
            </a:r>
            <a:r>
              <a:rPr lang="en-US" sz="2000" dirty="0">
                <a:solidFill>
                  <a:srgbClr val="3A322C"/>
                </a:solidFill>
                <a:latin typeface="Carlito" pitchFamily="34" charset="0"/>
                <a:ea typeface="Carlito" pitchFamily="34" charset="-122"/>
                <a:cs typeface="Carlito" pitchFamily="34" charset="-120"/>
              </a:rPr>
              <a:t> · Typing and AMR genes, starting from </a:t>
            </a:r>
            <a:r>
              <a:rPr lang="en-US" sz="2000" b="1" dirty="0">
                <a:solidFill>
                  <a:srgbClr val="3A322C"/>
                </a:solidFill>
                <a:latin typeface="Carlito" pitchFamily="34" charset="0"/>
                <a:ea typeface="Carlito" pitchFamily="34" charset="-122"/>
                <a:cs typeface="Carlito" pitchFamily="34" charset="-120"/>
              </a:rPr>
              <a:t>$COURSE/best/</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 · Genome assembly | Day 2</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31</a:t>
            </a:r>
            <a:endParaRPr lang="en-US" sz="1200" dirty="0"/>
          </a:p>
        </p:txBody>
      </p:sp>
    </p:spTree>
  </p:cSld>
  <p:clrMapOvr>
    <a:masterClrMapping/>
  </p:clrMapOvr>
</p:sld>
</file>

<file path=ppt/theme/theme1.xml><?xml version="1.0" encoding="utf-8"?>
<a:theme xmlns:a="http://schemas.openxmlformats.org/drawingml/2006/main" name="Module 2: Genome assembly">
  <a:themeElements>
    <a:clrScheme name="Module 2: Genome assembly">
      <a:dk1>
        <a:srgbClr val="6D2637"/>
      </a:dk1>
      <a:lt1>
        <a:srgbClr val="F9F2EA"/>
      </a:lt1>
      <a:dk2>
        <a:srgbClr val="905964"/>
      </a:dk2>
      <a:lt2>
        <a:srgbClr val="EBDED8"/>
      </a:lt2>
      <a:accent1>
        <a:srgbClr val="891F15"/>
      </a:accent1>
      <a:accent2>
        <a:srgbClr val="273003"/>
      </a:accent2>
      <a:accent3>
        <a:srgbClr val="FFCE00"/>
      </a:accent3>
      <a:accent4>
        <a:srgbClr val="C2CA6E"/>
      </a:accent4>
      <a:accent5>
        <a:srgbClr val="E3B5A8"/>
      </a:accent5>
      <a:accent6>
        <a:srgbClr val="B9C08A"/>
      </a:accent6>
      <a:hlink>
        <a:srgbClr val="0563C1"/>
      </a:hlink>
      <a:folHlink>
        <a:srgbClr val="954F72"/>
      </a:folHlink>
    </a:clrScheme>
    <a:fontScheme name="Module 2: Genome assembly">
      <a:majorFont>
        <a:latin typeface="Carl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rl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5435</Words>
  <Application>Microsoft Macintosh PowerPoint</Application>
  <PresentationFormat>Widescreen</PresentationFormat>
  <Paragraphs>502</Paragraphs>
  <Slides>31</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Carlito</vt:lpstr>
      <vt:lpstr>Consolas</vt:lpstr>
      <vt:lpstr>JetBrains Mono</vt:lpstr>
      <vt:lpstr>Module 2: Genome assembly</vt:lpstr>
      <vt:lpstr>Genome assembly</vt:lpstr>
      <vt:lpstr>Day 2 at a glance</vt:lpstr>
      <vt:lpstr>By the end of today you can</vt:lpstr>
      <vt:lpstr>How assemblers work</vt:lpstr>
      <vt:lpstr>Where assembly fits</vt:lpstr>
      <vt:lpstr>Three kinds of assembly</vt:lpstr>
      <vt:lpstr>Assembly algorithms: overlap–layout–consensus</vt:lpstr>
      <vt:lpstr>Assembly algorithms: de Bruijn graph</vt:lpstr>
      <vt:lpstr>Why repeats break short-read assemblies</vt:lpstr>
      <vt:lpstr>Shovill: assembly of bacterial isolates</vt:lpstr>
      <vt:lpstr>Hands-on: assemble CHI11E with Shovill</vt:lpstr>
      <vt:lpstr>Assembly quality</vt:lpstr>
      <vt:lpstr>What to look at in an assembly</vt:lpstr>
      <vt:lpstr>QC standards for K. pneumoniae genome assemblies</vt:lpstr>
      <vt:lpstr>Red flags in a short-read assembly</vt:lpstr>
      <vt:lpstr>Hands-on: QUAST and CheckM2</vt:lpstr>
      <vt:lpstr>Looking at the assembly graph: Bandage</vt:lpstr>
      <vt:lpstr>Long-read assembly</vt:lpstr>
      <vt:lpstr>Long reads span the repeats</vt:lpstr>
      <vt:lpstr>Autocycler: a consensus of many assemblies</vt:lpstr>
      <vt:lpstr>Hands-on: Autocycler for CHI11E</vt:lpstr>
      <vt:lpstr>Polishing to a hybrid assembly</vt:lpstr>
      <vt:lpstr>Polishing: long reads first, then short reads</vt:lpstr>
      <vt:lpstr>Hands-on: polish CHI11E</vt:lpstr>
      <vt:lpstr>Short-read, long-read and hybrid: CHI11E</vt:lpstr>
      <vt:lpstr>Check your understanding</vt:lpstr>
      <vt:lpstr>Assembly decision: fit for what?</vt:lpstr>
      <vt:lpstr>Before you leave: one best assembly per isolate</vt:lpstr>
      <vt:lpstr>End-of-day checklist</vt:lpstr>
      <vt:lpstr>Further reading</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Genome assembly</dc:title>
  <dc:subject/>
  <dc:creator/>
  <cp:lastModifiedBy>Juma, John (ILRI)</cp:lastModifiedBy>
  <cp:revision>4</cp:revision>
  <dcterms:created xsi:type="dcterms:W3CDTF">2026-10-14T13:58:31Z</dcterms:created>
  <dcterms:modified xsi:type="dcterms:W3CDTF">2026-10-14T14:10:48Z</dcterms:modified>
</cp:coreProperties>
</file>