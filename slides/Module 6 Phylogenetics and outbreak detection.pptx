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4610"/>
  </p:normalViewPr>
  <p:slideViewPr>
    <p:cSldViewPr snapToGrid="0" snapToObjects="1">
      <p:cViewPr varScale="1">
        <p:scale>
          <a:sx n="119" d="100"/>
          <a:sy n="119" d="100"/>
        </p:scale>
        <p:origin x="85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8551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runs over two days. Day 6 builds the evidence: a core-genome SNP alignment, recombination removed, a tree and SNP distances, checked with a second, reference-free method. Day 7 interprets it: tree plus ward and dates, when the cluster started, and how to present the finding to an infection prevention and control team.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6 (white rows) builds the tree and the distances; Day 7 (shaded rows) interprets them with the epidemiology. The worked example both days is the ST39 group from the Blantyre study, with a candidate cluster in the Chatinkha Nursery in 2017.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to 4 are Day 6; 5 and 6 are Day 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described single isolates. Module 6 compares isolates with each other, which is what outbreak detection needs. Use phylogenetic methods that work on SNP alignments, and remove recombination first: that is Session 2 today.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Distances and trees come from the same recombination-filtered alignment, so they agree; they answer different questions. Neither proves transmission by itself: combined with overlapping hospital stays or a shared ward, they can help resolve an outbreak.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Every isolate is compared with one reference genome; positions present in all isolates form the core genome, and the differences there are the SNPs we count.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does the same automatically: Kleborate's species and ST define one group per ST. The background isolates are the controls: if the cluster is real, they should sit clearly further away than the cluster isolates are from each other.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choose the reference exactly as the pipeline does, so the hand-built tree can be compared with the pipeline's Kpneumoniae_ST39 result. Genes ST39 has and NTUH-K2044 lacks cannot be compared, but within one ST the SNPs that separate isolates mostly fall in shared genes. An ST-specific reference, such as the CHI11E hybrid chromosome, can be added as an ST row in the reference sheet.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ST39 first, as on the Day 6 page: ST39="CAA65Z CAA99X CAA47J CAA4X5 CAA574 CAA5XX CAA5YM CAA4GD D29438 BKR8JH BHB7VE CHI11E". What matters is how the ST39 isolates differ from each other after the core alignment, not their distance from the reference. For genomes that exist only as assemblies, the pipeline runs snippy --ctgs on the contigs instead of reads.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snippy-clean_full_aln replaces unusual characters (lower-case, N and other ambiguity codes) with a gap symbol that Gubbins understands. core.txt is a quick quality check: an isolate with a much shorter aligned length than the rest had low coverage or is a different lineage.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Bacteria occasionally take up DNA from other bacteria. Phylogenetic methods assume differences come from mutation along a tree, so imported DNA has to be found and removed before the tree and distances can be trusted.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tree, homologous recombination is the problem: it swaps a stretch of the core genome for another strain's version, bringing many SNPs at once into the very positions we align. Horizontal gene transfer adds genes outside the core, which is what Module 5 traced with plasmids; it does not enter a core alignment, but the same transfer mechanisms deliver the DNA for both.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routes deliver foreign DNA into a cell. What happens next decides its effect on our analysis: DNA that stays separate (a plasmid) or inserts as new genes adds accessory content; DNA that pairs with a similar stretch of the chromosome replaces it by homologous recombination, which changes the core alignment. Integrating a new segment into the chromosome usually needs similar flanking sequence on both sides. In Klebsiella, conjugative plasmids are the main route for resistance genes.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Mutations accumulate slowly and at a roughly steady rate; that is what lets SNP counts stand for time. A recombination block arrives in one step, so its SNPs say nothing about time. The core genome alignment we built in Session 1 still contains these blocks.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methods are useful for exploring a small number of sequences, but they do not give a recombination-free alignment for a bacterial outbreak. Clonal-frame methods do: they work on whole-genome alignments of closely related isolates and mark the recombined regions so they can be removed. Gubbins is the standard for bacterial outbreak work and is what the pipeline runs; ClonalFrameML is a common alternative.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point mutations are scattered roughly evenly along the genome, so on any one branch a dense run of SNPs is unlikely to come from mutation. Gubbins tests sliding windows on each branch against the background SNP density and marks the dense ones. Because the tree affects which SNPs belong to which branch, it iterates. Gubbins works best on closely related isolates, such as one 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its name, per_branch_statistics.csv is tab-separated. Check the column names first with head -1 ST39.per_branch_statistics.csv | tr '\t' '\n' | cat -n: the awk assumes column 3 is SNPs inside recombination and column 4 SNPs outside; adjust if your Gubbins version differs. The filtered polymorphic sites file is the input to IQ-TREE in the next session.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From the recombination-filtered SNPs we build a maximum-likelihood tree: the tree under which the observed SNPs are most probable, given a model of how bases change. Bootstrap values say how well the data support each branch.</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+ASC (ascertainment-bias correction) is needed whenever the alignment contains only variable sites; without it IQ-TREE assumes the invariant sites do not exist and stretches the branches. It fails if any column is invariant, which is why snp-sites -c comes first. .treefile is the best tree; .contree is the bootstrap consensus.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do the eight cluster isolates form one clade of short branches? Where do the background isolates sit? Is the clade well supported? Within a tight outbreak cluster, bootstrap values are often low because the isolates differ by very few SNPs; that means the order inside the cluster is uncertain, not that the cluster is not real.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4. We count SNPs between every pair of isolates, see what a threshold does and does not mean, and repeat the count with SKA2, which needs no reference. A conclusion that holds with both methods is a stronger one.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awk script in section 6.7 turns the square matrix into one row per pair, labels each pair as within the candidate cluster, cluster versus other ST39, or other versus other, and prints the minimum, median and maximum per type. Then compare raw and filtered: how much did removing recombination change the distances? Fell behind? use_precomputed 06_phylogeny/ST39 copies every missing file.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histogram is a drawing, not our data: plot the real one from ST39_pairs.tsv. The right threshold depends on the lineage, the mutation rate, how much of the genome is compared, and the time between samples: isolates a year apart are expected to differ by a few more SNPs than isolates a week apart. Combined with epidemiological data, such as overlapping stays on the same ward, distances help resolve an outbreak. Discuss: do the eight cluster isolates fall within a few SNPs of each other? Are the 2005 and 2016 isolates clearly further away?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sequences on the slide are made up to show the idea. Because SKA2 never maps to a reference, its distances include genes and plasmids the reference lacks. The flip side: a split k-mer needs 15 identical bases on each side, so SNPs close to another variant, and indels, are missed. Derelle et al., Genome Research 2024, describe the method.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of time? use_precomputed 06_phylogeny/ST39/ST39_ska.skf 06_phylogeny/ST39/ST39_ska_distances.tsv. SKA2 builds from assemblies here; it can also read FASTQ files. The output columns of ST39_snippy_vs_ska.tsv are isolate1, isolate2, Snippy + Gubbins distance, SKA2 distance and pair type; the Day 6 page shows how to print it with a header.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first: are the SKA2 distances larger or smaller, and why? Several effects pull in different directions, so the absolute numbers will differ. If both methods agree on which pairs are close, the conclusion about transmission does not depend on the method.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trainers ran the training set with --phylo_method both. The pairs table has one row per pair with both distances after Gubbins, plus SKA2's reference-free distance (ska2_ref_free). A recombination block detected in one alignment but not the other moves many SNPs at once; low coverage or a mixed sample affects the two methods differently. A conclusion about transmission should hold with either method; if not, report that it depends on the method. Country runs from Day 5 can be repeated with PHYLO_METHOD=both.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CSI Phylogeny, from the Center for Genomic Epidemiology, uploads genomes to a web server: check your country's rules before uploading patient isolates. It calls SNPs per genome, keeps only positions that pass in all genomes, and builds a maximum-likelihood tree; its SNP filters can be adjusted. For a recombining species such as K. pneumoniae, a recombination-filtered alignment from Snippy and Gubbins, checked with SKA2, is the stronger evidence.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7. Yesterday's genomic evidence means little on its own: transmission needs isolates that are genetically close AND close in place and time. Today we put the tree next to ward and year.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field is quoted because some K-locus values contain commas. The tree has a tip called Reference (from Snippy) with no metadata row; that is fine. Microreact shows the tree, a timeline and a table side by side: click a clade and its rows light up. With country data, check what may be uploaded to a public web service before using it.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kinds of evidence must point the same way for probable transmission. The pipeline's transmission_pairs.R applies the same logic to every pair automatically: close SNPs, same ward and close in time is probable; near SNPs is possible; close but different or unknown ward, or years apart, is linked with the route unclear. Use Day 6's snippy_vs_ska2_pairs.tsv for the method check.</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BKR8JH falls within a few SNPs of the 2017 cluster, the lineage may have persisted in the unit for a year or more, pointing to a reservoir (sinks, equipment, colonised staff or babies) rather than one short outbreak. If it is far away, the 2017 cluster was probably a new introduction. Note its different capsule locus in the published typing (KL23, versus KL2 for the cluster): what does that suggest before you even look at the SNPs?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If mutations accumulate at a roughly steady rate, the collection dates let us put a date on the tree's branch points, including when the cluster's common ancestor lived. First we check whether the data carry enough signal to do that.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tree is first rooted where the dates fit best. The slope of the line estimates the substitution rate. Permuting the dates tests whether a slope this steep could arise by chance. With year-only dates and most isolates from 2016 to 2019, the signal here may be weak: that is a result too.</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from $RESULTS/06_phylogeny/ST39 after use_tools r. The code is wrapped to fit the slide; copy it from the Day 7 page. loadGubbins reads ST39.final_tree.tre, the node-labelled tree and the per-branch statistics. For a country's own data, bin/run_bactdating.R does all of this for one group from the pipeline's Gubbins output, treats year-only dates as a whole year rather than a point, checks convergence, and can date the common ancestor of chosen isolates with --mrca.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full collection dates (day and month), as most surveillance systems record, the same analysis gives much tighter estimates. That is one reason the country metadata on Day 5 asked for full dates where they exist.</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Sessions 3 and 4. Genomics is only useful if the people who act on it understand it. Session 3 writes a one-page summary; Session 4 presents it to an IPC team in a role play.</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Genomics supports or weakens an epidemiological hypothesis; it rarely settles it alone. Put the key finding first: busy readers may not get past it. State whether the conclusion held with both Snippy and SKA2.</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Rotate the genomics lead so several trainees present. The IPC nurse and the neonatologist should push for plain answers; the lab manager can ask about sampling and turnaround. Good answers acknowledge uncertainty and still give a clear recommendation. The treatment question links back to Day 4: with CTX-M-15 and gentamicin resistance, both WHO first- and second-line regimens are predicted to fail for these isolates.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one recombination event can import a stretch of DNA from a distant strain, bringing dozens or hundreds of SNPs at once; counting them as mutations makes the isolates look as if they diverged long ago. 2: no. It shows a very recent common ancestor. Transmission could be direct (baby to baby, via hands) or from a shared source such as a sink, incubator or contaminated feeds; epidemiology decides. 3: plasmids are gained, lost and exchanged between lineages, so their SNPs do not follow the chromosome's history, and plasmid regions missing from some isolates shrink the core. 4: whether SKA2's extra SNPs come from a recombination block Gubbins removed from Snippy's alignment, or from genes or plasmids outside the reference; look at both trees, the recombination predictions and the isolates' QC. Until explained, the pair is at most possible transmission.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on Day 6: build the ST35 tree yourself (CAAGNM CAAGJF CAAGM3 CAAG9G CAAHBT D46705), with the Shovill assembly with the fewest contigs as the reference, since there is no closed ST35 genome.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we built a recombination-filtered tree and SNP distances for ST39, checked them with a reference-free method, classified the cluster with ward and dates, and turned it into actions for an IPC team.</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9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doi.org/10.1016/j.tim.2009.03.001"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microbenotes.com/horizontal-gene-transfer-prokaryotes-eukaryotes/"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itol.embl.de"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microreact.org"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8" Type="http://schemas.openxmlformats.org/officeDocument/2006/relationships/hyperlink" Target="https://iqtree.github.io" TargetMode="External"/><Relationship Id="rId13" Type="http://schemas.openxmlformats.org/officeDocument/2006/relationships/hyperlink" Target="https://cge.food.dtu.dk/services/CSIPhylogeny/" TargetMode="External"/><Relationship Id="rId3" Type="http://schemas.openxmlformats.org/officeDocument/2006/relationships/hyperlink" Target="https://pmc.ncbi.nlm.nih.gov/articles/PMC8743538" TargetMode="External"/><Relationship Id="rId7" Type="http://schemas.openxmlformats.org/officeDocument/2006/relationships/hyperlink" Target="https://github.com/nickjcroucher/gubbins" TargetMode="External"/><Relationship Id="rId12" Type="http://schemas.openxmlformats.org/officeDocument/2006/relationships/hyperlink" Target="https://itol.embl.de"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hyperlink" Target="https://github.com/tseemann/snippy" TargetMode="External"/><Relationship Id="rId11" Type="http://schemas.openxmlformats.org/officeDocument/2006/relationships/hyperlink" Target="https://docs.microreact.org" TargetMode="External"/><Relationship Id="rId5" Type="http://schemas.openxmlformats.org/officeDocument/2006/relationships/hyperlink" Target="https://doi.org/10.1016/j.tim.2009.03.001" TargetMode="External"/><Relationship Id="rId10" Type="http://schemas.openxmlformats.org/officeDocument/2006/relationships/hyperlink" Target="https://github.com/xavierdidelot/BactDating" TargetMode="External"/><Relationship Id="rId4" Type="http://schemas.openxmlformats.org/officeDocument/2006/relationships/hyperlink" Target="https://doi.org/10.1101/gr.279449.124" TargetMode="External"/><Relationship Id="rId9" Type="http://schemas.openxmlformats.org/officeDocument/2006/relationships/hyperlink" Target="https://github.com/bacpop/ska.rust" TargetMode="External"/><Relationship Id="rId1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91F15"/>
        </a:solidFill>
        <a:effectLst/>
      </p:bgPr>
    </p:bg>
    <p:spTree>
      <p:nvGrpSpPr>
        <p:cNvPr id="1" name=""/>
        <p:cNvGrpSpPr/>
        <p:nvPr/>
      </p:nvGrpSpPr>
      <p:grpSpPr>
        <a:xfrm>
          <a:off x="0" y="0"/>
          <a:ext cx="0" cy="0"/>
          <a:chOff x="0" y="0"/>
          <a:chExt cx="0" cy="0"/>
        </a:xfrm>
      </p:grpSpPr>
      <p:pic>
        <p:nvPicPr>
          <p:cNvPr id="2" name="Image 0" descr="Pastoralists walking with their cattle at dawn"/>
          <p:cNvPicPr>
            <a:picLocks noChangeAspect="1"/>
          </p:cNvPicPr>
          <p:nvPr/>
        </p:nvPicPr>
        <p:blipFill>
          <a:blip r:embed="rId3"/>
          <a:srcRect/>
          <a:stretch/>
        </p:blipFill>
        <p:spPr>
          <a:xfrm>
            <a:off x="6096000" y="0"/>
            <a:ext cx="6096000" cy="6858000"/>
          </a:xfrm>
          <a:prstGeom prst="rect">
            <a:avLst/>
          </a:prstGeom>
        </p:spPr>
      </p:pic>
      <p:pic>
        <p:nvPicPr>
          <p:cNvPr id="3" name="Image 1" descr="ILRI and CGIAR logos"/>
          <p:cNvPicPr>
            <a:picLocks noChangeAspect="1"/>
          </p:cNvPicPr>
          <p:nvPr/>
        </p:nvPicPr>
        <p:blipFill>
          <a:blip r:embed="rId4"/>
          <a:srcRect l="-36" r="-36"/>
          <a:stretch/>
        </p:blipFill>
        <p:spPr>
          <a:xfrm>
            <a:off x="368300" y="336550"/>
            <a:ext cx="2984500" cy="806450"/>
          </a:xfrm>
          <a:prstGeom prst="rect">
            <a:avLst/>
          </a:prstGeom>
        </p:spPr>
      </p:pic>
      <p:sp>
        <p:nvSpPr>
          <p:cNvPr id="4" name="Text 0"/>
          <p:cNvSpPr/>
          <p:nvPr/>
        </p:nvSpPr>
        <p:spPr>
          <a:xfrm>
            <a:off x="0" y="222126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FFCE00"/>
                </a:solidFill>
                <a:latin typeface="Carlito" pitchFamily="34" charset="0"/>
                <a:ea typeface="Carlito" pitchFamily="34" charset="-122"/>
                <a:cs typeface="Carlito" pitchFamily="34" charset="-120"/>
              </a:rPr>
              <a:t>MODULE 6 · DAYS 6–7</a:t>
            </a:r>
            <a:endParaRPr lang="en-US" sz="1600" dirty="0"/>
          </a:p>
        </p:txBody>
      </p:sp>
      <p:sp>
        <p:nvSpPr>
          <p:cNvPr id="5" name="Text 1"/>
          <p:cNvSpPr>
            <a:spLocks noGrp="1"/>
          </p:cNvSpPr>
          <p:nvPr>
            <p:ph type="title"/>
          </p:nvPr>
        </p:nvSpPr>
        <p:spPr>
          <a:xfrm>
            <a:off x="0" y="2708920"/>
            <a:ext cx="12557760" cy="718790"/>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9F2EA"/>
                </a:solidFill>
                <a:latin typeface="Carlito" pitchFamily="34" charset="0"/>
                <a:ea typeface="Carlito" pitchFamily="34" charset="-122"/>
                <a:cs typeface="Carlito" pitchFamily="34" charset="-120"/>
              </a:rPr>
              <a:t>Is it an outbreak?</a:t>
            </a:r>
            <a:endParaRPr lang="en-US" sz="5200" dirty="0"/>
          </a:p>
        </p:txBody>
      </p:sp>
      <p:sp>
        <p:nvSpPr>
          <p:cNvPr id="6" name="Text 2"/>
          <p:cNvSpPr/>
          <p:nvPr/>
        </p:nvSpPr>
        <p:spPr>
          <a:xfrm>
            <a:off x="0" y="360551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9F2EA"/>
                </a:solidFill>
                <a:latin typeface="Carlito" pitchFamily="34" charset="0"/>
                <a:ea typeface="Carlito" pitchFamily="34" charset="-122"/>
                <a:cs typeface="Carlito" pitchFamily="34" charset="-120"/>
              </a:rPr>
              <a:t>Core SNPs, recombination, trees, SNP distances with Snippy and SKA2, and what to tell the IPC team</a:t>
            </a:r>
            <a:endParaRPr lang="en-US" sz="2000" dirty="0"/>
          </a:p>
        </p:txBody>
      </p:sp>
      <p:sp>
        <p:nvSpPr>
          <p:cNvPr id="7" name="Text 3"/>
          <p:cNvSpPr/>
          <p:nvPr/>
        </p:nvSpPr>
        <p:spPr>
          <a:xfrm>
            <a:off x="0" y="4138910"/>
            <a:ext cx="1255776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1D3C9"/>
                </a:solidFill>
                <a:latin typeface="Carlito" pitchFamily="34" charset="0"/>
                <a:ea typeface="Carlito" pitchFamily="34" charset="-122"/>
                <a:cs typeface="Carlito" pitchFamily="34" charset="-120"/>
              </a:rPr>
              <a:t>Neonatal AMR genomic surveillance of </a:t>
            </a:r>
            <a:r>
              <a:rPr lang="en-US" sz="1400" i="1" dirty="0">
                <a:solidFill>
                  <a:srgbClr val="F1D3C9"/>
                </a:solidFill>
                <a:latin typeface="Carlito" pitchFamily="34" charset="0"/>
                <a:ea typeface="Carlito" pitchFamily="34" charset="-122"/>
                <a:cs typeface="Carlito" pitchFamily="34" charset="-120"/>
              </a:rPr>
              <a:t>K. pneumoniae</a:t>
            </a:r>
            <a:r>
              <a:rPr lang="en-US" sz="1400" dirty="0">
                <a:solidFill>
                  <a:srgbClr val="F1D3C9"/>
                </a:solidFill>
                <a:latin typeface="Carlito" pitchFamily="34" charset="0"/>
                <a:ea typeface="Carlito" pitchFamily="34" charset="-122"/>
                <a:cs typeface="Carlito" pitchFamily="34" charset="-120"/>
              </a:rPr>
              <a:t> and </a:t>
            </a:r>
            <a:r>
              <a:rPr lang="en-US" sz="1400" i="1" dirty="0">
                <a:solidFill>
                  <a:srgbClr val="F1D3C9"/>
                </a:solidFill>
                <a:latin typeface="Carlito" pitchFamily="34" charset="0"/>
                <a:ea typeface="Carlito" pitchFamily="34" charset="-122"/>
                <a:cs typeface="Carlito" pitchFamily="34" charset="-120"/>
              </a:rPr>
              <a:t>E. coli</a:t>
            </a:r>
            <a:endParaRPr lang="en-US" sz="1400" dirty="0"/>
          </a:p>
          <a:p>
            <a:pPr marL="0" indent="0" algn="l">
              <a:lnSpc>
                <a:spcPts val="1960"/>
              </a:lnSpc>
              <a:buNone/>
            </a:pPr>
            <a:r>
              <a:rPr lang="en-US" sz="1400" dirty="0">
                <a:solidFill>
                  <a:srgbClr val="F1D3C9"/>
                </a:solidFill>
                <a:latin typeface="Carlito" pitchFamily="34" charset="0"/>
                <a:ea typeface="Carlito" pitchFamily="34" charset="-122"/>
                <a:cs typeface="Carlito" pitchFamily="34" charset="-120"/>
              </a:rPr>
              <a:t>KlebGen training · Africa CDC and ILRI</a:t>
            </a:r>
            <a:endParaRPr lang="en-US" sz="1400" dirty="0"/>
          </a:p>
        </p:txBody>
      </p:sp>
      <p:sp>
        <p:nvSpPr>
          <p:cNvPr id="8" name="Text 4"/>
          <p:cNvSpPr/>
          <p:nvPr/>
        </p:nvSpPr>
        <p:spPr>
          <a:xfrm>
            <a:off x="425450" y="6289080"/>
            <a:ext cx="45783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B5A8"/>
                </a:solidFill>
                <a:latin typeface="Carlito" pitchFamily="34" charset="0"/>
                <a:ea typeface="Carlito" pitchFamily="34" charset="-122"/>
                <a:cs typeface="Carlito" pitchFamily="34" charset="-120"/>
              </a:rPr>
              <a:t>Module 6 · Phylogenetics and outbreak detection | Days 6–7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Days 6–7 at a glance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71290"/>
          <a:ext cx="10553700" cy="3233889"/>
        </p:xfrm>
        <a:graphic>
          <a:graphicData uri="http://schemas.openxmlformats.org/drawingml/2006/table">
            <a:tbl>
              <a:tblPr/>
              <a:tblGrid>
                <a:gridCol w="1688592">
                  <a:extLst>
                    <a:ext uri="{9D8B030D-6E8A-4147-A177-3AD203B41FA5}">
                      <a16:colId xmlns:a16="http://schemas.microsoft.com/office/drawing/2014/main" val="20000"/>
                    </a:ext>
                  </a:extLst>
                </a:gridCol>
                <a:gridCol w="1794129">
                  <a:extLst>
                    <a:ext uri="{9D8B030D-6E8A-4147-A177-3AD203B41FA5}">
                      <a16:colId xmlns:a16="http://schemas.microsoft.com/office/drawing/2014/main" val="20001"/>
                    </a:ext>
                  </a:extLst>
                </a:gridCol>
                <a:gridCol w="7070979">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3A322C"/>
                          </a:solidFill>
                          <a:latin typeface="Carlito" pitchFamily="34" charset="0"/>
                          <a:ea typeface="Carlito" pitchFamily="34" charset="-122"/>
                          <a:cs typeface="Carlito" pitchFamily="34" charset="-120"/>
                        </a:rPr>
                        <a:t>Day · session</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820"/>
                        </a:lnSpc>
                        <a:buNone/>
                      </a:pPr>
                      <a:r>
                        <a:rPr lang="en-US" sz="1300" b="1" dirty="0">
                          <a:solidFill>
                            <a:srgbClr val="3A322C"/>
                          </a:solidFill>
                          <a:latin typeface="Carlito" pitchFamily="34" charset="0"/>
                          <a:ea typeface="Carlito" pitchFamily="34" charset="-122"/>
                          <a:cs typeface="Carlito" pitchFamily="34" charset="-120"/>
                        </a:rPr>
                        <a:t>Time</a:t>
                      </a:r>
                      <a:endParaRPr lang="en-US" sz="1300" dirty="0">
                        <a:latin typeface="Carlito" charset="0"/>
                        <a:ea typeface="Carlito" charset="0"/>
                        <a:cs typeface="Carlito" charset="0"/>
                      </a:endParaRPr>
                    </a:p>
                  </a:txBody>
                  <a:tcPr marL="57785" marR="57785" marT="57785" marB="5778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820"/>
                        </a:lnSpc>
                        <a:buNone/>
                      </a:pPr>
                      <a:r>
                        <a:rPr lang="en-US" sz="1300" b="1" dirty="0">
                          <a:solidFill>
                            <a:srgbClr val="3A322C"/>
                          </a:solidFill>
                          <a:latin typeface="Carlito" pitchFamily="34" charset="0"/>
                          <a:ea typeface="Carlito" pitchFamily="34" charset="-122"/>
                          <a:cs typeface="Carlito" pitchFamily="34" charset="-120"/>
                        </a:rPr>
                        <a:t>Topic</a:t>
                      </a:r>
                      <a:endParaRPr lang="en-US" sz="1300" dirty="0">
                        <a:latin typeface="Carlito" charset="0"/>
                        <a:ea typeface="Carlito" charset="0"/>
                        <a:cs typeface="Carlito" charset="0"/>
                      </a:endParaRPr>
                    </a:p>
                  </a:txBody>
                  <a:tcPr marL="57785" marR="57785" marT="57785" marB="5778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Day 6 · 1</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09:00–10:30</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From reads to a core-genome SNP alignment (Snippy)</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Day 6 · 2</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11:00–12:30</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Recombination and why it matters (Gubbins)</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Day 6 · 3</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13:30–15:00</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Maximum-likelihood trees (IQ-TREE)</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Day 6 · 4</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15:30–17:00</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SNP distances, a reference-free check with SKA2, and what a threshold can tell you</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Day 7 · 1</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09:00–10:30</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Tree plus metadata: classify clusters (Microreact)</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Day 7 · 2</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11:00–12:30</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When did the cluster start? Time-scaled trees (BactDating)</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6"/>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Day 7 · 3</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13:30–15:00</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Writing the outbreak summary</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7"/>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Day 7 · 4</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15:30–17:00</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Role play: presenting to an infection prevention and control (IPC) team</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8"/>
                  </a:ext>
                </a:extLst>
              </a:tr>
            </a:tbl>
          </a:graphicData>
        </a:graphic>
      </p:graphicFrame>
      <p:sp>
        <p:nvSpPr>
          <p:cNvPr id="5" name="Shape 2"/>
          <p:cNvSpPr/>
          <p:nvPr/>
        </p:nvSpPr>
        <p:spPr>
          <a:xfrm>
            <a:off x="812800" y="5108377"/>
            <a:ext cx="10566400" cy="553690"/>
          </a:xfrm>
          <a:prstGeom prst="roundRect">
            <a:avLst>
              <a:gd name="adj" fmla="val 13762"/>
            </a:avLst>
          </a:prstGeom>
          <a:solidFill>
            <a:srgbClr val="273003"/>
          </a:solidFill>
          <a:ln/>
        </p:spPr>
        <p:txBody>
          <a:bodyPr/>
          <a:lstStyle/>
          <a:p>
            <a:endParaRPr lang="en-KE"/>
          </a:p>
        </p:txBody>
      </p:sp>
      <p:sp>
        <p:nvSpPr>
          <p:cNvPr id="6" name="Text 3"/>
          <p:cNvSpPr/>
          <p:nvPr/>
        </p:nvSpPr>
        <p:spPr>
          <a:xfrm>
            <a:off x="1066800" y="5260777"/>
            <a:ext cx="1270496" cy="274290"/>
          </a:xfrm>
          <a:prstGeom prst="rect">
            <a:avLst/>
          </a:prstGeom>
          <a:noFill/>
          <a:ln/>
        </p:spPr>
        <p:txBody>
          <a:bodyPr wrap="none" lIns="0" tIns="0" rIns="0" bIns="0" rtlCol="0" anchor="t">
            <a:normAutofit/>
          </a:bodyPr>
          <a:lstStyle/>
          <a:p>
            <a:pPr marL="0" indent="0" algn="l">
              <a:lnSpc>
                <a:spcPts val="1960"/>
              </a:lnSpc>
              <a:buNone/>
            </a:pPr>
            <a:r>
              <a:rPr lang="en-US" sz="1400" b="1" dirty="0">
                <a:solidFill>
                  <a:srgbClr val="FFCE00"/>
                </a:solidFill>
                <a:latin typeface="Carlito" pitchFamily="34" charset="0"/>
                <a:ea typeface="Carlito" pitchFamily="34" charset="-122"/>
                <a:cs typeface="Carlito" pitchFamily="34" charset="-120"/>
              </a:rPr>
              <a:t>You will produce</a:t>
            </a:r>
            <a:endParaRPr lang="en-US" sz="1400" dirty="0"/>
          </a:p>
        </p:txBody>
      </p:sp>
      <p:sp>
        <p:nvSpPr>
          <p:cNvPr id="7" name="Text 4"/>
          <p:cNvSpPr/>
          <p:nvPr/>
        </p:nvSpPr>
        <p:spPr>
          <a:xfrm>
            <a:off x="2438896" y="5273774"/>
            <a:ext cx="8940304"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9F2EA"/>
                </a:solidFill>
                <a:latin typeface="Carlito" pitchFamily="34" charset="0"/>
                <a:ea typeface="Carlito" pitchFamily="34" charset="-122"/>
                <a:cs typeface="Carlito" pitchFamily="34" charset="-120"/>
              </a:rPr>
              <a:t>a recombination-filtered tree and SNP-distance matrix for ST39, a Snippy–SKA2 comparison, and a one-page outbreak summary</a:t>
            </a:r>
            <a:endParaRPr lang="en-US" sz="1300" dirty="0"/>
          </a:p>
        </p:txBody>
      </p:sp>
      <p:pic>
        <p:nvPicPr>
          <p:cNvPr id="8"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9"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Days 6–7</a:t>
            </a:r>
            <a:endParaRPr lang="en-US" sz="1200" dirty="0"/>
          </a:p>
        </p:txBody>
      </p:sp>
      <p:sp>
        <p:nvSpPr>
          <p:cNvPr id="10" name="Text 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2EA"/>
        </a:solidFill>
        <a:effectLst/>
      </p:bgPr>
    </p:bg>
    <p:spTree>
      <p:nvGrpSpPr>
        <p:cNvPr id="1" name=""/>
        <p:cNvGrpSpPr/>
        <p:nvPr/>
      </p:nvGrpSpPr>
      <p:grpSpPr>
        <a:xfrm>
          <a:off x="0" y="0"/>
          <a:ext cx="0" cy="0"/>
          <a:chOff x="0" y="0"/>
          <a:chExt cx="0" cy="0"/>
        </a:xfrm>
      </p:grpSpPr>
      <p:sp>
        <p:nvSpPr>
          <p:cNvPr id="2" name="Shape 0"/>
          <p:cNvSpPr/>
          <p:nvPr/>
        </p:nvSpPr>
        <p:spPr>
          <a:xfrm>
            <a:off x="336550" y="692150"/>
            <a:ext cx="11357012" cy="996777"/>
          </a:xfrm>
          <a:prstGeom prst="rect">
            <a:avLst/>
          </a:prstGeom>
          <a:solidFill>
            <a:srgbClr val="273003"/>
          </a:solidFill>
          <a:ln/>
        </p:spPr>
        <p:txBody>
          <a:bodyPr/>
          <a:lstStyle/>
          <a:p>
            <a:endParaRPr lang="en-KE"/>
          </a:p>
        </p:txBody>
      </p:sp>
      <p:sp>
        <p:nvSpPr>
          <p:cNvPr id="3" name="Text 1"/>
          <p:cNvSpPr>
            <a:spLocks noGrp="1"/>
          </p:cNvSpPr>
          <p:nvPr>
            <p:ph type="title"/>
          </p:nvPr>
        </p:nvSpPr>
        <p:spPr>
          <a:xfrm>
            <a:off x="742950" y="1098551"/>
            <a:ext cx="8839051" cy="114300"/>
          </a:xfrm>
          <a:prstGeom prst="rect">
            <a:avLst/>
          </a:prstGeom>
          <a:noFill/>
          <a:ln/>
        </p:spPr>
        <p:txBody>
          <a:bodyPr wrap="square" lIns="0" tIns="0" rIns="0" bIns="0" rtlCol="0" anchor="t">
            <a:normAutofit fontScale="90000"/>
          </a:bodyPr>
          <a:lstStyle/>
          <a:p>
            <a:pPr marL="0" indent="0" algn="l">
              <a:lnSpc>
                <a:spcPts val="3960"/>
              </a:lnSpc>
              <a:buNone/>
            </a:pPr>
            <a:r>
              <a:rPr lang="en-US" sz="3600" b="1" i="0" dirty="0">
                <a:solidFill>
                  <a:srgbClr val="F9F2EA"/>
                </a:solidFill>
                <a:latin typeface="Carlito" pitchFamily="34" charset="0"/>
                <a:ea typeface="Carlito" pitchFamily="34" charset="-122"/>
                <a:cs typeface="Carlito" pitchFamily="34" charset="-120"/>
              </a:rPr>
              <a:t>By the end of Module 6 you can</a:t>
            </a:r>
            <a:endParaRPr lang="en-US" sz="3600" dirty="0"/>
          </a:p>
        </p:txBody>
      </p:sp>
      <p:sp>
        <p:nvSpPr>
          <p:cNvPr id="4" name="Text 2"/>
          <p:cNvSpPr/>
          <p:nvPr/>
        </p:nvSpPr>
        <p:spPr>
          <a:xfrm>
            <a:off x="742950" y="5121970"/>
            <a:ext cx="336181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CA6E"/>
                </a:solidFill>
                <a:latin typeface="Carlito" pitchFamily="34" charset="0"/>
                <a:ea typeface="Carlito" pitchFamily="34" charset="-122"/>
                <a:cs typeface="Carlito" pitchFamily="34" charset="-120"/>
              </a:rPr>
              <a:t>1–4: Day 6</a:t>
            </a:r>
            <a:endParaRPr lang="en-US" sz="1400" dirty="0"/>
          </a:p>
          <a:p>
            <a:pPr marL="0" indent="0" algn="l">
              <a:lnSpc>
                <a:spcPts val="1960"/>
              </a:lnSpc>
              <a:buNone/>
            </a:pPr>
            <a:r>
              <a:rPr lang="en-US" sz="1400" dirty="0">
                <a:solidFill>
                  <a:srgbClr val="C2CA6E"/>
                </a:solidFill>
                <a:latin typeface="Carlito" pitchFamily="34" charset="0"/>
                <a:ea typeface="Carlito" pitchFamily="34" charset="-122"/>
                <a:cs typeface="Carlito" pitchFamily="34" charset="-120"/>
              </a:rPr>
              <a:t>5–6: Day 7</a:t>
            </a:r>
            <a:endParaRPr lang="en-US" sz="1400" dirty="0"/>
          </a:p>
        </p:txBody>
      </p:sp>
      <p:sp>
        <p:nvSpPr>
          <p:cNvPr id="5" name="Shape 3"/>
          <p:cNvSpPr/>
          <p:nvPr/>
        </p:nvSpPr>
        <p:spPr>
          <a:xfrm>
            <a:off x="0" y="2387600"/>
            <a:ext cx="12192000" cy="0"/>
          </a:xfrm>
          <a:prstGeom prst="line">
            <a:avLst/>
          </a:prstGeom>
          <a:noFill/>
          <a:ln w="12700">
            <a:solidFill>
              <a:srgbClr val="D9CDBF"/>
            </a:solidFill>
            <a:prstDash val="solid"/>
          </a:ln>
        </p:spPr>
        <p:txBody>
          <a:bodyPr/>
          <a:lstStyle/>
          <a:p>
            <a:endParaRPr lang="en-KE"/>
          </a:p>
        </p:txBody>
      </p:sp>
      <p:sp>
        <p:nvSpPr>
          <p:cNvPr id="6" name="Text 4"/>
          <p:cNvSpPr/>
          <p:nvPr/>
        </p:nvSpPr>
        <p:spPr>
          <a:xfrm>
            <a:off x="0" y="2000250"/>
            <a:ext cx="179536"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891F15"/>
                </a:solidFill>
                <a:latin typeface="Carlito" pitchFamily="34" charset="0"/>
                <a:ea typeface="Carlito" pitchFamily="34" charset="-122"/>
                <a:cs typeface="Carlito" pitchFamily="34" charset="-120"/>
              </a:rPr>
              <a:t>1</a:t>
            </a:r>
            <a:endParaRPr lang="en-US" sz="2000" dirty="0"/>
          </a:p>
        </p:txBody>
      </p:sp>
      <p:sp>
        <p:nvSpPr>
          <p:cNvPr id="7" name="Text 5"/>
          <p:cNvSpPr/>
          <p:nvPr/>
        </p:nvSpPr>
        <p:spPr>
          <a:xfrm>
            <a:off x="281136" y="2000250"/>
            <a:ext cx="5994440"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322C"/>
                </a:solidFill>
                <a:latin typeface="Carlito" pitchFamily="34" charset="0"/>
                <a:ea typeface="Carlito" pitchFamily="34" charset="-122"/>
                <a:cs typeface="Carlito" pitchFamily="34" charset="-120"/>
              </a:rPr>
              <a:t>Choose a reference genome and build a core-genome SNP alignment.</a:t>
            </a:r>
            <a:endParaRPr lang="en-US" sz="1400" dirty="0"/>
          </a:p>
        </p:txBody>
      </p:sp>
      <p:sp>
        <p:nvSpPr>
          <p:cNvPr id="8" name="Shape 6"/>
          <p:cNvSpPr/>
          <p:nvPr/>
        </p:nvSpPr>
        <p:spPr>
          <a:xfrm>
            <a:off x="0" y="2882900"/>
            <a:ext cx="12192000" cy="0"/>
          </a:xfrm>
          <a:prstGeom prst="line">
            <a:avLst/>
          </a:prstGeom>
          <a:noFill/>
          <a:ln w="12700">
            <a:solidFill>
              <a:srgbClr val="D9CDBF"/>
            </a:solidFill>
            <a:prstDash val="solid"/>
          </a:ln>
        </p:spPr>
        <p:txBody>
          <a:bodyPr/>
          <a:lstStyle/>
          <a:p>
            <a:endParaRPr lang="en-KE"/>
          </a:p>
        </p:txBody>
      </p:sp>
      <p:sp>
        <p:nvSpPr>
          <p:cNvPr id="9" name="Text 7"/>
          <p:cNvSpPr/>
          <p:nvPr/>
        </p:nvSpPr>
        <p:spPr>
          <a:xfrm>
            <a:off x="0" y="2495550"/>
            <a:ext cx="179536"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891F15"/>
                </a:solidFill>
                <a:latin typeface="Carlito" pitchFamily="34" charset="0"/>
                <a:ea typeface="Carlito" pitchFamily="34" charset="-122"/>
                <a:cs typeface="Carlito" pitchFamily="34" charset="-120"/>
              </a:rPr>
              <a:t>2</a:t>
            </a:r>
            <a:endParaRPr lang="en-US" sz="2000" dirty="0"/>
          </a:p>
        </p:txBody>
      </p:sp>
      <p:sp>
        <p:nvSpPr>
          <p:cNvPr id="10" name="Text 8"/>
          <p:cNvSpPr/>
          <p:nvPr/>
        </p:nvSpPr>
        <p:spPr>
          <a:xfrm>
            <a:off x="281136" y="2495550"/>
            <a:ext cx="6596896"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322C"/>
                </a:solidFill>
                <a:latin typeface="Carlito" pitchFamily="34" charset="0"/>
                <a:ea typeface="Carlito" pitchFamily="34" charset="-122"/>
                <a:cs typeface="Carlito" pitchFamily="34" charset="-120"/>
              </a:rPr>
              <a:t>Explain why recombination inflates SNP counts, and remove it with Gubbins.</a:t>
            </a:r>
            <a:endParaRPr lang="en-US" sz="1400" dirty="0"/>
          </a:p>
        </p:txBody>
      </p:sp>
      <p:sp>
        <p:nvSpPr>
          <p:cNvPr id="11" name="Shape 9"/>
          <p:cNvSpPr/>
          <p:nvPr/>
        </p:nvSpPr>
        <p:spPr>
          <a:xfrm>
            <a:off x="0" y="3378200"/>
            <a:ext cx="12192000" cy="0"/>
          </a:xfrm>
          <a:prstGeom prst="line">
            <a:avLst/>
          </a:prstGeom>
          <a:noFill/>
          <a:ln w="12700">
            <a:solidFill>
              <a:srgbClr val="D9CDBF"/>
            </a:solidFill>
            <a:prstDash val="solid"/>
          </a:ln>
        </p:spPr>
        <p:txBody>
          <a:bodyPr/>
          <a:lstStyle/>
          <a:p>
            <a:endParaRPr lang="en-KE"/>
          </a:p>
        </p:txBody>
      </p:sp>
      <p:sp>
        <p:nvSpPr>
          <p:cNvPr id="12" name="Text 10"/>
          <p:cNvSpPr/>
          <p:nvPr/>
        </p:nvSpPr>
        <p:spPr>
          <a:xfrm>
            <a:off x="0" y="2990850"/>
            <a:ext cx="179536"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891F15"/>
                </a:solidFill>
                <a:latin typeface="Carlito" pitchFamily="34" charset="0"/>
                <a:ea typeface="Carlito" pitchFamily="34" charset="-122"/>
                <a:cs typeface="Carlito" pitchFamily="34" charset="-120"/>
              </a:rPr>
              <a:t>3</a:t>
            </a:r>
            <a:endParaRPr lang="en-US" sz="2000" dirty="0"/>
          </a:p>
        </p:txBody>
      </p:sp>
      <p:sp>
        <p:nvSpPr>
          <p:cNvPr id="13" name="Text 11"/>
          <p:cNvSpPr/>
          <p:nvPr/>
        </p:nvSpPr>
        <p:spPr>
          <a:xfrm>
            <a:off x="281136" y="2990850"/>
            <a:ext cx="4672608"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322C"/>
                </a:solidFill>
                <a:latin typeface="Carlito" pitchFamily="34" charset="0"/>
                <a:ea typeface="Carlito" pitchFamily="34" charset="-122"/>
                <a:cs typeface="Carlito" pitchFamily="34" charset="-120"/>
              </a:rPr>
              <a:t>Build a maximum-likelihood tree with branch support.</a:t>
            </a:r>
            <a:endParaRPr lang="en-US" sz="1400" dirty="0"/>
          </a:p>
        </p:txBody>
      </p:sp>
      <p:sp>
        <p:nvSpPr>
          <p:cNvPr id="14" name="Shape 12"/>
          <p:cNvSpPr/>
          <p:nvPr/>
        </p:nvSpPr>
        <p:spPr>
          <a:xfrm>
            <a:off x="0" y="3873500"/>
            <a:ext cx="12192000" cy="0"/>
          </a:xfrm>
          <a:prstGeom prst="line">
            <a:avLst/>
          </a:prstGeom>
          <a:noFill/>
          <a:ln w="12700">
            <a:solidFill>
              <a:srgbClr val="D9CDBF"/>
            </a:solidFill>
            <a:prstDash val="solid"/>
          </a:ln>
        </p:spPr>
        <p:txBody>
          <a:bodyPr/>
          <a:lstStyle/>
          <a:p>
            <a:endParaRPr lang="en-KE"/>
          </a:p>
        </p:txBody>
      </p:sp>
      <p:sp>
        <p:nvSpPr>
          <p:cNvPr id="15" name="Text 13"/>
          <p:cNvSpPr/>
          <p:nvPr/>
        </p:nvSpPr>
        <p:spPr>
          <a:xfrm>
            <a:off x="0" y="3486150"/>
            <a:ext cx="179536"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891F15"/>
                </a:solidFill>
                <a:latin typeface="Carlito" pitchFamily="34" charset="0"/>
                <a:ea typeface="Carlito" pitchFamily="34" charset="-122"/>
                <a:cs typeface="Carlito" pitchFamily="34" charset="-120"/>
              </a:rPr>
              <a:t>4</a:t>
            </a:r>
            <a:endParaRPr lang="en-US" sz="2000" dirty="0"/>
          </a:p>
        </p:txBody>
      </p:sp>
      <p:sp>
        <p:nvSpPr>
          <p:cNvPr id="16" name="Text 14"/>
          <p:cNvSpPr/>
          <p:nvPr/>
        </p:nvSpPr>
        <p:spPr>
          <a:xfrm>
            <a:off x="281136" y="3486150"/>
            <a:ext cx="8855214"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322C"/>
                </a:solidFill>
                <a:latin typeface="Carlito" pitchFamily="34" charset="0"/>
                <a:ea typeface="Carlito" pitchFamily="34" charset="-122"/>
                <a:cs typeface="Carlito" pitchFamily="34" charset="-120"/>
              </a:rPr>
              <a:t>Use SNP distances, from Snippy and from reference-free SKA2, as </a:t>
            </a:r>
            <a:r>
              <a:rPr lang="en-US" sz="1400" b="1" dirty="0">
                <a:solidFill>
                  <a:srgbClr val="3A322C"/>
                </a:solidFill>
                <a:latin typeface="Carlito" pitchFamily="34" charset="0"/>
                <a:ea typeface="Carlito" pitchFamily="34" charset="-122"/>
                <a:cs typeface="Carlito" pitchFamily="34" charset="-120"/>
              </a:rPr>
              <a:t>evidence</a:t>
            </a:r>
            <a:r>
              <a:rPr lang="en-US" sz="1400" dirty="0">
                <a:solidFill>
                  <a:srgbClr val="3A322C"/>
                </a:solidFill>
                <a:latin typeface="Carlito" pitchFamily="34" charset="0"/>
                <a:ea typeface="Carlito" pitchFamily="34" charset="-122"/>
                <a:cs typeface="Carlito" pitchFamily="34" charset="-120"/>
              </a:rPr>
              <a:t>, not proof, of transmission.</a:t>
            </a:r>
            <a:endParaRPr lang="en-US" sz="1400" dirty="0"/>
          </a:p>
        </p:txBody>
      </p:sp>
      <p:sp>
        <p:nvSpPr>
          <p:cNvPr id="17" name="Shape 15"/>
          <p:cNvSpPr/>
          <p:nvPr/>
        </p:nvSpPr>
        <p:spPr>
          <a:xfrm>
            <a:off x="0" y="4368800"/>
            <a:ext cx="12192000" cy="0"/>
          </a:xfrm>
          <a:prstGeom prst="line">
            <a:avLst/>
          </a:prstGeom>
          <a:noFill/>
          <a:ln w="12700">
            <a:solidFill>
              <a:srgbClr val="D9CDBF"/>
            </a:solidFill>
            <a:prstDash val="solid"/>
          </a:ln>
        </p:spPr>
        <p:txBody>
          <a:bodyPr/>
          <a:lstStyle/>
          <a:p>
            <a:endParaRPr lang="en-KE"/>
          </a:p>
        </p:txBody>
      </p:sp>
      <p:sp>
        <p:nvSpPr>
          <p:cNvPr id="18" name="Text 16"/>
          <p:cNvSpPr/>
          <p:nvPr/>
        </p:nvSpPr>
        <p:spPr>
          <a:xfrm>
            <a:off x="0" y="3981450"/>
            <a:ext cx="179536"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891F15"/>
                </a:solidFill>
                <a:latin typeface="Carlito" pitchFamily="34" charset="0"/>
                <a:ea typeface="Carlito" pitchFamily="34" charset="-122"/>
                <a:cs typeface="Carlito" pitchFamily="34" charset="-120"/>
              </a:rPr>
              <a:t>5</a:t>
            </a:r>
            <a:endParaRPr lang="en-US" sz="2000" dirty="0"/>
          </a:p>
        </p:txBody>
      </p:sp>
      <p:sp>
        <p:nvSpPr>
          <p:cNvPr id="19" name="Text 17"/>
          <p:cNvSpPr/>
          <p:nvPr/>
        </p:nvSpPr>
        <p:spPr>
          <a:xfrm>
            <a:off x="281136" y="3981450"/>
            <a:ext cx="9300865"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322C"/>
                </a:solidFill>
                <a:latin typeface="Carlito" pitchFamily="34" charset="0"/>
                <a:ea typeface="Carlito" pitchFamily="34" charset="-122"/>
                <a:cs typeface="Carlito" pitchFamily="34" charset="-120"/>
              </a:rPr>
              <a:t>Combine tree, distances, ward and dates to classify clusters; date a cluster when the temporal signal allows.</a:t>
            </a:r>
            <a:endParaRPr lang="en-US" sz="1400" dirty="0"/>
          </a:p>
        </p:txBody>
      </p:sp>
      <p:sp>
        <p:nvSpPr>
          <p:cNvPr id="20" name="Text 18"/>
          <p:cNvSpPr/>
          <p:nvPr/>
        </p:nvSpPr>
        <p:spPr>
          <a:xfrm>
            <a:off x="0" y="4476750"/>
            <a:ext cx="179536"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891F15"/>
                </a:solidFill>
                <a:latin typeface="Carlito" pitchFamily="34" charset="0"/>
                <a:ea typeface="Carlito" pitchFamily="34" charset="-122"/>
                <a:cs typeface="Carlito" pitchFamily="34" charset="-120"/>
              </a:rPr>
              <a:t>6</a:t>
            </a:r>
            <a:endParaRPr lang="en-US" sz="2000" dirty="0"/>
          </a:p>
        </p:txBody>
      </p:sp>
      <p:sp>
        <p:nvSpPr>
          <p:cNvPr id="21" name="Text 19"/>
          <p:cNvSpPr/>
          <p:nvPr/>
        </p:nvSpPr>
        <p:spPr>
          <a:xfrm>
            <a:off x="281136" y="4476750"/>
            <a:ext cx="7294781" cy="25653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3A322C"/>
                </a:solidFill>
                <a:latin typeface="Carlito" pitchFamily="34" charset="0"/>
                <a:ea typeface="Carlito" pitchFamily="34" charset="-122"/>
                <a:cs typeface="Carlito" pitchFamily="34" charset="-120"/>
              </a:rPr>
              <a:t>Communicate a genomic finding to an IPC team in plain language, with clear actions.</a:t>
            </a:r>
            <a:endParaRPr lang="en-US" sz="1400" dirty="0"/>
          </a:p>
        </p:txBody>
      </p:sp>
      <p:sp>
        <p:nvSpPr>
          <p:cNvPr id="22" name="Text 20"/>
          <p:cNvSpPr/>
          <p:nvPr/>
        </p:nvSpPr>
        <p:spPr>
          <a:xfrm>
            <a:off x="812800" y="6238280"/>
            <a:ext cx="3401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Days 6–7</a:t>
            </a:r>
            <a:endParaRPr lang="en-US" sz="1200" dirty="0"/>
          </a:p>
        </p:txBody>
      </p:sp>
      <p:sp>
        <p:nvSpPr>
          <p:cNvPr id="23" name="Text 2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Genomic epidemiology in action</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4978400" cy="2264271"/>
          </a:xfrm>
          <a:prstGeom prst="roundRect">
            <a:avLst>
              <a:gd name="adj" fmla="val 2244"/>
            </a:avLst>
          </a:prstGeom>
          <a:solidFill>
            <a:srgbClr val="FFFFFF"/>
          </a:solidFill>
          <a:ln/>
        </p:spPr>
        <p:txBody>
          <a:bodyPr/>
          <a:lstStyle/>
          <a:p>
            <a:endParaRPr lang="en-KE"/>
          </a:p>
        </p:txBody>
      </p:sp>
      <p:sp>
        <p:nvSpPr>
          <p:cNvPr id="5" name="Shape 3"/>
          <p:cNvSpPr/>
          <p:nvPr/>
        </p:nvSpPr>
        <p:spPr>
          <a:xfrm>
            <a:off x="812800" y="1709390"/>
            <a:ext cx="4978400" cy="2264271"/>
          </a:xfrm>
          <a:custGeom>
            <a:avLst/>
            <a:gdLst/>
            <a:ahLst/>
            <a:cxnLst/>
            <a:rect l="l" t="t" r="r" b="b"/>
            <a:pathLst>
              <a:path w="4978400" h="2264271">
                <a:moveTo>
                  <a:pt x="0" y="50800"/>
                </a:moveTo>
                <a:lnTo>
                  <a:pt x="0" y="50800"/>
                </a:lnTo>
                <a:arcTo wR="50800" hR="50800" stAng="10800000" swAng="5400000"/>
                <a:lnTo>
                  <a:pt x="4927600" y="0"/>
                </a:lnTo>
                <a:arcTo wR="50800" hR="50800" stAng="16200000" swAng="5400000"/>
                <a:lnTo>
                  <a:pt x="4978400" y="50800"/>
                </a:lnTo>
                <a:lnTo>
                  <a:pt x="0" y="50800"/>
                </a:lnTo>
                <a:close/>
              </a:path>
            </a:pathLst>
          </a:custGeom>
          <a:solidFill>
            <a:srgbClr val="273003"/>
          </a:solidFill>
          <a:ln/>
        </p:spPr>
        <p:txBody>
          <a:bodyPr/>
          <a:lstStyle/>
          <a:p>
            <a:endParaRPr lang="en-KE"/>
          </a:p>
        </p:txBody>
      </p:sp>
      <p:sp>
        <p:nvSpPr>
          <p:cNvPr id="6" name="Text 4"/>
          <p:cNvSpPr/>
          <p:nvPr/>
        </p:nvSpPr>
        <p:spPr>
          <a:xfrm>
            <a:off x="1016000" y="1937990"/>
            <a:ext cx="47091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73003"/>
                </a:solidFill>
                <a:latin typeface="Carlito" pitchFamily="34" charset="0"/>
                <a:ea typeface="Carlito" pitchFamily="34" charset="-122"/>
                <a:cs typeface="Carlito" pitchFamily="34" charset="-120"/>
              </a:rPr>
              <a:t>DONE: DAYS 1–5</a:t>
            </a:r>
            <a:endParaRPr lang="en-US" sz="1200" dirty="0"/>
          </a:p>
        </p:txBody>
      </p:sp>
      <p:sp>
        <p:nvSpPr>
          <p:cNvPr id="7" name="Text 5"/>
          <p:cNvSpPr/>
          <p:nvPr/>
        </p:nvSpPr>
        <p:spPr>
          <a:xfrm>
            <a:off x="1016000" y="2240211"/>
            <a:ext cx="470916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Assemblies used to</a:t>
            </a:r>
            <a:endParaRPr lang="en-US" sz="1400" dirty="0"/>
          </a:p>
        </p:txBody>
      </p:sp>
      <p:sp>
        <p:nvSpPr>
          <p:cNvPr id="8" name="Text 6"/>
          <p:cNvSpPr/>
          <p:nvPr/>
        </p:nvSpPr>
        <p:spPr>
          <a:xfrm>
            <a:off x="1016000" y="2569121"/>
            <a:ext cx="470916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1 · Confirm the species</a:t>
            </a:r>
            <a:endParaRPr lang="en-US" sz="1400" dirty="0"/>
          </a:p>
        </p:txBody>
      </p:sp>
      <p:sp>
        <p:nvSpPr>
          <p:cNvPr id="9" name="Text 7"/>
          <p:cNvSpPr/>
          <p:nvPr/>
        </p:nvSpPr>
        <p:spPr>
          <a:xfrm>
            <a:off x="1016000" y="2898031"/>
            <a:ext cx="470916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2 · Find resistance and virulence genes</a:t>
            </a:r>
            <a:endParaRPr lang="en-US" sz="1400" dirty="0"/>
          </a:p>
        </p:txBody>
      </p:sp>
      <p:sp>
        <p:nvSpPr>
          <p:cNvPr id="10" name="Text 8"/>
          <p:cNvSpPr/>
          <p:nvPr/>
        </p:nvSpPr>
        <p:spPr>
          <a:xfrm>
            <a:off x="1016000" y="3226941"/>
            <a:ext cx="470916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3 · Assign the sequence type</a:t>
            </a:r>
            <a:endParaRPr lang="en-US" sz="1400" dirty="0"/>
          </a:p>
        </p:txBody>
      </p:sp>
      <p:sp>
        <p:nvSpPr>
          <p:cNvPr id="11" name="Text 9"/>
          <p:cNvSpPr/>
          <p:nvPr/>
        </p:nvSpPr>
        <p:spPr>
          <a:xfrm>
            <a:off x="1016000" y="3555851"/>
            <a:ext cx="470916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4 · Predict serotypes (K and O, Day 8)</a:t>
            </a:r>
            <a:endParaRPr lang="en-US" sz="1400" dirty="0"/>
          </a:p>
        </p:txBody>
      </p:sp>
      <p:pic>
        <p:nvPicPr>
          <p:cNvPr id="12" name="Image 0" descr="arrow-right"/>
          <p:cNvPicPr>
            <a:picLocks noChangeAspect="1"/>
          </p:cNvPicPr>
          <p:nvPr/>
        </p:nvPicPr>
        <p:blipFill>
          <a:blip r:embed="rId3"/>
          <a:srcRect/>
          <a:stretch/>
        </p:blipFill>
        <p:spPr>
          <a:xfrm>
            <a:off x="5918200" y="2739926"/>
            <a:ext cx="355600" cy="203200"/>
          </a:xfrm>
          <a:prstGeom prst="rect">
            <a:avLst/>
          </a:prstGeom>
        </p:spPr>
      </p:pic>
      <p:sp>
        <p:nvSpPr>
          <p:cNvPr id="13" name="Shape 10"/>
          <p:cNvSpPr/>
          <p:nvPr/>
        </p:nvSpPr>
        <p:spPr>
          <a:xfrm>
            <a:off x="6400800" y="2037953"/>
            <a:ext cx="4978400" cy="1607145"/>
          </a:xfrm>
          <a:prstGeom prst="roundRect">
            <a:avLst>
              <a:gd name="adj" fmla="val 3161"/>
            </a:avLst>
          </a:prstGeom>
          <a:solidFill>
            <a:srgbClr val="891F15"/>
          </a:solidFill>
          <a:ln/>
        </p:spPr>
        <p:txBody>
          <a:bodyPr/>
          <a:lstStyle/>
          <a:p>
            <a:endParaRPr lang="en-KE"/>
          </a:p>
        </p:txBody>
      </p:sp>
      <p:sp>
        <p:nvSpPr>
          <p:cNvPr id="14" name="Text 11"/>
          <p:cNvSpPr/>
          <p:nvPr/>
        </p:nvSpPr>
        <p:spPr>
          <a:xfrm>
            <a:off x="6604000" y="2215753"/>
            <a:ext cx="470916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NOW: MODULE 6</a:t>
            </a:r>
            <a:endParaRPr lang="en-US" sz="1200" dirty="0"/>
          </a:p>
        </p:txBody>
      </p:sp>
      <p:sp>
        <p:nvSpPr>
          <p:cNvPr id="15" name="Text 12"/>
          <p:cNvSpPr/>
          <p:nvPr/>
        </p:nvSpPr>
        <p:spPr>
          <a:xfrm>
            <a:off x="6604000" y="2517973"/>
            <a:ext cx="470916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9F2EA"/>
                </a:solidFill>
                <a:latin typeface="Carlito" pitchFamily="34" charset="0"/>
                <a:ea typeface="Carlito" pitchFamily="34" charset="-122"/>
                <a:cs typeface="Carlito" pitchFamily="34" charset="-120"/>
              </a:rPr>
              <a:t>A </a:t>
            </a:r>
            <a:r>
              <a:rPr lang="en-US" sz="1500" b="1" dirty="0">
                <a:solidFill>
                  <a:srgbClr val="F9F2EA"/>
                </a:solidFill>
                <a:latin typeface="Carlito" pitchFamily="34" charset="0"/>
                <a:ea typeface="Carlito" pitchFamily="34" charset="-122"/>
                <a:cs typeface="Carlito" pitchFamily="34" charset="-120"/>
              </a:rPr>
              <a:t>core-genome SNP alignment</a:t>
            </a:r>
            <a:r>
              <a:rPr lang="en-US" sz="1500" dirty="0">
                <a:solidFill>
                  <a:srgbClr val="F9F2EA"/>
                </a:solidFill>
                <a:latin typeface="Carlito" pitchFamily="34" charset="0"/>
                <a:ea typeface="Carlito" pitchFamily="34" charset="-122"/>
                <a:cs typeface="Carlito" pitchFamily="34" charset="-120"/>
              </a:rPr>
              <a:t> per ST</a:t>
            </a:r>
            <a:endParaRPr lang="en-US" sz="1500" dirty="0"/>
          </a:p>
        </p:txBody>
      </p:sp>
      <p:sp>
        <p:nvSpPr>
          <p:cNvPr id="16" name="Text 13"/>
          <p:cNvSpPr/>
          <p:nvPr/>
        </p:nvSpPr>
        <p:spPr>
          <a:xfrm>
            <a:off x="6604000" y="2864048"/>
            <a:ext cx="470916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9F2EA"/>
                </a:solidFill>
                <a:latin typeface="Carlito" pitchFamily="34" charset="0"/>
                <a:ea typeface="Carlito" pitchFamily="34" charset="-122"/>
                <a:cs typeface="Carlito" pitchFamily="34" charset="-120"/>
              </a:rPr>
              <a:t>→ a </a:t>
            </a:r>
            <a:r>
              <a:rPr lang="en-US" sz="1500" b="1" dirty="0">
                <a:solidFill>
                  <a:srgbClr val="F9F2EA"/>
                </a:solidFill>
                <a:latin typeface="Carlito" pitchFamily="34" charset="0"/>
                <a:ea typeface="Carlito" pitchFamily="34" charset="-122"/>
                <a:cs typeface="Carlito" pitchFamily="34" charset="-120"/>
              </a:rPr>
              <a:t>SNP-distance matrix</a:t>
            </a:r>
            <a:r>
              <a:rPr lang="en-US" sz="1500" dirty="0">
                <a:solidFill>
                  <a:srgbClr val="F9F2EA"/>
                </a:solidFill>
                <a:latin typeface="Carlito" pitchFamily="34" charset="0"/>
                <a:ea typeface="Carlito" pitchFamily="34" charset="-122"/>
                <a:cs typeface="Carlito" pitchFamily="34" charset="-120"/>
              </a:rPr>
              <a:t> and a </a:t>
            </a:r>
            <a:r>
              <a:rPr lang="en-US" sz="1500" b="1" dirty="0">
                <a:solidFill>
                  <a:srgbClr val="F9F2EA"/>
                </a:solidFill>
                <a:latin typeface="Carlito" pitchFamily="34" charset="0"/>
                <a:ea typeface="Carlito" pitchFamily="34" charset="-122"/>
                <a:cs typeface="Carlito" pitchFamily="34" charset="-120"/>
              </a:rPr>
              <a:t>tree</a:t>
            </a:r>
            <a:endParaRPr lang="en-US" sz="1500" dirty="0"/>
          </a:p>
        </p:txBody>
      </p:sp>
      <p:sp>
        <p:nvSpPr>
          <p:cNvPr id="17" name="Text 14"/>
          <p:cNvSpPr/>
          <p:nvPr/>
        </p:nvSpPr>
        <p:spPr>
          <a:xfrm>
            <a:off x="6604000" y="3210123"/>
            <a:ext cx="470916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9F2EA"/>
                </a:solidFill>
                <a:latin typeface="Carlito" pitchFamily="34" charset="0"/>
                <a:ea typeface="Carlito" pitchFamily="34" charset="-122"/>
                <a:cs typeface="Carlito" pitchFamily="34" charset="-120"/>
              </a:rPr>
              <a:t>→ are these infections linked?</a:t>
            </a:r>
            <a:endParaRPr lang="en-US" sz="1500" dirty="0"/>
          </a:p>
        </p:txBody>
      </p:sp>
      <p:sp>
        <p:nvSpPr>
          <p:cNvPr id="18" name="Shape 15"/>
          <p:cNvSpPr/>
          <p:nvPr/>
        </p:nvSpPr>
        <p:spPr>
          <a:xfrm>
            <a:off x="838200" y="4227661"/>
            <a:ext cx="0" cy="358775"/>
          </a:xfrm>
          <a:prstGeom prst="line">
            <a:avLst/>
          </a:prstGeom>
          <a:noFill/>
          <a:ln w="50800">
            <a:solidFill>
              <a:srgbClr val="891F15"/>
            </a:solidFill>
            <a:prstDash val="solid"/>
          </a:ln>
        </p:spPr>
        <p:txBody>
          <a:bodyPr/>
          <a:lstStyle/>
          <a:p>
            <a:endParaRPr lang="en-KE"/>
          </a:p>
        </p:txBody>
      </p:sp>
      <p:sp>
        <p:nvSpPr>
          <p:cNvPr id="19" name="Text 16"/>
          <p:cNvSpPr/>
          <p:nvPr/>
        </p:nvSpPr>
        <p:spPr>
          <a:xfrm>
            <a:off x="1041400" y="4278461"/>
            <a:ext cx="9965525" cy="282575"/>
          </a:xfrm>
          <a:prstGeom prst="rect">
            <a:avLst/>
          </a:prstGeom>
          <a:noFill/>
          <a:ln/>
        </p:spPr>
        <p:txBody>
          <a:bodyPr wrap="square" lIns="0" tIns="0" rIns="0" bIns="0" rtlCol="0" anchor="t">
            <a:normAutofit/>
          </a:bodyPr>
          <a:lstStyle/>
          <a:p>
            <a:pPr marL="0" indent="0" algn="l">
              <a:lnSpc>
                <a:spcPts val="2025"/>
              </a:lnSpc>
              <a:buNone/>
            </a:pPr>
            <a:r>
              <a:rPr lang="en-US" sz="1500" i="1" dirty="0">
                <a:solidFill>
                  <a:srgbClr val="3A322C"/>
                </a:solidFill>
                <a:latin typeface="Carlito" pitchFamily="34" charset="0"/>
                <a:ea typeface="Carlito" pitchFamily="34" charset="-122"/>
                <a:cs typeface="Carlito" pitchFamily="34" charset="-120"/>
              </a:rPr>
              <a:t>K. pneumoniae</a:t>
            </a:r>
            <a:r>
              <a:rPr lang="en-US" sz="1500" dirty="0">
                <a:solidFill>
                  <a:srgbClr val="3A322C"/>
                </a:solidFill>
                <a:latin typeface="Carlito" pitchFamily="34" charset="0"/>
                <a:ea typeface="Carlito" pitchFamily="34" charset="-122"/>
                <a:cs typeface="Carlito" pitchFamily="34" charset="-120"/>
              </a:rPr>
              <a:t> recombines: unless recombined regions are found and masked, the alignment counts their SNPs as mutations.</a:t>
            </a:r>
            <a:endParaRPr lang="en-US" sz="1500" dirty="0"/>
          </a:p>
        </p:txBody>
      </p:sp>
      <p:pic>
        <p:nvPicPr>
          <p:cNvPr id="20"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21" name="Text 1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Days 6–7</a:t>
            </a:r>
            <a:endParaRPr lang="en-US" sz="1200" dirty="0"/>
          </a:p>
        </p:txBody>
      </p:sp>
      <p:sp>
        <p:nvSpPr>
          <p:cNvPr id="22" name="Text 18"/>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Investigating transmission: two approaches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5156200" cy="2034431"/>
          </a:xfrm>
          <a:prstGeom prst="roundRect">
            <a:avLst>
              <a:gd name="adj" fmla="val 2497"/>
            </a:avLst>
          </a:prstGeom>
          <a:solidFill>
            <a:srgbClr val="FFFFFF"/>
          </a:solidFill>
          <a:ln/>
        </p:spPr>
        <p:txBody>
          <a:bodyPr/>
          <a:lstStyle/>
          <a:p>
            <a:endParaRPr lang="en-KE"/>
          </a:p>
        </p:txBody>
      </p:sp>
      <p:sp>
        <p:nvSpPr>
          <p:cNvPr id="5" name="Shape 3"/>
          <p:cNvSpPr/>
          <p:nvPr/>
        </p:nvSpPr>
        <p:spPr>
          <a:xfrm>
            <a:off x="812800" y="1709390"/>
            <a:ext cx="5156200" cy="2034431"/>
          </a:xfrm>
          <a:custGeom>
            <a:avLst/>
            <a:gdLst/>
            <a:ahLst/>
            <a:cxnLst/>
            <a:rect l="l" t="t" r="r" b="b"/>
            <a:pathLst>
              <a:path w="5156200" h="2034431">
                <a:moveTo>
                  <a:pt x="0" y="50800"/>
                </a:moveTo>
                <a:lnTo>
                  <a:pt x="0" y="50800"/>
                </a:lnTo>
                <a:arcTo wR="50800" hR="50800" stAng="10800000" swAng="5400000"/>
                <a:lnTo>
                  <a:pt x="5105400" y="0"/>
                </a:lnTo>
                <a:arcTo wR="50800" hR="50800" stAng="16200000" swAng="5400000"/>
                <a:lnTo>
                  <a:pt x="5156200" y="50800"/>
                </a:lnTo>
                <a:lnTo>
                  <a:pt x="0" y="50800"/>
                </a:lnTo>
                <a:close/>
              </a:path>
            </a:pathLst>
          </a:custGeom>
          <a:solidFill>
            <a:srgbClr val="273003"/>
          </a:solidFill>
          <a:ln/>
        </p:spPr>
        <p:txBody>
          <a:bodyPr/>
          <a:lstStyle/>
          <a:p>
            <a:endParaRPr lang="en-KE"/>
          </a:p>
        </p:txBody>
      </p:sp>
      <p:sp>
        <p:nvSpPr>
          <p:cNvPr id="6" name="Text 4"/>
          <p:cNvSpPr/>
          <p:nvPr/>
        </p:nvSpPr>
        <p:spPr>
          <a:xfrm>
            <a:off x="1066800" y="1963390"/>
            <a:ext cx="478764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73003"/>
                </a:solidFill>
                <a:latin typeface="Carlito" pitchFamily="34" charset="0"/>
                <a:ea typeface="Carlito" pitchFamily="34" charset="-122"/>
                <a:cs typeface="Carlito" pitchFamily="34" charset="-120"/>
              </a:rPr>
              <a:t>SNP distances</a:t>
            </a:r>
            <a:endParaRPr lang="en-US" sz="1800" dirty="0"/>
          </a:p>
        </p:txBody>
      </p:sp>
      <p:sp>
        <p:nvSpPr>
          <p:cNvPr id="7" name="Text 5"/>
          <p:cNvSpPr/>
          <p:nvPr/>
        </p:nvSpPr>
        <p:spPr>
          <a:xfrm>
            <a:off x="1066800" y="2351980"/>
            <a:ext cx="4787646"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The simplest: count the SNPs between each pair of isolates.</a:t>
            </a:r>
            <a:endParaRPr lang="en-US" sz="1400" dirty="0"/>
          </a:p>
        </p:txBody>
      </p:sp>
      <p:sp>
        <p:nvSpPr>
          <p:cNvPr id="8" name="Text 6"/>
          <p:cNvSpPr/>
          <p:nvPr/>
        </p:nvSpPr>
        <p:spPr>
          <a:xfrm>
            <a:off x="1066800" y="2706291"/>
            <a:ext cx="4787646"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A </a:t>
            </a:r>
            <a:r>
              <a:rPr lang="en-US" sz="1400" b="1" dirty="0">
                <a:solidFill>
                  <a:srgbClr val="3A322C"/>
                </a:solidFill>
                <a:latin typeface="Carlito" pitchFamily="34" charset="0"/>
                <a:ea typeface="Carlito" pitchFamily="34" charset="-122"/>
                <a:cs typeface="Carlito" pitchFamily="34" charset="-120"/>
              </a:rPr>
              <a:t>cut-off</a:t>
            </a:r>
            <a:r>
              <a:rPr lang="en-US" sz="1400" dirty="0">
                <a:solidFill>
                  <a:srgbClr val="3A322C"/>
                </a:solidFill>
                <a:latin typeface="Carlito" pitchFamily="34" charset="0"/>
                <a:ea typeface="Carlito" pitchFamily="34" charset="-122"/>
                <a:cs typeface="Carlito" pitchFamily="34" charset="-120"/>
              </a:rPr>
              <a:t> flags pairs likely linked by recent transmission.</a:t>
            </a:r>
            <a:endParaRPr lang="en-US" sz="1400" dirty="0"/>
          </a:p>
        </p:txBody>
      </p:sp>
      <p:sp>
        <p:nvSpPr>
          <p:cNvPr id="9" name="Text 7"/>
          <p:cNvSpPr/>
          <p:nvPr/>
        </p:nvSpPr>
        <p:spPr>
          <a:xfrm>
            <a:off x="1066800" y="3060601"/>
            <a:ext cx="4787646"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6B6460"/>
                </a:solidFill>
                <a:latin typeface="Carlito" pitchFamily="34" charset="0"/>
                <a:ea typeface="Carlito" pitchFamily="34" charset="-122"/>
                <a:cs typeface="Carlito" pitchFamily="34" charset="-120"/>
              </a:rPr>
              <a:t>One number per pair; says nothing about who came first.</a:t>
            </a:r>
            <a:endParaRPr lang="en-US" sz="1400" dirty="0"/>
          </a:p>
        </p:txBody>
      </p:sp>
      <p:sp>
        <p:nvSpPr>
          <p:cNvPr id="10" name="Shape 8"/>
          <p:cNvSpPr/>
          <p:nvPr/>
        </p:nvSpPr>
        <p:spPr>
          <a:xfrm>
            <a:off x="6223000" y="1709390"/>
            <a:ext cx="5156200" cy="2034431"/>
          </a:xfrm>
          <a:prstGeom prst="roundRect">
            <a:avLst>
              <a:gd name="adj" fmla="val 2497"/>
            </a:avLst>
          </a:prstGeom>
          <a:solidFill>
            <a:srgbClr val="FFFFFF"/>
          </a:solidFill>
          <a:ln/>
        </p:spPr>
        <p:txBody>
          <a:bodyPr/>
          <a:lstStyle/>
          <a:p>
            <a:endParaRPr lang="en-KE"/>
          </a:p>
        </p:txBody>
      </p:sp>
      <p:sp>
        <p:nvSpPr>
          <p:cNvPr id="11" name="Shape 9"/>
          <p:cNvSpPr/>
          <p:nvPr/>
        </p:nvSpPr>
        <p:spPr>
          <a:xfrm>
            <a:off x="6223000" y="1709390"/>
            <a:ext cx="5156200" cy="2034431"/>
          </a:xfrm>
          <a:custGeom>
            <a:avLst/>
            <a:gdLst/>
            <a:ahLst/>
            <a:cxnLst/>
            <a:rect l="l" t="t" r="r" b="b"/>
            <a:pathLst>
              <a:path w="5156200" h="2034431">
                <a:moveTo>
                  <a:pt x="0" y="50800"/>
                </a:moveTo>
                <a:lnTo>
                  <a:pt x="0" y="50800"/>
                </a:lnTo>
                <a:arcTo wR="50800" hR="50800" stAng="10800000" swAng="5400000"/>
                <a:lnTo>
                  <a:pt x="5105400" y="0"/>
                </a:lnTo>
                <a:arcTo wR="50800" hR="50800" stAng="16200000" swAng="5400000"/>
                <a:lnTo>
                  <a:pt x="5156200" y="50800"/>
                </a:lnTo>
                <a:lnTo>
                  <a:pt x="0" y="50800"/>
                </a:lnTo>
                <a:close/>
              </a:path>
            </a:pathLst>
          </a:custGeom>
          <a:solidFill>
            <a:srgbClr val="891F15"/>
          </a:solidFill>
          <a:ln/>
        </p:spPr>
        <p:txBody>
          <a:bodyPr/>
          <a:lstStyle/>
          <a:p>
            <a:endParaRPr lang="en-KE"/>
          </a:p>
        </p:txBody>
      </p:sp>
      <p:sp>
        <p:nvSpPr>
          <p:cNvPr id="12" name="Text 10"/>
          <p:cNvSpPr/>
          <p:nvPr/>
        </p:nvSpPr>
        <p:spPr>
          <a:xfrm>
            <a:off x="6477000" y="1963390"/>
            <a:ext cx="4787646"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891F15"/>
                </a:solidFill>
                <a:latin typeface="Carlito" pitchFamily="34" charset="0"/>
                <a:ea typeface="Carlito" pitchFamily="34" charset="-122"/>
                <a:cs typeface="Carlito" pitchFamily="34" charset="-120"/>
              </a:rPr>
              <a:t>Phylogeny</a:t>
            </a:r>
            <a:endParaRPr lang="en-US" sz="1800" dirty="0"/>
          </a:p>
        </p:txBody>
      </p:sp>
      <p:sp>
        <p:nvSpPr>
          <p:cNvPr id="13" name="Text 11"/>
          <p:cNvSpPr/>
          <p:nvPr/>
        </p:nvSpPr>
        <p:spPr>
          <a:xfrm>
            <a:off x="6477000" y="2351980"/>
            <a:ext cx="4787646"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A tree from the </a:t>
            </a:r>
            <a:r>
              <a:rPr lang="en-US" sz="1400" b="1" dirty="0">
                <a:solidFill>
                  <a:srgbClr val="3A322C"/>
                </a:solidFill>
                <a:latin typeface="Carlito" pitchFamily="34" charset="0"/>
                <a:ea typeface="Carlito" pitchFamily="34" charset="-122"/>
                <a:cs typeface="Carlito" pitchFamily="34" charset="-120"/>
              </a:rPr>
              <a:t>core-genome alignment</a:t>
            </a:r>
            <a:r>
              <a:rPr lang="en-US" sz="1400" dirty="0">
                <a:solidFill>
                  <a:srgbClr val="3A322C"/>
                </a:solidFill>
                <a:latin typeface="Carlito" pitchFamily="34" charset="0"/>
                <a:ea typeface="Carlito" pitchFamily="34" charset="-122"/>
                <a:cs typeface="Carlito" pitchFamily="34" charset="-120"/>
              </a:rPr>
              <a:t>: the whole pattern of relationships.</a:t>
            </a:r>
            <a:endParaRPr lang="en-US" sz="1400" dirty="0"/>
          </a:p>
        </p:txBody>
      </p:sp>
      <p:sp>
        <p:nvSpPr>
          <p:cNvPr id="14" name="Text 12"/>
          <p:cNvSpPr/>
          <p:nvPr/>
        </p:nvSpPr>
        <p:spPr>
          <a:xfrm>
            <a:off x="6477000" y="2946301"/>
            <a:ext cx="4787646"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Shows clusters, background isolates, and with dates, timing.</a:t>
            </a:r>
            <a:endParaRPr lang="en-US" sz="1400" dirty="0"/>
          </a:p>
        </p:txBody>
      </p:sp>
      <p:sp>
        <p:nvSpPr>
          <p:cNvPr id="15" name="Text 13"/>
          <p:cNvSpPr/>
          <p:nvPr/>
        </p:nvSpPr>
        <p:spPr>
          <a:xfrm>
            <a:off x="6477000" y="3300611"/>
            <a:ext cx="4787646"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6B6460"/>
                </a:solidFill>
                <a:latin typeface="Carlito" pitchFamily="34" charset="0"/>
                <a:ea typeface="Carlito" pitchFamily="34" charset="-122"/>
                <a:cs typeface="Carlito" pitchFamily="34" charset="-120"/>
              </a:rPr>
              <a:t>Misleading if </a:t>
            </a:r>
            <a:r>
              <a:rPr lang="en-US" sz="1400" b="1" dirty="0">
                <a:solidFill>
                  <a:srgbClr val="6B6460"/>
                </a:solidFill>
                <a:latin typeface="Carlito" pitchFamily="34" charset="0"/>
                <a:ea typeface="Carlito" pitchFamily="34" charset="-122"/>
                <a:cs typeface="Carlito" pitchFamily="34" charset="-120"/>
              </a:rPr>
              <a:t>recombination</a:t>
            </a:r>
            <a:r>
              <a:rPr lang="en-US" sz="1400" dirty="0">
                <a:solidFill>
                  <a:srgbClr val="6B6460"/>
                </a:solidFill>
                <a:latin typeface="Carlito" pitchFamily="34" charset="0"/>
                <a:ea typeface="Carlito" pitchFamily="34" charset="-122"/>
                <a:cs typeface="Carlito" pitchFamily="34" charset="-120"/>
              </a:rPr>
              <a:t> is ignored.</a:t>
            </a:r>
            <a:endParaRPr lang="en-US" sz="1400" dirty="0"/>
          </a:p>
        </p:txBody>
      </p:sp>
      <p:sp>
        <p:nvSpPr>
          <p:cNvPr id="16" name="Shape 14"/>
          <p:cNvSpPr/>
          <p:nvPr/>
        </p:nvSpPr>
        <p:spPr>
          <a:xfrm>
            <a:off x="812800" y="3997821"/>
            <a:ext cx="10566400" cy="609600"/>
          </a:xfrm>
          <a:prstGeom prst="roundRect">
            <a:avLst>
              <a:gd name="adj" fmla="val 12500"/>
            </a:avLst>
          </a:prstGeom>
          <a:solidFill>
            <a:srgbClr val="273003"/>
          </a:solidFill>
          <a:ln/>
        </p:spPr>
        <p:txBody>
          <a:bodyPr/>
          <a:lstStyle/>
          <a:p>
            <a:endParaRPr lang="en-KE"/>
          </a:p>
        </p:txBody>
      </p:sp>
      <p:pic>
        <p:nvPicPr>
          <p:cNvPr id="17" name="Image 0" descr="Lightbulb"/>
          <p:cNvPicPr>
            <a:picLocks noChangeAspect="1"/>
          </p:cNvPicPr>
          <p:nvPr/>
        </p:nvPicPr>
        <p:blipFill>
          <a:blip r:embed="rId3"/>
          <a:srcRect/>
          <a:stretch/>
        </p:blipFill>
        <p:spPr>
          <a:xfrm>
            <a:off x="1066800" y="4150221"/>
            <a:ext cx="304800" cy="304800"/>
          </a:xfrm>
          <a:prstGeom prst="rect">
            <a:avLst/>
          </a:prstGeom>
        </p:spPr>
      </p:pic>
      <p:sp>
        <p:nvSpPr>
          <p:cNvPr id="18" name="Text 15"/>
          <p:cNvSpPr/>
          <p:nvPr/>
        </p:nvSpPr>
        <p:spPr>
          <a:xfrm>
            <a:off x="1524000" y="4182616"/>
            <a:ext cx="9206686"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We use both, from the same alignment, and read them with the </a:t>
            </a:r>
            <a:r>
              <a:rPr lang="en-US" sz="1400" b="1" dirty="0">
                <a:solidFill>
                  <a:srgbClr val="F9F2EA"/>
                </a:solidFill>
                <a:latin typeface="Carlito" pitchFamily="34" charset="0"/>
                <a:ea typeface="Carlito" pitchFamily="34" charset="-122"/>
                <a:cs typeface="Carlito" pitchFamily="34" charset="-120"/>
              </a:rPr>
              <a:t>epidemiology</a:t>
            </a:r>
            <a:r>
              <a:rPr lang="en-US" sz="1400" dirty="0">
                <a:solidFill>
                  <a:srgbClr val="F9F2EA"/>
                </a:solidFill>
                <a:latin typeface="Carlito" pitchFamily="34" charset="0"/>
                <a:ea typeface="Carlito" pitchFamily="34" charset="-122"/>
                <a:cs typeface="Carlito" pitchFamily="34" charset="-120"/>
              </a:rPr>
              <a:t>: ward, dates, length of stay.</a:t>
            </a:r>
            <a:endParaRPr lang="en-US" sz="1400" dirty="0"/>
          </a:p>
        </p:txBody>
      </p:sp>
      <p:pic>
        <p:nvPicPr>
          <p:cNvPr id="19"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20" name="Text 1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Days 6–7</a:t>
            </a:r>
            <a:endParaRPr lang="en-US" sz="1200" dirty="0"/>
          </a:p>
        </p:txBody>
      </p:sp>
      <p:sp>
        <p:nvSpPr>
          <p:cNvPr id="21" name="Text 1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891F1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410700" y="704850"/>
            <a:ext cx="2781300" cy="54483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FFCE00"/>
                </a:solidFill>
                <a:latin typeface="Carlito" pitchFamily="34" charset="0"/>
                <a:ea typeface="Carlito" pitchFamily="34" charset="-122"/>
                <a:cs typeface="Carlito" pitchFamily="34" charset="-120"/>
              </a:rPr>
              <a:t>DAY 6 · SESSION 1 · 09:00–10:30</a:t>
            </a:r>
            <a:endParaRPr lang="en-US" sz="1600" dirty="0"/>
          </a:p>
        </p:txBody>
      </p:sp>
      <p:sp>
        <p:nvSpPr>
          <p:cNvPr id="4" name="Text 1"/>
          <p:cNvSpPr>
            <a:spLocks noGrp="1"/>
          </p:cNvSpPr>
          <p:nvPr>
            <p:ph type="title"/>
          </p:nvPr>
        </p:nvSpPr>
        <p:spPr>
          <a:xfrm>
            <a:off x="0" y="3086100"/>
            <a:ext cx="1255776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9F2EA"/>
                </a:solidFill>
                <a:latin typeface="Carlito" pitchFamily="34" charset="0"/>
                <a:ea typeface="Carlito" pitchFamily="34" charset="-122"/>
                <a:cs typeface="Carlito" pitchFamily="34" charset="-120"/>
              </a:rPr>
              <a:t>A core-genome SNP alignment</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1D3C9"/>
                </a:solidFill>
                <a:latin typeface="Carlito" pitchFamily="34" charset="0"/>
                <a:ea typeface="Carlito" pitchFamily="34" charset="-122"/>
                <a:cs typeface="Carlito" pitchFamily="34" charset="-120"/>
              </a:rPr>
              <a:t>Choosing a reference and mapping with Snippy</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B5A8"/>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3B5A8"/>
                </a:solidFill>
                <a:latin typeface="Carlito" pitchFamily="34" charset="0"/>
                <a:ea typeface="Carlito" pitchFamily="34" charset="-122"/>
                <a:cs typeface="Carlit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The worked example: 12 ST39 isolates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2090"/>
          <a:ext cx="10553700" cy="1651000"/>
        </p:xfrm>
        <a:graphic>
          <a:graphicData uri="http://schemas.openxmlformats.org/drawingml/2006/table">
            <a:tbl>
              <a:tblPr/>
              <a:tblGrid>
                <a:gridCol w="4010406">
                  <a:extLst>
                    <a:ext uri="{9D8B030D-6E8A-4147-A177-3AD203B41FA5}">
                      <a16:colId xmlns:a16="http://schemas.microsoft.com/office/drawing/2014/main" val="20000"/>
                    </a:ext>
                  </a:extLst>
                </a:gridCol>
                <a:gridCol w="6543294">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3A322C"/>
                          </a:solidFill>
                          <a:latin typeface="Carlito" pitchFamily="34" charset="0"/>
                          <a:ea typeface="Carlito" pitchFamily="34" charset="-122"/>
                          <a:cs typeface="Carlito" pitchFamily="34" charset="-120"/>
                        </a:rPr>
                        <a:t>Role</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100"/>
                        </a:lnSpc>
                        <a:buNone/>
                      </a:pPr>
                      <a:r>
                        <a:rPr lang="en-US" sz="1500" b="1" dirty="0">
                          <a:solidFill>
                            <a:srgbClr val="3A322C"/>
                          </a:solidFill>
                          <a:latin typeface="Carlito" pitchFamily="34" charset="0"/>
                          <a:ea typeface="Carlito" pitchFamily="34" charset="-122"/>
                          <a:cs typeface="Carlito" pitchFamily="34" charset="-120"/>
                        </a:rPr>
                        <a:t>Isolates</a:t>
                      </a:r>
                      <a:endParaRPr lang="en-US" sz="1500" dirty="0">
                        <a:latin typeface="Carlito" charset="0"/>
                        <a:ea typeface="Carlito" charset="0"/>
                        <a:cs typeface="Carlito" charset="0"/>
                      </a:endParaRPr>
                    </a:p>
                  </a:txBody>
                  <a:tcPr marL="66675" marR="66675" marT="66675" marB="6667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Candidate cluster: Chatinkha Nursery, 2017</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CAA65Z CAA99X CAA47J CAA4X5 CAA574 CAA5XX CAA5YM CAA4GD</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Background ST39</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D29438 (2005), BKR8JH (2016)</a:t>
                      </a:r>
                      <a:endParaRPr lang="en-US" sz="1500" dirty="0">
                        <a:latin typeface="Carlito" charset="0"/>
                        <a:ea typeface="Carlito" charset="0"/>
                        <a:cs typeface="Carlito" charset="0"/>
                      </a:endParaRPr>
                    </a:p>
                  </a:txBody>
                  <a:tcPr marL="66675" marR="66675" marT="66675" marB="6667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Other ST39</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BHB7VE (2016, NDM-1), CHI11E (2019, hybrid)</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812800" y="3627090"/>
            <a:ext cx="10566400" cy="869950"/>
          </a:xfrm>
          <a:prstGeom prst="roundRect">
            <a:avLst>
              <a:gd name="adj" fmla="val 8759"/>
            </a:avLst>
          </a:prstGeom>
          <a:solidFill>
            <a:srgbClr val="273003"/>
          </a:solidFill>
          <a:ln/>
        </p:spPr>
        <p:txBody>
          <a:bodyPr/>
          <a:lstStyle/>
          <a:p>
            <a:endParaRPr lang="en-KE"/>
          </a:p>
        </p:txBody>
      </p:sp>
      <p:pic>
        <p:nvPicPr>
          <p:cNvPr id="6" name="Image 0" descr="Warning"/>
          <p:cNvPicPr>
            <a:picLocks noChangeAspect="1"/>
          </p:cNvPicPr>
          <p:nvPr/>
        </p:nvPicPr>
        <p:blipFill>
          <a:blip r:embed="rId3"/>
          <a:srcRect t="-269" b="-269"/>
          <a:stretch/>
        </p:blipFill>
        <p:spPr>
          <a:xfrm>
            <a:off x="1066800" y="3909665"/>
            <a:ext cx="240010" cy="304800"/>
          </a:xfrm>
          <a:prstGeom prst="rect">
            <a:avLst/>
          </a:prstGeom>
        </p:spPr>
      </p:pic>
      <p:sp>
        <p:nvSpPr>
          <p:cNvPr id="7" name="Text 3"/>
          <p:cNvSpPr/>
          <p:nvPr/>
        </p:nvSpPr>
        <p:spPr>
          <a:xfrm>
            <a:off x="1459210" y="3804890"/>
            <a:ext cx="995597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9F2EA"/>
                </a:solidFill>
                <a:latin typeface="Carlito" pitchFamily="34" charset="0"/>
                <a:ea typeface="Carlito" pitchFamily="34" charset="-122"/>
                <a:cs typeface="Carlito" pitchFamily="34" charset="-120"/>
              </a:rPr>
              <a:t>Build trees </a:t>
            </a:r>
            <a:r>
              <a:rPr lang="en-US" sz="1500" b="1" dirty="0">
                <a:solidFill>
                  <a:srgbClr val="F9F2EA"/>
                </a:solidFill>
                <a:latin typeface="Carlito" pitchFamily="34" charset="0"/>
                <a:ea typeface="Carlito" pitchFamily="34" charset="-122"/>
                <a:cs typeface="Carlito" pitchFamily="34" charset="-120"/>
              </a:rPr>
              <a:t>within one ST</a:t>
            </a:r>
            <a:r>
              <a:rPr lang="en-US" sz="1500" dirty="0">
                <a:solidFill>
                  <a:srgbClr val="F9F2EA"/>
                </a:solidFill>
                <a:latin typeface="Carlito" pitchFamily="34" charset="0"/>
                <a:ea typeface="Carlito" pitchFamily="34" charset="-122"/>
                <a:cs typeface="Carlito" pitchFamily="34" charset="-120"/>
              </a:rPr>
              <a:t>. Between distant STs, recombination dominates and SNP counts run into the tens of thousands: that says nothing about transmission.</a:t>
            </a:r>
            <a:endParaRPr lang="en-US" sz="1500" dirty="0"/>
          </a:p>
        </p:txBody>
      </p:sp>
      <p:pic>
        <p:nvPicPr>
          <p:cNvPr id="8"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9" name="Text 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10" name="Text 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Choosing a reference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3149600" cy="1043880"/>
          </a:xfrm>
          <a:prstGeom prst="roundRect">
            <a:avLst>
              <a:gd name="adj" fmla="val 7300"/>
            </a:avLst>
          </a:prstGeom>
          <a:solidFill>
            <a:srgbClr val="273003"/>
          </a:solidFill>
          <a:ln/>
        </p:spPr>
        <p:txBody>
          <a:bodyPr/>
          <a:lstStyle/>
          <a:p>
            <a:endParaRPr lang="en-KE"/>
          </a:p>
        </p:txBody>
      </p:sp>
      <p:sp>
        <p:nvSpPr>
          <p:cNvPr id="5" name="Text 3"/>
          <p:cNvSpPr/>
          <p:nvPr/>
        </p:nvSpPr>
        <p:spPr>
          <a:xfrm>
            <a:off x="990600" y="1861790"/>
            <a:ext cx="28778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1 · SPECIES</a:t>
            </a:r>
            <a:endParaRPr lang="en-US" sz="1200" dirty="0"/>
          </a:p>
        </p:txBody>
      </p:sp>
      <p:sp>
        <p:nvSpPr>
          <p:cNvPr id="6" name="Text 4"/>
          <p:cNvSpPr/>
          <p:nvPr/>
        </p:nvSpPr>
        <p:spPr>
          <a:xfrm>
            <a:off x="990600" y="2138611"/>
            <a:ext cx="2877820"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9F2EA"/>
                </a:solidFill>
                <a:latin typeface="Carlito" pitchFamily="34" charset="0"/>
                <a:ea typeface="Carlito" pitchFamily="34" charset="-122"/>
                <a:cs typeface="Carlito" pitchFamily="34" charset="-120"/>
              </a:rPr>
              <a:t>From Kleborate (Day 3): all 12 are </a:t>
            </a:r>
            <a:r>
              <a:rPr lang="en-US" sz="1400" i="1" dirty="0">
                <a:solidFill>
                  <a:srgbClr val="F9F2EA"/>
                </a:solidFill>
                <a:latin typeface="Carlito" pitchFamily="34" charset="0"/>
                <a:ea typeface="Carlito" pitchFamily="34" charset="-122"/>
                <a:cs typeface="Carlito" pitchFamily="34" charset="-120"/>
              </a:rPr>
              <a:t>K. pneumoniae</a:t>
            </a:r>
            <a:endParaRPr lang="en-US" sz="1400" dirty="0"/>
          </a:p>
        </p:txBody>
      </p:sp>
      <p:pic>
        <p:nvPicPr>
          <p:cNvPr id="7" name="Image 0" descr="arrow-right"/>
          <p:cNvPicPr>
            <a:picLocks noChangeAspect="1"/>
          </p:cNvPicPr>
          <p:nvPr/>
        </p:nvPicPr>
        <p:blipFill>
          <a:blip r:embed="rId3"/>
          <a:srcRect/>
          <a:stretch/>
        </p:blipFill>
        <p:spPr>
          <a:xfrm>
            <a:off x="4089400" y="2142430"/>
            <a:ext cx="304800" cy="177800"/>
          </a:xfrm>
          <a:prstGeom prst="rect">
            <a:avLst/>
          </a:prstGeom>
        </p:spPr>
      </p:pic>
      <p:sp>
        <p:nvSpPr>
          <p:cNvPr id="8" name="Shape 5"/>
          <p:cNvSpPr/>
          <p:nvPr/>
        </p:nvSpPr>
        <p:spPr>
          <a:xfrm>
            <a:off x="4521200" y="1709390"/>
            <a:ext cx="3149600" cy="1043880"/>
          </a:xfrm>
          <a:prstGeom prst="roundRect">
            <a:avLst>
              <a:gd name="adj" fmla="val 7300"/>
            </a:avLst>
          </a:prstGeom>
          <a:solidFill>
            <a:srgbClr val="273003"/>
          </a:solidFill>
          <a:ln/>
        </p:spPr>
        <p:txBody>
          <a:bodyPr/>
          <a:lstStyle/>
          <a:p>
            <a:endParaRPr lang="en-KE"/>
          </a:p>
        </p:txBody>
      </p:sp>
      <p:sp>
        <p:nvSpPr>
          <p:cNvPr id="9" name="Text 6"/>
          <p:cNvSpPr/>
          <p:nvPr/>
        </p:nvSpPr>
        <p:spPr>
          <a:xfrm>
            <a:off x="4699000" y="1861790"/>
            <a:ext cx="28778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2 · REFERENCE SHEET</a:t>
            </a:r>
            <a:endParaRPr lang="en-US" sz="1200" dirty="0"/>
          </a:p>
        </p:txBody>
      </p:sp>
      <p:sp>
        <p:nvSpPr>
          <p:cNvPr id="10" name="Text 7"/>
          <p:cNvSpPr/>
          <p:nvPr/>
        </p:nvSpPr>
        <p:spPr>
          <a:xfrm>
            <a:off x="4699000" y="2138611"/>
            <a:ext cx="2877820"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9F2EA"/>
                </a:solidFill>
                <a:latin typeface="Carlito" pitchFamily="34" charset="0"/>
                <a:ea typeface="Carlito" pitchFamily="34" charset="-122"/>
                <a:cs typeface="Carlito" pitchFamily="34" charset="-120"/>
              </a:rPr>
              <a:t>conf/phylo_references.csv: species row, or an ST row if there is one</a:t>
            </a:r>
            <a:endParaRPr lang="en-US" sz="1400" dirty="0"/>
          </a:p>
        </p:txBody>
      </p:sp>
      <p:pic>
        <p:nvPicPr>
          <p:cNvPr id="11" name="Image 1" descr="arrow-right"/>
          <p:cNvPicPr>
            <a:picLocks noChangeAspect="1"/>
          </p:cNvPicPr>
          <p:nvPr/>
        </p:nvPicPr>
        <p:blipFill>
          <a:blip r:embed="rId3"/>
          <a:srcRect/>
          <a:stretch/>
        </p:blipFill>
        <p:spPr>
          <a:xfrm>
            <a:off x="7797800" y="2142430"/>
            <a:ext cx="304800" cy="177800"/>
          </a:xfrm>
          <a:prstGeom prst="rect">
            <a:avLst/>
          </a:prstGeom>
        </p:spPr>
      </p:pic>
      <p:sp>
        <p:nvSpPr>
          <p:cNvPr id="12" name="Shape 8"/>
          <p:cNvSpPr/>
          <p:nvPr/>
        </p:nvSpPr>
        <p:spPr>
          <a:xfrm>
            <a:off x="8229600" y="1709390"/>
            <a:ext cx="3149600" cy="1043880"/>
          </a:xfrm>
          <a:prstGeom prst="roundRect">
            <a:avLst>
              <a:gd name="adj" fmla="val 7300"/>
            </a:avLst>
          </a:prstGeom>
          <a:solidFill>
            <a:srgbClr val="891F15"/>
          </a:solidFill>
          <a:ln/>
        </p:spPr>
        <p:txBody>
          <a:bodyPr/>
          <a:lstStyle/>
          <a:p>
            <a:endParaRPr lang="en-KE"/>
          </a:p>
        </p:txBody>
      </p:sp>
      <p:sp>
        <p:nvSpPr>
          <p:cNvPr id="13" name="Text 9"/>
          <p:cNvSpPr/>
          <p:nvPr/>
        </p:nvSpPr>
        <p:spPr>
          <a:xfrm>
            <a:off x="8407400" y="1861790"/>
            <a:ext cx="28778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3 · NTUH-K2044</a:t>
            </a:r>
            <a:endParaRPr lang="en-US" sz="1200" dirty="0"/>
          </a:p>
        </p:txBody>
      </p:sp>
      <p:sp>
        <p:nvSpPr>
          <p:cNvPr id="14" name="Text 10"/>
          <p:cNvSpPr/>
          <p:nvPr/>
        </p:nvSpPr>
        <p:spPr>
          <a:xfrm>
            <a:off x="8407400" y="2138611"/>
            <a:ext cx="2877820"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9F2EA"/>
                </a:solidFill>
                <a:latin typeface="Carlito" pitchFamily="34" charset="0"/>
                <a:ea typeface="Carlito" pitchFamily="34" charset="-122"/>
                <a:cs typeface="Carlito" pitchFamily="34" charset="-120"/>
              </a:rPr>
              <a:t>AP006725.1: one complete chromosome, ~5.25 Mb</a:t>
            </a:r>
            <a:endParaRPr lang="en-US" sz="1400" dirty="0"/>
          </a:p>
        </p:txBody>
      </p:sp>
      <p:sp>
        <p:nvSpPr>
          <p:cNvPr id="15" name="Shape 11"/>
          <p:cNvSpPr/>
          <p:nvPr/>
        </p:nvSpPr>
        <p:spPr>
          <a:xfrm>
            <a:off x="838200" y="3007271"/>
            <a:ext cx="0" cy="772120"/>
          </a:xfrm>
          <a:prstGeom prst="line">
            <a:avLst/>
          </a:prstGeom>
          <a:noFill/>
          <a:ln w="50800">
            <a:solidFill>
              <a:srgbClr val="273003"/>
            </a:solidFill>
            <a:prstDash val="solid"/>
          </a:ln>
        </p:spPr>
        <p:txBody>
          <a:bodyPr/>
          <a:lstStyle/>
          <a:p>
            <a:endParaRPr lang="en-KE"/>
          </a:p>
        </p:txBody>
      </p:sp>
      <p:sp>
        <p:nvSpPr>
          <p:cNvPr id="16" name="Text 12"/>
          <p:cNvSpPr/>
          <p:nvPr/>
        </p:nvSpPr>
        <p:spPr>
          <a:xfrm>
            <a:off x="1016000" y="3007271"/>
            <a:ext cx="510159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73003"/>
                </a:solidFill>
                <a:latin typeface="Carlito" pitchFamily="34" charset="0"/>
                <a:ea typeface="Carlito" pitchFamily="34" charset="-122"/>
                <a:cs typeface="Carlito" pitchFamily="34" charset="-120"/>
              </a:rPr>
              <a:t>Chromosome only</a:t>
            </a:r>
            <a:endParaRPr lang="en-US" sz="1500" dirty="0"/>
          </a:p>
        </p:txBody>
      </p:sp>
      <p:sp>
        <p:nvSpPr>
          <p:cNvPr id="17" name="Text 13"/>
          <p:cNvSpPr/>
          <p:nvPr/>
        </p:nvSpPr>
        <p:spPr>
          <a:xfrm>
            <a:off x="1016000" y="3299371"/>
            <a:ext cx="510159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Plasmids are gained and lost too often to share the chromosome's history.</a:t>
            </a:r>
            <a:endParaRPr lang="en-US" sz="1400" dirty="0"/>
          </a:p>
        </p:txBody>
      </p:sp>
      <p:sp>
        <p:nvSpPr>
          <p:cNvPr id="18" name="Shape 14"/>
          <p:cNvSpPr/>
          <p:nvPr/>
        </p:nvSpPr>
        <p:spPr>
          <a:xfrm>
            <a:off x="6248400" y="3007271"/>
            <a:ext cx="0" cy="772120"/>
          </a:xfrm>
          <a:prstGeom prst="line">
            <a:avLst/>
          </a:prstGeom>
          <a:noFill/>
          <a:ln w="50800">
            <a:solidFill>
              <a:srgbClr val="891F15"/>
            </a:solidFill>
            <a:prstDash val="solid"/>
          </a:ln>
        </p:spPr>
        <p:txBody>
          <a:bodyPr/>
          <a:lstStyle/>
          <a:p>
            <a:endParaRPr lang="en-KE"/>
          </a:p>
        </p:txBody>
      </p:sp>
      <p:sp>
        <p:nvSpPr>
          <p:cNvPr id="19" name="Text 15"/>
          <p:cNvSpPr/>
          <p:nvPr/>
        </p:nvSpPr>
        <p:spPr>
          <a:xfrm>
            <a:off x="6426200" y="3007271"/>
            <a:ext cx="5101590"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Would an ST39 reference be better?</a:t>
            </a:r>
            <a:endParaRPr lang="en-US" sz="1500" dirty="0"/>
          </a:p>
        </p:txBody>
      </p:sp>
      <p:sp>
        <p:nvSpPr>
          <p:cNvPr id="20" name="Text 16"/>
          <p:cNvSpPr/>
          <p:nvPr/>
        </p:nvSpPr>
        <p:spPr>
          <a:xfrm>
            <a:off x="6426200" y="3299371"/>
            <a:ext cx="510159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Usually: NTUH-K2044 is ST23, so the core is smaller. Cluster conclusions rarely change.</a:t>
            </a:r>
            <a:endParaRPr lang="en-US" sz="1400" dirty="0"/>
          </a:p>
        </p:txBody>
      </p:sp>
      <p:pic>
        <p:nvPicPr>
          <p:cNvPr id="21" name="Image 2"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22" name="Text 1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23" name="Text 18"/>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map reads with Snippy</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58590"/>
            <a:ext cx="10566400" cy="2651323"/>
          </a:xfrm>
          <a:prstGeom prst="roundRect">
            <a:avLst>
              <a:gd name="adj" fmla="val 2874"/>
            </a:avLst>
          </a:prstGeom>
          <a:solidFill>
            <a:srgbClr val="273003"/>
          </a:solidFill>
          <a:ln/>
        </p:spPr>
        <p:txBody>
          <a:bodyPr wrap="square" lIns="206282" tIns="130082" rIns="0" bIns="1046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use_tools phylo</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mkdir -p $RESULTS/06_phylogeny/ST39 &amp;&amp; cd $RESULTS/06_phylogeny/ST39</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cp $SHARED/references/AP006725.1.fasta ref_NTUH-K2044.fasta</a:t>
            </a:r>
            <a:endParaRPr lang="en-US" sz="1200" dirty="0"/>
          </a:p>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Your practice isolates (all ST39): 20–45 minutes each</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for s in $PRACTICE; do</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snippy --outdir snippy/$s --ref ref_NTUH-K2044.fasta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--R1 $COURSE/trimmed/${s}_R1.fastq.gz --R2 $COURSE/trimmed/${s}_R2.fastq.gz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--cpus $THREADS --force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done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use_precomputed 06_phylogeny/ST39/snippy    </a:t>
            </a:r>
            <a:r>
              <a:rPr lang="en-US" sz="1200" dirty="0">
                <a:solidFill>
                  <a:srgbClr val="C2CA6E"/>
                </a:solidFill>
                <a:latin typeface="JetBrains Mono" pitchFamily="49" charset="0"/>
                <a:ea typeface="JetBrains Mono" pitchFamily="49" charset="-122"/>
                <a:cs typeface="JetBrains Mono" pitchFamily="49" charset="-120"/>
              </a:rPr>
              <a:t># the other nine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for s in $ST39; do echo -e "$s\t$(grep -c -v '^CHROM' snippy/$s/snps.tab)"; done</a:t>
            </a:r>
            <a:endParaRPr lang="en-US" sz="1200" dirty="0"/>
          </a:p>
        </p:txBody>
      </p:sp>
      <p:sp>
        <p:nvSpPr>
          <p:cNvPr id="5" name="Shape 3"/>
          <p:cNvSpPr/>
          <p:nvPr/>
        </p:nvSpPr>
        <p:spPr>
          <a:xfrm>
            <a:off x="838200" y="4513114"/>
            <a:ext cx="0" cy="581620"/>
          </a:xfrm>
          <a:prstGeom prst="line">
            <a:avLst/>
          </a:prstGeom>
          <a:noFill/>
          <a:ln w="50800">
            <a:solidFill>
              <a:srgbClr val="891F15"/>
            </a:solidFill>
            <a:prstDash val="solid"/>
          </a:ln>
        </p:spPr>
        <p:txBody>
          <a:bodyPr/>
          <a:lstStyle/>
          <a:p>
            <a:endParaRPr lang="en-KE"/>
          </a:p>
        </p:txBody>
      </p:sp>
      <p:sp>
        <p:nvSpPr>
          <p:cNvPr id="6" name="Text 4"/>
          <p:cNvSpPr/>
          <p:nvPr/>
        </p:nvSpPr>
        <p:spPr>
          <a:xfrm>
            <a:off x="1041400" y="4563914"/>
            <a:ext cx="1064793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Thousands of SNPs each against an ST23 reference is </a:t>
            </a:r>
            <a:r>
              <a:rPr lang="en-US" sz="1400" b="1" dirty="0">
                <a:solidFill>
                  <a:srgbClr val="3A322C"/>
                </a:solidFill>
                <a:latin typeface="Carlito" pitchFamily="34" charset="0"/>
                <a:ea typeface="Carlito" pitchFamily="34" charset="-122"/>
                <a:cs typeface="Carlito" pitchFamily="34" charset="-120"/>
              </a:rPr>
              <a:t>expected</a:t>
            </a:r>
            <a:r>
              <a:rPr lang="en-US" sz="1400" dirty="0">
                <a:solidFill>
                  <a:srgbClr val="3A322C"/>
                </a:solidFill>
                <a:latin typeface="Carlito" pitchFamily="34" charset="0"/>
                <a:ea typeface="Carlito" pitchFamily="34" charset="-122"/>
                <a:cs typeface="Carlito" pitchFamily="34" charset="-120"/>
              </a:rPr>
              <a:t>. All 12 should be similar: an outlier needs a closer look (coverage, contamination, wrong ST).</a:t>
            </a:r>
            <a:endParaRPr lang="en-US" sz="1400" dirty="0"/>
          </a:p>
        </p:txBody>
      </p:sp>
      <p:pic>
        <p:nvPicPr>
          <p:cNvPr id="7"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8"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9" name="Text 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The core alignment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83990"/>
            <a:ext cx="10566400" cy="944761"/>
          </a:xfrm>
          <a:prstGeom prst="roundRect">
            <a:avLst>
              <a:gd name="adj" fmla="val 8066"/>
            </a:avLst>
          </a:prstGeom>
          <a:solidFill>
            <a:srgbClr val="273003"/>
          </a:solidFill>
          <a:ln/>
        </p:spPr>
        <p:txBody>
          <a:bodyPr wrap="square" lIns="206282" tIns="130082" rIns="0" bIns="1046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snippy-core --ref ref_NTUH-K2044.fasta --prefix core snippy/*</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cat core.txt                     </a:t>
            </a:r>
            <a:r>
              <a:rPr lang="en-US" sz="1200" dirty="0">
                <a:solidFill>
                  <a:srgbClr val="C2CA6E"/>
                </a:solidFill>
                <a:latin typeface="JetBrains Mono" pitchFamily="49" charset="0"/>
                <a:ea typeface="JetBrains Mono" pitchFamily="49" charset="-122"/>
                <a:cs typeface="JetBrains Mono" pitchFamily="49" charset="-120"/>
              </a:rPr>
              <a:t># per isolate: aligned length, how much is missing</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snippy-clean_full_aln core.full.aln &gt; clean.full.aln</a:t>
            </a:r>
            <a:endParaRPr lang="en-US" sz="1200" dirty="0"/>
          </a:p>
        </p:txBody>
      </p:sp>
      <p:sp>
        <p:nvSpPr>
          <p:cNvPr id="5" name="Shape 3"/>
          <p:cNvSpPr/>
          <p:nvPr/>
        </p:nvSpPr>
        <p:spPr>
          <a:xfrm>
            <a:off x="812800" y="2857351"/>
            <a:ext cx="5156200" cy="1803301"/>
          </a:xfrm>
          <a:prstGeom prst="roundRect">
            <a:avLst>
              <a:gd name="adj" fmla="val 2817"/>
            </a:avLst>
          </a:prstGeom>
          <a:solidFill>
            <a:srgbClr val="FFFFFF"/>
          </a:solidFill>
          <a:ln/>
        </p:spPr>
        <p:txBody>
          <a:bodyPr/>
          <a:lstStyle/>
          <a:p>
            <a:endParaRPr lang="en-KE"/>
          </a:p>
        </p:txBody>
      </p:sp>
      <p:sp>
        <p:nvSpPr>
          <p:cNvPr id="6" name="Shape 4"/>
          <p:cNvSpPr/>
          <p:nvPr/>
        </p:nvSpPr>
        <p:spPr>
          <a:xfrm>
            <a:off x="812800" y="2857351"/>
            <a:ext cx="5156200" cy="1803301"/>
          </a:xfrm>
          <a:custGeom>
            <a:avLst/>
            <a:gdLst/>
            <a:ahLst/>
            <a:cxnLst/>
            <a:rect l="l" t="t" r="r" b="b"/>
            <a:pathLst>
              <a:path w="5156200" h="1803301">
                <a:moveTo>
                  <a:pt x="0" y="50800"/>
                </a:moveTo>
                <a:lnTo>
                  <a:pt x="0" y="50800"/>
                </a:lnTo>
                <a:arcTo wR="50800" hR="50800" stAng="10800000" swAng="5400000"/>
                <a:lnTo>
                  <a:pt x="5105400" y="0"/>
                </a:lnTo>
                <a:arcTo wR="50800" hR="50800" stAng="16200000" swAng="5400000"/>
                <a:lnTo>
                  <a:pt x="5156200" y="50800"/>
                </a:lnTo>
                <a:lnTo>
                  <a:pt x="0" y="50800"/>
                </a:lnTo>
                <a:close/>
              </a:path>
            </a:pathLst>
          </a:custGeom>
          <a:solidFill>
            <a:srgbClr val="273003"/>
          </a:solidFill>
          <a:ln/>
        </p:spPr>
        <p:txBody>
          <a:bodyPr/>
          <a:lstStyle/>
          <a:p>
            <a:endParaRPr lang="en-KE"/>
          </a:p>
        </p:txBody>
      </p:sp>
      <p:sp>
        <p:nvSpPr>
          <p:cNvPr id="7" name="Text 5"/>
          <p:cNvSpPr/>
          <p:nvPr/>
        </p:nvSpPr>
        <p:spPr>
          <a:xfrm>
            <a:off x="1041400" y="3085951"/>
            <a:ext cx="483997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73003"/>
                </a:solidFill>
                <a:latin typeface="Carlito" pitchFamily="34" charset="0"/>
                <a:ea typeface="Carlito" pitchFamily="34" charset="-122"/>
                <a:cs typeface="Carlito" pitchFamily="34" charset="-120"/>
              </a:rPr>
              <a:t>core.aln</a:t>
            </a:r>
            <a:endParaRPr lang="en-US" sz="1700" dirty="0"/>
          </a:p>
        </p:txBody>
      </p:sp>
      <p:sp>
        <p:nvSpPr>
          <p:cNvPr id="8" name="Text 6"/>
          <p:cNvSpPr/>
          <p:nvPr/>
        </p:nvSpPr>
        <p:spPr>
          <a:xfrm>
            <a:off x="1041400" y="3433911"/>
            <a:ext cx="483997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Only the </a:t>
            </a:r>
            <a:r>
              <a:rPr lang="en-US" sz="1400" b="1" dirty="0">
                <a:solidFill>
                  <a:srgbClr val="3A322C"/>
                </a:solidFill>
                <a:latin typeface="Carlito" pitchFamily="34" charset="0"/>
                <a:ea typeface="Carlito" pitchFamily="34" charset="-122"/>
                <a:cs typeface="Carlito" pitchFamily="34" charset="-120"/>
              </a:rPr>
              <a:t>variable sites</a:t>
            </a:r>
            <a:r>
              <a:rPr lang="en-US" sz="1400" dirty="0">
                <a:solidFill>
                  <a:srgbClr val="3A322C"/>
                </a:solidFill>
                <a:latin typeface="Carlito" pitchFamily="34" charset="0"/>
                <a:ea typeface="Carlito" pitchFamily="34" charset="-122"/>
                <a:cs typeface="Carlito" pitchFamily="34" charset="-120"/>
              </a:rPr>
              <a:t> in the core genome: positions covered in every isolate.</a:t>
            </a:r>
            <a:endParaRPr lang="en-US" sz="1400" dirty="0"/>
          </a:p>
        </p:txBody>
      </p:sp>
      <p:sp>
        <p:nvSpPr>
          <p:cNvPr id="9" name="Text 7"/>
          <p:cNvSpPr/>
          <p:nvPr/>
        </p:nvSpPr>
        <p:spPr>
          <a:xfrm>
            <a:off x="1041400" y="4002832"/>
            <a:ext cx="483997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6B6460"/>
                </a:solidFill>
                <a:latin typeface="Carlito" pitchFamily="34" charset="0"/>
                <a:ea typeface="Carlito" pitchFamily="34" charset="-122"/>
                <a:cs typeface="Carlito" pitchFamily="34" charset="-120"/>
              </a:rPr>
              <a:t>Small; for raw SNP distances.</a:t>
            </a:r>
            <a:endParaRPr lang="en-US" sz="1400" dirty="0"/>
          </a:p>
        </p:txBody>
      </p:sp>
      <p:sp>
        <p:nvSpPr>
          <p:cNvPr id="10" name="Shape 8"/>
          <p:cNvSpPr/>
          <p:nvPr/>
        </p:nvSpPr>
        <p:spPr>
          <a:xfrm>
            <a:off x="6223000" y="2857351"/>
            <a:ext cx="5156200" cy="1803301"/>
          </a:xfrm>
          <a:prstGeom prst="roundRect">
            <a:avLst>
              <a:gd name="adj" fmla="val 2817"/>
            </a:avLst>
          </a:prstGeom>
          <a:solidFill>
            <a:srgbClr val="FFFFFF"/>
          </a:solidFill>
          <a:ln/>
        </p:spPr>
        <p:txBody>
          <a:bodyPr/>
          <a:lstStyle/>
          <a:p>
            <a:endParaRPr lang="en-KE"/>
          </a:p>
        </p:txBody>
      </p:sp>
      <p:sp>
        <p:nvSpPr>
          <p:cNvPr id="11" name="Shape 9"/>
          <p:cNvSpPr/>
          <p:nvPr/>
        </p:nvSpPr>
        <p:spPr>
          <a:xfrm>
            <a:off x="6223000" y="2857351"/>
            <a:ext cx="5156200" cy="1803301"/>
          </a:xfrm>
          <a:custGeom>
            <a:avLst/>
            <a:gdLst/>
            <a:ahLst/>
            <a:cxnLst/>
            <a:rect l="l" t="t" r="r" b="b"/>
            <a:pathLst>
              <a:path w="5156200" h="1803301">
                <a:moveTo>
                  <a:pt x="0" y="50800"/>
                </a:moveTo>
                <a:lnTo>
                  <a:pt x="0" y="50800"/>
                </a:lnTo>
                <a:arcTo wR="50800" hR="50800" stAng="10800000" swAng="5400000"/>
                <a:lnTo>
                  <a:pt x="5105400" y="0"/>
                </a:lnTo>
                <a:arcTo wR="50800" hR="50800" stAng="16200000" swAng="5400000"/>
                <a:lnTo>
                  <a:pt x="5156200" y="50800"/>
                </a:lnTo>
                <a:lnTo>
                  <a:pt x="0" y="50800"/>
                </a:lnTo>
                <a:close/>
              </a:path>
            </a:pathLst>
          </a:custGeom>
          <a:solidFill>
            <a:srgbClr val="891F15"/>
          </a:solidFill>
          <a:ln/>
        </p:spPr>
        <p:txBody>
          <a:bodyPr/>
          <a:lstStyle/>
          <a:p>
            <a:endParaRPr lang="en-KE"/>
          </a:p>
        </p:txBody>
      </p:sp>
      <p:sp>
        <p:nvSpPr>
          <p:cNvPr id="12" name="Text 10"/>
          <p:cNvSpPr/>
          <p:nvPr/>
        </p:nvSpPr>
        <p:spPr>
          <a:xfrm>
            <a:off x="6451600" y="3085951"/>
            <a:ext cx="4839970"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891F15"/>
                </a:solidFill>
                <a:latin typeface="Carlito" pitchFamily="34" charset="0"/>
                <a:ea typeface="Carlito" pitchFamily="34" charset="-122"/>
                <a:cs typeface="Carlito" pitchFamily="34" charset="-120"/>
              </a:rPr>
              <a:t>core.full.aln</a:t>
            </a:r>
            <a:endParaRPr lang="en-US" sz="1700" dirty="0"/>
          </a:p>
        </p:txBody>
      </p:sp>
      <p:sp>
        <p:nvSpPr>
          <p:cNvPr id="13" name="Text 11"/>
          <p:cNvSpPr/>
          <p:nvPr/>
        </p:nvSpPr>
        <p:spPr>
          <a:xfrm>
            <a:off x="6451600" y="3433911"/>
            <a:ext cx="483997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The </a:t>
            </a:r>
            <a:r>
              <a:rPr lang="en-US" sz="1400" b="1" dirty="0">
                <a:solidFill>
                  <a:srgbClr val="3A322C"/>
                </a:solidFill>
                <a:latin typeface="Carlito" pitchFamily="34" charset="0"/>
                <a:ea typeface="Carlito" pitchFamily="34" charset="-122"/>
                <a:cs typeface="Carlito" pitchFamily="34" charset="-120"/>
              </a:rPr>
              <a:t>whole reference length</a:t>
            </a:r>
            <a:r>
              <a:rPr lang="en-US" sz="1400" dirty="0">
                <a:solidFill>
                  <a:srgbClr val="3A322C"/>
                </a:solidFill>
                <a:latin typeface="Carlito" pitchFamily="34" charset="0"/>
                <a:ea typeface="Carlito" pitchFamily="34" charset="-122"/>
                <a:cs typeface="Carlito" pitchFamily="34" charset="-120"/>
              </a:rPr>
              <a:t> for every isolate, with invariant sites and gaps.</a:t>
            </a:r>
            <a:endParaRPr lang="en-US" sz="1400" dirty="0"/>
          </a:p>
        </p:txBody>
      </p:sp>
      <p:sp>
        <p:nvSpPr>
          <p:cNvPr id="14" name="Text 12"/>
          <p:cNvSpPr/>
          <p:nvPr/>
        </p:nvSpPr>
        <p:spPr>
          <a:xfrm>
            <a:off x="6451600" y="4002832"/>
            <a:ext cx="483997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6B6460"/>
                </a:solidFill>
                <a:latin typeface="Carlito" pitchFamily="34" charset="0"/>
                <a:ea typeface="Carlito" pitchFamily="34" charset="-122"/>
                <a:cs typeface="Carlito" pitchFamily="34" charset="-120"/>
              </a:rPr>
              <a:t>Gubbins needs this: it looks for regions where SNPs are unusually dense.</a:t>
            </a:r>
            <a:endParaRPr lang="en-US" sz="1400" dirty="0"/>
          </a:p>
        </p:txBody>
      </p:sp>
      <p:pic>
        <p:nvPicPr>
          <p:cNvPr id="15"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6" name="Text 1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17" name="Text 1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7300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448800" y="609600"/>
            <a:ext cx="2743200" cy="56007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C2CA6E"/>
                </a:solidFill>
                <a:latin typeface="Carlito" pitchFamily="34" charset="0"/>
                <a:ea typeface="Carlito" pitchFamily="34" charset="-122"/>
                <a:cs typeface="Carlito" pitchFamily="34" charset="-120"/>
              </a:rPr>
              <a:t>DAY 6 · SESSION 2 · 11:00–12:30</a:t>
            </a:r>
            <a:endParaRPr lang="en-US" sz="1600" dirty="0"/>
          </a:p>
        </p:txBody>
      </p:sp>
      <p:sp>
        <p:nvSpPr>
          <p:cNvPr id="4" name="Text 1"/>
          <p:cNvSpPr>
            <a:spLocks noGrp="1"/>
          </p:cNvSpPr>
          <p:nvPr>
            <p:ph type="title"/>
          </p:nvPr>
        </p:nvSpPr>
        <p:spPr>
          <a:xfrm>
            <a:off x="0" y="3086100"/>
            <a:ext cx="1255776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9F2EA"/>
                </a:solidFill>
                <a:latin typeface="Carlito" pitchFamily="34" charset="0"/>
                <a:ea typeface="Carlito" pitchFamily="34" charset="-122"/>
                <a:cs typeface="Carlito" pitchFamily="34" charset="-120"/>
              </a:rPr>
              <a:t>Recombination and why it matters</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DDE2B0"/>
                </a:solidFill>
                <a:latin typeface="Carlito" pitchFamily="34" charset="0"/>
                <a:ea typeface="Carlito" pitchFamily="34" charset="-122"/>
                <a:cs typeface="Carlito" pitchFamily="34" charset="-120"/>
              </a:rPr>
              <a:t>Detecting and removing it with Gubbins</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8A"/>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8A"/>
                </a:solidFill>
                <a:latin typeface="Carlito" pitchFamily="34" charset="0"/>
                <a:ea typeface="Carlito" pitchFamily="34" charset="-122"/>
                <a:cs typeface="Carlit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Recombination</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83990"/>
            <a:ext cx="10883392" cy="316855"/>
          </a:xfrm>
          <a:prstGeom prst="rect">
            <a:avLst/>
          </a:prstGeom>
          <a:noFill/>
          <a:ln/>
        </p:spPr>
        <p:txBody>
          <a:bodyPr wrap="square" lIns="0" tIns="0" rIns="0" bIns="0" rtlCol="0" anchor="t">
            <a:normAutofit/>
          </a:bodyPr>
          <a:lstStyle/>
          <a:p>
            <a:pPr marL="0" indent="0" algn="l">
              <a:lnSpc>
                <a:spcPts val="2295"/>
              </a:lnSpc>
              <a:buNone/>
            </a:pPr>
            <a:r>
              <a:rPr lang="en-US" sz="1700" dirty="0">
                <a:solidFill>
                  <a:srgbClr val="3A322C"/>
                </a:solidFill>
                <a:latin typeface="Carlito" pitchFamily="34" charset="0"/>
                <a:ea typeface="Carlito" pitchFamily="34" charset="-122"/>
                <a:cs typeface="Carlito" pitchFamily="34" charset="-120"/>
              </a:rPr>
              <a:t>The incorporation of DNA from a </a:t>
            </a:r>
            <a:r>
              <a:rPr lang="en-US" sz="1700" b="1" dirty="0">
                <a:solidFill>
                  <a:srgbClr val="3A322C"/>
                </a:solidFill>
                <a:latin typeface="Carlito" pitchFamily="34" charset="0"/>
                <a:ea typeface="Carlito" pitchFamily="34" charset="-122"/>
                <a:cs typeface="Carlito" pitchFamily="34" charset="-120"/>
              </a:rPr>
              <a:t>donor</a:t>
            </a:r>
            <a:r>
              <a:rPr lang="en-US" sz="1700" dirty="0">
                <a:solidFill>
                  <a:srgbClr val="3A322C"/>
                </a:solidFill>
                <a:latin typeface="Carlito" pitchFamily="34" charset="0"/>
                <a:ea typeface="Carlito" pitchFamily="34" charset="-122"/>
                <a:cs typeface="Carlito" pitchFamily="34" charset="-120"/>
              </a:rPr>
              <a:t> cell into the genome of a </a:t>
            </a:r>
            <a:r>
              <a:rPr lang="en-US" sz="1700" b="1" dirty="0">
                <a:solidFill>
                  <a:srgbClr val="3A322C"/>
                </a:solidFill>
                <a:latin typeface="Carlito" pitchFamily="34" charset="0"/>
                <a:ea typeface="Carlito" pitchFamily="34" charset="-122"/>
                <a:cs typeface="Carlito" pitchFamily="34" charset="-120"/>
              </a:rPr>
              <a:t>recipient</a:t>
            </a:r>
            <a:r>
              <a:rPr lang="en-US" sz="1700" dirty="0">
                <a:solidFill>
                  <a:srgbClr val="3A322C"/>
                </a:solidFill>
                <a:latin typeface="Carlito" pitchFamily="34" charset="0"/>
                <a:ea typeface="Carlito" pitchFamily="34" charset="-122"/>
                <a:cs typeface="Carlito" pitchFamily="34" charset="-120"/>
              </a:rPr>
              <a:t> cell.</a:t>
            </a:r>
            <a:endParaRPr lang="en-US" sz="1700" dirty="0"/>
          </a:p>
        </p:txBody>
      </p:sp>
      <p:sp>
        <p:nvSpPr>
          <p:cNvPr id="5" name="Shape 3"/>
          <p:cNvSpPr/>
          <p:nvPr/>
        </p:nvSpPr>
        <p:spPr>
          <a:xfrm>
            <a:off x="812800" y="2204045"/>
            <a:ext cx="5461000" cy="2730500"/>
          </a:xfrm>
          <a:prstGeom prst="roundRect">
            <a:avLst>
              <a:gd name="adj" fmla="val 2791"/>
            </a:avLst>
          </a:prstGeom>
          <a:solidFill>
            <a:srgbClr val="FFFFFF"/>
          </a:solidFill>
          <a:ln/>
        </p:spPr>
        <p:txBody>
          <a:bodyPr/>
          <a:lstStyle/>
          <a:p>
            <a:endParaRPr lang="en-KE"/>
          </a:p>
        </p:txBody>
      </p:sp>
      <p:pic>
        <p:nvPicPr>
          <p:cNvPr id="6" name="Image 0" descr="Lateral gene transfer inserts a new donor gene between recipient genes; homologous recombination replaces a recipient gene with the donor's version of the same gene"/>
          <p:cNvPicPr>
            <a:picLocks noChangeAspect="1"/>
          </p:cNvPicPr>
          <p:nvPr/>
        </p:nvPicPr>
        <p:blipFill>
          <a:blip r:embed="rId3"/>
          <a:srcRect/>
          <a:stretch/>
        </p:blipFill>
        <p:spPr>
          <a:xfrm>
            <a:off x="812800" y="2204045"/>
            <a:ext cx="5461000" cy="2730500"/>
          </a:xfrm>
          <a:prstGeom prst="roundRect">
            <a:avLst>
              <a:gd name="adj" fmla="val 2791"/>
            </a:avLst>
          </a:prstGeom>
        </p:spPr>
      </p:pic>
      <p:sp>
        <p:nvSpPr>
          <p:cNvPr id="7" name="Text 4"/>
          <p:cNvSpPr/>
          <p:nvPr/>
        </p:nvSpPr>
        <p:spPr>
          <a:xfrm>
            <a:off x="812800" y="5010745"/>
            <a:ext cx="56248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Vos M. </a:t>
            </a:r>
            <a:r>
              <a:rPr lang="en-US" sz="1200" i="1" dirty="0">
                <a:solidFill>
                  <a:srgbClr val="6B6460"/>
                </a:solidFill>
                <a:latin typeface="Carlito" pitchFamily="34" charset="0"/>
                <a:ea typeface="Carlito" pitchFamily="34" charset="-122"/>
                <a:cs typeface="Carlito" pitchFamily="34" charset="-120"/>
              </a:rPr>
              <a:t>Trends Microbiol</a:t>
            </a:r>
            <a:r>
              <a:rPr lang="en-US" sz="1200" dirty="0">
                <a:solidFill>
                  <a:srgbClr val="6B6460"/>
                </a:solidFill>
                <a:latin typeface="Carlito" pitchFamily="34" charset="0"/>
                <a:ea typeface="Carlito" pitchFamily="34" charset="-122"/>
                <a:cs typeface="Carlito" pitchFamily="34" charset="-120"/>
              </a:rPr>
              <a:t> 2009. </a:t>
            </a:r>
            <a:r>
              <a:rPr lang="en-US" sz="1200" u="sng" dirty="0">
                <a:solidFill>
                  <a:srgbClr val="6B6460"/>
                </a:solidFill>
                <a:latin typeface="Carlito" pitchFamily="34" charset="0"/>
                <a:ea typeface="Carlito" pitchFamily="34" charset="-122"/>
                <a:cs typeface="Carlito" pitchFamily="34" charset="-120"/>
                <a:hlinkClick r:id="rId4">
                  <a:extLst>
                    <a:ext uri="{A12FA001-AC4F-418D-AE19-62706E023703}">
                      <ahyp:hlinkClr xmlns:ahyp="http://schemas.microsoft.com/office/drawing/2018/hyperlinkcolor" val="tx"/>
                    </a:ext>
                  </a:extLst>
                </a:hlinkClick>
              </a:rPr>
              <a:t>doi:10.1016/j.tim.2009.03.001</a:t>
            </a:r>
            <a:endParaRPr lang="en-US" sz="1200" dirty="0"/>
          </a:p>
        </p:txBody>
      </p:sp>
      <p:sp>
        <p:nvSpPr>
          <p:cNvPr id="8" name="Shape 5"/>
          <p:cNvSpPr/>
          <p:nvPr/>
        </p:nvSpPr>
        <p:spPr>
          <a:xfrm>
            <a:off x="6654800" y="2985740"/>
            <a:ext cx="0" cy="759420"/>
          </a:xfrm>
          <a:prstGeom prst="line">
            <a:avLst/>
          </a:prstGeom>
          <a:noFill/>
          <a:ln w="50800">
            <a:solidFill>
              <a:srgbClr val="891F15"/>
            </a:solidFill>
            <a:prstDash val="solid"/>
          </a:ln>
        </p:spPr>
        <p:txBody>
          <a:bodyPr/>
          <a:lstStyle/>
          <a:p>
            <a:endParaRPr lang="en-KE"/>
          </a:p>
        </p:txBody>
      </p:sp>
      <p:sp>
        <p:nvSpPr>
          <p:cNvPr id="9" name="Text 6"/>
          <p:cNvSpPr/>
          <p:nvPr/>
        </p:nvSpPr>
        <p:spPr>
          <a:xfrm>
            <a:off x="6832600" y="2985740"/>
            <a:ext cx="468299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Homologous recombination</a:t>
            </a:r>
            <a:endParaRPr lang="en-US" sz="1500" dirty="0"/>
          </a:p>
        </p:txBody>
      </p:sp>
      <p:sp>
        <p:nvSpPr>
          <p:cNvPr id="10" name="Text 7"/>
          <p:cNvSpPr/>
          <p:nvPr/>
        </p:nvSpPr>
        <p:spPr>
          <a:xfrm>
            <a:off x="6832600" y="3265140"/>
            <a:ext cx="4682998"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The donor sequence </a:t>
            </a:r>
            <a:r>
              <a:rPr lang="en-US" sz="1400" b="1" dirty="0">
                <a:solidFill>
                  <a:srgbClr val="3A322C"/>
                </a:solidFill>
                <a:latin typeface="Carlito" pitchFamily="34" charset="0"/>
                <a:ea typeface="Carlito" pitchFamily="34" charset="-122"/>
                <a:cs typeface="Carlito" pitchFamily="34" charset="-120"/>
              </a:rPr>
              <a:t>replaces</a:t>
            </a:r>
            <a:r>
              <a:rPr lang="en-US" sz="1400" dirty="0">
                <a:solidFill>
                  <a:srgbClr val="3A322C"/>
                </a:solidFill>
                <a:latin typeface="Carlito" pitchFamily="34" charset="0"/>
                <a:ea typeface="Carlito" pitchFamily="34" charset="-122"/>
                <a:cs typeface="Carlito" pitchFamily="34" charset="-120"/>
              </a:rPr>
              <a:t> the similar region in the recipient. Mostly affects </a:t>
            </a:r>
            <a:r>
              <a:rPr lang="en-US" sz="1400" b="1" dirty="0">
                <a:solidFill>
                  <a:srgbClr val="3A322C"/>
                </a:solidFill>
                <a:latin typeface="Carlito" pitchFamily="34" charset="0"/>
                <a:ea typeface="Carlito" pitchFamily="34" charset="-122"/>
                <a:cs typeface="Carlito" pitchFamily="34" charset="-120"/>
              </a:rPr>
              <a:t>core genes</a:t>
            </a:r>
            <a:r>
              <a:rPr lang="en-US" sz="1400" dirty="0">
                <a:solidFill>
                  <a:srgbClr val="3A322C"/>
                </a:solidFill>
                <a:latin typeface="Carlito" pitchFamily="34" charset="0"/>
                <a:ea typeface="Carlito" pitchFamily="34" charset="-122"/>
                <a:cs typeface="Carlito" pitchFamily="34" charset="-120"/>
              </a:rPr>
              <a:t>.</a:t>
            </a:r>
            <a:endParaRPr lang="en-US" sz="1400" dirty="0"/>
          </a:p>
        </p:txBody>
      </p:sp>
      <p:sp>
        <p:nvSpPr>
          <p:cNvPr id="11" name="Shape 8"/>
          <p:cNvSpPr/>
          <p:nvPr/>
        </p:nvSpPr>
        <p:spPr>
          <a:xfrm>
            <a:off x="6654800" y="3922961"/>
            <a:ext cx="0" cy="519410"/>
          </a:xfrm>
          <a:prstGeom prst="line">
            <a:avLst/>
          </a:prstGeom>
          <a:noFill/>
          <a:ln w="50800">
            <a:solidFill>
              <a:srgbClr val="273003"/>
            </a:solidFill>
            <a:prstDash val="solid"/>
          </a:ln>
        </p:spPr>
        <p:txBody>
          <a:bodyPr/>
          <a:lstStyle/>
          <a:p>
            <a:endParaRPr lang="en-KE"/>
          </a:p>
        </p:txBody>
      </p:sp>
      <p:sp>
        <p:nvSpPr>
          <p:cNvPr id="12" name="Text 9"/>
          <p:cNvSpPr/>
          <p:nvPr/>
        </p:nvSpPr>
        <p:spPr>
          <a:xfrm>
            <a:off x="6832600" y="3922961"/>
            <a:ext cx="468299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73003"/>
                </a:solidFill>
                <a:latin typeface="Carlito" pitchFamily="34" charset="0"/>
                <a:ea typeface="Carlito" pitchFamily="34" charset="-122"/>
                <a:cs typeface="Carlito" pitchFamily="34" charset="-120"/>
              </a:rPr>
              <a:t>Lateral (horizontal) gene transfer</a:t>
            </a:r>
            <a:endParaRPr lang="en-US" sz="1500" dirty="0"/>
          </a:p>
        </p:txBody>
      </p:sp>
      <p:sp>
        <p:nvSpPr>
          <p:cNvPr id="13" name="Text 10"/>
          <p:cNvSpPr/>
          <p:nvPr/>
        </p:nvSpPr>
        <p:spPr>
          <a:xfrm>
            <a:off x="6832600" y="4202361"/>
            <a:ext cx="4682998"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Adds</a:t>
            </a:r>
            <a:r>
              <a:rPr lang="en-US" sz="1400" dirty="0">
                <a:solidFill>
                  <a:srgbClr val="3A322C"/>
                </a:solidFill>
                <a:latin typeface="Carlito" pitchFamily="34" charset="0"/>
                <a:ea typeface="Carlito" pitchFamily="34" charset="-122"/>
                <a:cs typeface="Carlito" pitchFamily="34" charset="-120"/>
              </a:rPr>
              <a:t> new genes. Brings </a:t>
            </a:r>
            <a:r>
              <a:rPr lang="en-US" sz="1400" b="1" dirty="0">
                <a:solidFill>
                  <a:srgbClr val="3A322C"/>
                </a:solidFill>
                <a:latin typeface="Carlito" pitchFamily="34" charset="0"/>
                <a:ea typeface="Carlito" pitchFamily="34" charset="-122"/>
                <a:cs typeface="Carlito" pitchFamily="34" charset="-120"/>
              </a:rPr>
              <a:t>accessory genes</a:t>
            </a:r>
            <a:r>
              <a:rPr lang="en-US" sz="1400" dirty="0">
                <a:solidFill>
                  <a:srgbClr val="3A322C"/>
                </a:solidFill>
                <a:latin typeface="Carlito" pitchFamily="34" charset="0"/>
                <a:ea typeface="Carlito" pitchFamily="34" charset="-122"/>
                <a:cs typeface="Carlito" pitchFamily="34" charset="-120"/>
              </a:rPr>
              <a:t>: resistance, plasmids.</a:t>
            </a:r>
            <a:endParaRPr lang="en-US" sz="1400" dirty="0"/>
          </a:p>
        </p:txBody>
      </p:sp>
      <p:pic>
        <p:nvPicPr>
          <p:cNvPr id="14" name="Image 1"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15"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16"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How DNA moves between bacteria</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683990"/>
            <a:ext cx="5969000" cy="3790950"/>
          </a:xfrm>
          <a:prstGeom prst="roundRect">
            <a:avLst>
              <a:gd name="adj" fmla="val 2010"/>
            </a:avLst>
          </a:prstGeom>
          <a:solidFill>
            <a:srgbClr val="FFFFFF"/>
          </a:solidFill>
          <a:ln/>
        </p:spPr>
        <p:txBody>
          <a:bodyPr/>
          <a:lstStyle/>
          <a:p>
            <a:endParaRPr lang="en-KE"/>
          </a:p>
        </p:txBody>
      </p:sp>
      <p:pic>
        <p:nvPicPr>
          <p:cNvPr id="5" name="Image 0" descr="Horizontal gene transfer: conjugation transfers a plasmid through a pilus; transformation takes up DNA fragments from dead cells; transduction carries bacterial DNA in a bacteriophage"/>
          <p:cNvPicPr>
            <a:picLocks noChangeAspect="1"/>
          </p:cNvPicPr>
          <p:nvPr/>
        </p:nvPicPr>
        <p:blipFill>
          <a:blip r:embed="rId3"/>
          <a:srcRect t="-22" b="-22"/>
          <a:stretch/>
        </p:blipFill>
        <p:spPr>
          <a:xfrm>
            <a:off x="812800" y="1683990"/>
            <a:ext cx="5969000" cy="3790950"/>
          </a:xfrm>
          <a:prstGeom prst="roundRect">
            <a:avLst>
              <a:gd name="adj" fmla="val 2010"/>
            </a:avLst>
          </a:prstGeom>
        </p:spPr>
      </p:pic>
      <p:sp>
        <p:nvSpPr>
          <p:cNvPr id="6" name="Text 3"/>
          <p:cNvSpPr/>
          <p:nvPr/>
        </p:nvSpPr>
        <p:spPr>
          <a:xfrm>
            <a:off x="812800" y="5551140"/>
            <a:ext cx="61480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Source: </a:t>
            </a:r>
            <a:r>
              <a:rPr lang="en-US" sz="1200" u="sng" dirty="0">
                <a:solidFill>
                  <a:srgbClr val="6B6460"/>
                </a:solidFill>
                <a:latin typeface="Carlito" pitchFamily="34" charset="0"/>
                <a:ea typeface="Carlito" pitchFamily="34" charset="-122"/>
                <a:cs typeface="Carlito" pitchFamily="34" charset="-120"/>
                <a:hlinkClick r:id="rId4">
                  <a:extLst>
                    <a:ext uri="{A12FA001-AC4F-418D-AE19-62706E023703}">
                      <ahyp:hlinkClr xmlns:ahyp="http://schemas.microsoft.com/office/drawing/2018/hyperlinkcolor" val="tx"/>
                    </a:ext>
                  </a:extLst>
                </a:hlinkClick>
              </a:rPr>
              <a:t>microbenotes.com</a:t>
            </a:r>
            <a:endParaRPr lang="en-US" sz="1200" dirty="0"/>
          </a:p>
        </p:txBody>
      </p:sp>
      <p:sp>
        <p:nvSpPr>
          <p:cNvPr id="7" name="Shape 4"/>
          <p:cNvSpPr/>
          <p:nvPr/>
        </p:nvSpPr>
        <p:spPr>
          <a:xfrm>
            <a:off x="7162800" y="1683990"/>
            <a:ext cx="0" cy="519410"/>
          </a:xfrm>
          <a:prstGeom prst="line">
            <a:avLst/>
          </a:prstGeom>
          <a:noFill/>
          <a:ln w="50800">
            <a:solidFill>
              <a:srgbClr val="891F15"/>
            </a:solidFill>
            <a:prstDash val="solid"/>
          </a:ln>
        </p:spPr>
        <p:txBody>
          <a:bodyPr/>
          <a:lstStyle/>
          <a:p>
            <a:endParaRPr lang="en-KE"/>
          </a:p>
        </p:txBody>
      </p:sp>
      <p:sp>
        <p:nvSpPr>
          <p:cNvPr id="8" name="Text 5"/>
          <p:cNvSpPr/>
          <p:nvPr/>
        </p:nvSpPr>
        <p:spPr>
          <a:xfrm>
            <a:off x="7340600" y="1683990"/>
            <a:ext cx="415975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Conjugation</a:t>
            </a:r>
            <a:endParaRPr lang="en-US" sz="1500" dirty="0"/>
          </a:p>
        </p:txBody>
      </p:sp>
      <p:sp>
        <p:nvSpPr>
          <p:cNvPr id="9" name="Text 6"/>
          <p:cNvSpPr/>
          <p:nvPr/>
        </p:nvSpPr>
        <p:spPr>
          <a:xfrm>
            <a:off x="7340600" y="1963390"/>
            <a:ext cx="4159758"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Cell to cell, often by plasmid (Module 5)</a:t>
            </a:r>
            <a:endParaRPr lang="en-US" sz="1400" dirty="0"/>
          </a:p>
        </p:txBody>
      </p:sp>
      <p:sp>
        <p:nvSpPr>
          <p:cNvPr id="10" name="Shape 7"/>
          <p:cNvSpPr/>
          <p:nvPr/>
        </p:nvSpPr>
        <p:spPr>
          <a:xfrm>
            <a:off x="7162800" y="2381200"/>
            <a:ext cx="0" cy="519410"/>
          </a:xfrm>
          <a:prstGeom prst="line">
            <a:avLst/>
          </a:prstGeom>
          <a:noFill/>
          <a:ln w="50800">
            <a:solidFill>
              <a:srgbClr val="273003"/>
            </a:solidFill>
            <a:prstDash val="solid"/>
          </a:ln>
        </p:spPr>
        <p:txBody>
          <a:bodyPr/>
          <a:lstStyle/>
          <a:p>
            <a:endParaRPr lang="en-KE"/>
          </a:p>
        </p:txBody>
      </p:sp>
      <p:sp>
        <p:nvSpPr>
          <p:cNvPr id="11" name="Text 8"/>
          <p:cNvSpPr/>
          <p:nvPr/>
        </p:nvSpPr>
        <p:spPr>
          <a:xfrm>
            <a:off x="7340600" y="2381200"/>
            <a:ext cx="415975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73003"/>
                </a:solidFill>
                <a:latin typeface="Carlito" pitchFamily="34" charset="0"/>
                <a:ea typeface="Carlito" pitchFamily="34" charset="-122"/>
                <a:cs typeface="Carlito" pitchFamily="34" charset="-120"/>
              </a:rPr>
              <a:t>Transformation</a:t>
            </a:r>
            <a:endParaRPr lang="en-US" sz="1500" dirty="0"/>
          </a:p>
        </p:txBody>
      </p:sp>
      <p:sp>
        <p:nvSpPr>
          <p:cNvPr id="12" name="Text 9"/>
          <p:cNvSpPr/>
          <p:nvPr/>
        </p:nvSpPr>
        <p:spPr>
          <a:xfrm>
            <a:off x="7340600" y="2660600"/>
            <a:ext cx="4159758"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Free DNA taken up from dead cells</a:t>
            </a:r>
            <a:endParaRPr lang="en-US" sz="1400" dirty="0"/>
          </a:p>
        </p:txBody>
      </p:sp>
      <p:sp>
        <p:nvSpPr>
          <p:cNvPr id="13" name="Shape 10"/>
          <p:cNvSpPr/>
          <p:nvPr/>
        </p:nvSpPr>
        <p:spPr>
          <a:xfrm>
            <a:off x="7162800" y="3078411"/>
            <a:ext cx="0" cy="519410"/>
          </a:xfrm>
          <a:prstGeom prst="line">
            <a:avLst/>
          </a:prstGeom>
          <a:noFill/>
          <a:ln w="50800">
            <a:solidFill>
              <a:srgbClr val="273003"/>
            </a:solidFill>
            <a:prstDash val="solid"/>
          </a:ln>
        </p:spPr>
        <p:txBody>
          <a:bodyPr/>
          <a:lstStyle/>
          <a:p>
            <a:endParaRPr lang="en-KE"/>
          </a:p>
        </p:txBody>
      </p:sp>
      <p:sp>
        <p:nvSpPr>
          <p:cNvPr id="14" name="Text 11"/>
          <p:cNvSpPr/>
          <p:nvPr/>
        </p:nvSpPr>
        <p:spPr>
          <a:xfrm>
            <a:off x="7340600" y="3078411"/>
            <a:ext cx="415975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73003"/>
                </a:solidFill>
                <a:latin typeface="Carlito" pitchFamily="34" charset="0"/>
                <a:ea typeface="Carlito" pitchFamily="34" charset="-122"/>
                <a:cs typeface="Carlito" pitchFamily="34" charset="-120"/>
              </a:rPr>
              <a:t>Transduction</a:t>
            </a:r>
            <a:endParaRPr lang="en-US" sz="1500" dirty="0"/>
          </a:p>
        </p:txBody>
      </p:sp>
      <p:sp>
        <p:nvSpPr>
          <p:cNvPr id="15" name="Text 12"/>
          <p:cNvSpPr/>
          <p:nvPr/>
        </p:nvSpPr>
        <p:spPr>
          <a:xfrm>
            <a:off x="7340600" y="3357811"/>
            <a:ext cx="4159758"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Carried by a bacteriophage</a:t>
            </a:r>
            <a:endParaRPr lang="en-US" sz="1400" dirty="0"/>
          </a:p>
        </p:txBody>
      </p:sp>
      <p:pic>
        <p:nvPicPr>
          <p:cNvPr id="16" name="Image 1"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17" name="Text 1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18" name="Text 1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7300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9F2EA"/>
                </a:solidFill>
                <a:latin typeface="Carlito" pitchFamily="34" charset="0"/>
                <a:ea typeface="Carlito" pitchFamily="34" charset="-122"/>
                <a:cs typeface="Carlito" pitchFamily="34" charset="-120"/>
              </a:rPr>
              <a:t>Why recombination misleads a tree</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txBody>
          <a:bodyPr/>
          <a:lstStyle/>
          <a:p>
            <a:endParaRPr lang="en-KE"/>
          </a:p>
        </p:txBody>
      </p:sp>
      <p:sp>
        <p:nvSpPr>
          <p:cNvPr id="4" name="Text 2"/>
          <p:cNvSpPr/>
          <p:nvPr/>
        </p:nvSpPr>
        <p:spPr>
          <a:xfrm>
            <a:off x="812800" y="1760190"/>
            <a:ext cx="10883392" cy="38859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F9F2EA"/>
                </a:solidFill>
                <a:latin typeface="Carlito" pitchFamily="34" charset="0"/>
                <a:ea typeface="Carlito" pitchFamily="34" charset="-122"/>
                <a:cs typeface="Carlito" pitchFamily="34" charset="-120"/>
              </a:rPr>
              <a:t>One recombination event can import </a:t>
            </a:r>
            <a:r>
              <a:rPr lang="en-US" sz="2200" b="1" dirty="0">
                <a:solidFill>
                  <a:srgbClr val="FFCE00"/>
                </a:solidFill>
                <a:latin typeface="Carlito" pitchFamily="34" charset="0"/>
                <a:ea typeface="Carlito" pitchFamily="34" charset="-122"/>
                <a:cs typeface="Carlito" pitchFamily="34" charset="-120"/>
              </a:rPr>
              <a:t>dozens or hundreds of SNPs</a:t>
            </a:r>
            <a:r>
              <a:rPr lang="en-US" sz="2200" dirty="0">
                <a:solidFill>
                  <a:srgbClr val="F9F2EA"/>
                </a:solidFill>
                <a:latin typeface="Carlito" pitchFamily="34" charset="0"/>
                <a:ea typeface="Carlito" pitchFamily="34" charset="-122"/>
                <a:cs typeface="Carlito" pitchFamily="34" charset="-120"/>
              </a:rPr>
              <a:t> at once.</a:t>
            </a:r>
            <a:endParaRPr lang="en-US" sz="2200" dirty="0"/>
          </a:p>
        </p:txBody>
      </p:sp>
      <p:sp>
        <p:nvSpPr>
          <p:cNvPr id="5" name="Text 3"/>
          <p:cNvSpPr/>
          <p:nvPr/>
        </p:nvSpPr>
        <p:spPr>
          <a:xfrm>
            <a:off x="812800" y="2428180"/>
            <a:ext cx="34533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COUNTED AS MUTATIONS</a:t>
            </a:r>
            <a:endParaRPr lang="en-US" sz="1200" dirty="0"/>
          </a:p>
        </p:txBody>
      </p:sp>
      <p:sp>
        <p:nvSpPr>
          <p:cNvPr id="6" name="Text 4"/>
          <p:cNvSpPr/>
          <p:nvPr/>
        </p:nvSpPr>
        <p:spPr>
          <a:xfrm>
            <a:off x="812800" y="2717701"/>
            <a:ext cx="3453384"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9F2EA"/>
                </a:solidFill>
                <a:latin typeface="Carlito" pitchFamily="34" charset="0"/>
                <a:ea typeface="Carlito" pitchFamily="34" charset="-122"/>
                <a:cs typeface="Carlito" pitchFamily="34" charset="-120"/>
              </a:rPr>
              <a:t>Two isolates look as if they diverged long ago: </a:t>
            </a:r>
            <a:r>
              <a:rPr lang="en-US" sz="1500" b="1" dirty="0">
                <a:solidFill>
                  <a:srgbClr val="F9F2EA"/>
                </a:solidFill>
                <a:latin typeface="Carlito" pitchFamily="34" charset="0"/>
                <a:ea typeface="Carlito" pitchFamily="34" charset="-122"/>
                <a:cs typeface="Carlito" pitchFamily="34" charset="-120"/>
              </a:rPr>
              <a:t>less related</a:t>
            </a:r>
            <a:r>
              <a:rPr lang="en-US" sz="1500" dirty="0">
                <a:solidFill>
                  <a:srgbClr val="F9F2EA"/>
                </a:solidFill>
                <a:latin typeface="Carlito" pitchFamily="34" charset="0"/>
                <a:ea typeface="Carlito" pitchFamily="34" charset="-122"/>
                <a:cs typeface="Carlito" pitchFamily="34" charset="-120"/>
              </a:rPr>
              <a:t> than they are.</a:t>
            </a:r>
            <a:endParaRPr lang="en-US" sz="1500" dirty="0"/>
          </a:p>
        </p:txBody>
      </p:sp>
      <p:sp>
        <p:nvSpPr>
          <p:cNvPr id="7" name="Text 5"/>
          <p:cNvSpPr/>
          <p:nvPr/>
        </p:nvSpPr>
        <p:spPr>
          <a:xfrm>
            <a:off x="4419600" y="2428180"/>
            <a:ext cx="34533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IGNORED</a:t>
            </a:r>
            <a:endParaRPr lang="en-US" sz="1200" dirty="0"/>
          </a:p>
        </p:txBody>
      </p:sp>
      <p:sp>
        <p:nvSpPr>
          <p:cNvPr id="8" name="Text 6"/>
          <p:cNvSpPr/>
          <p:nvPr/>
        </p:nvSpPr>
        <p:spPr>
          <a:xfrm>
            <a:off x="4419600" y="2717701"/>
            <a:ext cx="3453384"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9F2EA"/>
                </a:solidFill>
                <a:latin typeface="Carlito" pitchFamily="34" charset="0"/>
                <a:ea typeface="Carlito" pitchFamily="34" charset="-122"/>
                <a:cs typeface="Carlito" pitchFamily="34" charset="-120"/>
              </a:rPr>
              <a:t>The tree misrepresents the true </a:t>
            </a:r>
            <a:r>
              <a:rPr lang="en-US" sz="1500" b="1" dirty="0">
                <a:solidFill>
                  <a:srgbClr val="F9F2EA"/>
                </a:solidFill>
                <a:latin typeface="Carlito" pitchFamily="34" charset="0"/>
                <a:ea typeface="Carlito" pitchFamily="34" charset="-122"/>
                <a:cs typeface="Carlito" pitchFamily="34" charset="-120"/>
              </a:rPr>
              <a:t>clonal</a:t>
            </a:r>
            <a:r>
              <a:rPr lang="en-US" sz="1500" dirty="0">
                <a:solidFill>
                  <a:srgbClr val="F9F2EA"/>
                </a:solidFill>
                <a:latin typeface="Carlito" pitchFamily="34" charset="0"/>
                <a:ea typeface="Carlito" pitchFamily="34" charset="-122"/>
                <a:cs typeface="Carlito" pitchFamily="34" charset="-120"/>
              </a:rPr>
              <a:t> relationships between isolates.</a:t>
            </a:r>
            <a:endParaRPr lang="en-US" sz="1500" dirty="0"/>
          </a:p>
        </p:txBody>
      </p:sp>
      <p:sp>
        <p:nvSpPr>
          <p:cNvPr id="9" name="Text 7"/>
          <p:cNvSpPr/>
          <p:nvPr/>
        </p:nvSpPr>
        <p:spPr>
          <a:xfrm>
            <a:off x="8026400" y="2428180"/>
            <a:ext cx="34533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SO</a:t>
            </a:r>
            <a:endParaRPr lang="en-US" sz="1200" dirty="0"/>
          </a:p>
        </p:txBody>
      </p:sp>
      <p:sp>
        <p:nvSpPr>
          <p:cNvPr id="10" name="Text 8"/>
          <p:cNvSpPr/>
          <p:nvPr/>
        </p:nvSpPr>
        <p:spPr>
          <a:xfrm>
            <a:off x="8026400" y="2717701"/>
            <a:ext cx="3453384"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F9F2EA"/>
                </a:solidFill>
                <a:latin typeface="Carlito" pitchFamily="34" charset="0"/>
                <a:ea typeface="Carlito" pitchFamily="34" charset="-122"/>
                <a:cs typeface="Carlito" pitchFamily="34" charset="-120"/>
              </a:rPr>
              <a:t>Detect</a:t>
            </a:r>
            <a:r>
              <a:rPr lang="en-US" sz="1500" dirty="0">
                <a:solidFill>
                  <a:srgbClr val="F9F2EA"/>
                </a:solidFill>
                <a:latin typeface="Carlito" pitchFamily="34" charset="0"/>
                <a:ea typeface="Carlito" pitchFamily="34" charset="-122"/>
                <a:cs typeface="Carlito" pitchFamily="34" charset="-120"/>
              </a:rPr>
              <a:t> recombined regions and </a:t>
            </a:r>
            <a:r>
              <a:rPr lang="en-US" sz="1500" b="1" dirty="0">
                <a:solidFill>
                  <a:srgbClr val="F9F2EA"/>
                </a:solidFill>
                <a:latin typeface="Carlito" pitchFamily="34" charset="0"/>
                <a:ea typeface="Carlito" pitchFamily="34" charset="-122"/>
                <a:cs typeface="Carlito" pitchFamily="34" charset="-120"/>
              </a:rPr>
              <a:t>account</a:t>
            </a:r>
            <a:r>
              <a:rPr lang="en-US" sz="1500" dirty="0">
                <a:solidFill>
                  <a:srgbClr val="F9F2EA"/>
                </a:solidFill>
                <a:latin typeface="Carlito" pitchFamily="34" charset="0"/>
                <a:ea typeface="Carlito" pitchFamily="34" charset="-122"/>
                <a:cs typeface="Carlito" pitchFamily="34" charset="-120"/>
              </a:rPr>
              <a:t> for them before building the tree.</a:t>
            </a:r>
            <a:endParaRPr lang="en-US" sz="1500" dirty="0"/>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8A"/>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12" name="Text 1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8A"/>
                </a:solidFill>
                <a:latin typeface="Carlito" pitchFamily="34" charset="0"/>
                <a:ea typeface="Carlito" pitchFamily="34" charset="-122"/>
                <a:cs typeface="Carlit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Detecting recombination: two families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5156200" cy="2499221"/>
          </a:xfrm>
          <a:prstGeom prst="roundRect">
            <a:avLst>
              <a:gd name="adj" fmla="val 2033"/>
            </a:avLst>
          </a:prstGeom>
          <a:solidFill>
            <a:srgbClr val="FFFFFF"/>
          </a:solidFill>
          <a:ln/>
        </p:spPr>
        <p:txBody>
          <a:bodyPr/>
          <a:lstStyle/>
          <a:p>
            <a:endParaRPr lang="en-KE"/>
          </a:p>
        </p:txBody>
      </p:sp>
      <p:sp>
        <p:nvSpPr>
          <p:cNvPr id="5" name="Shape 3"/>
          <p:cNvSpPr/>
          <p:nvPr/>
        </p:nvSpPr>
        <p:spPr>
          <a:xfrm>
            <a:off x="812800" y="1709390"/>
            <a:ext cx="5156200" cy="2499221"/>
          </a:xfrm>
          <a:custGeom>
            <a:avLst/>
            <a:gdLst/>
            <a:ahLst/>
            <a:cxnLst/>
            <a:rect l="l" t="t" r="r" b="b"/>
            <a:pathLst>
              <a:path w="5156200" h="2499221">
                <a:moveTo>
                  <a:pt x="0" y="50800"/>
                </a:moveTo>
                <a:lnTo>
                  <a:pt x="0" y="50800"/>
                </a:lnTo>
                <a:arcTo wR="50800" hR="50800" stAng="10800000" swAng="5400000"/>
                <a:lnTo>
                  <a:pt x="5105400" y="0"/>
                </a:lnTo>
                <a:arcTo wR="50800" hR="50800" stAng="16200000" swAng="5400000"/>
                <a:lnTo>
                  <a:pt x="5156200" y="50800"/>
                </a:lnTo>
                <a:lnTo>
                  <a:pt x="0" y="50800"/>
                </a:lnTo>
                <a:close/>
              </a:path>
            </a:pathLst>
          </a:custGeom>
          <a:solidFill>
            <a:srgbClr val="6B6460"/>
          </a:solidFill>
          <a:ln/>
        </p:spPr>
        <p:txBody>
          <a:bodyPr/>
          <a:lstStyle/>
          <a:p>
            <a:endParaRPr lang="en-KE"/>
          </a:p>
        </p:txBody>
      </p:sp>
      <p:sp>
        <p:nvSpPr>
          <p:cNvPr id="6" name="Text 4"/>
          <p:cNvSpPr/>
          <p:nvPr/>
        </p:nvSpPr>
        <p:spPr>
          <a:xfrm>
            <a:off x="1066800" y="1963390"/>
            <a:ext cx="478764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3A322C"/>
                </a:solidFill>
                <a:latin typeface="Carlito" pitchFamily="34" charset="0"/>
                <a:ea typeface="Carlito" pitchFamily="34" charset="-122"/>
                <a:cs typeface="Carlito" pitchFamily="34" charset="-120"/>
              </a:rPr>
              <a:t>Phylogenetic networks</a:t>
            </a:r>
            <a:endParaRPr lang="en-US" sz="1700" dirty="0"/>
          </a:p>
        </p:txBody>
      </p:sp>
      <p:sp>
        <p:nvSpPr>
          <p:cNvPr id="7" name="Text 5"/>
          <p:cNvSpPr/>
          <p:nvPr/>
        </p:nvSpPr>
        <p:spPr>
          <a:xfrm>
            <a:off x="1066800" y="2336750"/>
            <a:ext cx="4787646"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Show where the data </a:t>
            </a:r>
            <a:r>
              <a:rPr lang="en-US" sz="1400" b="1" dirty="0">
                <a:solidFill>
                  <a:srgbClr val="3A322C"/>
                </a:solidFill>
                <a:latin typeface="Carlito" pitchFamily="34" charset="0"/>
                <a:ea typeface="Carlito" pitchFamily="34" charset="-122"/>
                <a:cs typeface="Carlito" pitchFamily="34" charset="-120"/>
              </a:rPr>
              <a:t>conflict</a:t>
            </a:r>
            <a:r>
              <a:rPr lang="en-US" sz="1400" dirty="0">
                <a:solidFill>
                  <a:srgbClr val="3A322C"/>
                </a:solidFill>
                <a:latin typeface="Carlito" pitchFamily="34" charset="0"/>
                <a:ea typeface="Carlito" pitchFamily="34" charset="-122"/>
                <a:cs typeface="Carlito" pitchFamily="34" charset="-120"/>
              </a:rPr>
              <a:t> with a single tree: alternative histories to check with other methods.</a:t>
            </a:r>
            <a:endParaRPr lang="en-US" sz="1400" dirty="0"/>
          </a:p>
        </p:txBody>
      </p:sp>
      <p:sp>
        <p:nvSpPr>
          <p:cNvPr id="8" name="Text 6"/>
          <p:cNvSpPr/>
          <p:nvPr/>
        </p:nvSpPr>
        <p:spPr>
          <a:xfrm>
            <a:off x="1066800" y="2931071"/>
            <a:ext cx="4787646" cy="50542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RDP4</a:t>
            </a:r>
            <a:r>
              <a:rPr lang="en-US" sz="1400" dirty="0">
                <a:solidFill>
                  <a:srgbClr val="3A322C"/>
                </a:solidFill>
                <a:latin typeface="Carlito" pitchFamily="34" charset="0"/>
                <a:ea typeface="Carlito" pitchFamily="34" charset="-122"/>
                <a:cs typeface="Carlito" pitchFamily="34" charset="-120"/>
              </a:rPr>
              <a:t>: several algorithms, finds parents and breakpoints of recombinant sequences.</a:t>
            </a:r>
            <a:endParaRPr lang="en-US" sz="1400" dirty="0"/>
          </a:p>
        </p:txBody>
      </p:sp>
      <p:sp>
        <p:nvSpPr>
          <p:cNvPr id="9" name="Text 7"/>
          <p:cNvSpPr/>
          <p:nvPr/>
        </p:nvSpPr>
        <p:spPr>
          <a:xfrm>
            <a:off x="1066800" y="3525391"/>
            <a:ext cx="4787646"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891F15"/>
                </a:solidFill>
                <a:latin typeface="Carlito" pitchFamily="34" charset="0"/>
                <a:ea typeface="Carlito" pitchFamily="34" charset="-122"/>
                <a:cs typeface="Carlito" pitchFamily="34" charset="-120"/>
              </a:rPr>
              <a:t>Does not scale to large sets of bacterial genomes; mostly used for viruses.</a:t>
            </a:r>
            <a:endParaRPr lang="en-US" sz="1400" dirty="0"/>
          </a:p>
        </p:txBody>
      </p:sp>
      <p:sp>
        <p:nvSpPr>
          <p:cNvPr id="10" name="Shape 8"/>
          <p:cNvSpPr/>
          <p:nvPr/>
        </p:nvSpPr>
        <p:spPr>
          <a:xfrm>
            <a:off x="6223000" y="1709390"/>
            <a:ext cx="5156200" cy="2499221"/>
          </a:xfrm>
          <a:prstGeom prst="roundRect">
            <a:avLst>
              <a:gd name="adj" fmla="val 2033"/>
            </a:avLst>
          </a:prstGeom>
          <a:solidFill>
            <a:srgbClr val="FFFFFF"/>
          </a:solidFill>
          <a:ln/>
        </p:spPr>
        <p:txBody>
          <a:bodyPr/>
          <a:lstStyle/>
          <a:p>
            <a:endParaRPr lang="en-KE"/>
          </a:p>
        </p:txBody>
      </p:sp>
      <p:sp>
        <p:nvSpPr>
          <p:cNvPr id="11" name="Shape 9"/>
          <p:cNvSpPr/>
          <p:nvPr/>
        </p:nvSpPr>
        <p:spPr>
          <a:xfrm>
            <a:off x="6223000" y="1709390"/>
            <a:ext cx="5156200" cy="2499221"/>
          </a:xfrm>
          <a:custGeom>
            <a:avLst/>
            <a:gdLst/>
            <a:ahLst/>
            <a:cxnLst/>
            <a:rect l="l" t="t" r="r" b="b"/>
            <a:pathLst>
              <a:path w="5156200" h="2499221">
                <a:moveTo>
                  <a:pt x="0" y="50800"/>
                </a:moveTo>
                <a:lnTo>
                  <a:pt x="0" y="50800"/>
                </a:lnTo>
                <a:arcTo wR="50800" hR="50800" stAng="10800000" swAng="5400000"/>
                <a:lnTo>
                  <a:pt x="5105400" y="0"/>
                </a:lnTo>
                <a:arcTo wR="50800" hR="50800" stAng="16200000" swAng="5400000"/>
                <a:lnTo>
                  <a:pt x="5156200" y="50800"/>
                </a:lnTo>
                <a:lnTo>
                  <a:pt x="0" y="50800"/>
                </a:lnTo>
                <a:close/>
              </a:path>
            </a:pathLst>
          </a:custGeom>
          <a:solidFill>
            <a:srgbClr val="273003"/>
          </a:solidFill>
          <a:ln/>
        </p:spPr>
        <p:txBody>
          <a:bodyPr/>
          <a:lstStyle/>
          <a:p>
            <a:endParaRPr lang="en-KE"/>
          </a:p>
        </p:txBody>
      </p:sp>
      <p:sp>
        <p:nvSpPr>
          <p:cNvPr id="12" name="Text 10"/>
          <p:cNvSpPr/>
          <p:nvPr/>
        </p:nvSpPr>
        <p:spPr>
          <a:xfrm>
            <a:off x="6477000" y="1963390"/>
            <a:ext cx="4787646"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73003"/>
                </a:solidFill>
                <a:latin typeface="Carlito" pitchFamily="34" charset="0"/>
                <a:ea typeface="Carlito" pitchFamily="34" charset="-122"/>
                <a:cs typeface="Carlito" pitchFamily="34" charset="-120"/>
              </a:rPr>
              <a:t>Clonal-frame methods (used here)</a:t>
            </a:r>
            <a:endParaRPr lang="en-US" sz="1700" dirty="0"/>
          </a:p>
        </p:txBody>
      </p:sp>
      <p:sp>
        <p:nvSpPr>
          <p:cNvPr id="13" name="Text 11"/>
          <p:cNvSpPr/>
          <p:nvPr/>
        </p:nvSpPr>
        <p:spPr>
          <a:xfrm>
            <a:off x="6477000" y="2336750"/>
            <a:ext cx="4787646"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Model the genome as inherited along a tree (the </a:t>
            </a:r>
            <a:r>
              <a:rPr lang="en-US" sz="1400" b="1" dirty="0">
                <a:solidFill>
                  <a:srgbClr val="3A322C"/>
                </a:solidFill>
                <a:latin typeface="Carlito" pitchFamily="34" charset="0"/>
                <a:ea typeface="Carlito" pitchFamily="34" charset="-122"/>
                <a:cs typeface="Carlito" pitchFamily="34" charset="-120"/>
              </a:rPr>
              <a:t>clonal frame</a:t>
            </a:r>
            <a:r>
              <a:rPr lang="en-US" sz="1400" dirty="0">
                <a:solidFill>
                  <a:srgbClr val="3A322C"/>
                </a:solidFill>
                <a:latin typeface="Carlito" pitchFamily="34" charset="0"/>
                <a:ea typeface="Carlito" pitchFamily="34" charset="-122"/>
                <a:cs typeface="Carlito" pitchFamily="34" charset="-120"/>
              </a:rPr>
              <a:t>), with imported stretches on some branches.</a:t>
            </a:r>
            <a:endParaRPr lang="en-US" sz="1400" dirty="0"/>
          </a:p>
        </p:txBody>
      </p:sp>
      <p:sp>
        <p:nvSpPr>
          <p:cNvPr id="14" name="Text 12"/>
          <p:cNvSpPr/>
          <p:nvPr/>
        </p:nvSpPr>
        <p:spPr>
          <a:xfrm>
            <a:off x="6477000" y="2931071"/>
            <a:ext cx="4787646" cy="50542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Gubbins</a:t>
            </a:r>
            <a:r>
              <a:rPr lang="en-US" sz="1400" dirty="0">
                <a:solidFill>
                  <a:srgbClr val="3A322C"/>
                </a:solidFill>
                <a:latin typeface="Carlito" pitchFamily="34" charset="0"/>
                <a:ea typeface="Carlito" pitchFamily="34" charset="-122"/>
                <a:cs typeface="Carlito" pitchFamily="34" charset="-120"/>
              </a:rPr>
              <a:t>: finds regions where SNPs are denser than mutation explains.</a:t>
            </a:r>
            <a:endParaRPr lang="en-US" sz="1400" dirty="0"/>
          </a:p>
        </p:txBody>
      </p:sp>
      <p:sp>
        <p:nvSpPr>
          <p:cNvPr id="15" name="Text 13"/>
          <p:cNvSpPr/>
          <p:nvPr/>
        </p:nvSpPr>
        <p:spPr>
          <a:xfrm>
            <a:off x="6477000" y="3525391"/>
            <a:ext cx="4787646" cy="50542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ClonalFrameML</a:t>
            </a:r>
            <a:r>
              <a:rPr lang="en-US" sz="1400" dirty="0">
                <a:solidFill>
                  <a:srgbClr val="3A322C"/>
                </a:solidFill>
                <a:latin typeface="Carlito" pitchFamily="34" charset="0"/>
                <a:ea typeface="Carlito" pitchFamily="34" charset="-122"/>
                <a:cs typeface="Carlito" pitchFamily="34" charset="-120"/>
              </a:rPr>
              <a:t>: estimates recombination on a starting tree by maximum likelihood.</a:t>
            </a:r>
            <a:endParaRPr lang="en-US" sz="1400" dirty="0"/>
          </a:p>
        </p:txBody>
      </p:sp>
      <p:pic>
        <p:nvPicPr>
          <p:cNvPr id="16"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7" name="Text 1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18" name="Text 1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How Gubbins works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34790"/>
            <a:ext cx="2336800" cy="1391890"/>
          </a:xfrm>
          <a:prstGeom prst="roundRect">
            <a:avLst>
              <a:gd name="adj" fmla="val 5475"/>
            </a:avLst>
          </a:prstGeom>
          <a:solidFill>
            <a:srgbClr val="273003"/>
          </a:solidFill>
          <a:ln/>
        </p:spPr>
        <p:txBody>
          <a:bodyPr/>
          <a:lstStyle/>
          <a:p>
            <a:endParaRPr lang="en-KE"/>
          </a:p>
        </p:txBody>
      </p:sp>
      <p:sp>
        <p:nvSpPr>
          <p:cNvPr id="5" name="Text 3"/>
          <p:cNvSpPr/>
          <p:nvPr/>
        </p:nvSpPr>
        <p:spPr>
          <a:xfrm>
            <a:off x="990600" y="1899890"/>
            <a:ext cx="2040636"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FFCE00"/>
                </a:solidFill>
                <a:latin typeface="Carlito" pitchFamily="34" charset="0"/>
                <a:ea typeface="Carlito" pitchFamily="34" charset="-122"/>
                <a:cs typeface="Carlito" pitchFamily="34" charset="-120"/>
              </a:rPr>
              <a:t>1</a:t>
            </a:r>
            <a:endParaRPr lang="en-US" sz="2400" dirty="0"/>
          </a:p>
        </p:txBody>
      </p:sp>
      <p:sp>
        <p:nvSpPr>
          <p:cNvPr id="6" name="Text 4"/>
          <p:cNvSpPr/>
          <p:nvPr/>
        </p:nvSpPr>
        <p:spPr>
          <a:xfrm>
            <a:off x="990600" y="2268190"/>
            <a:ext cx="2040636" cy="48766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9F2EA"/>
                </a:solidFill>
                <a:latin typeface="Carlito" pitchFamily="34" charset="0"/>
                <a:ea typeface="Carlito" pitchFamily="34" charset="-122"/>
                <a:cs typeface="Carlito" pitchFamily="34" charset="-120"/>
              </a:rPr>
              <a:t>Build a tree from the whole alignment</a:t>
            </a:r>
            <a:endParaRPr lang="en-US" sz="1400" dirty="0"/>
          </a:p>
        </p:txBody>
      </p:sp>
      <p:pic>
        <p:nvPicPr>
          <p:cNvPr id="7" name="Image 0" descr="arrow-right"/>
          <p:cNvPicPr>
            <a:picLocks noChangeAspect="1"/>
          </p:cNvPicPr>
          <p:nvPr/>
        </p:nvPicPr>
        <p:blipFill>
          <a:blip r:embed="rId3"/>
          <a:srcRect/>
          <a:stretch/>
        </p:blipFill>
        <p:spPr>
          <a:xfrm>
            <a:off x="3225800" y="2354511"/>
            <a:ext cx="254000" cy="152400"/>
          </a:xfrm>
          <a:prstGeom prst="rect">
            <a:avLst/>
          </a:prstGeom>
        </p:spPr>
      </p:pic>
      <p:sp>
        <p:nvSpPr>
          <p:cNvPr id="8" name="Shape 5"/>
          <p:cNvSpPr/>
          <p:nvPr/>
        </p:nvSpPr>
        <p:spPr>
          <a:xfrm>
            <a:off x="3556000" y="1734790"/>
            <a:ext cx="2336800" cy="1391890"/>
          </a:xfrm>
          <a:prstGeom prst="roundRect">
            <a:avLst>
              <a:gd name="adj" fmla="val 5475"/>
            </a:avLst>
          </a:prstGeom>
          <a:solidFill>
            <a:srgbClr val="273003"/>
          </a:solidFill>
          <a:ln/>
        </p:spPr>
        <p:txBody>
          <a:bodyPr/>
          <a:lstStyle/>
          <a:p>
            <a:endParaRPr lang="en-KE"/>
          </a:p>
        </p:txBody>
      </p:sp>
      <p:sp>
        <p:nvSpPr>
          <p:cNvPr id="9" name="Text 6"/>
          <p:cNvSpPr/>
          <p:nvPr/>
        </p:nvSpPr>
        <p:spPr>
          <a:xfrm>
            <a:off x="3733800" y="1899890"/>
            <a:ext cx="2040636"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FFCE00"/>
                </a:solidFill>
                <a:latin typeface="Carlito" pitchFamily="34" charset="0"/>
                <a:ea typeface="Carlito" pitchFamily="34" charset="-122"/>
                <a:cs typeface="Carlito" pitchFamily="34" charset="-120"/>
              </a:rPr>
              <a:t>2</a:t>
            </a:r>
            <a:endParaRPr lang="en-US" sz="2400" dirty="0"/>
          </a:p>
        </p:txBody>
      </p:sp>
      <p:sp>
        <p:nvSpPr>
          <p:cNvPr id="10" name="Text 7"/>
          <p:cNvSpPr/>
          <p:nvPr/>
        </p:nvSpPr>
        <p:spPr>
          <a:xfrm>
            <a:off x="3733800" y="2268190"/>
            <a:ext cx="2040636"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9F2EA"/>
                </a:solidFill>
                <a:latin typeface="Carlito" pitchFamily="34" charset="0"/>
                <a:ea typeface="Carlito" pitchFamily="34" charset="-122"/>
                <a:cs typeface="Carlito" pitchFamily="34" charset="-120"/>
              </a:rPr>
              <a:t>Reconstruct the ancestors: which SNPs arose on which branch</a:t>
            </a:r>
            <a:endParaRPr lang="en-US" sz="1400" dirty="0"/>
          </a:p>
        </p:txBody>
      </p:sp>
      <p:pic>
        <p:nvPicPr>
          <p:cNvPr id="11" name="Image 1" descr="arrow-right"/>
          <p:cNvPicPr>
            <a:picLocks noChangeAspect="1"/>
          </p:cNvPicPr>
          <p:nvPr/>
        </p:nvPicPr>
        <p:blipFill>
          <a:blip r:embed="rId3"/>
          <a:srcRect/>
          <a:stretch/>
        </p:blipFill>
        <p:spPr>
          <a:xfrm>
            <a:off x="5969000" y="2354511"/>
            <a:ext cx="254000" cy="152400"/>
          </a:xfrm>
          <a:prstGeom prst="rect">
            <a:avLst/>
          </a:prstGeom>
        </p:spPr>
      </p:pic>
      <p:sp>
        <p:nvSpPr>
          <p:cNvPr id="12" name="Shape 8"/>
          <p:cNvSpPr/>
          <p:nvPr/>
        </p:nvSpPr>
        <p:spPr>
          <a:xfrm>
            <a:off x="6299200" y="1734790"/>
            <a:ext cx="2336800" cy="1391890"/>
          </a:xfrm>
          <a:prstGeom prst="roundRect">
            <a:avLst>
              <a:gd name="adj" fmla="val 5475"/>
            </a:avLst>
          </a:prstGeom>
          <a:solidFill>
            <a:srgbClr val="891F15"/>
          </a:solidFill>
          <a:ln/>
        </p:spPr>
        <p:txBody>
          <a:bodyPr/>
          <a:lstStyle/>
          <a:p>
            <a:endParaRPr lang="en-KE"/>
          </a:p>
        </p:txBody>
      </p:sp>
      <p:sp>
        <p:nvSpPr>
          <p:cNvPr id="13" name="Text 9"/>
          <p:cNvSpPr/>
          <p:nvPr/>
        </p:nvSpPr>
        <p:spPr>
          <a:xfrm>
            <a:off x="6477000" y="1899890"/>
            <a:ext cx="2040636"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FFCE00"/>
                </a:solidFill>
                <a:latin typeface="Carlito" pitchFamily="34" charset="0"/>
                <a:ea typeface="Carlito" pitchFamily="34" charset="-122"/>
                <a:cs typeface="Carlito" pitchFamily="34" charset="-120"/>
              </a:rPr>
              <a:t>3</a:t>
            </a:r>
            <a:endParaRPr lang="en-US" sz="2400" dirty="0"/>
          </a:p>
        </p:txBody>
      </p:sp>
      <p:sp>
        <p:nvSpPr>
          <p:cNvPr id="14" name="Text 10"/>
          <p:cNvSpPr/>
          <p:nvPr/>
        </p:nvSpPr>
        <p:spPr>
          <a:xfrm>
            <a:off x="6477000" y="2268190"/>
            <a:ext cx="2040636"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9F2EA"/>
                </a:solidFill>
                <a:latin typeface="Carlito" pitchFamily="34" charset="0"/>
                <a:ea typeface="Carlito" pitchFamily="34" charset="-122"/>
                <a:cs typeface="Carlito" pitchFamily="34" charset="-120"/>
              </a:rPr>
              <a:t>Scan each branch for windows with too many SNPs: recombination</a:t>
            </a:r>
            <a:endParaRPr lang="en-US" sz="1400" dirty="0"/>
          </a:p>
        </p:txBody>
      </p:sp>
      <p:pic>
        <p:nvPicPr>
          <p:cNvPr id="15" name="Image 2" descr="arrow-right"/>
          <p:cNvPicPr>
            <a:picLocks noChangeAspect="1"/>
          </p:cNvPicPr>
          <p:nvPr/>
        </p:nvPicPr>
        <p:blipFill>
          <a:blip r:embed="rId3"/>
          <a:srcRect/>
          <a:stretch/>
        </p:blipFill>
        <p:spPr>
          <a:xfrm>
            <a:off x="8712200" y="2354511"/>
            <a:ext cx="254000" cy="152400"/>
          </a:xfrm>
          <a:prstGeom prst="rect">
            <a:avLst/>
          </a:prstGeom>
        </p:spPr>
      </p:pic>
      <p:sp>
        <p:nvSpPr>
          <p:cNvPr id="16" name="Shape 11"/>
          <p:cNvSpPr/>
          <p:nvPr/>
        </p:nvSpPr>
        <p:spPr>
          <a:xfrm>
            <a:off x="9042400" y="1734790"/>
            <a:ext cx="2336800" cy="1391890"/>
          </a:xfrm>
          <a:prstGeom prst="roundRect">
            <a:avLst>
              <a:gd name="adj" fmla="val 5475"/>
            </a:avLst>
          </a:prstGeom>
          <a:solidFill>
            <a:srgbClr val="273003"/>
          </a:solidFill>
          <a:ln/>
        </p:spPr>
        <p:txBody>
          <a:bodyPr/>
          <a:lstStyle/>
          <a:p>
            <a:endParaRPr lang="en-KE"/>
          </a:p>
        </p:txBody>
      </p:sp>
      <p:sp>
        <p:nvSpPr>
          <p:cNvPr id="17" name="Text 12"/>
          <p:cNvSpPr/>
          <p:nvPr/>
        </p:nvSpPr>
        <p:spPr>
          <a:xfrm>
            <a:off x="9220200" y="1899890"/>
            <a:ext cx="2040636"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FFCE00"/>
                </a:solidFill>
                <a:latin typeface="Carlito" pitchFamily="34" charset="0"/>
                <a:ea typeface="Carlito" pitchFamily="34" charset="-122"/>
                <a:cs typeface="Carlito" pitchFamily="34" charset="-120"/>
              </a:rPr>
              <a:t>4</a:t>
            </a:r>
            <a:endParaRPr lang="en-US" sz="2400" dirty="0"/>
          </a:p>
        </p:txBody>
      </p:sp>
      <p:sp>
        <p:nvSpPr>
          <p:cNvPr id="18" name="Text 13"/>
          <p:cNvSpPr/>
          <p:nvPr/>
        </p:nvSpPr>
        <p:spPr>
          <a:xfrm>
            <a:off x="9220200" y="2268190"/>
            <a:ext cx="2040636" cy="718790"/>
          </a:xfrm>
          <a:prstGeom prst="rect">
            <a:avLst/>
          </a:prstGeom>
          <a:noFill/>
          <a:ln/>
        </p:spPr>
        <p:txBody>
          <a:bodyPr wrap="square" lIns="0" tIns="0" rIns="0" bIns="0" rtlCol="0" anchor="t">
            <a:normAutofit/>
          </a:bodyPr>
          <a:lstStyle/>
          <a:p>
            <a:pPr marL="0" indent="0" algn="l">
              <a:lnSpc>
                <a:spcPts val="1820"/>
              </a:lnSpc>
              <a:buNone/>
            </a:pPr>
            <a:r>
              <a:rPr lang="en-US" sz="1400" dirty="0">
                <a:solidFill>
                  <a:srgbClr val="F9F2EA"/>
                </a:solidFill>
                <a:latin typeface="Carlito" pitchFamily="34" charset="0"/>
                <a:ea typeface="Carlito" pitchFamily="34" charset="-122"/>
                <a:cs typeface="Carlito" pitchFamily="34" charset="-120"/>
              </a:rPr>
              <a:t>Mask them, rebuild the tree; repeat until it stops changing</a:t>
            </a:r>
            <a:endParaRPr lang="en-US" sz="1400" dirty="0"/>
          </a:p>
        </p:txBody>
      </p:sp>
      <p:sp>
        <p:nvSpPr>
          <p:cNvPr id="19" name="Shape 14"/>
          <p:cNvSpPr/>
          <p:nvPr/>
        </p:nvSpPr>
        <p:spPr>
          <a:xfrm>
            <a:off x="838200" y="3406080"/>
            <a:ext cx="0" cy="615950"/>
          </a:xfrm>
          <a:prstGeom prst="line">
            <a:avLst/>
          </a:prstGeom>
          <a:noFill/>
          <a:ln w="50800">
            <a:solidFill>
              <a:srgbClr val="891F15"/>
            </a:solidFill>
            <a:prstDash val="solid"/>
          </a:ln>
        </p:spPr>
        <p:txBody>
          <a:bodyPr/>
          <a:lstStyle/>
          <a:p>
            <a:endParaRPr lang="en-KE"/>
          </a:p>
        </p:txBody>
      </p:sp>
      <p:sp>
        <p:nvSpPr>
          <p:cNvPr id="20" name="Text 15"/>
          <p:cNvSpPr/>
          <p:nvPr/>
        </p:nvSpPr>
        <p:spPr>
          <a:xfrm>
            <a:off x="1041400" y="3456880"/>
            <a:ext cx="10647934"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The result: SNPs </a:t>
            </a:r>
            <a:r>
              <a:rPr lang="en-US" sz="1500" b="1" dirty="0">
                <a:solidFill>
                  <a:srgbClr val="3A322C"/>
                </a:solidFill>
                <a:latin typeface="Carlito" pitchFamily="34" charset="0"/>
                <a:ea typeface="Carlito" pitchFamily="34" charset="-122"/>
                <a:cs typeface="Carlito" pitchFamily="34" charset="-120"/>
              </a:rPr>
              <a:t>outside</a:t>
            </a:r>
            <a:r>
              <a:rPr lang="en-US" sz="1500" dirty="0">
                <a:solidFill>
                  <a:srgbClr val="3A322C"/>
                </a:solidFill>
                <a:latin typeface="Carlito" pitchFamily="34" charset="0"/>
                <a:ea typeface="Carlito" pitchFamily="34" charset="-122"/>
                <a:cs typeface="Carlito" pitchFamily="34" charset="-120"/>
              </a:rPr>
              <a:t> recombination, a tree built from them, and a map of </a:t>
            </a:r>
            <a:r>
              <a:rPr lang="en-US" sz="1500" b="1" dirty="0">
                <a:solidFill>
                  <a:srgbClr val="3A322C"/>
                </a:solidFill>
                <a:latin typeface="Carlito" pitchFamily="34" charset="0"/>
                <a:ea typeface="Carlito" pitchFamily="34" charset="-122"/>
                <a:cs typeface="Carlito" pitchFamily="34" charset="-120"/>
              </a:rPr>
              <a:t>where and on which branch</a:t>
            </a:r>
            <a:r>
              <a:rPr lang="en-US" sz="1500" dirty="0">
                <a:solidFill>
                  <a:srgbClr val="3A322C"/>
                </a:solidFill>
                <a:latin typeface="Carlito" pitchFamily="34" charset="0"/>
                <a:ea typeface="Carlito" pitchFamily="34" charset="-122"/>
                <a:cs typeface="Carlito" pitchFamily="34" charset="-120"/>
              </a:rPr>
              <a:t> each recombination happened.</a:t>
            </a:r>
            <a:endParaRPr lang="en-US" sz="1500" dirty="0"/>
          </a:p>
        </p:txBody>
      </p:sp>
      <p:pic>
        <p:nvPicPr>
          <p:cNvPr id="21" name="Image 3"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22" name="Text 1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23" name="Text 1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Gubbins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58590"/>
            <a:ext cx="10566400" cy="1371402"/>
          </a:xfrm>
          <a:prstGeom prst="roundRect">
            <a:avLst>
              <a:gd name="adj" fmla="val 5556"/>
            </a:avLst>
          </a:prstGeom>
          <a:solidFill>
            <a:srgbClr val="273003"/>
          </a:solidFill>
          <a:ln/>
        </p:spPr>
        <p:txBody>
          <a:bodyPr wrap="square" lIns="206282" tIns="130082" rIns="0" bIns="1046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run_gubbins.py --prefix ST39 --threads $THREADS clean.full.aln</a:t>
            </a:r>
            <a:endParaRPr lang="en-US" sz="1200" dirty="0"/>
          </a:p>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How many recombination events, and how many SNPs did they carry?</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grep -vc "^#" ST39.recombination_predictions.gff</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awk -F'\t' 'NR&gt;1 {inr+=$3; outr+=$4} END {print "SNPs outside:", outr, " inside:", inr}'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ST39.per_branch_statistics.csv</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3245892"/>
          <a:ext cx="10553700" cy="1930055"/>
        </p:xfrm>
        <a:graphic>
          <a:graphicData uri="http://schemas.openxmlformats.org/drawingml/2006/table">
            <a:tbl>
              <a:tblPr/>
              <a:tblGrid>
                <a:gridCol w="4854702">
                  <a:extLst>
                    <a:ext uri="{9D8B030D-6E8A-4147-A177-3AD203B41FA5}">
                      <a16:colId xmlns:a16="http://schemas.microsoft.com/office/drawing/2014/main" val="20000"/>
                    </a:ext>
                  </a:extLst>
                </a:gridCol>
                <a:gridCol w="5698998">
                  <a:extLst>
                    <a:ext uri="{9D8B030D-6E8A-4147-A177-3AD203B41FA5}">
                      <a16:colId xmlns:a16="http://schemas.microsoft.com/office/drawing/2014/main" val="20001"/>
                    </a:ext>
                  </a:extLst>
                </a:gridCol>
              </a:tblGrid>
              <a:tr h="386011">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File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Contents</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ST39.recombination_predictions.gff</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Where recombination was found, and on which branch</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ST39.filtered_polymorphic_sites.fasta</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SNP alignment with recombination removed</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ST39.final_tree.tre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Gubbins' own tree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ST39.per_branch_statistics.csv</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SNPs inside and outside recombination, per branch</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4"/>
                  </a:ext>
                </a:extLst>
              </a:tr>
            </a:tbl>
          </a:graphicData>
        </a:graphic>
      </p:graphicFrame>
      <p:pic>
        <p:nvPicPr>
          <p:cNvPr id="6"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7"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8"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CE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372600" y="914400"/>
            <a:ext cx="2819400" cy="52197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891F15"/>
                </a:solidFill>
                <a:latin typeface="Carlito" pitchFamily="34" charset="0"/>
                <a:ea typeface="Carlito" pitchFamily="34" charset="-122"/>
                <a:cs typeface="Carlito" pitchFamily="34" charset="-120"/>
              </a:rPr>
              <a:t>DAY 6 · SESSION 3 · 13:30–15:00</a:t>
            </a:r>
            <a:endParaRPr lang="en-US" sz="1600" dirty="0"/>
          </a:p>
        </p:txBody>
      </p:sp>
      <p:sp>
        <p:nvSpPr>
          <p:cNvPr id="4" name="Text 1"/>
          <p:cNvSpPr>
            <a:spLocks noGrp="1"/>
          </p:cNvSpPr>
          <p:nvPr>
            <p:ph type="title"/>
          </p:nvPr>
        </p:nvSpPr>
        <p:spPr>
          <a:xfrm>
            <a:off x="0" y="3086100"/>
            <a:ext cx="1255776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6D2637"/>
                </a:solidFill>
                <a:latin typeface="Carlito" pitchFamily="34" charset="0"/>
                <a:ea typeface="Carlito" pitchFamily="34" charset="-122"/>
                <a:cs typeface="Carlito" pitchFamily="34" charset="-120"/>
              </a:rPr>
              <a:t>Maximum-likelihood trees</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5A1F2E"/>
                </a:solidFill>
                <a:latin typeface="Carlito" pitchFamily="34" charset="0"/>
                <a:ea typeface="Carlito" pitchFamily="34" charset="-122"/>
                <a:cs typeface="Carlito" pitchFamily="34" charset="-120"/>
              </a:rPr>
              <a:t>Building and reading a tree with IQ-TREE</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D2637"/>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637"/>
                </a:solidFill>
                <a:latin typeface="Carlito" pitchFamily="34" charset="0"/>
                <a:ea typeface="Carlito" pitchFamily="34" charset="-122"/>
                <a:cs typeface="Carlito"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IQ-TREE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83990"/>
            <a:ext cx="10566400" cy="944761"/>
          </a:xfrm>
          <a:prstGeom prst="roundRect">
            <a:avLst>
              <a:gd name="adj" fmla="val 8066"/>
            </a:avLst>
          </a:prstGeom>
          <a:solidFill>
            <a:srgbClr val="273003"/>
          </a:solidFill>
          <a:ln/>
        </p:spPr>
        <p:txBody>
          <a:bodyPr wrap="square" lIns="206282" tIns="130082" rIns="0" bIns="1046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snp-sites -c ST39.filtered_polymorphic_sites.fasta &gt; ST39.core_snps.fasta</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iqtree -s ST39.core_snps.fasta -m GTR+G+ASC -B 1000 -T $THREADS --prefix ST39</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ls ST39.treefile ST39.contree    </a:t>
            </a:r>
            <a:r>
              <a:rPr lang="en-US" sz="1200" dirty="0">
                <a:solidFill>
                  <a:srgbClr val="C2CA6E"/>
                </a:solidFill>
                <a:latin typeface="JetBrains Mono" pitchFamily="49" charset="0"/>
                <a:ea typeface="JetBrains Mono" pitchFamily="49" charset="-122"/>
                <a:cs typeface="JetBrains Mono" pitchFamily="49" charset="-120"/>
              </a:rPr>
              <a:t># older installs: iqtree2</a:t>
            </a:r>
            <a:endParaRPr lang="en-US" sz="1200" dirty="0"/>
          </a:p>
        </p:txBody>
      </p:sp>
      <p:sp>
        <p:nvSpPr>
          <p:cNvPr id="5" name="Shape 3"/>
          <p:cNvSpPr/>
          <p:nvPr/>
        </p:nvSpPr>
        <p:spPr>
          <a:xfrm>
            <a:off x="812800" y="2857351"/>
            <a:ext cx="5207000" cy="766366"/>
          </a:xfrm>
          <a:prstGeom prst="roundRect">
            <a:avLst>
              <a:gd name="adj" fmla="val 6629"/>
            </a:avLst>
          </a:prstGeom>
          <a:solidFill>
            <a:srgbClr val="FFFFFF"/>
          </a:solidFill>
          <a:ln/>
        </p:spPr>
        <p:txBody>
          <a:bodyPr/>
          <a:lstStyle/>
          <a:p>
            <a:endParaRPr lang="en-KE"/>
          </a:p>
        </p:txBody>
      </p:sp>
      <p:sp>
        <p:nvSpPr>
          <p:cNvPr id="6" name="Shape 4"/>
          <p:cNvSpPr/>
          <p:nvPr/>
        </p:nvSpPr>
        <p:spPr>
          <a:xfrm>
            <a:off x="812800" y="2857351"/>
            <a:ext cx="5207000" cy="766366"/>
          </a:xfrm>
          <a:custGeom>
            <a:avLst/>
            <a:gdLst/>
            <a:ahLst/>
            <a:cxnLst/>
            <a:rect l="l" t="t" r="r" b="b"/>
            <a:pathLst>
              <a:path w="5207000" h="766366">
                <a:moveTo>
                  <a:pt x="50800" y="766366"/>
                </a:moveTo>
                <a:lnTo>
                  <a:pt x="50800" y="766366"/>
                </a:lnTo>
                <a:arcTo wR="50800" hR="50800" stAng="5400000" swAng="5400000"/>
                <a:lnTo>
                  <a:pt x="0" y="50800"/>
                </a:lnTo>
                <a:arcTo wR="50800" hR="50800" stAng="10800000" swAng="5400000"/>
                <a:lnTo>
                  <a:pt x="50800" y="0"/>
                </a:lnTo>
                <a:lnTo>
                  <a:pt x="50800" y="766366"/>
                </a:lnTo>
                <a:close/>
              </a:path>
            </a:pathLst>
          </a:custGeom>
          <a:solidFill>
            <a:srgbClr val="891F15"/>
          </a:solidFill>
          <a:ln/>
        </p:spPr>
        <p:txBody>
          <a:bodyPr/>
          <a:lstStyle/>
          <a:p>
            <a:endParaRPr lang="en-KE"/>
          </a:p>
        </p:txBody>
      </p:sp>
      <p:sp>
        <p:nvSpPr>
          <p:cNvPr id="7" name="Text 5"/>
          <p:cNvSpPr/>
          <p:nvPr/>
        </p:nvSpPr>
        <p:spPr>
          <a:xfrm>
            <a:off x="1041400" y="2997051"/>
            <a:ext cx="49446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891F15"/>
                </a:solidFill>
                <a:latin typeface="Carlito" pitchFamily="34" charset="0"/>
                <a:ea typeface="Carlito" pitchFamily="34" charset="-122"/>
                <a:cs typeface="Carlito" pitchFamily="34" charset="-120"/>
              </a:rPr>
              <a:t>snp-sites -c</a:t>
            </a:r>
            <a:endParaRPr lang="en-US" sz="1400" dirty="0"/>
          </a:p>
        </p:txBody>
      </p:sp>
      <p:sp>
        <p:nvSpPr>
          <p:cNvPr id="8" name="Text 6"/>
          <p:cNvSpPr/>
          <p:nvPr/>
        </p:nvSpPr>
        <p:spPr>
          <a:xfrm>
            <a:off x="1041400" y="3261171"/>
            <a:ext cx="494461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Keeps only variable sites with A, C, G or T in every isolate.</a:t>
            </a:r>
            <a:endParaRPr lang="en-US" sz="1300" dirty="0"/>
          </a:p>
        </p:txBody>
      </p:sp>
      <p:sp>
        <p:nvSpPr>
          <p:cNvPr id="9" name="Shape 7"/>
          <p:cNvSpPr/>
          <p:nvPr/>
        </p:nvSpPr>
        <p:spPr>
          <a:xfrm>
            <a:off x="6172200" y="2857351"/>
            <a:ext cx="5207000" cy="766366"/>
          </a:xfrm>
          <a:prstGeom prst="roundRect">
            <a:avLst>
              <a:gd name="adj" fmla="val 6629"/>
            </a:avLst>
          </a:prstGeom>
          <a:solidFill>
            <a:srgbClr val="FFFFFF"/>
          </a:solidFill>
          <a:ln/>
        </p:spPr>
        <p:txBody>
          <a:bodyPr/>
          <a:lstStyle/>
          <a:p>
            <a:endParaRPr lang="en-KE"/>
          </a:p>
        </p:txBody>
      </p:sp>
      <p:sp>
        <p:nvSpPr>
          <p:cNvPr id="10" name="Shape 8"/>
          <p:cNvSpPr/>
          <p:nvPr/>
        </p:nvSpPr>
        <p:spPr>
          <a:xfrm>
            <a:off x="6172200" y="2857351"/>
            <a:ext cx="5207000" cy="766366"/>
          </a:xfrm>
          <a:custGeom>
            <a:avLst/>
            <a:gdLst/>
            <a:ahLst/>
            <a:cxnLst/>
            <a:rect l="l" t="t" r="r" b="b"/>
            <a:pathLst>
              <a:path w="5207000" h="766366">
                <a:moveTo>
                  <a:pt x="50800" y="766366"/>
                </a:moveTo>
                <a:lnTo>
                  <a:pt x="50800" y="766366"/>
                </a:lnTo>
                <a:arcTo wR="50800" hR="50800" stAng="5400000" swAng="5400000"/>
                <a:lnTo>
                  <a:pt x="0" y="50800"/>
                </a:lnTo>
                <a:arcTo wR="50800" hR="50800" stAng="10800000" swAng="5400000"/>
                <a:lnTo>
                  <a:pt x="50800" y="0"/>
                </a:lnTo>
                <a:lnTo>
                  <a:pt x="50800" y="766366"/>
                </a:lnTo>
                <a:close/>
              </a:path>
            </a:pathLst>
          </a:custGeom>
          <a:solidFill>
            <a:srgbClr val="891F15"/>
          </a:solidFill>
          <a:ln/>
        </p:spPr>
        <p:txBody>
          <a:bodyPr/>
          <a:lstStyle/>
          <a:p>
            <a:endParaRPr lang="en-KE"/>
          </a:p>
        </p:txBody>
      </p:sp>
      <p:sp>
        <p:nvSpPr>
          <p:cNvPr id="11" name="Text 9"/>
          <p:cNvSpPr/>
          <p:nvPr/>
        </p:nvSpPr>
        <p:spPr>
          <a:xfrm>
            <a:off x="6400800" y="2997051"/>
            <a:ext cx="49446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891F15"/>
                </a:solidFill>
                <a:latin typeface="Carlito" pitchFamily="34" charset="0"/>
                <a:ea typeface="Carlito" pitchFamily="34" charset="-122"/>
                <a:cs typeface="Carlito" pitchFamily="34" charset="-120"/>
              </a:rPr>
              <a:t>GTR+G</a:t>
            </a:r>
            <a:endParaRPr lang="en-US" sz="1400" dirty="0"/>
          </a:p>
        </p:txBody>
      </p:sp>
      <p:sp>
        <p:nvSpPr>
          <p:cNvPr id="12" name="Text 10"/>
          <p:cNvSpPr/>
          <p:nvPr/>
        </p:nvSpPr>
        <p:spPr>
          <a:xfrm>
            <a:off x="6400800" y="3261171"/>
            <a:ext cx="4978400"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How bases change: a general model, with rates varying between sites.</a:t>
            </a:r>
            <a:endParaRPr lang="en-US" sz="1300" dirty="0"/>
          </a:p>
        </p:txBody>
      </p:sp>
      <p:sp>
        <p:nvSpPr>
          <p:cNvPr id="13" name="Shape 11"/>
          <p:cNvSpPr/>
          <p:nvPr/>
        </p:nvSpPr>
        <p:spPr>
          <a:xfrm>
            <a:off x="812800" y="3776117"/>
            <a:ext cx="5207000" cy="989211"/>
          </a:xfrm>
          <a:prstGeom prst="roundRect">
            <a:avLst>
              <a:gd name="adj" fmla="val 5135"/>
            </a:avLst>
          </a:prstGeom>
          <a:solidFill>
            <a:srgbClr val="FFFFFF"/>
          </a:solidFill>
          <a:ln/>
        </p:spPr>
        <p:txBody>
          <a:bodyPr/>
          <a:lstStyle/>
          <a:p>
            <a:endParaRPr lang="en-KE"/>
          </a:p>
        </p:txBody>
      </p:sp>
      <p:sp>
        <p:nvSpPr>
          <p:cNvPr id="14" name="Shape 12"/>
          <p:cNvSpPr/>
          <p:nvPr/>
        </p:nvSpPr>
        <p:spPr>
          <a:xfrm>
            <a:off x="812800" y="3776117"/>
            <a:ext cx="5207000" cy="989211"/>
          </a:xfrm>
          <a:custGeom>
            <a:avLst/>
            <a:gdLst/>
            <a:ahLst/>
            <a:cxnLst/>
            <a:rect l="l" t="t" r="r" b="b"/>
            <a:pathLst>
              <a:path w="5207000" h="989211">
                <a:moveTo>
                  <a:pt x="50800" y="989211"/>
                </a:moveTo>
                <a:lnTo>
                  <a:pt x="50800" y="989211"/>
                </a:lnTo>
                <a:arcTo wR="50800" hR="50800" stAng="5400000" swAng="5400000"/>
                <a:lnTo>
                  <a:pt x="0" y="50800"/>
                </a:lnTo>
                <a:arcTo wR="50800" hR="50800" stAng="10800000" swAng="5400000"/>
                <a:lnTo>
                  <a:pt x="50800" y="0"/>
                </a:lnTo>
                <a:lnTo>
                  <a:pt x="50800" y="989211"/>
                </a:lnTo>
                <a:close/>
              </a:path>
            </a:pathLst>
          </a:custGeom>
          <a:solidFill>
            <a:srgbClr val="273003"/>
          </a:solidFill>
          <a:ln/>
        </p:spPr>
        <p:txBody>
          <a:bodyPr/>
          <a:lstStyle/>
          <a:p>
            <a:endParaRPr lang="en-KE"/>
          </a:p>
        </p:txBody>
      </p:sp>
      <p:sp>
        <p:nvSpPr>
          <p:cNvPr id="15" name="Text 13"/>
          <p:cNvSpPr/>
          <p:nvPr/>
        </p:nvSpPr>
        <p:spPr>
          <a:xfrm>
            <a:off x="1041400" y="3915817"/>
            <a:ext cx="49446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73003"/>
                </a:solidFill>
                <a:latin typeface="Carlito" pitchFamily="34" charset="0"/>
                <a:ea typeface="Carlito" pitchFamily="34" charset="-122"/>
                <a:cs typeface="Carlito" pitchFamily="34" charset="-120"/>
              </a:rPr>
              <a:t>+ASC</a:t>
            </a:r>
            <a:endParaRPr lang="en-US" sz="1400" dirty="0"/>
          </a:p>
        </p:txBody>
      </p:sp>
      <p:sp>
        <p:nvSpPr>
          <p:cNvPr id="16" name="Text 14"/>
          <p:cNvSpPr/>
          <p:nvPr/>
        </p:nvSpPr>
        <p:spPr>
          <a:xfrm>
            <a:off x="1041400" y="4179937"/>
            <a:ext cx="494461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Corrects for using only variable sites, so branch lengths are not overestimated.</a:t>
            </a:r>
            <a:endParaRPr lang="en-US" sz="1300" dirty="0"/>
          </a:p>
        </p:txBody>
      </p:sp>
      <p:sp>
        <p:nvSpPr>
          <p:cNvPr id="17" name="Shape 15"/>
          <p:cNvSpPr/>
          <p:nvPr/>
        </p:nvSpPr>
        <p:spPr>
          <a:xfrm>
            <a:off x="6172200" y="3776117"/>
            <a:ext cx="5207000" cy="989211"/>
          </a:xfrm>
          <a:prstGeom prst="roundRect">
            <a:avLst>
              <a:gd name="adj" fmla="val 5135"/>
            </a:avLst>
          </a:prstGeom>
          <a:solidFill>
            <a:srgbClr val="FFFFFF"/>
          </a:solidFill>
          <a:ln/>
        </p:spPr>
        <p:txBody>
          <a:bodyPr/>
          <a:lstStyle/>
          <a:p>
            <a:endParaRPr lang="en-KE"/>
          </a:p>
        </p:txBody>
      </p:sp>
      <p:sp>
        <p:nvSpPr>
          <p:cNvPr id="18" name="Shape 16"/>
          <p:cNvSpPr/>
          <p:nvPr/>
        </p:nvSpPr>
        <p:spPr>
          <a:xfrm>
            <a:off x="6172200" y="3776117"/>
            <a:ext cx="5207000" cy="989211"/>
          </a:xfrm>
          <a:custGeom>
            <a:avLst/>
            <a:gdLst/>
            <a:ahLst/>
            <a:cxnLst/>
            <a:rect l="l" t="t" r="r" b="b"/>
            <a:pathLst>
              <a:path w="5207000" h="989211">
                <a:moveTo>
                  <a:pt x="50800" y="989211"/>
                </a:moveTo>
                <a:lnTo>
                  <a:pt x="50800" y="989211"/>
                </a:lnTo>
                <a:arcTo wR="50800" hR="50800" stAng="5400000" swAng="5400000"/>
                <a:lnTo>
                  <a:pt x="0" y="50800"/>
                </a:lnTo>
                <a:arcTo wR="50800" hR="50800" stAng="10800000" swAng="5400000"/>
                <a:lnTo>
                  <a:pt x="50800" y="0"/>
                </a:lnTo>
                <a:lnTo>
                  <a:pt x="50800" y="989211"/>
                </a:lnTo>
                <a:close/>
              </a:path>
            </a:pathLst>
          </a:custGeom>
          <a:solidFill>
            <a:srgbClr val="273003"/>
          </a:solidFill>
          <a:ln/>
        </p:spPr>
        <p:txBody>
          <a:bodyPr/>
          <a:lstStyle/>
          <a:p>
            <a:endParaRPr lang="en-KE"/>
          </a:p>
        </p:txBody>
      </p:sp>
      <p:sp>
        <p:nvSpPr>
          <p:cNvPr id="19" name="Text 17"/>
          <p:cNvSpPr/>
          <p:nvPr/>
        </p:nvSpPr>
        <p:spPr>
          <a:xfrm>
            <a:off x="6400800" y="3915817"/>
            <a:ext cx="4944618"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73003"/>
                </a:solidFill>
                <a:latin typeface="Carlito" pitchFamily="34" charset="0"/>
                <a:ea typeface="Carlito" pitchFamily="34" charset="-122"/>
                <a:cs typeface="Carlito" pitchFamily="34" charset="-120"/>
              </a:rPr>
              <a:t>-B 1000</a:t>
            </a:r>
            <a:endParaRPr lang="en-US" sz="1400" dirty="0"/>
          </a:p>
        </p:txBody>
      </p:sp>
      <p:sp>
        <p:nvSpPr>
          <p:cNvPr id="20" name="Text 18"/>
          <p:cNvSpPr/>
          <p:nvPr/>
        </p:nvSpPr>
        <p:spPr>
          <a:xfrm>
            <a:off x="6400800" y="4179937"/>
            <a:ext cx="4944618"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1000 ultrafast bootstraps: support for each branch.</a:t>
            </a:r>
            <a:endParaRPr lang="en-US" sz="1300" dirty="0"/>
          </a:p>
        </p:txBody>
      </p:sp>
      <p:pic>
        <p:nvPicPr>
          <p:cNvPr id="21"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22" name="Text 1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23" name="Text 2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Reading the tree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38200" y="1709390"/>
            <a:ext cx="0" cy="774650"/>
          </a:xfrm>
          <a:prstGeom prst="line">
            <a:avLst/>
          </a:prstGeom>
          <a:noFill/>
          <a:ln w="50800">
            <a:solidFill>
              <a:srgbClr val="891F15"/>
            </a:solidFill>
            <a:prstDash val="solid"/>
          </a:ln>
        </p:spPr>
        <p:txBody>
          <a:bodyPr/>
          <a:lstStyle/>
          <a:p>
            <a:endParaRPr lang="en-KE"/>
          </a:p>
        </p:txBody>
      </p:sp>
      <p:sp>
        <p:nvSpPr>
          <p:cNvPr id="5" name="Text 3"/>
          <p:cNvSpPr/>
          <p:nvPr/>
        </p:nvSpPr>
        <p:spPr>
          <a:xfrm>
            <a:off x="1016000" y="1709390"/>
            <a:ext cx="523240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Tips</a:t>
            </a:r>
            <a:endParaRPr lang="en-US" sz="1600" dirty="0"/>
          </a:p>
        </p:txBody>
      </p:sp>
      <p:sp>
        <p:nvSpPr>
          <p:cNvPr id="6" name="Text 4"/>
          <p:cNvSpPr/>
          <p:nvPr/>
        </p:nvSpPr>
        <p:spPr>
          <a:xfrm>
            <a:off x="1016000" y="2004020"/>
            <a:ext cx="523240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The isolates, plus a tip called </a:t>
            </a:r>
            <a:r>
              <a:rPr lang="en-US" sz="1400" b="1" dirty="0">
                <a:solidFill>
                  <a:srgbClr val="3A322C"/>
                </a:solidFill>
                <a:latin typeface="Carlito" pitchFamily="34" charset="0"/>
                <a:ea typeface="Carlito" pitchFamily="34" charset="-122"/>
                <a:cs typeface="Carlito" pitchFamily="34" charset="-120"/>
              </a:rPr>
              <a:t>Reference</a:t>
            </a:r>
            <a:r>
              <a:rPr lang="en-US" sz="1400" dirty="0">
                <a:solidFill>
                  <a:srgbClr val="3A322C"/>
                </a:solidFill>
                <a:latin typeface="Carlito" pitchFamily="34" charset="0"/>
                <a:ea typeface="Carlito" pitchFamily="34" charset="-122"/>
                <a:cs typeface="Carlito" pitchFamily="34" charset="-120"/>
              </a:rPr>
              <a:t> from Snippy.</a:t>
            </a:r>
            <a:endParaRPr lang="en-US" sz="1400" dirty="0"/>
          </a:p>
        </p:txBody>
      </p:sp>
      <p:sp>
        <p:nvSpPr>
          <p:cNvPr id="7" name="Shape 5"/>
          <p:cNvSpPr/>
          <p:nvPr/>
        </p:nvSpPr>
        <p:spPr>
          <a:xfrm>
            <a:off x="6121400" y="1709390"/>
            <a:ext cx="0" cy="774650"/>
          </a:xfrm>
          <a:prstGeom prst="line">
            <a:avLst/>
          </a:prstGeom>
          <a:noFill/>
          <a:ln w="50800">
            <a:solidFill>
              <a:srgbClr val="891F15"/>
            </a:solidFill>
            <a:prstDash val="solid"/>
          </a:ln>
        </p:spPr>
        <p:txBody>
          <a:bodyPr/>
          <a:lstStyle/>
          <a:p>
            <a:endParaRPr lang="en-KE"/>
          </a:p>
        </p:txBody>
      </p:sp>
      <p:sp>
        <p:nvSpPr>
          <p:cNvPr id="8" name="Text 6"/>
          <p:cNvSpPr/>
          <p:nvPr/>
        </p:nvSpPr>
        <p:spPr>
          <a:xfrm>
            <a:off x="6299200" y="1709390"/>
            <a:ext cx="523240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Branch length</a:t>
            </a:r>
            <a:endParaRPr lang="en-US" sz="1600" dirty="0"/>
          </a:p>
        </p:txBody>
      </p:sp>
      <p:sp>
        <p:nvSpPr>
          <p:cNvPr id="9" name="Text 7"/>
          <p:cNvSpPr/>
          <p:nvPr/>
        </p:nvSpPr>
        <p:spPr>
          <a:xfrm>
            <a:off x="6299200" y="2004020"/>
            <a:ext cx="523240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Amount of change: read it from the scale bar. Short branches = few SNPs.</a:t>
            </a:r>
            <a:endParaRPr lang="en-US" sz="1400" dirty="0"/>
          </a:p>
        </p:txBody>
      </p:sp>
      <p:sp>
        <p:nvSpPr>
          <p:cNvPr id="10" name="Shape 8"/>
          <p:cNvSpPr/>
          <p:nvPr/>
        </p:nvSpPr>
        <p:spPr>
          <a:xfrm>
            <a:off x="838200" y="2484041"/>
            <a:ext cx="0" cy="774650"/>
          </a:xfrm>
          <a:prstGeom prst="line">
            <a:avLst/>
          </a:prstGeom>
          <a:noFill/>
          <a:ln w="50800">
            <a:solidFill>
              <a:srgbClr val="273003"/>
            </a:solidFill>
            <a:prstDash val="solid"/>
          </a:ln>
        </p:spPr>
        <p:txBody>
          <a:bodyPr/>
          <a:lstStyle/>
          <a:p>
            <a:endParaRPr lang="en-KE"/>
          </a:p>
        </p:txBody>
      </p:sp>
      <p:sp>
        <p:nvSpPr>
          <p:cNvPr id="11" name="Text 9"/>
          <p:cNvSpPr/>
          <p:nvPr/>
        </p:nvSpPr>
        <p:spPr>
          <a:xfrm>
            <a:off x="1016000" y="2484041"/>
            <a:ext cx="523240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73003"/>
                </a:solidFill>
                <a:latin typeface="Carlito" pitchFamily="34" charset="0"/>
                <a:ea typeface="Carlito" pitchFamily="34" charset="-122"/>
                <a:cs typeface="Carlito" pitchFamily="34" charset="-120"/>
              </a:rPr>
              <a:t>Support</a:t>
            </a:r>
            <a:endParaRPr lang="en-US" sz="1600" dirty="0"/>
          </a:p>
        </p:txBody>
      </p:sp>
      <p:sp>
        <p:nvSpPr>
          <p:cNvPr id="12" name="Text 10"/>
          <p:cNvSpPr/>
          <p:nvPr/>
        </p:nvSpPr>
        <p:spPr>
          <a:xfrm>
            <a:off x="1016000" y="2778671"/>
            <a:ext cx="523240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Ultrafast bootstrap of </a:t>
            </a:r>
            <a:r>
              <a:rPr lang="en-US" sz="1400" b="1" dirty="0">
                <a:solidFill>
                  <a:srgbClr val="3A322C"/>
                </a:solidFill>
                <a:latin typeface="Carlito" pitchFamily="34" charset="0"/>
                <a:ea typeface="Carlito" pitchFamily="34" charset="-122"/>
                <a:cs typeface="Carlito" pitchFamily="34" charset="-120"/>
              </a:rPr>
              <a:t>95 or more</a:t>
            </a:r>
            <a:r>
              <a:rPr lang="en-US" sz="1400" dirty="0">
                <a:solidFill>
                  <a:srgbClr val="3A322C"/>
                </a:solidFill>
                <a:latin typeface="Carlito" pitchFamily="34" charset="0"/>
                <a:ea typeface="Carlito" pitchFamily="34" charset="-122"/>
                <a:cs typeface="Carlito" pitchFamily="34" charset="-120"/>
              </a:rPr>
              <a:t>: a well-supported branch.</a:t>
            </a:r>
            <a:endParaRPr lang="en-US" sz="1400" dirty="0"/>
          </a:p>
        </p:txBody>
      </p:sp>
      <p:sp>
        <p:nvSpPr>
          <p:cNvPr id="13" name="Shape 11"/>
          <p:cNvSpPr/>
          <p:nvPr/>
        </p:nvSpPr>
        <p:spPr>
          <a:xfrm>
            <a:off x="6121400" y="2484041"/>
            <a:ext cx="0" cy="774650"/>
          </a:xfrm>
          <a:prstGeom prst="line">
            <a:avLst/>
          </a:prstGeom>
          <a:noFill/>
          <a:ln w="50800">
            <a:solidFill>
              <a:srgbClr val="273003"/>
            </a:solidFill>
            <a:prstDash val="solid"/>
          </a:ln>
        </p:spPr>
        <p:txBody>
          <a:bodyPr/>
          <a:lstStyle/>
          <a:p>
            <a:endParaRPr lang="en-KE"/>
          </a:p>
        </p:txBody>
      </p:sp>
      <p:sp>
        <p:nvSpPr>
          <p:cNvPr id="14" name="Text 12"/>
          <p:cNvSpPr/>
          <p:nvPr/>
        </p:nvSpPr>
        <p:spPr>
          <a:xfrm>
            <a:off x="6299200" y="2484041"/>
            <a:ext cx="523240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73003"/>
                </a:solidFill>
                <a:latin typeface="Carlito" pitchFamily="34" charset="0"/>
                <a:ea typeface="Carlito" pitchFamily="34" charset="-122"/>
                <a:cs typeface="Carlito" pitchFamily="34" charset="-120"/>
              </a:rPr>
              <a:t>Root</a:t>
            </a:r>
            <a:endParaRPr lang="en-US" sz="1600" dirty="0"/>
          </a:p>
        </p:txBody>
      </p:sp>
      <p:sp>
        <p:nvSpPr>
          <p:cNvPr id="15" name="Text 13"/>
          <p:cNvSpPr/>
          <p:nvPr/>
        </p:nvSpPr>
        <p:spPr>
          <a:xfrm>
            <a:off x="6299200" y="2778671"/>
            <a:ext cx="523240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IQ-TREE gives an unrooted tree: root it on an outgroup (D29438, 2005) or at the midpoint to read time direction.</a:t>
            </a:r>
            <a:endParaRPr lang="en-US" sz="1400" dirty="0"/>
          </a:p>
        </p:txBody>
      </p:sp>
      <p:sp>
        <p:nvSpPr>
          <p:cNvPr id="16" name="Shape 14"/>
          <p:cNvSpPr/>
          <p:nvPr/>
        </p:nvSpPr>
        <p:spPr>
          <a:xfrm>
            <a:off x="812800" y="3512691"/>
            <a:ext cx="10566400" cy="609600"/>
          </a:xfrm>
          <a:prstGeom prst="roundRect">
            <a:avLst>
              <a:gd name="adj" fmla="val 12500"/>
            </a:avLst>
          </a:prstGeom>
          <a:solidFill>
            <a:srgbClr val="273003"/>
          </a:solidFill>
          <a:ln/>
        </p:spPr>
        <p:txBody>
          <a:bodyPr/>
          <a:lstStyle/>
          <a:p>
            <a:endParaRPr lang="en-KE"/>
          </a:p>
        </p:txBody>
      </p:sp>
      <p:pic>
        <p:nvPicPr>
          <p:cNvPr id="17" name="Image 0" descr="Search"/>
          <p:cNvPicPr>
            <a:picLocks noChangeAspect="1"/>
          </p:cNvPicPr>
          <p:nvPr/>
        </p:nvPicPr>
        <p:blipFill>
          <a:blip r:embed="rId3"/>
          <a:srcRect/>
          <a:stretch/>
        </p:blipFill>
        <p:spPr>
          <a:xfrm>
            <a:off x="1066800" y="3665091"/>
            <a:ext cx="304800" cy="304800"/>
          </a:xfrm>
          <a:prstGeom prst="rect">
            <a:avLst/>
          </a:prstGeom>
        </p:spPr>
      </p:pic>
      <p:sp>
        <p:nvSpPr>
          <p:cNvPr id="18" name="Text 15"/>
          <p:cNvSpPr/>
          <p:nvPr/>
        </p:nvSpPr>
        <p:spPr>
          <a:xfrm>
            <a:off x="1524000" y="3697486"/>
            <a:ext cx="8036838"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Open </a:t>
            </a:r>
            <a:r>
              <a:rPr lang="en-US" sz="1400" b="1" dirty="0">
                <a:solidFill>
                  <a:srgbClr val="F9F2EA"/>
                </a:solidFill>
                <a:latin typeface="Carlito" pitchFamily="34" charset="0"/>
                <a:ea typeface="Carlito" pitchFamily="34" charset="-122"/>
                <a:cs typeface="Carlito" pitchFamily="34" charset="-120"/>
              </a:rPr>
              <a:t>ST39.treefile</a:t>
            </a:r>
            <a:r>
              <a:rPr lang="en-US" sz="1400" dirty="0">
                <a:solidFill>
                  <a:srgbClr val="F9F2EA"/>
                </a:solidFill>
                <a:latin typeface="Carlito" pitchFamily="34" charset="0"/>
                <a:ea typeface="Carlito" pitchFamily="34" charset="-122"/>
                <a:cs typeface="Carlito" pitchFamily="34" charset="-120"/>
              </a:rPr>
              <a:t> in </a:t>
            </a:r>
            <a:r>
              <a:rPr lang="en-US" sz="1400" u="sng" dirty="0">
                <a:solidFill>
                  <a:srgbClr val="F9F2EA"/>
                </a:solidFill>
                <a:latin typeface="Carlito" pitchFamily="34" charset="0"/>
                <a:ea typeface="Carlito" pitchFamily="34" charset="-122"/>
                <a:cs typeface="Carlito" pitchFamily="34" charset="-120"/>
                <a:hlinkClick r:id="rId4">
                  <a:extLst>
                    <a:ext uri="{A12FA001-AC4F-418D-AE19-62706E023703}">
                      <ahyp:hlinkClr xmlns:ahyp="http://schemas.microsoft.com/office/drawing/2018/hyperlinkcolor" val="tx"/>
                    </a:ext>
                  </a:extLst>
                </a:hlinkClick>
              </a:rPr>
              <a:t>iTOL</a:t>
            </a:r>
            <a:r>
              <a:rPr lang="en-US" sz="1400" dirty="0">
                <a:solidFill>
                  <a:srgbClr val="F9F2EA"/>
                </a:solidFill>
                <a:latin typeface="Carlito" pitchFamily="34" charset="0"/>
                <a:ea typeface="Carlito" pitchFamily="34" charset="-122"/>
                <a:cs typeface="Carlito" pitchFamily="34" charset="-120"/>
              </a:rPr>
              <a:t> or FigTree now; tomorrow in Microreact, with the ward and dates.</a:t>
            </a:r>
            <a:endParaRPr lang="en-US" sz="1400" dirty="0"/>
          </a:p>
        </p:txBody>
      </p:sp>
      <p:pic>
        <p:nvPicPr>
          <p:cNvPr id="19" name="Image 1"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20" name="Text 1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21" name="Text 1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891F1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410700" y="704850"/>
            <a:ext cx="2781300" cy="54483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FFCE00"/>
                </a:solidFill>
                <a:latin typeface="Carlito" pitchFamily="34" charset="0"/>
                <a:ea typeface="Carlito" pitchFamily="34" charset="-122"/>
                <a:cs typeface="Carlito" pitchFamily="34" charset="-120"/>
              </a:rPr>
              <a:t>DAY 6 · SESSION 4 · 15:30–17:00</a:t>
            </a:r>
            <a:endParaRPr lang="en-US" sz="1600" dirty="0"/>
          </a:p>
        </p:txBody>
      </p:sp>
      <p:sp>
        <p:nvSpPr>
          <p:cNvPr id="4" name="Text 1"/>
          <p:cNvSpPr>
            <a:spLocks noGrp="1"/>
          </p:cNvSpPr>
          <p:nvPr>
            <p:ph type="title"/>
          </p:nvPr>
        </p:nvSpPr>
        <p:spPr>
          <a:xfrm>
            <a:off x="0" y="3086100"/>
            <a:ext cx="1255776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9F2EA"/>
                </a:solidFill>
                <a:latin typeface="Carlito" pitchFamily="34" charset="0"/>
                <a:ea typeface="Carlito" pitchFamily="34" charset="-122"/>
                <a:cs typeface="Carlito" pitchFamily="34" charset="-120"/>
              </a:rPr>
              <a:t>SNP distances and SKA2</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1D3C9"/>
                </a:solidFill>
                <a:latin typeface="Carlito" pitchFamily="34" charset="0"/>
                <a:ea typeface="Carlito" pitchFamily="34" charset="-122"/>
                <a:cs typeface="Carlito" pitchFamily="34" charset="-120"/>
              </a:rPr>
              <a:t>What a threshold can tell you, and a reference-free check</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B5A8"/>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3B5A8"/>
                </a:solidFill>
                <a:latin typeface="Carlito" pitchFamily="34" charset="0"/>
                <a:ea typeface="Carlito" pitchFamily="34" charset="-122"/>
                <a:cs typeface="Carlito"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SNP distances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83990"/>
            <a:ext cx="10566400" cy="944761"/>
          </a:xfrm>
          <a:prstGeom prst="roundRect">
            <a:avLst>
              <a:gd name="adj" fmla="val 8066"/>
            </a:avLst>
          </a:prstGeom>
          <a:solidFill>
            <a:srgbClr val="273003"/>
          </a:solidFill>
          <a:ln/>
        </p:spPr>
        <p:txBody>
          <a:bodyPr wrap="square" lIns="206282" tIns="130082" rIns="0" bIns="1046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snp-dists ST39.core_snps.fasta &gt; ST39_snp_dists_filtered.tsv   </a:t>
            </a:r>
            <a:r>
              <a:rPr lang="en-US" sz="1200" dirty="0">
                <a:solidFill>
                  <a:srgbClr val="C2CA6E"/>
                </a:solidFill>
                <a:latin typeface="JetBrains Mono" pitchFamily="49" charset="0"/>
                <a:ea typeface="JetBrains Mono" pitchFamily="49" charset="-122"/>
                <a:cs typeface="JetBrains Mono" pitchFamily="49" charset="-120"/>
              </a:rPr>
              <a:t># after Gubbins</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snp-dists core.aln                  &gt; ST39_snp_dists_raw.tsv        </a:t>
            </a:r>
            <a:r>
              <a:rPr lang="en-US" sz="1200" dirty="0">
                <a:solidFill>
                  <a:srgbClr val="C2CA6E"/>
                </a:solidFill>
                <a:latin typeface="JetBrains Mono" pitchFamily="49" charset="0"/>
                <a:ea typeface="JetBrains Mono" pitchFamily="49" charset="-122"/>
                <a:cs typeface="JetBrains Mono" pitchFamily="49" charset="-120"/>
              </a:rPr>
              <a:t># before</a:t>
            </a:r>
            <a:endParaRPr lang="en-US" sz="1200" dirty="0"/>
          </a:p>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Then (awk on the Day 6 page, 6.7): one row per pair, labelled by pair type → ST39_pairs.tsv</a:t>
            </a:r>
            <a:endParaRPr lang="en-US" sz="1200" dirty="0"/>
          </a:p>
        </p:txBody>
      </p:sp>
      <p:sp>
        <p:nvSpPr>
          <p:cNvPr id="5" name="Text 3"/>
          <p:cNvSpPr/>
          <p:nvPr/>
        </p:nvSpPr>
        <p:spPr>
          <a:xfrm>
            <a:off x="812800" y="2857351"/>
            <a:ext cx="10883392"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Fill in, for the filtered distances:</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3355826"/>
          <a:ext cx="10553700" cy="1651000"/>
        </p:xfrm>
        <a:graphic>
          <a:graphicData uri="http://schemas.openxmlformats.org/drawingml/2006/table">
            <a:tbl>
              <a:tblPr/>
              <a:tblGrid>
                <a:gridCol w="3588258">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gridCol w="2321814">
                  <a:extLst>
                    <a:ext uri="{9D8B030D-6E8A-4147-A177-3AD203B41FA5}">
                      <a16:colId xmlns:a16="http://schemas.microsoft.com/office/drawing/2014/main" val="20003"/>
                    </a:ext>
                  </a:extLst>
                </a:gridCol>
              </a:tblGrid>
              <a:tr h="412750">
                <a:tc>
                  <a:txBody>
                    <a:bodyPr/>
                    <a:lstStyle/>
                    <a:p>
                      <a:pPr marL="0" indent="0">
                        <a:lnSpc>
                          <a:spcPts val="2100"/>
                        </a:lnSpc>
                        <a:buNone/>
                      </a:pPr>
                      <a:r>
                        <a:rPr lang="en-US" sz="1500" b="1" dirty="0">
                          <a:solidFill>
                            <a:srgbClr val="3A322C"/>
                          </a:solidFill>
                          <a:latin typeface="Carlito" pitchFamily="34" charset="0"/>
                          <a:ea typeface="Carlito" pitchFamily="34" charset="-122"/>
                          <a:cs typeface="Carlito" pitchFamily="34" charset="-120"/>
                        </a:rPr>
                        <a:t>Pair type</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100"/>
                        </a:lnSpc>
                        <a:buNone/>
                      </a:pPr>
                      <a:r>
                        <a:rPr lang="en-US" sz="1500" b="1" dirty="0">
                          <a:solidFill>
                            <a:srgbClr val="3A322C"/>
                          </a:solidFill>
                          <a:latin typeface="Carlito" pitchFamily="34" charset="0"/>
                          <a:ea typeface="Carlito" pitchFamily="34" charset="-122"/>
                          <a:cs typeface="Carlito" pitchFamily="34" charset="-120"/>
                        </a:rPr>
                        <a:t>Minimum</a:t>
                      </a:r>
                      <a:endParaRPr lang="en-US" sz="1500" dirty="0">
                        <a:latin typeface="Carlito" charset="0"/>
                        <a:ea typeface="Carlito" charset="0"/>
                        <a:cs typeface="Carlito" charset="0"/>
                      </a:endParaRPr>
                    </a:p>
                  </a:txBody>
                  <a:tcPr marL="66675" marR="66675" marT="66675" marB="6667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100"/>
                        </a:lnSpc>
                        <a:buNone/>
                      </a:pPr>
                      <a:r>
                        <a:rPr lang="en-US" sz="1500" b="1" dirty="0">
                          <a:solidFill>
                            <a:srgbClr val="3A322C"/>
                          </a:solidFill>
                          <a:latin typeface="Carlito" pitchFamily="34" charset="0"/>
                          <a:ea typeface="Carlito" pitchFamily="34" charset="-122"/>
                          <a:cs typeface="Carlito" pitchFamily="34" charset="-120"/>
                        </a:rPr>
                        <a:t>Median</a:t>
                      </a:r>
                      <a:endParaRPr lang="en-US" sz="1500" dirty="0">
                        <a:latin typeface="Carlito" charset="0"/>
                        <a:ea typeface="Carlito" charset="0"/>
                        <a:cs typeface="Carlito" charset="0"/>
                      </a:endParaRPr>
                    </a:p>
                  </a:txBody>
                  <a:tcPr marL="66675" marR="66675" marT="66675" marB="6667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100"/>
                        </a:lnSpc>
                        <a:buNone/>
                      </a:pPr>
                      <a:r>
                        <a:rPr lang="en-US" sz="1500" b="1" dirty="0">
                          <a:solidFill>
                            <a:srgbClr val="3A322C"/>
                          </a:solidFill>
                          <a:latin typeface="Carlito" pitchFamily="34" charset="0"/>
                          <a:ea typeface="Carlito" pitchFamily="34" charset="-122"/>
                          <a:cs typeface="Carlito" pitchFamily="34" charset="-120"/>
                        </a:rPr>
                        <a:t>Maximum</a:t>
                      </a:r>
                      <a:endParaRPr lang="en-US" sz="1500" dirty="0">
                        <a:latin typeface="Carlito" charset="0"/>
                        <a:ea typeface="Carlito" charset="0"/>
                        <a:cs typeface="Carlito" charset="0"/>
                      </a:endParaRPr>
                    </a:p>
                  </a:txBody>
                  <a:tcPr marL="66675" marR="66675" marT="66675" marB="6667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within_cluster</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cluster_vs_other</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2100"/>
                        </a:lnSpc>
                        <a:buNone/>
                      </a:pPr>
                      <a:endParaRPr lang="en-US" sz="1500" dirty="0">
                        <a:latin typeface="Carlito" charset="0"/>
                        <a:ea typeface="Carlito" charset="0"/>
                        <a:cs typeface="Carlito" charset="0"/>
                      </a:endParaRPr>
                    </a:p>
                  </a:txBody>
                  <a:tcPr marL="66675" marR="66675" marT="66675" marB="6667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2100"/>
                        </a:lnSpc>
                        <a:buNone/>
                      </a:pPr>
                      <a:endParaRPr lang="en-US" sz="1500" dirty="0">
                        <a:latin typeface="Carlito" charset="0"/>
                        <a:ea typeface="Carlito" charset="0"/>
                        <a:cs typeface="Carlito" charset="0"/>
                      </a:endParaRPr>
                    </a:p>
                  </a:txBody>
                  <a:tcPr marL="66675" marR="66675" marT="66675" marB="6667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2100"/>
                        </a:lnSpc>
                        <a:buNone/>
                      </a:pPr>
                      <a:endParaRPr lang="en-US" sz="1500" dirty="0">
                        <a:latin typeface="Carlito" charset="0"/>
                        <a:ea typeface="Carlito" charset="0"/>
                        <a:cs typeface="Carlito" charset="0"/>
                      </a:endParaRPr>
                    </a:p>
                  </a:txBody>
                  <a:tcPr marL="66675" marR="66675" marT="66675" marB="6667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other_vs_other</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7"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8" name="Text 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9" name="Text 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What does a SNP threshold mean?</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pic>
        <p:nvPicPr>
          <p:cNvPr id="4" name="Image 0" descr="Illustrative histogram of pairwise SNP distances with two peaks: a tall peak of close pairs at a few SNPs on the left, a gap, and a broad peak of unrelated pairs far to the right"/>
          <p:cNvPicPr>
            <a:picLocks noChangeAspect="1"/>
          </p:cNvPicPr>
          <p:nvPr/>
        </p:nvPicPr>
        <p:blipFill>
          <a:blip r:embed="rId3"/>
          <a:srcRect/>
          <a:stretch/>
        </p:blipFill>
        <p:spPr>
          <a:xfrm>
            <a:off x="812800" y="1683990"/>
            <a:ext cx="4826000" cy="2413000"/>
          </a:xfrm>
          <a:prstGeom prst="rect">
            <a:avLst/>
          </a:prstGeom>
        </p:spPr>
      </p:pic>
      <p:sp>
        <p:nvSpPr>
          <p:cNvPr id="5" name="Text 2"/>
          <p:cNvSpPr/>
          <p:nvPr/>
        </p:nvSpPr>
        <p:spPr>
          <a:xfrm>
            <a:off x="812800" y="4173190"/>
            <a:ext cx="81545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891F15"/>
                </a:solidFill>
                <a:latin typeface="Carlito" pitchFamily="34" charset="0"/>
                <a:ea typeface="Carlito" pitchFamily="34" charset="-122"/>
                <a:cs typeface="Carlito" pitchFamily="34" charset="-120"/>
              </a:rPr>
              <a:t>Close pairs</a:t>
            </a:r>
            <a:endParaRPr lang="en-US" sz="1200" dirty="0"/>
          </a:p>
        </p:txBody>
      </p:sp>
      <p:sp>
        <p:nvSpPr>
          <p:cNvPr id="6" name="Text 3"/>
          <p:cNvSpPr/>
          <p:nvPr/>
        </p:nvSpPr>
        <p:spPr>
          <a:xfrm>
            <a:off x="2252613" y="4173190"/>
            <a:ext cx="12649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cut-off in the gap</a:t>
            </a:r>
            <a:endParaRPr lang="en-US" sz="1200" dirty="0"/>
          </a:p>
        </p:txBody>
      </p:sp>
      <p:sp>
        <p:nvSpPr>
          <p:cNvPr id="7" name="Text 4"/>
          <p:cNvSpPr/>
          <p:nvPr/>
        </p:nvSpPr>
        <p:spPr>
          <a:xfrm>
            <a:off x="3752671" y="4173190"/>
            <a:ext cx="1886129"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273003"/>
                </a:solidFill>
                <a:latin typeface="Carlito" pitchFamily="34" charset="0"/>
                <a:ea typeface="Carlito" pitchFamily="34" charset="-122"/>
                <a:cs typeface="Carlito" pitchFamily="34" charset="-120"/>
              </a:rPr>
              <a:t>Unrelated pairs</a:t>
            </a:r>
            <a:r>
              <a:rPr lang="en-US" sz="1200" dirty="0">
                <a:solidFill>
                  <a:srgbClr val="273003"/>
                </a:solidFill>
                <a:latin typeface="Carlito" pitchFamily="34" charset="0"/>
                <a:ea typeface="Carlito" pitchFamily="34" charset="-122"/>
                <a:cs typeface="Carlito" pitchFamily="34" charset="-120"/>
              </a:rPr>
              <a:t> · SNPs →</a:t>
            </a:r>
            <a:endParaRPr lang="en-US" sz="1200" dirty="0"/>
          </a:p>
        </p:txBody>
      </p:sp>
      <p:sp>
        <p:nvSpPr>
          <p:cNvPr id="8" name="Text 5"/>
          <p:cNvSpPr/>
          <p:nvPr/>
        </p:nvSpPr>
        <p:spPr>
          <a:xfrm>
            <a:off x="812800" y="4462711"/>
            <a:ext cx="49707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Illustrative: distances are often bi- or tri-modal.</a:t>
            </a:r>
            <a:endParaRPr lang="en-US" sz="1200" dirty="0"/>
          </a:p>
        </p:txBody>
      </p:sp>
      <p:sp>
        <p:nvSpPr>
          <p:cNvPr id="9" name="Text 6"/>
          <p:cNvSpPr/>
          <p:nvPr/>
        </p:nvSpPr>
        <p:spPr>
          <a:xfrm>
            <a:off x="5994400" y="1683990"/>
            <a:ext cx="554634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A cut-off is set </a:t>
            </a:r>
            <a:r>
              <a:rPr lang="en-US" sz="1400" b="1" dirty="0">
                <a:solidFill>
                  <a:srgbClr val="3A322C"/>
                </a:solidFill>
                <a:latin typeface="Carlito" pitchFamily="34" charset="0"/>
                <a:ea typeface="Carlito" pitchFamily="34" charset="-122"/>
                <a:cs typeface="Carlito" pitchFamily="34" charset="-120"/>
              </a:rPr>
              <a:t>a priori</a:t>
            </a:r>
            <a:r>
              <a:rPr lang="en-US" sz="1400" dirty="0">
                <a:solidFill>
                  <a:srgbClr val="3A322C"/>
                </a:solidFill>
                <a:latin typeface="Carlito" pitchFamily="34" charset="0"/>
                <a:ea typeface="Carlito" pitchFamily="34" charset="-122"/>
                <a:cs typeface="Carlito" pitchFamily="34" charset="-120"/>
              </a:rPr>
              <a:t> (earlier outbreaks, the organism) or </a:t>
            </a:r>
            <a:r>
              <a:rPr lang="en-US" sz="1400" b="1" dirty="0">
                <a:solidFill>
                  <a:srgbClr val="3A322C"/>
                </a:solidFill>
                <a:latin typeface="Carlito" pitchFamily="34" charset="0"/>
                <a:ea typeface="Carlito" pitchFamily="34" charset="-122"/>
                <a:cs typeface="Carlito" pitchFamily="34" charset="-120"/>
              </a:rPr>
              <a:t>empirically</a:t>
            </a:r>
            <a:r>
              <a:rPr lang="en-US" sz="1400" dirty="0">
                <a:solidFill>
                  <a:srgbClr val="3A322C"/>
                </a:solidFill>
                <a:latin typeface="Carlito" pitchFamily="34" charset="0"/>
                <a:ea typeface="Carlito" pitchFamily="34" charset="-122"/>
                <a:cs typeface="Carlito" pitchFamily="34" charset="-120"/>
              </a:rPr>
              <a:t> (the gap in this histogram).</a:t>
            </a:r>
            <a:endParaRPr lang="en-US" sz="1400" dirty="0"/>
          </a:p>
        </p:txBody>
      </p:sp>
      <p:sp>
        <p:nvSpPr>
          <p:cNvPr id="10" name="Text 7"/>
          <p:cNvSpPr/>
          <p:nvPr/>
        </p:nvSpPr>
        <p:spPr>
          <a:xfrm>
            <a:off x="5994400" y="2316411"/>
            <a:ext cx="554634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Genome size, mutation and recombination rates differ: </a:t>
            </a:r>
            <a:r>
              <a:rPr lang="en-US" sz="1400" b="1" dirty="0">
                <a:solidFill>
                  <a:srgbClr val="3A322C"/>
                </a:solidFill>
                <a:latin typeface="Carlito" pitchFamily="34" charset="0"/>
                <a:ea typeface="Carlito" pitchFamily="34" charset="-122"/>
                <a:cs typeface="Carlito" pitchFamily="34" charset="-120"/>
              </a:rPr>
              <a:t>no single cut-off</a:t>
            </a:r>
            <a:r>
              <a:rPr lang="en-US" sz="1400" dirty="0">
                <a:solidFill>
                  <a:srgbClr val="3A322C"/>
                </a:solidFill>
                <a:latin typeface="Carlito" pitchFamily="34" charset="0"/>
                <a:ea typeface="Carlito" pitchFamily="34" charset="-122"/>
                <a:cs typeface="Carlito" pitchFamily="34" charset="-120"/>
              </a:rPr>
              <a:t> fits all species.</a:t>
            </a:r>
            <a:endParaRPr lang="en-US" sz="1400" dirty="0"/>
          </a:p>
        </p:txBody>
      </p:sp>
      <p:sp>
        <p:nvSpPr>
          <p:cNvPr id="11" name="Text 8"/>
          <p:cNvSpPr/>
          <p:nvPr/>
        </p:nvSpPr>
        <p:spPr>
          <a:xfrm>
            <a:off x="5994400" y="2948831"/>
            <a:ext cx="5546344" cy="505420"/>
          </a:xfrm>
          <a:prstGeom prst="rect">
            <a:avLst/>
          </a:prstGeom>
          <a:noFill/>
          <a:ln/>
        </p:spPr>
        <p:txBody>
          <a:bodyPr wrap="square" lIns="0" tIns="0" rIns="0" bIns="0" rtlCol="0" anchor="t">
            <a:normAutofit/>
          </a:bodyPr>
          <a:lstStyle/>
          <a:p>
            <a:pPr marL="0" indent="0" algn="l">
              <a:lnSpc>
                <a:spcPts val="1890"/>
              </a:lnSpc>
              <a:buNone/>
            </a:pPr>
            <a:r>
              <a:rPr lang="en-US" sz="1400" i="1" dirty="0">
                <a:solidFill>
                  <a:srgbClr val="3A322C"/>
                </a:solidFill>
                <a:latin typeface="Carlito" pitchFamily="34" charset="0"/>
                <a:ea typeface="Carlito" pitchFamily="34" charset="-122"/>
                <a:cs typeface="Carlito" pitchFamily="34" charset="-120"/>
              </a:rPr>
              <a:t>K. pneumoniae</a:t>
            </a:r>
            <a:r>
              <a:rPr lang="en-US" sz="1400" dirty="0">
                <a:solidFill>
                  <a:srgbClr val="3A322C"/>
                </a:solidFill>
                <a:latin typeface="Carlito" pitchFamily="34" charset="0"/>
                <a:ea typeface="Carlito" pitchFamily="34" charset="-122"/>
                <a:cs typeface="Carlito" pitchFamily="34" charset="-120"/>
              </a:rPr>
              <a:t>: </a:t>
            </a:r>
            <a:r>
              <a:rPr lang="en-US" sz="1400" b="1" dirty="0">
                <a:solidFill>
                  <a:srgbClr val="3A322C"/>
                </a:solidFill>
                <a:latin typeface="Carlito" pitchFamily="34" charset="0"/>
                <a:ea typeface="Carlito" pitchFamily="34" charset="-122"/>
                <a:cs typeface="Carlito" pitchFamily="34" charset="-120"/>
              </a:rPr>
              <a:t>fewer than about 20–25 core SNPs</a:t>
            </a:r>
            <a:r>
              <a:rPr lang="en-US" sz="1400" dirty="0">
                <a:solidFill>
                  <a:srgbClr val="3A322C"/>
                </a:solidFill>
                <a:latin typeface="Carlito" pitchFamily="34" charset="0"/>
                <a:ea typeface="Carlito" pitchFamily="34" charset="-122"/>
                <a:cs typeface="Carlito" pitchFamily="34" charset="-120"/>
              </a:rPr>
              <a:t> is often used to flag possible recent transmission.</a:t>
            </a:r>
            <a:endParaRPr lang="en-US" sz="1400" dirty="0"/>
          </a:p>
        </p:txBody>
      </p:sp>
      <p:sp>
        <p:nvSpPr>
          <p:cNvPr id="12" name="Shape 9"/>
          <p:cNvSpPr/>
          <p:nvPr/>
        </p:nvSpPr>
        <p:spPr>
          <a:xfrm>
            <a:off x="812800" y="4904631"/>
            <a:ext cx="10566400" cy="558800"/>
          </a:xfrm>
          <a:prstGeom prst="roundRect">
            <a:avLst>
              <a:gd name="adj" fmla="val 13636"/>
            </a:avLst>
          </a:prstGeom>
          <a:solidFill>
            <a:srgbClr val="273003"/>
          </a:solidFill>
          <a:ln/>
        </p:spPr>
        <p:txBody>
          <a:bodyPr/>
          <a:lstStyle/>
          <a:p>
            <a:endParaRPr lang="en-KE"/>
          </a:p>
        </p:txBody>
      </p:sp>
      <p:pic>
        <p:nvPicPr>
          <p:cNvPr id="13" name="Image 1" descr="Warning"/>
          <p:cNvPicPr>
            <a:picLocks noChangeAspect="1"/>
          </p:cNvPicPr>
          <p:nvPr/>
        </p:nvPicPr>
        <p:blipFill>
          <a:blip r:embed="rId4"/>
          <a:srcRect/>
          <a:stretch/>
        </p:blipFill>
        <p:spPr>
          <a:xfrm>
            <a:off x="1066800" y="5044331"/>
            <a:ext cx="279400" cy="279400"/>
          </a:xfrm>
          <a:prstGeom prst="rect">
            <a:avLst/>
          </a:prstGeom>
        </p:spPr>
      </p:pic>
      <p:sp>
        <p:nvSpPr>
          <p:cNvPr id="14" name="Text 10"/>
          <p:cNvSpPr/>
          <p:nvPr/>
        </p:nvSpPr>
        <p:spPr>
          <a:xfrm>
            <a:off x="1498600" y="5064026"/>
            <a:ext cx="7976235"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A threshold </a:t>
            </a:r>
            <a:r>
              <a:rPr lang="en-US" sz="1400" b="1" dirty="0">
                <a:solidFill>
                  <a:srgbClr val="F9F2EA"/>
                </a:solidFill>
                <a:latin typeface="Carlito" pitchFamily="34" charset="0"/>
                <a:ea typeface="Carlito" pitchFamily="34" charset="-122"/>
                <a:cs typeface="Carlito" pitchFamily="34" charset="-120"/>
              </a:rPr>
              <a:t>flags pairs for epidemiological review</a:t>
            </a:r>
            <a:r>
              <a:rPr lang="en-US" sz="1400" dirty="0">
                <a:solidFill>
                  <a:srgbClr val="F9F2EA"/>
                </a:solidFill>
                <a:latin typeface="Carlito" pitchFamily="34" charset="0"/>
                <a:ea typeface="Carlito" pitchFamily="34" charset="-122"/>
                <a:cs typeface="Carlito" pitchFamily="34" charset="-120"/>
              </a:rPr>
              <a:t>. It never declares an outbreak on its own.</a:t>
            </a:r>
            <a:endParaRPr lang="en-US" sz="1400" dirty="0"/>
          </a:p>
        </p:txBody>
      </p:sp>
      <p:pic>
        <p:nvPicPr>
          <p:cNvPr id="15" name="Image 2"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16"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17"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SKA2: SNPs without a reference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09390"/>
            <a:ext cx="1137920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Every genome is cut into </a:t>
            </a:r>
            <a:r>
              <a:rPr lang="en-US" sz="1500" b="1" dirty="0">
                <a:solidFill>
                  <a:srgbClr val="3A322C"/>
                </a:solidFill>
                <a:latin typeface="Carlito" pitchFamily="34" charset="0"/>
                <a:ea typeface="Carlito" pitchFamily="34" charset="-122"/>
                <a:cs typeface="Carlito" pitchFamily="34" charset="-120"/>
              </a:rPr>
              <a:t>split k-mers</a:t>
            </a:r>
            <a:r>
              <a:rPr lang="en-US" sz="1500" dirty="0">
                <a:solidFill>
                  <a:srgbClr val="3A322C"/>
                </a:solidFill>
                <a:latin typeface="Carlito" pitchFamily="34" charset="0"/>
                <a:ea typeface="Carlito" pitchFamily="34" charset="-122"/>
                <a:cs typeface="Carlito" pitchFamily="34" charset="-120"/>
              </a:rPr>
              <a:t>: 31 bases with the </a:t>
            </a:r>
            <a:r>
              <a:rPr lang="en-US" sz="1500" b="1" dirty="0">
                <a:solidFill>
                  <a:srgbClr val="3A322C"/>
                </a:solidFill>
                <a:latin typeface="Carlito" pitchFamily="34" charset="0"/>
                <a:ea typeface="Carlito" pitchFamily="34" charset="-122"/>
                <a:cs typeface="Carlito" pitchFamily="34" charset="-120"/>
              </a:rPr>
              <a:t>middle base left out</a:t>
            </a:r>
            <a:r>
              <a:rPr lang="en-US" sz="1500" dirty="0">
                <a:solidFill>
                  <a:srgbClr val="3A322C"/>
                </a:solidFill>
                <a:latin typeface="Carlito" pitchFamily="34" charset="0"/>
                <a:ea typeface="Carlito" pitchFamily="34" charset="-122"/>
                <a:cs typeface="Carlito" pitchFamily="34" charset="-120"/>
              </a:rPr>
              <a:t>. Same 30 flanking bases, different middle base = </a:t>
            </a:r>
            <a:r>
              <a:rPr lang="en-US" sz="1500" b="1" dirty="0">
                <a:solidFill>
                  <a:srgbClr val="3A322C"/>
                </a:solidFill>
                <a:latin typeface="Carlito" pitchFamily="34" charset="0"/>
                <a:ea typeface="Carlito" pitchFamily="34" charset="-122"/>
                <a:cs typeface="Carlito" pitchFamily="34" charset="-120"/>
              </a:rPr>
              <a:t>a SNP</a:t>
            </a:r>
            <a:r>
              <a:rPr lang="en-US" sz="1500" dirty="0">
                <a:solidFill>
                  <a:srgbClr val="3A322C"/>
                </a:solidFill>
                <a:latin typeface="Carlito" pitchFamily="34" charset="0"/>
                <a:ea typeface="Carlito" pitchFamily="34" charset="-122"/>
                <a:cs typeface="Carlito" pitchFamily="34" charset="-120"/>
              </a:rPr>
              <a:t>.</a:t>
            </a:r>
            <a:endParaRPr lang="en-US" sz="1500" dirty="0"/>
          </a:p>
        </p:txBody>
      </p:sp>
      <p:sp>
        <p:nvSpPr>
          <p:cNvPr id="5" name="Shape 3"/>
          <p:cNvSpPr/>
          <p:nvPr/>
        </p:nvSpPr>
        <p:spPr>
          <a:xfrm>
            <a:off x="812800" y="2220565"/>
            <a:ext cx="10566400" cy="1653530"/>
          </a:xfrm>
          <a:prstGeom prst="roundRect">
            <a:avLst>
              <a:gd name="adj" fmla="val 4608"/>
            </a:avLst>
          </a:prstGeom>
          <a:solidFill>
            <a:srgbClr val="FFFFFF"/>
          </a:solidFill>
          <a:ln/>
        </p:spPr>
        <p:txBody>
          <a:bodyPr/>
          <a:lstStyle/>
          <a:p>
            <a:endParaRPr lang="en-KE"/>
          </a:p>
        </p:txBody>
      </p:sp>
      <p:sp>
        <p:nvSpPr>
          <p:cNvPr id="6" name="Text 4"/>
          <p:cNvSpPr/>
          <p:nvPr/>
        </p:nvSpPr>
        <p:spPr>
          <a:xfrm>
            <a:off x="1066800" y="2496145"/>
            <a:ext cx="13208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A322C"/>
                </a:solidFill>
                <a:latin typeface="Carlito" pitchFamily="34" charset="0"/>
                <a:ea typeface="Carlito" pitchFamily="34" charset="-122"/>
                <a:cs typeface="Carlito" pitchFamily="34" charset="-120"/>
              </a:rPr>
              <a:t>Isolate A</a:t>
            </a:r>
            <a:endParaRPr lang="en-US" sz="1400" dirty="0"/>
          </a:p>
        </p:txBody>
      </p:sp>
      <p:sp>
        <p:nvSpPr>
          <p:cNvPr id="7" name="Text 5"/>
          <p:cNvSpPr/>
          <p:nvPr/>
        </p:nvSpPr>
        <p:spPr>
          <a:xfrm>
            <a:off x="2413000" y="2423765"/>
            <a:ext cx="1943100" cy="393700"/>
          </a:xfrm>
          <a:prstGeom prst="roundRect">
            <a:avLst>
              <a:gd name="adj" fmla="val 9677"/>
            </a:avLst>
          </a:prstGeom>
          <a:solidFill>
            <a:srgbClr val="E5E8C6"/>
          </a:solidFill>
          <a:ln/>
        </p:spPr>
        <p:txBody>
          <a:bodyPr wrap="none" lIns="0" tIns="0" rIns="0" bIns="0" rtlCol="0" anchor="ctr">
            <a:normAutofit/>
          </a:bodyPr>
          <a:lstStyle/>
          <a:p>
            <a:pPr marL="0" indent="0" algn="ctr">
              <a:lnSpc>
                <a:spcPts val="2100"/>
              </a:lnSpc>
              <a:buNone/>
            </a:pPr>
            <a:r>
              <a:rPr lang="en-US" sz="1500" dirty="0">
                <a:solidFill>
                  <a:srgbClr val="273003"/>
                </a:solidFill>
                <a:latin typeface="JetBrains Mono" pitchFamily="49" charset="0"/>
                <a:ea typeface="JetBrains Mono" pitchFamily="49" charset="-122"/>
                <a:cs typeface="JetBrains Mono" pitchFamily="49" charset="-120"/>
              </a:rPr>
              <a:t>ATGCCGTAAGCTTGA</a:t>
            </a:r>
            <a:endParaRPr lang="en-US" sz="1500" dirty="0"/>
          </a:p>
        </p:txBody>
      </p:sp>
      <p:sp>
        <p:nvSpPr>
          <p:cNvPr id="8" name="Text 6"/>
          <p:cNvSpPr/>
          <p:nvPr/>
        </p:nvSpPr>
        <p:spPr>
          <a:xfrm>
            <a:off x="4432300" y="2423765"/>
            <a:ext cx="342900" cy="393700"/>
          </a:xfrm>
          <a:prstGeom prst="roundRect">
            <a:avLst>
              <a:gd name="adj" fmla="val 11111"/>
            </a:avLst>
          </a:prstGeom>
          <a:solidFill>
            <a:srgbClr val="891F15"/>
          </a:solidFill>
          <a:ln/>
        </p:spPr>
        <p:txBody>
          <a:bodyPr wrap="none" lIns="0" tIns="0" rIns="0" bIns="0" rtlCol="0" anchor="ctr">
            <a:normAutofit/>
          </a:bodyPr>
          <a:lstStyle/>
          <a:p>
            <a:pPr marL="0" indent="0" algn="ctr">
              <a:lnSpc>
                <a:spcPts val="2100"/>
              </a:lnSpc>
              <a:buNone/>
            </a:pPr>
            <a:r>
              <a:rPr lang="en-US" sz="1500" b="1" dirty="0">
                <a:solidFill>
                  <a:srgbClr val="F9F2EA"/>
                </a:solidFill>
                <a:latin typeface="JetBrains Mono" pitchFamily="49" charset="0"/>
                <a:ea typeface="JetBrains Mono" pitchFamily="49" charset="-122"/>
                <a:cs typeface="JetBrains Mono" pitchFamily="49" charset="-120"/>
              </a:rPr>
              <a:t>C</a:t>
            </a:r>
            <a:endParaRPr lang="en-US" sz="1500" dirty="0"/>
          </a:p>
        </p:txBody>
      </p:sp>
      <p:sp>
        <p:nvSpPr>
          <p:cNvPr id="9" name="Text 7"/>
          <p:cNvSpPr/>
          <p:nvPr/>
        </p:nvSpPr>
        <p:spPr>
          <a:xfrm>
            <a:off x="4851400" y="2423765"/>
            <a:ext cx="1943100" cy="393700"/>
          </a:xfrm>
          <a:prstGeom prst="roundRect">
            <a:avLst>
              <a:gd name="adj" fmla="val 9677"/>
            </a:avLst>
          </a:prstGeom>
          <a:solidFill>
            <a:srgbClr val="E5E8C6"/>
          </a:solidFill>
          <a:ln/>
        </p:spPr>
        <p:txBody>
          <a:bodyPr wrap="none" lIns="0" tIns="0" rIns="0" bIns="0" rtlCol="0" anchor="ctr">
            <a:normAutofit/>
          </a:bodyPr>
          <a:lstStyle/>
          <a:p>
            <a:pPr marL="0" indent="0" algn="ctr">
              <a:lnSpc>
                <a:spcPts val="2100"/>
              </a:lnSpc>
              <a:buNone/>
            </a:pPr>
            <a:r>
              <a:rPr lang="en-US" sz="1500" dirty="0">
                <a:solidFill>
                  <a:srgbClr val="273003"/>
                </a:solidFill>
                <a:latin typeface="JetBrains Mono" pitchFamily="49" charset="0"/>
                <a:ea typeface="JetBrains Mono" pitchFamily="49" charset="-122"/>
                <a:cs typeface="JetBrains Mono" pitchFamily="49" charset="-120"/>
              </a:rPr>
              <a:t>TCGGATACCGTTAGC</a:t>
            </a:r>
            <a:endParaRPr lang="en-US" sz="1500" dirty="0"/>
          </a:p>
        </p:txBody>
      </p:sp>
      <p:sp>
        <p:nvSpPr>
          <p:cNvPr id="10" name="Text 8"/>
          <p:cNvSpPr/>
          <p:nvPr/>
        </p:nvSpPr>
        <p:spPr>
          <a:xfrm>
            <a:off x="1066800" y="3004145"/>
            <a:ext cx="13208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A322C"/>
                </a:solidFill>
                <a:latin typeface="Carlito" pitchFamily="34" charset="0"/>
                <a:ea typeface="Carlito" pitchFamily="34" charset="-122"/>
                <a:cs typeface="Carlito" pitchFamily="34" charset="-120"/>
              </a:rPr>
              <a:t>Isolate B</a:t>
            </a:r>
            <a:endParaRPr lang="en-US" sz="1400" dirty="0"/>
          </a:p>
        </p:txBody>
      </p:sp>
      <p:sp>
        <p:nvSpPr>
          <p:cNvPr id="11" name="Text 9"/>
          <p:cNvSpPr/>
          <p:nvPr/>
        </p:nvSpPr>
        <p:spPr>
          <a:xfrm>
            <a:off x="2413000" y="2931765"/>
            <a:ext cx="1943100" cy="393700"/>
          </a:xfrm>
          <a:prstGeom prst="roundRect">
            <a:avLst>
              <a:gd name="adj" fmla="val 9677"/>
            </a:avLst>
          </a:prstGeom>
          <a:solidFill>
            <a:srgbClr val="E5E8C6"/>
          </a:solidFill>
          <a:ln/>
        </p:spPr>
        <p:txBody>
          <a:bodyPr wrap="none" lIns="0" tIns="0" rIns="0" bIns="0" rtlCol="0" anchor="ctr">
            <a:normAutofit/>
          </a:bodyPr>
          <a:lstStyle/>
          <a:p>
            <a:pPr marL="0" indent="0" algn="ctr">
              <a:lnSpc>
                <a:spcPts val="2100"/>
              </a:lnSpc>
              <a:buNone/>
            </a:pPr>
            <a:r>
              <a:rPr lang="en-US" sz="1500" dirty="0">
                <a:solidFill>
                  <a:srgbClr val="273003"/>
                </a:solidFill>
                <a:latin typeface="JetBrains Mono" pitchFamily="49" charset="0"/>
                <a:ea typeface="JetBrains Mono" pitchFamily="49" charset="-122"/>
                <a:cs typeface="JetBrains Mono" pitchFamily="49" charset="-120"/>
              </a:rPr>
              <a:t>ATGCCGTAAGCTTGA</a:t>
            </a:r>
            <a:endParaRPr lang="en-US" sz="1500" dirty="0"/>
          </a:p>
        </p:txBody>
      </p:sp>
      <p:sp>
        <p:nvSpPr>
          <p:cNvPr id="12" name="Text 10"/>
          <p:cNvSpPr/>
          <p:nvPr/>
        </p:nvSpPr>
        <p:spPr>
          <a:xfrm>
            <a:off x="4432300" y="2931765"/>
            <a:ext cx="342900" cy="393700"/>
          </a:xfrm>
          <a:prstGeom prst="roundRect">
            <a:avLst>
              <a:gd name="adj" fmla="val 11111"/>
            </a:avLst>
          </a:prstGeom>
          <a:solidFill>
            <a:srgbClr val="891F15"/>
          </a:solidFill>
          <a:ln/>
        </p:spPr>
        <p:txBody>
          <a:bodyPr wrap="none" lIns="0" tIns="0" rIns="0" bIns="0" rtlCol="0" anchor="ctr">
            <a:normAutofit/>
          </a:bodyPr>
          <a:lstStyle/>
          <a:p>
            <a:pPr marL="0" indent="0" algn="ctr">
              <a:lnSpc>
                <a:spcPts val="2100"/>
              </a:lnSpc>
              <a:buNone/>
            </a:pPr>
            <a:r>
              <a:rPr lang="en-US" sz="1500" b="1" dirty="0">
                <a:solidFill>
                  <a:srgbClr val="F9F2EA"/>
                </a:solidFill>
                <a:latin typeface="JetBrains Mono" pitchFamily="49" charset="0"/>
                <a:ea typeface="JetBrains Mono" pitchFamily="49" charset="-122"/>
                <a:cs typeface="JetBrains Mono" pitchFamily="49" charset="-120"/>
              </a:rPr>
              <a:t>T</a:t>
            </a:r>
            <a:endParaRPr lang="en-US" sz="1500" dirty="0"/>
          </a:p>
        </p:txBody>
      </p:sp>
      <p:sp>
        <p:nvSpPr>
          <p:cNvPr id="13" name="Text 11"/>
          <p:cNvSpPr/>
          <p:nvPr/>
        </p:nvSpPr>
        <p:spPr>
          <a:xfrm>
            <a:off x="4851400" y="2931765"/>
            <a:ext cx="1943100" cy="393700"/>
          </a:xfrm>
          <a:prstGeom prst="roundRect">
            <a:avLst>
              <a:gd name="adj" fmla="val 9677"/>
            </a:avLst>
          </a:prstGeom>
          <a:solidFill>
            <a:srgbClr val="E5E8C6"/>
          </a:solidFill>
          <a:ln/>
        </p:spPr>
        <p:txBody>
          <a:bodyPr wrap="none" lIns="0" tIns="0" rIns="0" bIns="0" rtlCol="0" anchor="ctr">
            <a:normAutofit/>
          </a:bodyPr>
          <a:lstStyle/>
          <a:p>
            <a:pPr marL="0" indent="0" algn="ctr">
              <a:lnSpc>
                <a:spcPts val="2100"/>
              </a:lnSpc>
              <a:buNone/>
            </a:pPr>
            <a:r>
              <a:rPr lang="en-US" sz="1500" dirty="0">
                <a:solidFill>
                  <a:srgbClr val="273003"/>
                </a:solidFill>
                <a:latin typeface="JetBrains Mono" pitchFamily="49" charset="0"/>
                <a:ea typeface="JetBrains Mono" pitchFamily="49" charset="-122"/>
                <a:cs typeface="JetBrains Mono" pitchFamily="49" charset="-120"/>
              </a:rPr>
              <a:t>TCGGATACCGTTAGC</a:t>
            </a:r>
            <a:endParaRPr lang="en-US" sz="1500" dirty="0"/>
          </a:p>
        </p:txBody>
      </p:sp>
      <p:sp>
        <p:nvSpPr>
          <p:cNvPr id="14" name="Text 12"/>
          <p:cNvSpPr/>
          <p:nvPr/>
        </p:nvSpPr>
        <p:spPr>
          <a:xfrm>
            <a:off x="2413000" y="3439765"/>
            <a:ext cx="3780830"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460"/>
                </a:solidFill>
                <a:latin typeface="Carlito" pitchFamily="34" charset="0"/>
                <a:ea typeface="Carlito" pitchFamily="34" charset="-122"/>
                <a:cs typeface="Carlito" pitchFamily="34" charset="-120"/>
              </a:rPr>
              <a:t>15 identical bases · </a:t>
            </a:r>
            <a:r>
              <a:rPr lang="en-US" sz="1300" b="1" dirty="0">
                <a:solidFill>
                  <a:srgbClr val="891F15"/>
                </a:solidFill>
                <a:latin typeface="Carlito" pitchFamily="34" charset="0"/>
                <a:ea typeface="Carlito" pitchFamily="34" charset="-122"/>
                <a:cs typeface="Carlito" pitchFamily="34" charset="-120"/>
              </a:rPr>
              <a:t>the SNP</a:t>
            </a:r>
            <a:r>
              <a:rPr lang="en-US" sz="1300" dirty="0">
                <a:solidFill>
                  <a:srgbClr val="6B6460"/>
                </a:solidFill>
                <a:latin typeface="Carlito" pitchFamily="34" charset="0"/>
                <a:ea typeface="Carlito" pitchFamily="34" charset="-122"/>
                <a:cs typeface="Carlito" pitchFamily="34" charset="-120"/>
              </a:rPr>
              <a:t> · 15 identical bases</a:t>
            </a:r>
            <a:endParaRPr lang="en-US" sz="1300" dirty="0"/>
          </a:p>
        </p:txBody>
      </p:sp>
      <p:sp>
        <p:nvSpPr>
          <p:cNvPr id="15" name="Shape 13"/>
          <p:cNvSpPr/>
          <p:nvPr/>
        </p:nvSpPr>
        <p:spPr>
          <a:xfrm>
            <a:off x="838200" y="4128095"/>
            <a:ext cx="0" cy="429220"/>
          </a:xfrm>
          <a:prstGeom prst="line">
            <a:avLst/>
          </a:prstGeom>
          <a:noFill/>
          <a:ln w="50800">
            <a:solidFill>
              <a:srgbClr val="273003"/>
            </a:solidFill>
            <a:prstDash val="solid"/>
          </a:ln>
        </p:spPr>
        <p:txBody>
          <a:bodyPr/>
          <a:lstStyle/>
          <a:p>
            <a:endParaRPr lang="en-KE"/>
          </a:p>
        </p:txBody>
      </p:sp>
      <p:sp>
        <p:nvSpPr>
          <p:cNvPr id="16" name="Text 14"/>
          <p:cNvSpPr/>
          <p:nvPr/>
        </p:nvSpPr>
        <p:spPr>
          <a:xfrm>
            <a:off x="990600" y="4128095"/>
            <a:ext cx="3322574"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3A322C"/>
                </a:solidFill>
                <a:latin typeface="Carlito" pitchFamily="34" charset="0"/>
                <a:ea typeface="Carlito" pitchFamily="34" charset="-122"/>
                <a:cs typeface="Carlito" pitchFamily="34" charset="-120"/>
              </a:rPr>
              <a:t>No reference</a:t>
            </a:r>
            <a:r>
              <a:rPr lang="en-US" sz="1300" dirty="0">
                <a:solidFill>
                  <a:srgbClr val="3A322C"/>
                </a:solidFill>
                <a:latin typeface="Carlito" pitchFamily="34" charset="0"/>
                <a:ea typeface="Carlito" pitchFamily="34" charset="-122"/>
                <a:cs typeface="Carlito" pitchFamily="34" charset="-120"/>
              </a:rPr>
              <a:t>: compares everything two isolates share</a:t>
            </a:r>
            <a:endParaRPr lang="en-US" sz="1300" dirty="0"/>
          </a:p>
        </p:txBody>
      </p:sp>
      <p:sp>
        <p:nvSpPr>
          <p:cNvPr id="17" name="Shape 15"/>
          <p:cNvSpPr/>
          <p:nvPr/>
        </p:nvSpPr>
        <p:spPr>
          <a:xfrm>
            <a:off x="4419600" y="4128095"/>
            <a:ext cx="0" cy="429220"/>
          </a:xfrm>
          <a:prstGeom prst="line">
            <a:avLst/>
          </a:prstGeom>
          <a:noFill/>
          <a:ln w="50800">
            <a:solidFill>
              <a:srgbClr val="273003"/>
            </a:solidFill>
            <a:prstDash val="solid"/>
          </a:ln>
        </p:spPr>
        <p:txBody>
          <a:bodyPr/>
          <a:lstStyle/>
          <a:p>
            <a:endParaRPr lang="en-KE"/>
          </a:p>
        </p:txBody>
      </p:sp>
      <p:sp>
        <p:nvSpPr>
          <p:cNvPr id="18" name="Text 16"/>
          <p:cNvSpPr/>
          <p:nvPr/>
        </p:nvSpPr>
        <p:spPr>
          <a:xfrm>
            <a:off x="4572000" y="4128095"/>
            <a:ext cx="3322574" cy="45462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3A322C"/>
                </a:solidFill>
                <a:latin typeface="Carlito" pitchFamily="34" charset="0"/>
                <a:ea typeface="Carlito" pitchFamily="34" charset="-122"/>
                <a:cs typeface="Carlito" pitchFamily="34" charset="-120"/>
              </a:rPr>
              <a:t>Fast</a:t>
            </a:r>
            <a:r>
              <a:rPr lang="en-US" sz="1300" dirty="0">
                <a:solidFill>
                  <a:srgbClr val="3A322C"/>
                </a:solidFill>
                <a:latin typeface="Carlito" pitchFamily="34" charset="0"/>
                <a:ea typeface="Carlito" pitchFamily="34" charset="-122"/>
                <a:cs typeface="Carlito" pitchFamily="34" charset="-120"/>
              </a:rPr>
              <a:t>; reads or assemblies</a:t>
            </a:r>
            <a:endParaRPr lang="en-US" sz="1300" dirty="0"/>
          </a:p>
        </p:txBody>
      </p:sp>
      <p:sp>
        <p:nvSpPr>
          <p:cNvPr id="19" name="Shape 17"/>
          <p:cNvSpPr/>
          <p:nvPr/>
        </p:nvSpPr>
        <p:spPr>
          <a:xfrm>
            <a:off x="8001000" y="4128095"/>
            <a:ext cx="0" cy="429220"/>
          </a:xfrm>
          <a:prstGeom prst="line">
            <a:avLst/>
          </a:prstGeom>
          <a:noFill/>
          <a:ln w="50800">
            <a:solidFill>
              <a:srgbClr val="891F15"/>
            </a:solidFill>
            <a:prstDash val="solid"/>
          </a:ln>
        </p:spPr>
        <p:txBody>
          <a:bodyPr/>
          <a:lstStyle/>
          <a:p>
            <a:endParaRPr lang="en-KE"/>
          </a:p>
        </p:txBody>
      </p:sp>
      <p:sp>
        <p:nvSpPr>
          <p:cNvPr id="20" name="Text 18"/>
          <p:cNvSpPr/>
          <p:nvPr/>
        </p:nvSpPr>
        <p:spPr>
          <a:xfrm>
            <a:off x="8153400" y="4128095"/>
            <a:ext cx="3322574"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Best for </a:t>
            </a:r>
            <a:r>
              <a:rPr lang="en-US" sz="1300" b="1" dirty="0">
                <a:solidFill>
                  <a:srgbClr val="3A322C"/>
                </a:solidFill>
                <a:latin typeface="Carlito" pitchFamily="34" charset="0"/>
                <a:ea typeface="Carlito" pitchFamily="34" charset="-122"/>
                <a:cs typeface="Carlito" pitchFamily="34" charset="-120"/>
              </a:rPr>
              <a:t>closely related</a:t>
            </a:r>
            <a:r>
              <a:rPr lang="en-US" sz="1300" dirty="0">
                <a:solidFill>
                  <a:srgbClr val="3A322C"/>
                </a:solidFill>
                <a:latin typeface="Carlito" pitchFamily="34" charset="0"/>
                <a:ea typeface="Carlito" pitchFamily="34" charset="-122"/>
                <a:cs typeface="Carlito" pitchFamily="34" charset="-120"/>
              </a:rPr>
              <a:t> isolates, such as one ST</a:t>
            </a:r>
            <a:endParaRPr lang="en-US" sz="1300" dirty="0"/>
          </a:p>
        </p:txBody>
      </p:sp>
      <p:pic>
        <p:nvPicPr>
          <p:cNvPr id="21"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22" name="Text 1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23" name="Text 2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SKA2 on the ST39 group</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58590"/>
            <a:ext cx="10566400" cy="2224683"/>
          </a:xfrm>
          <a:prstGeom prst="roundRect">
            <a:avLst>
              <a:gd name="adj" fmla="val 3425"/>
            </a:avLst>
          </a:prstGeom>
          <a:solidFill>
            <a:srgbClr val="273003"/>
          </a:solidFill>
          <a:ln/>
        </p:spPr>
        <p:txBody>
          <a:bodyPr wrap="square" lIns="206282" tIns="130082" rIns="0" bIns="104682" rtlCol="0" anchor="t">
            <a:normAutofit/>
          </a:bodyPr>
          <a:lstStyle/>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1. Split k-mers of every isolate, from its best assembly (name &lt;tab&gt; file)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for s in $ST39; do printf '%s\t%s\n' $s $COURSE/best/$s.fasta; done &gt; ska_inputs.tsv</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ska build -f ska_inputs.tsv -o ST39_ska -k 31 --threads $THREADS</a:t>
            </a:r>
            <a:endParaRPr lang="en-US" sz="1200" dirty="0"/>
          </a:p>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2. SNP distance for every pair: Sample1, Sample2, Distance, Mismatches</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ska distance ST39_ska.skf -o ST39_ska_distances.tsv</a:t>
            </a:r>
            <a:endParaRPr lang="en-US" sz="1200" dirty="0"/>
          </a:p>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3. SKA2 next to Snippy + Gubbins, pair by pair</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awk -F'\t' 'NR == FNR { if (FNR &gt; 1) { k = ($1 &lt; $2) ? $1" "$2 : $2" "$1; ska[k] = $3 }; next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 k = ($1 &lt; $2) ? $1" "$2 : $2" "$1; print $1"\t"$2"\t"$3"\t"ska[k]"\t"$4 }'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ST39_ska_distances.tsv ST39_pairs.tsv &gt; ST39_snippy_vs_ska.tsv</a:t>
            </a:r>
            <a:endParaRPr lang="en-US" sz="1200" dirty="0"/>
          </a:p>
        </p:txBody>
      </p:sp>
      <p:sp>
        <p:nvSpPr>
          <p:cNvPr id="5" name="Text 3"/>
          <p:cNvSpPr/>
          <p:nvPr/>
        </p:nvSpPr>
        <p:spPr>
          <a:xfrm>
            <a:off x="812800" y="4086473"/>
            <a:ext cx="3403600" cy="683220"/>
          </a:xfrm>
          <a:prstGeom prst="roundRect">
            <a:avLst>
              <a:gd name="adj" fmla="val 7435"/>
            </a:avLst>
          </a:prstGeom>
          <a:solidFill>
            <a:srgbClr val="FFFFFF"/>
          </a:solidFill>
          <a:ln/>
        </p:spPr>
        <p:txBody>
          <a:bodyPr wrap="square" lIns="188321" tIns="112121" rIns="46081" bIns="86721" rtlCol="0" anchor="t">
            <a:normAutofit/>
          </a:bodyPr>
          <a:lstStyle/>
          <a:p>
            <a:pPr marL="0" indent="0" algn="l">
              <a:lnSpc>
                <a:spcPts val="1690"/>
              </a:lnSpc>
              <a:buNone/>
            </a:pPr>
            <a:r>
              <a:rPr lang="en-US" sz="1300" b="1" dirty="0">
                <a:solidFill>
                  <a:srgbClr val="3A322C"/>
                </a:solidFill>
                <a:latin typeface="Carlito" pitchFamily="34" charset="0"/>
                <a:ea typeface="Carlito" pitchFamily="34" charset="-122"/>
                <a:cs typeface="Carlito" pitchFamily="34" charset="-120"/>
              </a:rPr>
              <a:t>ska build</a:t>
            </a:r>
            <a:r>
              <a:rPr lang="en-US" sz="1300" dirty="0">
                <a:solidFill>
                  <a:srgbClr val="3A322C"/>
                </a:solidFill>
                <a:latin typeface="Carlito" pitchFamily="34" charset="0"/>
                <a:ea typeface="Carlito" pitchFamily="34" charset="-122"/>
                <a:cs typeface="Carlito" pitchFamily="34" charset="-120"/>
              </a:rPr>
              <a:t>: one .skf file holding every isolate's split k-mers</a:t>
            </a:r>
            <a:endParaRPr lang="en-US" sz="1300" dirty="0"/>
          </a:p>
        </p:txBody>
      </p:sp>
      <p:sp>
        <p:nvSpPr>
          <p:cNvPr id="6" name="Shape 4"/>
          <p:cNvSpPr/>
          <p:nvPr/>
        </p:nvSpPr>
        <p:spPr>
          <a:xfrm>
            <a:off x="812800" y="4086473"/>
            <a:ext cx="3403600" cy="683220"/>
          </a:xfrm>
          <a:custGeom>
            <a:avLst/>
            <a:gdLst/>
            <a:ahLst/>
            <a:cxnLst/>
            <a:rect l="l" t="t" r="r" b="b"/>
            <a:pathLst>
              <a:path w="3403600" h="683220">
                <a:moveTo>
                  <a:pt x="50800" y="683220"/>
                </a:moveTo>
                <a:lnTo>
                  <a:pt x="50800" y="683220"/>
                </a:lnTo>
                <a:arcTo wR="50800" hR="50800" stAng="5400000" swAng="5400000"/>
                <a:lnTo>
                  <a:pt x="0" y="50800"/>
                </a:lnTo>
                <a:arcTo wR="50800" hR="50800" stAng="10800000" swAng="5400000"/>
                <a:lnTo>
                  <a:pt x="50800" y="0"/>
                </a:lnTo>
                <a:lnTo>
                  <a:pt x="50800" y="683220"/>
                </a:lnTo>
                <a:close/>
              </a:path>
            </a:pathLst>
          </a:custGeom>
          <a:solidFill>
            <a:srgbClr val="891F15"/>
          </a:solidFill>
          <a:ln/>
        </p:spPr>
        <p:txBody>
          <a:bodyPr/>
          <a:lstStyle/>
          <a:p>
            <a:endParaRPr lang="en-KE"/>
          </a:p>
        </p:txBody>
      </p:sp>
      <p:sp>
        <p:nvSpPr>
          <p:cNvPr id="7" name="Text 5"/>
          <p:cNvSpPr/>
          <p:nvPr/>
        </p:nvSpPr>
        <p:spPr>
          <a:xfrm>
            <a:off x="4394200" y="4086473"/>
            <a:ext cx="3403600" cy="683220"/>
          </a:xfrm>
          <a:prstGeom prst="roundRect">
            <a:avLst>
              <a:gd name="adj" fmla="val 7435"/>
            </a:avLst>
          </a:prstGeom>
          <a:solidFill>
            <a:srgbClr val="FFFFFF"/>
          </a:solidFill>
          <a:ln/>
        </p:spPr>
        <p:txBody>
          <a:bodyPr wrap="square" lIns="188321" tIns="112121" rIns="46081" bIns="86721" rtlCol="0" anchor="t">
            <a:normAutofit/>
          </a:bodyPr>
          <a:lstStyle/>
          <a:p>
            <a:pPr marL="0" indent="0" algn="l">
              <a:lnSpc>
                <a:spcPts val="1690"/>
              </a:lnSpc>
              <a:buNone/>
            </a:pPr>
            <a:r>
              <a:rPr lang="en-US" sz="1300" b="1" dirty="0">
                <a:solidFill>
                  <a:srgbClr val="3A322C"/>
                </a:solidFill>
                <a:latin typeface="Carlito" pitchFamily="34" charset="0"/>
                <a:ea typeface="Carlito" pitchFamily="34" charset="-122"/>
                <a:cs typeface="Carlito" pitchFamily="34" charset="-120"/>
              </a:rPr>
              <a:t>ska distance</a:t>
            </a:r>
            <a:r>
              <a:rPr lang="en-US" sz="1300" dirty="0">
                <a:solidFill>
                  <a:srgbClr val="3A322C"/>
                </a:solidFill>
                <a:latin typeface="Carlito" pitchFamily="34" charset="0"/>
                <a:ea typeface="Carlito" pitchFamily="34" charset="-122"/>
                <a:cs typeface="Carlito" pitchFamily="34" charset="-120"/>
              </a:rPr>
              <a:t>: SNPs between each pair, no reference, no tree</a:t>
            </a:r>
            <a:endParaRPr lang="en-US" sz="1300" dirty="0"/>
          </a:p>
        </p:txBody>
      </p:sp>
      <p:sp>
        <p:nvSpPr>
          <p:cNvPr id="8" name="Shape 6"/>
          <p:cNvSpPr/>
          <p:nvPr/>
        </p:nvSpPr>
        <p:spPr>
          <a:xfrm>
            <a:off x="4394200" y="4086473"/>
            <a:ext cx="3403600" cy="683220"/>
          </a:xfrm>
          <a:custGeom>
            <a:avLst/>
            <a:gdLst/>
            <a:ahLst/>
            <a:cxnLst/>
            <a:rect l="l" t="t" r="r" b="b"/>
            <a:pathLst>
              <a:path w="3403600" h="683220">
                <a:moveTo>
                  <a:pt x="50800" y="683220"/>
                </a:moveTo>
                <a:lnTo>
                  <a:pt x="50800" y="683220"/>
                </a:lnTo>
                <a:arcTo wR="50800" hR="50800" stAng="5400000" swAng="5400000"/>
                <a:lnTo>
                  <a:pt x="0" y="50800"/>
                </a:lnTo>
                <a:arcTo wR="50800" hR="50800" stAng="10800000" swAng="5400000"/>
                <a:lnTo>
                  <a:pt x="50800" y="0"/>
                </a:lnTo>
                <a:lnTo>
                  <a:pt x="50800" y="683220"/>
                </a:lnTo>
                <a:close/>
              </a:path>
            </a:pathLst>
          </a:custGeom>
          <a:solidFill>
            <a:srgbClr val="891F15"/>
          </a:solidFill>
          <a:ln/>
        </p:spPr>
        <p:txBody>
          <a:bodyPr/>
          <a:lstStyle/>
          <a:p>
            <a:endParaRPr lang="en-KE"/>
          </a:p>
        </p:txBody>
      </p:sp>
      <p:sp>
        <p:nvSpPr>
          <p:cNvPr id="9" name="Text 7"/>
          <p:cNvSpPr/>
          <p:nvPr/>
        </p:nvSpPr>
        <p:spPr>
          <a:xfrm>
            <a:off x="7975600" y="4086473"/>
            <a:ext cx="3403600" cy="683220"/>
          </a:xfrm>
          <a:prstGeom prst="roundRect">
            <a:avLst>
              <a:gd name="adj" fmla="val 7435"/>
            </a:avLst>
          </a:prstGeom>
          <a:solidFill>
            <a:srgbClr val="FFFFFF"/>
          </a:solidFill>
          <a:ln/>
        </p:spPr>
        <p:txBody>
          <a:bodyPr wrap="square" lIns="188321" tIns="112121" rIns="46081" bIns="86721" rtlCol="0" anchor="t">
            <a:normAutofit/>
          </a:bodyPr>
          <a:lstStyle/>
          <a:p>
            <a:pPr marL="0" indent="0" algn="l">
              <a:lnSpc>
                <a:spcPts val="1690"/>
              </a:lnSpc>
              <a:buNone/>
            </a:pPr>
            <a:r>
              <a:rPr lang="en-US" sz="1300" b="1" dirty="0">
                <a:solidFill>
                  <a:srgbClr val="3A322C"/>
                </a:solidFill>
                <a:latin typeface="Carlito" pitchFamily="34" charset="0"/>
                <a:ea typeface="Carlito" pitchFamily="34" charset="-122"/>
                <a:cs typeface="Carlito" pitchFamily="34" charset="-120"/>
              </a:rPr>
              <a:t>awk</a:t>
            </a:r>
            <a:r>
              <a:rPr lang="en-US" sz="1300" dirty="0">
                <a:solidFill>
                  <a:srgbClr val="3A322C"/>
                </a:solidFill>
                <a:latin typeface="Carlito" pitchFamily="34" charset="0"/>
                <a:ea typeface="Carlito" pitchFamily="34" charset="-122"/>
                <a:cs typeface="Carlito" pitchFamily="34" charset="-120"/>
              </a:rPr>
              <a:t>: matches pairs in either order and puts both distances side by side</a:t>
            </a:r>
            <a:endParaRPr lang="en-US" sz="1300" dirty="0"/>
          </a:p>
        </p:txBody>
      </p:sp>
      <p:sp>
        <p:nvSpPr>
          <p:cNvPr id="10" name="Shape 8"/>
          <p:cNvSpPr/>
          <p:nvPr/>
        </p:nvSpPr>
        <p:spPr>
          <a:xfrm>
            <a:off x="7975600" y="4086473"/>
            <a:ext cx="3403600" cy="683220"/>
          </a:xfrm>
          <a:custGeom>
            <a:avLst/>
            <a:gdLst/>
            <a:ahLst/>
            <a:cxnLst/>
            <a:rect l="l" t="t" r="r" b="b"/>
            <a:pathLst>
              <a:path w="3403600" h="683220">
                <a:moveTo>
                  <a:pt x="50800" y="683220"/>
                </a:moveTo>
                <a:lnTo>
                  <a:pt x="50800" y="683220"/>
                </a:lnTo>
                <a:arcTo wR="50800" hR="50800" stAng="5400000" swAng="5400000"/>
                <a:lnTo>
                  <a:pt x="0" y="50800"/>
                </a:lnTo>
                <a:arcTo wR="50800" hR="50800" stAng="10800000" swAng="5400000"/>
                <a:lnTo>
                  <a:pt x="50800" y="0"/>
                </a:lnTo>
                <a:lnTo>
                  <a:pt x="50800" y="683220"/>
                </a:lnTo>
                <a:close/>
              </a:path>
            </a:pathLst>
          </a:custGeom>
          <a:solidFill>
            <a:srgbClr val="273003"/>
          </a:solidFill>
          <a:ln/>
        </p:spPr>
        <p:txBody>
          <a:bodyPr/>
          <a:lstStyle/>
          <a:p>
            <a:endParaRPr lang="en-KE"/>
          </a:p>
        </p:txBody>
      </p:sp>
      <p:pic>
        <p:nvPicPr>
          <p:cNvPr id="11"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2"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13" name="Text 1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Why SKA2 and Snippy distances differ</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3386634" cy="1521371"/>
          </a:xfrm>
          <a:prstGeom prst="roundRect">
            <a:avLst>
              <a:gd name="adj" fmla="val 3339"/>
            </a:avLst>
          </a:prstGeom>
          <a:solidFill>
            <a:srgbClr val="FFFFFF"/>
          </a:solidFill>
          <a:ln/>
        </p:spPr>
        <p:txBody>
          <a:bodyPr/>
          <a:lstStyle/>
          <a:p>
            <a:endParaRPr lang="en-KE"/>
          </a:p>
        </p:txBody>
      </p:sp>
      <p:sp>
        <p:nvSpPr>
          <p:cNvPr id="5" name="Shape 3"/>
          <p:cNvSpPr/>
          <p:nvPr/>
        </p:nvSpPr>
        <p:spPr>
          <a:xfrm>
            <a:off x="812800" y="1709390"/>
            <a:ext cx="3386634" cy="1521371"/>
          </a:xfrm>
          <a:custGeom>
            <a:avLst/>
            <a:gdLst/>
            <a:ahLst/>
            <a:cxnLst/>
            <a:rect l="l" t="t" r="r" b="b"/>
            <a:pathLst>
              <a:path w="3386634" h="1521371">
                <a:moveTo>
                  <a:pt x="0" y="50800"/>
                </a:moveTo>
                <a:lnTo>
                  <a:pt x="0" y="50800"/>
                </a:lnTo>
                <a:arcTo wR="50800" hR="50800" stAng="10800000" swAng="5400000"/>
                <a:lnTo>
                  <a:pt x="3335834" y="0"/>
                </a:lnTo>
                <a:arcTo wR="50800" hR="50800" stAng="16200000" swAng="5400000"/>
                <a:lnTo>
                  <a:pt x="3386634" y="50800"/>
                </a:lnTo>
                <a:lnTo>
                  <a:pt x="0" y="50800"/>
                </a:lnTo>
                <a:close/>
              </a:path>
            </a:pathLst>
          </a:custGeom>
          <a:solidFill>
            <a:srgbClr val="891F15"/>
          </a:solidFill>
          <a:ln/>
        </p:spPr>
        <p:txBody>
          <a:bodyPr/>
          <a:lstStyle/>
          <a:p>
            <a:endParaRPr lang="en-KE"/>
          </a:p>
        </p:txBody>
      </p:sp>
      <p:sp>
        <p:nvSpPr>
          <p:cNvPr id="6" name="Text 4"/>
          <p:cNvSpPr/>
          <p:nvPr/>
        </p:nvSpPr>
        <p:spPr>
          <a:xfrm>
            <a:off x="1016000" y="1937990"/>
            <a:ext cx="3069641"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91F15"/>
                </a:solidFill>
                <a:latin typeface="Carlito" pitchFamily="34" charset="0"/>
                <a:ea typeface="Carlito" pitchFamily="34" charset="-122"/>
                <a:cs typeface="Carlito" pitchFamily="34" charset="-120"/>
              </a:rPr>
              <a:t>SKA2 LARGER</a:t>
            </a:r>
            <a:endParaRPr lang="en-US" sz="1200" dirty="0"/>
          </a:p>
        </p:txBody>
      </p:sp>
      <p:sp>
        <p:nvSpPr>
          <p:cNvPr id="7" name="Text 5"/>
          <p:cNvSpPr/>
          <p:nvPr/>
        </p:nvSpPr>
        <p:spPr>
          <a:xfrm>
            <a:off x="1016000" y="2240211"/>
            <a:ext cx="3069641"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3A322C"/>
                </a:solidFill>
                <a:latin typeface="Carlito" pitchFamily="34" charset="0"/>
                <a:ea typeface="Carlito" pitchFamily="34" charset="-122"/>
                <a:cs typeface="Carlito" pitchFamily="34" charset="-120"/>
              </a:rPr>
              <a:t>Recombination</a:t>
            </a:r>
            <a:endParaRPr lang="en-US" sz="1600" dirty="0"/>
          </a:p>
        </p:txBody>
      </p:sp>
      <p:sp>
        <p:nvSpPr>
          <p:cNvPr id="8" name="Text 6"/>
          <p:cNvSpPr/>
          <p:nvPr/>
        </p:nvSpPr>
        <p:spPr>
          <a:xfrm>
            <a:off x="1016000" y="2572941"/>
            <a:ext cx="3069641"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SKA2's distances are raw; Gubbins removed recombination from Snippy's.</a:t>
            </a:r>
            <a:endParaRPr lang="en-US" sz="1400" dirty="0"/>
          </a:p>
        </p:txBody>
      </p:sp>
      <p:sp>
        <p:nvSpPr>
          <p:cNvPr id="9" name="Shape 7"/>
          <p:cNvSpPr/>
          <p:nvPr/>
        </p:nvSpPr>
        <p:spPr>
          <a:xfrm>
            <a:off x="4402634" y="1709390"/>
            <a:ext cx="3386683" cy="1521371"/>
          </a:xfrm>
          <a:prstGeom prst="roundRect">
            <a:avLst>
              <a:gd name="adj" fmla="val 3339"/>
            </a:avLst>
          </a:prstGeom>
          <a:solidFill>
            <a:srgbClr val="FFFFFF"/>
          </a:solidFill>
          <a:ln/>
        </p:spPr>
        <p:txBody>
          <a:bodyPr/>
          <a:lstStyle/>
          <a:p>
            <a:endParaRPr lang="en-KE"/>
          </a:p>
        </p:txBody>
      </p:sp>
      <p:sp>
        <p:nvSpPr>
          <p:cNvPr id="10" name="Shape 8"/>
          <p:cNvSpPr/>
          <p:nvPr/>
        </p:nvSpPr>
        <p:spPr>
          <a:xfrm>
            <a:off x="4402634" y="1709390"/>
            <a:ext cx="3386683" cy="1521371"/>
          </a:xfrm>
          <a:custGeom>
            <a:avLst/>
            <a:gdLst/>
            <a:ahLst/>
            <a:cxnLst/>
            <a:rect l="l" t="t" r="r" b="b"/>
            <a:pathLst>
              <a:path w="3386683" h="1521371">
                <a:moveTo>
                  <a:pt x="0" y="50800"/>
                </a:moveTo>
                <a:lnTo>
                  <a:pt x="0" y="50800"/>
                </a:lnTo>
                <a:arcTo wR="50800" hR="50800" stAng="10800000" swAng="5400000"/>
                <a:lnTo>
                  <a:pt x="3335883" y="0"/>
                </a:lnTo>
                <a:arcTo wR="50800" hR="50800" stAng="16200000" swAng="5400000"/>
                <a:lnTo>
                  <a:pt x="3386683" y="50800"/>
                </a:lnTo>
                <a:lnTo>
                  <a:pt x="0" y="50800"/>
                </a:lnTo>
                <a:close/>
              </a:path>
            </a:pathLst>
          </a:custGeom>
          <a:solidFill>
            <a:srgbClr val="891F15"/>
          </a:solidFill>
          <a:ln/>
        </p:spPr>
        <p:txBody>
          <a:bodyPr/>
          <a:lstStyle/>
          <a:p>
            <a:endParaRPr lang="en-KE"/>
          </a:p>
        </p:txBody>
      </p:sp>
      <p:sp>
        <p:nvSpPr>
          <p:cNvPr id="11" name="Text 9"/>
          <p:cNvSpPr/>
          <p:nvPr/>
        </p:nvSpPr>
        <p:spPr>
          <a:xfrm>
            <a:off x="4605834" y="1937990"/>
            <a:ext cx="30696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91F15"/>
                </a:solidFill>
                <a:latin typeface="Carlito" pitchFamily="34" charset="0"/>
                <a:ea typeface="Carlito" pitchFamily="34" charset="-122"/>
                <a:cs typeface="Carlito" pitchFamily="34" charset="-120"/>
              </a:rPr>
              <a:t>SKA2 LARGER</a:t>
            </a:r>
            <a:endParaRPr lang="en-US" sz="1200" dirty="0"/>
          </a:p>
        </p:txBody>
      </p:sp>
      <p:sp>
        <p:nvSpPr>
          <p:cNvPr id="12" name="Text 10"/>
          <p:cNvSpPr/>
          <p:nvPr/>
        </p:nvSpPr>
        <p:spPr>
          <a:xfrm>
            <a:off x="4605834" y="2240211"/>
            <a:ext cx="306969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3A322C"/>
                </a:solidFill>
                <a:latin typeface="Carlito" pitchFamily="34" charset="0"/>
                <a:ea typeface="Carlito" pitchFamily="34" charset="-122"/>
                <a:cs typeface="Carlito" pitchFamily="34" charset="-120"/>
              </a:rPr>
              <a:t>More genome</a:t>
            </a:r>
            <a:endParaRPr lang="en-US" sz="1600" dirty="0"/>
          </a:p>
        </p:txBody>
      </p:sp>
      <p:sp>
        <p:nvSpPr>
          <p:cNvPr id="13" name="Text 11"/>
          <p:cNvSpPr/>
          <p:nvPr/>
        </p:nvSpPr>
        <p:spPr>
          <a:xfrm>
            <a:off x="4605834" y="2572941"/>
            <a:ext cx="3069692"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It also compares genes and plasmids the reference chromosome lacks.</a:t>
            </a:r>
            <a:endParaRPr lang="en-US" sz="1400" dirty="0"/>
          </a:p>
        </p:txBody>
      </p:sp>
      <p:sp>
        <p:nvSpPr>
          <p:cNvPr id="14" name="Shape 12"/>
          <p:cNvSpPr/>
          <p:nvPr/>
        </p:nvSpPr>
        <p:spPr>
          <a:xfrm>
            <a:off x="7992517" y="1709390"/>
            <a:ext cx="3386683" cy="1521371"/>
          </a:xfrm>
          <a:prstGeom prst="roundRect">
            <a:avLst>
              <a:gd name="adj" fmla="val 3339"/>
            </a:avLst>
          </a:prstGeom>
          <a:solidFill>
            <a:srgbClr val="FFFFFF"/>
          </a:solidFill>
          <a:ln/>
        </p:spPr>
        <p:txBody>
          <a:bodyPr/>
          <a:lstStyle/>
          <a:p>
            <a:endParaRPr lang="en-KE"/>
          </a:p>
        </p:txBody>
      </p:sp>
      <p:sp>
        <p:nvSpPr>
          <p:cNvPr id="15" name="Shape 13"/>
          <p:cNvSpPr/>
          <p:nvPr/>
        </p:nvSpPr>
        <p:spPr>
          <a:xfrm>
            <a:off x="7992517" y="1709390"/>
            <a:ext cx="3386683" cy="1521371"/>
          </a:xfrm>
          <a:custGeom>
            <a:avLst/>
            <a:gdLst/>
            <a:ahLst/>
            <a:cxnLst/>
            <a:rect l="l" t="t" r="r" b="b"/>
            <a:pathLst>
              <a:path w="3386683" h="1521371">
                <a:moveTo>
                  <a:pt x="0" y="50800"/>
                </a:moveTo>
                <a:lnTo>
                  <a:pt x="0" y="50800"/>
                </a:lnTo>
                <a:arcTo wR="50800" hR="50800" stAng="10800000" swAng="5400000"/>
                <a:lnTo>
                  <a:pt x="3335883" y="0"/>
                </a:lnTo>
                <a:arcTo wR="50800" hR="50800" stAng="16200000" swAng="5400000"/>
                <a:lnTo>
                  <a:pt x="3386683" y="50800"/>
                </a:lnTo>
                <a:lnTo>
                  <a:pt x="0" y="50800"/>
                </a:lnTo>
                <a:close/>
              </a:path>
            </a:pathLst>
          </a:custGeom>
          <a:solidFill>
            <a:srgbClr val="273003"/>
          </a:solidFill>
          <a:ln/>
        </p:spPr>
        <p:txBody>
          <a:bodyPr/>
          <a:lstStyle/>
          <a:p>
            <a:endParaRPr lang="en-KE"/>
          </a:p>
        </p:txBody>
      </p:sp>
      <p:sp>
        <p:nvSpPr>
          <p:cNvPr id="16" name="Text 14"/>
          <p:cNvSpPr/>
          <p:nvPr/>
        </p:nvSpPr>
        <p:spPr>
          <a:xfrm>
            <a:off x="8195717" y="1937990"/>
            <a:ext cx="30696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73003"/>
                </a:solidFill>
                <a:latin typeface="Carlito" pitchFamily="34" charset="0"/>
                <a:ea typeface="Carlito" pitchFamily="34" charset="-122"/>
                <a:cs typeface="Carlito" pitchFamily="34" charset="-120"/>
              </a:rPr>
              <a:t>SKA2 SMALLER</a:t>
            </a:r>
            <a:endParaRPr lang="en-US" sz="1200" dirty="0"/>
          </a:p>
        </p:txBody>
      </p:sp>
      <p:sp>
        <p:nvSpPr>
          <p:cNvPr id="17" name="Text 15"/>
          <p:cNvSpPr/>
          <p:nvPr/>
        </p:nvSpPr>
        <p:spPr>
          <a:xfrm>
            <a:off x="8195717" y="2240211"/>
            <a:ext cx="306969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3A322C"/>
                </a:solidFill>
                <a:latin typeface="Carlito" pitchFamily="34" charset="0"/>
                <a:ea typeface="Carlito" pitchFamily="34" charset="-122"/>
                <a:cs typeface="Carlito" pitchFamily="34" charset="-120"/>
              </a:rPr>
              <a:t>Dense regions</a:t>
            </a:r>
            <a:endParaRPr lang="en-US" sz="1600" dirty="0"/>
          </a:p>
        </p:txBody>
      </p:sp>
      <p:sp>
        <p:nvSpPr>
          <p:cNvPr id="18" name="Text 16"/>
          <p:cNvSpPr/>
          <p:nvPr/>
        </p:nvSpPr>
        <p:spPr>
          <a:xfrm>
            <a:off x="8195717" y="2572941"/>
            <a:ext cx="3069692"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SNPs near another variant, and indels, break the 15-base flanks and are missed.</a:t>
            </a:r>
            <a:endParaRPr lang="en-US" sz="1400" dirty="0"/>
          </a:p>
        </p:txBody>
      </p:sp>
      <p:sp>
        <p:nvSpPr>
          <p:cNvPr id="19" name="Shape 17"/>
          <p:cNvSpPr/>
          <p:nvPr/>
        </p:nvSpPr>
        <p:spPr>
          <a:xfrm>
            <a:off x="812800" y="3484761"/>
            <a:ext cx="10566400" cy="869950"/>
          </a:xfrm>
          <a:prstGeom prst="roundRect">
            <a:avLst>
              <a:gd name="adj" fmla="val 8759"/>
            </a:avLst>
          </a:prstGeom>
          <a:solidFill>
            <a:srgbClr val="273003"/>
          </a:solidFill>
          <a:ln/>
        </p:spPr>
        <p:txBody>
          <a:bodyPr/>
          <a:lstStyle/>
          <a:p>
            <a:endParaRPr lang="en-KE"/>
          </a:p>
        </p:txBody>
      </p:sp>
      <p:pic>
        <p:nvPicPr>
          <p:cNvPr id="20" name="Image 0" descr="Lightbulb"/>
          <p:cNvPicPr>
            <a:picLocks noChangeAspect="1"/>
          </p:cNvPicPr>
          <p:nvPr/>
        </p:nvPicPr>
        <p:blipFill>
          <a:blip r:embed="rId3"/>
          <a:srcRect t="-139" b="-139"/>
          <a:stretch/>
        </p:blipFill>
        <p:spPr>
          <a:xfrm>
            <a:off x="1066800" y="3767336"/>
            <a:ext cx="303957" cy="304800"/>
          </a:xfrm>
          <a:prstGeom prst="rect">
            <a:avLst/>
          </a:prstGeom>
        </p:spPr>
      </p:pic>
      <p:sp>
        <p:nvSpPr>
          <p:cNvPr id="21" name="Text 18"/>
          <p:cNvSpPr/>
          <p:nvPr/>
        </p:nvSpPr>
        <p:spPr>
          <a:xfrm>
            <a:off x="1523157" y="3662561"/>
            <a:ext cx="9890105"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F9F2EA"/>
                </a:solidFill>
                <a:latin typeface="Carlito" pitchFamily="34" charset="0"/>
                <a:ea typeface="Carlito" pitchFamily="34" charset="-122"/>
                <a:cs typeface="Carlito" pitchFamily="34" charset="-120"/>
              </a:rPr>
              <a:t>What matters: do both methods </a:t>
            </a:r>
            <a:r>
              <a:rPr lang="en-US" sz="1500" b="1" dirty="0">
                <a:solidFill>
                  <a:srgbClr val="F9F2EA"/>
                </a:solidFill>
                <a:latin typeface="Carlito" pitchFamily="34" charset="0"/>
                <a:ea typeface="Carlito" pitchFamily="34" charset="-122"/>
                <a:cs typeface="Carlito" pitchFamily="34" charset="-120"/>
              </a:rPr>
              <a:t>rank</a:t>
            </a:r>
            <a:r>
              <a:rPr lang="en-US" sz="1500" dirty="0">
                <a:solidFill>
                  <a:srgbClr val="F9F2EA"/>
                </a:solidFill>
                <a:latin typeface="Carlito" pitchFamily="34" charset="0"/>
                <a:ea typeface="Carlito" pitchFamily="34" charset="-122"/>
                <a:cs typeface="Carlito" pitchFamily="34" charset="-120"/>
              </a:rPr>
              <a:t> the pairs the same, and put the cluster a few SNPs apart and the background far away?</a:t>
            </a:r>
            <a:endParaRPr lang="en-US" sz="1500" dirty="0"/>
          </a:p>
        </p:txBody>
      </p:sp>
      <p:pic>
        <p:nvPicPr>
          <p:cNvPr id="22"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23" name="Text 1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24" name="Text 2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Both methods for every group: the pipeline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58590"/>
            <a:ext cx="10566400" cy="1158081"/>
          </a:xfrm>
          <a:prstGeom prst="roundRect">
            <a:avLst>
              <a:gd name="adj" fmla="val 6580"/>
            </a:avLst>
          </a:prstGeom>
          <a:solidFill>
            <a:srgbClr val="273003"/>
          </a:solidFill>
          <a:ln/>
        </p:spPr>
        <p:txBody>
          <a:bodyPr wrap="square" lIns="206282" tIns="130082" rIns="0" bIns="104682" rtlCol="0" anchor="t">
            <a:normAutofit/>
          </a:bodyPr>
          <a:lstStyle/>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run with --phylo_method both: &lt;group&gt;/ from Snippy, &lt;group&gt;_ska2/ from SKA2</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P=$SHARED/precomputed/pipeline_results/06_phylogeny</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python3 $SHARED/neonatal-amr-nf/bin/compare_snp_methods.py --phylo $P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--threshold 20 --out $RESULTS/06_phylogeny/snippy_vs_ska2</a:t>
            </a:r>
            <a:endParaRPr lang="en-US" sz="1200" dirty="0"/>
          </a:p>
        </p:txBody>
      </p:sp>
      <p:sp>
        <p:nvSpPr>
          <p:cNvPr id="5" name="Shape 3"/>
          <p:cNvSpPr/>
          <p:nvPr/>
        </p:nvSpPr>
        <p:spPr>
          <a:xfrm>
            <a:off x="812800" y="3019871"/>
            <a:ext cx="5194300" cy="989211"/>
          </a:xfrm>
          <a:prstGeom prst="roundRect">
            <a:avLst>
              <a:gd name="adj" fmla="val 5135"/>
            </a:avLst>
          </a:prstGeom>
          <a:solidFill>
            <a:srgbClr val="FFFFFF"/>
          </a:solidFill>
          <a:ln/>
        </p:spPr>
        <p:txBody>
          <a:bodyPr/>
          <a:lstStyle/>
          <a:p>
            <a:endParaRPr lang="en-KE"/>
          </a:p>
        </p:txBody>
      </p:sp>
      <p:sp>
        <p:nvSpPr>
          <p:cNvPr id="6" name="Shape 4"/>
          <p:cNvSpPr/>
          <p:nvPr/>
        </p:nvSpPr>
        <p:spPr>
          <a:xfrm>
            <a:off x="812800" y="3019871"/>
            <a:ext cx="5194300" cy="989211"/>
          </a:xfrm>
          <a:custGeom>
            <a:avLst/>
            <a:gdLst/>
            <a:ahLst/>
            <a:cxnLst/>
            <a:rect l="l" t="t" r="r" b="b"/>
            <a:pathLst>
              <a:path w="5194300" h="989211">
                <a:moveTo>
                  <a:pt x="50800" y="989211"/>
                </a:moveTo>
                <a:lnTo>
                  <a:pt x="50800" y="989211"/>
                </a:lnTo>
                <a:arcTo wR="50800" hR="50800" stAng="5400000" swAng="5400000"/>
                <a:lnTo>
                  <a:pt x="0" y="50800"/>
                </a:lnTo>
                <a:arcTo wR="50800" hR="50800" stAng="10800000" swAng="5400000"/>
                <a:lnTo>
                  <a:pt x="50800" y="0"/>
                </a:lnTo>
                <a:lnTo>
                  <a:pt x="50800" y="989211"/>
                </a:lnTo>
                <a:close/>
              </a:path>
            </a:pathLst>
          </a:custGeom>
          <a:solidFill>
            <a:srgbClr val="891F15"/>
          </a:solidFill>
          <a:ln/>
        </p:spPr>
        <p:txBody>
          <a:bodyPr/>
          <a:lstStyle/>
          <a:p>
            <a:endParaRPr lang="en-KE"/>
          </a:p>
        </p:txBody>
      </p:sp>
      <p:sp>
        <p:nvSpPr>
          <p:cNvPr id="7" name="Text 5"/>
          <p:cNvSpPr/>
          <p:nvPr/>
        </p:nvSpPr>
        <p:spPr>
          <a:xfrm>
            <a:off x="1041400" y="3159571"/>
            <a:ext cx="49315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891F15"/>
                </a:solidFill>
                <a:latin typeface="Carlito" pitchFamily="34" charset="0"/>
                <a:ea typeface="Carlito" pitchFamily="34" charset="-122"/>
                <a:cs typeface="Carlito" pitchFamily="34" charset="-120"/>
              </a:rPr>
              <a:t>ska map</a:t>
            </a:r>
            <a:endParaRPr lang="en-US" sz="1400" dirty="0"/>
          </a:p>
        </p:txBody>
      </p:sp>
      <p:sp>
        <p:nvSpPr>
          <p:cNvPr id="8" name="Text 6"/>
          <p:cNvSpPr/>
          <p:nvPr/>
        </p:nvSpPr>
        <p:spPr>
          <a:xfrm>
            <a:off x="1041400" y="3423692"/>
            <a:ext cx="4931537"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In the pipeline, SKA2 places its k-mers on the same reference, so Gubbins, IQ-TREE and snp-dists run on it too.</a:t>
            </a:r>
            <a:endParaRPr lang="en-US" sz="1300" dirty="0"/>
          </a:p>
        </p:txBody>
      </p:sp>
      <p:sp>
        <p:nvSpPr>
          <p:cNvPr id="9" name="Shape 7"/>
          <p:cNvSpPr/>
          <p:nvPr/>
        </p:nvSpPr>
        <p:spPr>
          <a:xfrm>
            <a:off x="6184900" y="3019871"/>
            <a:ext cx="5194300" cy="989211"/>
          </a:xfrm>
          <a:prstGeom prst="roundRect">
            <a:avLst>
              <a:gd name="adj" fmla="val 5135"/>
            </a:avLst>
          </a:prstGeom>
          <a:solidFill>
            <a:srgbClr val="FFFFFF"/>
          </a:solidFill>
          <a:ln/>
        </p:spPr>
        <p:txBody>
          <a:bodyPr/>
          <a:lstStyle/>
          <a:p>
            <a:endParaRPr lang="en-KE"/>
          </a:p>
        </p:txBody>
      </p:sp>
      <p:sp>
        <p:nvSpPr>
          <p:cNvPr id="10" name="Shape 8"/>
          <p:cNvSpPr/>
          <p:nvPr/>
        </p:nvSpPr>
        <p:spPr>
          <a:xfrm>
            <a:off x="6184900" y="3019871"/>
            <a:ext cx="5194300" cy="989211"/>
          </a:xfrm>
          <a:custGeom>
            <a:avLst/>
            <a:gdLst/>
            <a:ahLst/>
            <a:cxnLst/>
            <a:rect l="l" t="t" r="r" b="b"/>
            <a:pathLst>
              <a:path w="5194300" h="989211">
                <a:moveTo>
                  <a:pt x="50800" y="989211"/>
                </a:moveTo>
                <a:lnTo>
                  <a:pt x="50800" y="989211"/>
                </a:lnTo>
                <a:arcTo wR="50800" hR="50800" stAng="5400000" swAng="5400000"/>
                <a:lnTo>
                  <a:pt x="0" y="50800"/>
                </a:lnTo>
                <a:arcTo wR="50800" hR="50800" stAng="10800000" swAng="5400000"/>
                <a:lnTo>
                  <a:pt x="50800" y="0"/>
                </a:lnTo>
                <a:lnTo>
                  <a:pt x="50800" y="989211"/>
                </a:lnTo>
                <a:close/>
              </a:path>
            </a:pathLst>
          </a:custGeom>
          <a:solidFill>
            <a:srgbClr val="891F15"/>
          </a:solidFill>
          <a:ln/>
        </p:spPr>
        <p:txBody>
          <a:bodyPr/>
          <a:lstStyle/>
          <a:p>
            <a:endParaRPr lang="en-KE"/>
          </a:p>
        </p:txBody>
      </p:sp>
      <p:sp>
        <p:nvSpPr>
          <p:cNvPr id="11" name="Text 9"/>
          <p:cNvSpPr/>
          <p:nvPr/>
        </p:nvSpPr>
        <p:spPr>
          <a:xfrm>
            <a:off x="6413500" y="3159571"/>
            <a:ext cx="49315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891F15"/>
                </a:solidFill>
                <a:latin typeface="Carlito" pitchFamily="34" charset="0"/>
                <a:ea typeface="Carlito" pitchFamily="34" charset="-122"/>
                <a:cs typeface="Carlito" pitchFamily="34" charset="-120"/>
              </a:rPr>
              <a:t>Summary per group</a:t>
            </a:r>
            <a:endParaRPr lang="en-US" sz="1400" dirty="0"/>
          </a:p>
        </p:txBody>
      </p:sp>
      <p:sp>
        <p:nvSpPr>
          <p:cNvPr id="12" name="Text 10"/>
          <p:cNvSpPr/>
          <p:nvPr/>
        </p:nvSpPr>
        <p:spPr>
          <a:xfrm>
            <a:off x="6413500" y="3423692"/>
            <a:ext cx="4931537" cy="471091"/>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A322C"/>
                </a:solidFill>
                <a:latin typeface="Carlito" pitchFamily="34" charset="0"/>
                <a:ea typeface="Carlito" pitchFamily="34" charset="-122"/>
                <a:cs typeface="Carlito" pitchFamily="34" charset="-120"/>
              </a:rPr>
              <a:t>Spearman correlation</a:t>
            </a:r>
            <a:r>
              <a:rPr lang="en-US" sz="1300" dirty="0">
                <a:solidFill>
                  <a:srgbClr val="3A322C"/>
                </a:solidFill>
                <a:latin typeface="Carlito" pitchFamily="34" charset="0"/>
                <a:ea typeface="Carlito" pitchFamily="34" charset="-122"/>
                <a:cs typeface="Carlito" pitchFamily="34" charset="-120"/>
              </a:rPr>
              <a:t> (1 = same ranking), typical and largest difference, pairs ≤ 20 SNPs by each method.</a:t>
            </a:r>
            <a:endParaRPr lang="en-US" sz="1300" dirty="0"/>
          </a:p>
        </p:txBody>
      </p:sp>
      <p:sp>
        <p:nvSpPr>
          <p:cNvPr id="13" name="Shape 11"/>
          <p:cNvSpPr/>
          <p:nvPr/>
        </p:nvSpPr>
        <p:spPr>
          <a:xfrm>
            <a:off x="812800" y="4212282"/>
            <a:ext cx="10566400" cy="609600"/>
          </a:xfrm>
          <a:prstGeom prst="roundRect">
            <a:avLst>
              <a:gd name="adj" fmla="val 12500"/>
            </a:avLst>
          </a:prstGeom>
          <a:solidFill>
            <a:srgbClr val="273003"/>
          </a:solidFill>
          <a:ln/>
        </p:spPr>
        <p:txBody>
          <a:bodyPr/>
          <a:lstStyle/>
          <a:p>
            <a:endParaRPr lang="en-KE"/>
          </a:p>
        </p:txBody>
      </p:sp>
      <p:pic>
        <p:nvPicPr>
          <p:cNvPr id="14" name="Image 0" descr="Warning"/>
          <p:cNvPicPr>
            <a:picLocks noChangeAspect="1"/>
          </p:cNvPicPr>
          <p:nvPr/>
        </p:nvPicPr>
        <p:blipFill>
          <a:blip r:embed="rId3"/>
          <a:srcRect/>
          <a:stretch/>
        </p:blipFill>
        <p:spPr>
          <a:xfrm>
            <a:off x="1066800" y="4364682"/>
            <a:ext cx="304800" cy="304800"/>
          </a:xfrm>
          <a:prstGeom prst="rect">
            <a:avLst/>
          </a:prstGeom>
        </p:spPr>
      </p:pic>
      <p:sp>
        <p:nvSpPr>
          <p:cNvPr id="15" name="Text 12"/>
          <p:cNvSpPr/>
          <p:nvPr/>
        </p:nvSpPr>
        <p:spPr>
          <a:xfrm>
            <a:off x="1524000" y="4397077"/>
            <a:ext cx="985520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Close by one method only? Treat the pair as </a:t>
            </a:r>
            <a:r>
              <a:rPr lang="en-US" sz="1400" b="1" dirty="0">
                <a:solidFill>
                  <a:srgbClr val="F9F2EA"/>
                </a:solidFill>
                <a:latin typeface="Carlito" pitchFamily="34" charset="0"/>
                <a:ea typeface="Carlito" pitchFamily="34" charset="-122"/>
                <a:cs typeface="Carlito" pitchFamily="34" charset="-120"/>
              </a:rPr>
              <a:t>uncertain</a:t>
            </a:r>
            <a:r>
              <a:rPr lang="en-US" sz="1400" dirty="0">
                <a:solidFill>
                  <a:srgbClr val="F9F2EA"/>
                </a:solidFill>
                <a:latin typeface="Carlito" pitchFamily="34" charset="0"/>
                <a:ea typeface="Carlito" pitchFamily="34" charset="-122"/>
                <a:cs typeface="Carlito" pitchFamily="34" charset="-120"/>
              </a:rPr>
              <a:t>: check both trees, both Gubbins recombination maps, and the isolates' QC.</a:t>
            </a:r>
            <a:endParaRPr lang="en-US" sz="1400" dirty="0"/>
          </a:p>
        </p:txBody>
      </p:sp>
      <p:pic>
        <p:nvPicPr>
          <p:cNvPr id="16"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17" name="Text 1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18" name="Text 1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Tools for SNP distances and trees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2090"/>
          <a:ext cx="10553700" cy="2290714"/>
        </p:xfrm>
        <a:graphic>
          <a:graphicData uri="http://schemas.openxmlformats.org/drawingml/2006/table">
            <a:tbl>
              <a:tblPr/>
              <a:tblGrid>
                <a:gridCol w="2110740">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gridCol w="2321814">
                  <a:extLst>
                    <a:ext uri="{9D8B030D-6E8A-4147-A177-3AD203B41FA5}">
                      <a16:colId xmlns:a16="http://schemas.microsoft.com/office/drawing/2014/main" val="20003"/>
                    </a:ext>
                  </a:extLst>
                </a:gridCol>
              </a:tblGrid>
              <a:tr h="386011">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Tool</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How it finds SNPs</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Input</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Where</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63490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Snippy + Gubbins, IQ-TREE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Maps to one reference; core SNPs; recombination removed</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Reads, or contigs (--ctgs)</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Command line, the pipeline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63490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SKA2</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Split k-mers; reference-free distances, or mapped (ska map)</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Reads or assemblies</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Command line, the pipeline</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63490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CSI Phylogeny 1.4</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Maps with BWA; filters SNPs, keeps positions checked in every genome; ML tree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FASTQ or contigs</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Web: CGE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838200" y="4266803"/>
            <a:ext cx="0" cy="341610"/>
          </a:xfrm>
          <a:prstGeom prst="line">
            <a:avLst/>
          </a:prstGeom>
          <a:noFill/>
          <a:ln w="50800">
            <a:solidFill>
              <a:srgbClr val="891F15"/>
            </a:solidFill>
            <a:prstDash val="solid"/>
          </a:ln>
        </p:spPr>
        <p:txBody>
          <a:bodyPr/>
          <a:lstStyle/>
          <a:p>
            <a:endParaRPr lang="en-KE"/>
          </a:p>
        </p:txBody>
      </p:sp>
      <p:sp>
        <p:nvSpPr>
          <p:cNvPr id="6" name="Text 3"/>
          <p:cNvSpPr/>
          <p:nvPr/>
        </p:nvSpPr>
        <p:spPr>
          <a:xfrm>
            <a:off x="1041400" y="4317603"/>
            <a:ext cx="7985746"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CSI Phylogeny needs no installation, but has no recombination removal: fine for a first look at a few isolates.</a:t>
            </a:r>
            <a:endParaRPr lang="en-US" sz="1400" dirty="0"/>
          </a:p>
        </p:txBody>
      </p:sp>
      <p:pic>
        <p:nvPicPr>
          <p:cNvPr id="7"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8" name="Text 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6</a:t>
            </a:r>
            <a:endParaRPr lang="en-US" sz="1200" dirty="0"/>
          </a:p>
        </p:txBody>
      </p:sp>
      <p:sp>
        <p:nvSpPr>
          <p:cNvPr id="9" name="Text 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7300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448800" y="609600"/>
            <a:ext cx="2743200" cy="56007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C2CA6E"/>
                </a:solidFill>
                <a:latin typeface="Carlito" pitchFamily="34" charset="0"/>
                <a:ea typeface="Carlito" pitchFamily="34" charset="-122"/>
                <a:cs typeface="Carlito" pitchFamily="34" charset="-120"/>
              </a:rPr>
              <a:t>DAY 7 · SESSION 1 · 09:00–10:30</a:t>
            </a:r>
            <a:endParaRPr lang="en-US" sz="1600" dirty="0"/>
          </a:p>
        </p:txBody>
      </p:sp>
      <p:sp>
        <p:nvSpPr>
          <p:cNvPr id="4" name="Text 1"/>
          <p:cNvSpPr>
            <a:spLocks noGrp="1"/>
          </p:cNvSpPr>
          <p:nvPr>
            <p:ph type="title"/>
          </p:nvPr>
        </p:nvSpPr>
        <p:spPr>
          <a:xfrm>
            <a:off x="0" y="3086100"/>
            <a:ext cx="1255776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9F2EA"/>
                </a:solidFill>
                <a:latin typeface="Carlito" pitchFamily="34" charset="0"/>
                <a:ea typeface="Carlito" pitchFamily="34" charset="-122"/>
                <a:cs typeface="Carlito" pitchFamily="34" charset="-120"/>
              </a:rPr>
              <a:t>Tree plus metadata</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DDE2B0"/>
                </a:solidFill>
                <a:latin typeface="Carlito" pitchFamily="34" charset="0"/>
                <a:ea typeface="Carlito" pitchFamily="34" charset="-122"/>
                <a:cs typeface="Carlito" pitchFamily="34" charset="-120"/>
              </a:rPr>
              <a:t>Microreact, and classifying each cluster</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8A"/>
                </a:solidFill>
                <a:latin typeface="Carlito" pitchFamily="34" charset="0"/>
                <a:ea typeface="Carlito" pitchFamily="34" charset="-122"/>
                <a:cs typeface="Carlito" pitchFamily="34" charset="-120"/>
              </a:rPr>
              <a:t>Module 6 · Phylogenetics and outbreak detection | Day 7</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8A"/>
                </a:solidFill>
                <a:latin typeface="Carlito" pitchFamily="34" charset="0"/>
                <a:ea typeface="Carlito" pitchFamily="34" charset="-122"/>
                <a:cs typeface="Carlito"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tree and metadata in Microreact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83990"/>
            <a:ext cx="10566400" cy="1158081"/>
          </a:xfrm>
          <a:prstGeom prst="roundRect">
            <a:avLst>
              <a:gd name="adj" fmla="val 6580"/>
            </a:avLst>
          </a:prstGeom>
          <a:solidFill>
            <a:srgbClr val="273003"/>
          </a:solidFill>
          <a:ln/>
        </p:spPr>
        <p:txBody>
          <a:bodyPr wrap="square" lIns="206282" tIns="130082" rIns="0" bIns="1046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cd $RESULTS/06_phylogeny/ST39</a:t>
            </a:r>
            <a:endParaRPr lang="en-US" sz="1200" dirty="0"/>
          </a:p>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CSV: first column 'id' (matches the tree's tips), year column 'year', every field quoted</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awk -F'\t' 'BEGIN{OFS=","} NR==1 {$1="id"; $2="year"} {for(i=1;i&lt;=NF;i++) $i="\""$i"\""; print}' \</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$COURSE/training_data/metadata_compact.tsv &gt; microreact_metadata.csv</a:t>
            </a:r>
            <a:endParaRPr lang="en-US" sz="1200" dirty="0"/>
          </a:p>
        </p:txBody>
      </p:sp>
      <p:sp>
        <p:nvSpPr>
          <p:cNvPr id="5" name="Shape 3"/>
          <p:cNvSpPr/>
          <p:nvPr/>
        </p:nvSpPr>
        <p:spPr>
          <a:xfrm>
            <a:off x="812800" y="3177977"/>
            <a:ext cx="3437434" cy="849610"/>
          </a:xfrm>
          <a:prstGeom prst="roundRect">
            <a:avLst>
              <a:gd name="adj" fmla="val 5979"/>
            </a:avLst>
          </a:prstGeom>
          <a:solidFill>
            <a:srgbClr val="FFFFFF"/>
          </a:solidFill>
          <a:ln/>
        </p:spPr>
        <p:txBody>
          <a:bodyPr/>
          <a:lstStyle/>
          <a:p>
            <a:endParaRPr lang="en-KE"/>
          </a:p>
        </p:txBody>
      </p:sp>
      <p:sp>
        <p:nvSpPr>
          <p:cNvPr id="6" name="Shape 4"/>
          <p:cNvSpPr/>
          <p:nvPr/>
        </p:nvSpPr>
        <p:spPr>
          <a:xfrm>
            <a:off x="812800" y="3177977"/>
            <a:ext cx="3437434" cy="849610"/>
          </a:xfrm>
          <a:custGeom>
            <a:avLst/>
            <a:gdLst/>
            <a:ahLst/>
            <a:cxnLst/>
            <a:rect l="l" t="t" r="r" b="b"/>
            <a:pathLst>
              <a:path w="3437434" h="849610">
                <a:moveTo>
                  <a:pt x="0" y="50800"/>
                </a:moveTo>
                <a:lnTo>
                  <a:pt x="0" y="50800"/>
                </a:lnTo>
                <a:arcTo wR="50800" hR="50800" stAng="10800000" swAng="5400000"/>
                <a:lnTo>
                  <a:pt x="3386634" y="0"/>
                </a:lnTo>
                <a:arcTo wR="50800" hR="50800" stAng="16200000" swAng="5400000"/>
                <a:lnTo>
                  <a:pt x="3437434" y="50800"/>
                </a:lnTo>
                <a:lnTo>
                  <a:pt x="0" y="50800"/>
                </a:lnTo>
                <a:close/>
              </a:path>
            </a:pathLst>
          </a:custGeom>
          <a:solidFill>
            <a:srgbClr val="891F15"/>
          </a:solidFill>
          <a:ln/>
        </p:spPr>
        <p:txBody>
          <a:bodyPr/>
          <a:lstStyle/>
          <a:p>
            <a:endParaRPr lang="en-KE"/>
          </a:p>
        </p:txBody>
      </p:sp>
      <p:sp>
        <p:nvSpPr>
          <p:cNvPr id="7" name="Text 5"/>
          <p:cNvSpPr/>
          <p:nvPr/>
        </p:nvSpPr>
        <p:spPr>
          <a:xfrm>
            <a:off x="977900" y="3368477"/>
            <a:ext cx="3200451"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891F15"/>
                </a:solidFill>
                <a:latin typeface="Carlito" pitchFamily="34" charset="0"/>
                <a:ea typeface="Carlito" pitchFamily="34" charset="-122"/>
                <a:cs typeface="Carlito" pitchFamily="34" charset="-120"/>
              </a:rPr>
              <a:t>1</a:t>
            </a:r>
            <a:endParaRPr lang="en-US" sz="2000" dirty="0"/>
          </a:p>
        </p:txBody>
      </p:sp>
      <p:sp>
        <p:nvSpPr>
          <p:cNvPr id="8" name="Text 6"/>
          <p:cNvSpPr/>
          <p:nvPr/>
        </p:nvSpPr>
        <p:spPr>
          <a:xfrm>
            <a:off x="977900" y="3673277"/>
            <a:ext cx="3200451" cy="240010"/>
          </a:xfrm>
          <a:prstGeom prst="rect">
            <a:avLst/>
          </a:prstGeom>
          <a:noFill/>
          <a:ln/>
        </p:spPr>
        <p:txBody>
          <a:bodyPr wrap="square" lIns="0" tIns="0" rIns="0" bIns="0" rtlCol="0" anchor="t">
            <a:normAutofit/>
          </a:bodyPr>
          <a:lstStyle/>
          <a:p>
            <a:pPr marL="0" indent="0" algn="l">
              <a:lnSpc>
                <a:spcPts val="1690"/>
              </a:lnSpc>
              <a:buNone/>
            </a:pPr>
            <a:r>
              <a:rPr lang="en-US" sz="1300" u="sng" dirty="0">
                <a:solidFill>
                  <a:srgbClr val="3A322C"/>
                </a:solidFill>
                <a:latin typeface="Carlito" pitchFamily="34" charset="0"/>
                <a:ea typeface="Carlito" pitchFamily="34" charset="-122"/>
                <a:cs typeface="Carlito" pitchFamily="34" charset="-120"/>
                <a:hlinkClick r:id="rId3">
                  <a:extLst>
                    <a:ext uri="{A12FA001-AC4F-418D-AE19-62706E023703}">
                      <ahyp:hlinkClr xmlns:ahyp="http://schemas.microsoft.com/office/drawing/2018/hyperlinkcolor" val="tx"/>
                    </a:ext>
                  </a:extLst>
                </a:hlinkClick>
              </a:rPr>
              <a:t>microreact.org</a:t>
            </a:r>
            <a:r>
              <a:rPr lang="en-US" sz="1300" dirty="0">
                <a:solidFill>
                  <a:srgbClr val="3A322C"/>
                </a:solidFill>
                <a:latin typeface="Carlito" pitchFamily="34" charset="0"/>
                <a:ea typeface="Carlito" pitchFamily="34" charset="-122"/>
                <a:cs typeface="Carlito" pitchFamily="34" charset="-120"/>
              </a:rPr>
              <a:t> → </a:t>
            </a:r>
            <a:r>
              <a:rPr lang="en-US" sz="1300" b="1" dirty="0">
                <a:solidFill>
                  <a:srgbClr val="3A322C"/>
                </a:solidFill>
                <a:latin typeface="Carlito" pitchFamily="34" charset="0"/>
                <a:ea typeface="Carlito" pitchFamily="34" charset="-122"/>
                <a:cs typeface="Carlito" pitchFamily="34" charset="-120"/>
              </a:rPr>
              <a:t>Upload</a:t>
            </a:r>
            <a:endParaRPr lang="en-US" sz="1300" dirty="0"/>
          </a:p>
        </p:txBody>
      </p:sp>
      <p:sp>
        <p:nvSpPr>
          <p:cNvPr id="9" name="Shape 7"/>
          <p:cNvSpPr/>
          <p:nvPr/>
        </p:nvSpPr>
        <p:spPr>
          <a:xfrm>
            <a:off x="4377234" y="3070671"/>
            <a:ext cx="3437483" cy="1064220"/>
          </a:xfrm>
          <a:prstGeom prst="roundRect">
            <a:avLst>
              <a:gd name="adj" fmla="val 4773"/>
            </a:avLst>
          </a:prstGeom>
          <a:solidFill>
            <a:srgbClr val="FFFFFF"/>
          </a:solidFill>
          <a:ln/>
        </p:spPr>
        <p:txBody>
          <a:bodyPr/>
          <a:lstStyle/>
          <a:p>
            <a:endParaRPr lang="en-KE"/>
          </a:p>
        </p:txBody>
      </p:sp>
      <p:sp>
        <p:nvSpPr>
          <p:cNvPr id="10" name="Shape 8"/>
          <p:cNvSpPr/>
          <p:nvPr/>
        </p:nvSpPr>
        <p:spPr>
          <a:xfrm>
            <a:off x="4377234" y="3070671"/>
            <a:ext cx="3437483" cy="1064220"/>
          </a:xfrm>
          <a:custGeom>
            <a:avLst/>
            <a:gdLst/>
            <a:ahLst/>
            <a:cxnLst/>
            <a:rect l="l" t="t" r="r" b="b"/>
            <a:pathLst>
              <a:path w="3437483" h="1064220">
                <a:moveTo>
                  <a:pt x="0" y="50800"/>
                </a:moveTo>
                <a:lnTo>
                  <a:pt x="0" y="50800"/>
                </a:lnTo>
                <a:arcTo wR="50800" hR="50800" stAng="10800000" swAng="5400000"/>
                <a:lnTo>
                  <a:pt x="3386683" y="0"/>
                </a:lnTo>
                <a:arcTo wR="50800" hR="50800" stAng="16200000" swAng="5400000"/>
                <a:lnTo>
                  <a:pt x="3437483" y="50800"/>
                </a:lnTo>
                <a:lnTo>
                  <a:pt x="0" y="50800"/>
                </a:lnTo>
                <a:close/>
              </a:path>
            </a:pathLst>
          </a:custGeom>
          <a:solidFill>
            <a:srgbClr val="891F15"/>
          </a:solidFill>
          <a:ln/>
        </p:spPr>
        <p:txBody>
          <a:bodyPr/>
          <a:lstStyle/>
          <a:p>
            <a:endParaRPr lang="en-KE"/>
          </a:p>
        </p:txBody>
      </p:sp>
      <p:sp>
        <p:nvSpPr>
          <p:cNvPr id="11" name="Text 9"/>
          <p:cNvSpPr/>
          <p:nvPr/>
        </p:nvSpPr>
        <p:spPr>
          <a:xfrm>
            <a:off x="4542334" y="3261171"/>
            <a:ext cx="3200502"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891F15"/>
                </a:solidFill>
                <a:latin typeface="Carlito" pitchFamily="34" charset="0"/>
                <a:ea typeface="Carlito" pitchFamily="34" charset="-122"/>
                <a:cs typeface="Carlito" pitchFamily="34" charset="-120"/>
              </a:rPr>
              <a:t>2</a:t>
            </a:r>
            <a:endParaRPr lang="en-US" sz="2000" dirty="0"/>
          </a:p>
        </p:txBody>
      </p:sp>
      <p:sp>
        <p:nvSpPr>
          <p:cNvPr id="12" name="Text 10"/>
          <p:cNvSpPr/>
          <p:nvPr/>
        </p:nvSpPr>
        <p:spPr>
          <a:xfrm>
            <a:off x="4542334" y="3565971"/>
            <a:ext cx="3200502"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Drop in </a:t>
            </a:r>
            <a:r>
              <a:rPr lang="en-US" sz="1300" b="1" dirty="0">
                <a:solidFill>
                  <a:srgbClr val="3A322C"/>
                </a:solidFill>
                <a:latin typeface="Carlito" pitchFamily="34" charset="0"/>
                <a:ea typeface="Carlito" pitchFamily="34" charset="-122"/>
                <a:cs typeface="Carlito" pitchFamily="34" charset="-120"/>
              </a:rPr>
              <a:t>ST39.treefile</a:t>
            </a:r>
            <a:r>
              <a:rPr lang="en-US" sz="1300" dirty="0">
                <a:solidFill>
                  <a:srgbClr val="3A322C"/>
                </a:solidFill>
                <a:latin typeface="Carlito" pitchFamily="34" charset="0"/>
                <a:ea typeface="Carlito" pitchFamily="34" charset="-122"/>
                <a:cs typeface="Carlito" pitchFamily="34" charset="-120"/>
              </a:rPr>
              <a:t> and </a:t>
            </a:r>
            <a:r>
              <a:rPr lang="en-US" sz="1300" b="1" dirty="0">
                <a:solidFill>
                  <a:srgbClr val="3A322C"/>
                </a:solidFill>
                <a:latin typeface="Carlito" pitchFamily="34" charset="0"/>
                <a:ea typeface="Carlito" pitchFamily="34" charset="-122"/>
                <a:cs typeface="Carlito" pitchFamily="34" charset="-120"/>
              </a:rPr>
              <a:t>microreact_metadata.csv</a:t>
            </a:r>
            <a:endParaRPr lang="en-US" sz="1300" dirty="0"/>
          </a:p>
        </p:txBody>
      </p:sp>
      <p:sp>
        <p:nvSpPr>
          <p:cNvPr id="13" name="Shape 11"/>
          <p:cNvSpPr/>
          <p:nvPr/>
        </p:nvSpPr>
        <p:spPr>
          <a:xfrm>
            <a:off x="7941717" y="3177977"/>
            <a:ext cx="3437483" cy="849610"/>
          </a:xfrm>
          <a:prstGeom prst="roundRect">
            <a:avLst>
              <a:gd name="adj" fmla="val 5979"/>
            </a:avLst>
          </a:prstGeom>
          <a:solidFill>
            <a:srgbClr val="FFFFFF"/>
          </a:solidFill>
          <a:ln/>
        </p:spPr>
        <p:txBody>
          <a:bodyPr/>
          <a:lstStyle/>
          <a:p>
            <a:endParaRPr lang="en-KE"/>
          </a:p>
        </p:txBody>
      </p:sp>
      <p:sp>
        <p:nvSpPr>
          <p:cNvPr id="14" name="Shape 12"/>
          <p:cNvSpPr/>
          <p:nvPr/>
        </p:nvSpPr>
        <p:spPr>
          <a:xfrm>
            <a:off x="7941717" y="3177977"/>
            <a:ext cx="3437483" cy="849610"/>
          </a:xfrm>
          <a:custGeom>
            <a:avLst/>
            <a:gdLst/>
            <a:ahLst/>
            <a:cxnLst/>
            <a:rect l="l" t="t" r="r" b="b"/>
            <a:pathLst>
              <a:path w="3437483" h="849610">
                <a:moveTo>
                  <a:pt x="0" y="50800"/>
                </a:moveTo>
                <a:lnTo>
                  <a:pt x="0" y="50800"/>
                </a:lnTo>
                <a:arcTo wR="50800" hR="50800" stAng="10800000" swAng="5400000"/>
                <a:lnTo>
                  <a:pt x="3386683" y="0"/>
                </a:lnTo>
                <a:arcTo wR="50800" hR="50800" stAng="16200000" swAng="5400000"/>
                <a:lnTo>
                  <a:pt x="3437483" y="50800"/>
                </a:lnTo>
                <a:lnTo>
                  <a:pt x="0" y="50800"/>
                </a:lnTo>
                <a:close/>
              </a:path>
            </a:pathLst>
          </a:custGeom>
          <a:solidFill>
            <a:srgbClr val="891F15"/>
          </a:solidFill>
          <a:ln/>
        </p:spPr>
        <p:txBody>
          <a:bodyPr/>
          <a:lstStyle/>
          <a:p>
            <a:endParaRPr lang="en-KE"/>
          </a:p>
        </p:txBody>
      </p:sp>
      <p:sp>
        <p:nvSpPr>
          <p:cNvPr id="15" name="Text 13"/>
          <p:cNvSpPr/>
          <p:nvPr/>
        </p:nvSpPr>
        <p:spPr>
          <a:xfrm>
            <a:off x="8106817" y="3368477"/>
            <a:ext cx="3200502" cy="279400"/>
          </a:xfrm>
          <a:prstGeom prst="rect">
            <a:avLst/>
          </a:prstGeom>
          <a:noFill/>
          <a:ln/>
        </p:spPr>
        <p:txBody>
          <a:bodyPr wrap="square" lIns="0" tIns="0" rIns="0" bIns="0" rtlCol="0" anchor="t">
            <a:normAutofit/>
          </a:bodyPr>
          <a:lstStyle/>
          <a:p>
            <a:pPr marL="0" indent="0" algn="l">
              <a:lnSpc>
                <a:spcPts val="2000"/>
              </a:lnSpc>
              <a:buNone/>
            </a:pPr>
            <a:r>
              <a:rPr lang="en-US" sz="2000" b="1" dirty="0">
                <a:solidFill>
                  <a:srgbClr val="891F15"/>
                </a:solidFill>
                <a:latin typeface="Carlito" pitchFamily="34" charset="0"/>
                <a:ea typeface="Carlito" pitchFamily="34" charset="-122"/>
                <a:cs typeface="Carlito" pitchFamily="34" charset="-120"/>
              </a:rPr>
              <a:t>3</a:t>
            </a:r>
            <a:endParaRPr lang="en-US" sz="2000" dirty="0"/>
          </a:p>
        </p:txBody>
      </p:sp>
      <p:sp>
        <p:nvSpPr>
          <p:cNvPr id="16" name="Text 14"/>
          <p:cNvSpPr/>
          <p:nvPr/>
        </p:nvSpPr>
        <p:spPr>
          <a:xfrm>
            <a:off x="8106817" y="3673277"/>
            <a:ext cx="3200502"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Colour by </a:t>
            </a:r>
            <a:r>
              <a:rPr lang="en-US" sz="1300" b="1" dirty="0">
                <a:solidFill>
                  <a:srgbClr val="3A322C"/>
                </a:solidFill>
                <a:latin typeface="Carlito" pitchFamily="34" charset="0"/>
                <a:ea typeface="Carlito" pitchFamily="34" charset="-122"/>
                <a:cs typeface="Carlito" pitchFamily="34" charset="-120"/>
              </a:rPr>
              <a:t>ward</a:t>
            </a:r>
            <a:r>
              <a:rPr lang="en-US" sz="1300" dirty="0">
                <a:solidFill>
                  <a:srgbClr val="3A322C"/>
                </a:solidFill>
                <a:latin typeface="Carlito" pitchFamily="34" charset="0"/>
                <a:ea typeface="Carlito" pitchFamily="34" charset="-122"/>
                <a:cs typeface="Carlito" pitchFamily="34" charset="-120"/>
              </a:rPr>
              <a:t>, then by </a:t>
            </a:r>
            <a:r>
              <a:rPr lang="en-US" sz="1300" b="1" dirty="0">
                <a:solidFill>
                  <a:srgbClr val="3A322C"/>
                </a:solidFill>
                <a:latin typeface="Carlito" pitchFamily="34" charset="0"/>
                <a:ea typeface="Carlito" pitchFamily="34" charset="-122"/>
                <a:cs typeface="Carlito" pitchFamily="34" charset="-120"/>
              </a:rPr>
              <a:t>year</a:t>
            </a:r>
            <a:r>
              <a:rPr lang="en-US" sz="1300" dirty="0">
                <a:solidFill>
                  <a:srgbClr val="3A322C"/>
                </a:solidFill>
                <a:latin typeface="Carlito" pitchFamily="34" charset="0"/>
                <a:ea typeface="Carlito" pitchFamily="34" charset="-122"/>
                <a:cs typeface="Carlito" pitchFamily="34" charset="-120"/>
              </a:rPr>
              <a:t>; add a timeline</a:t>
            </a:r>
            <a:endParaRPr lang="en-US" sz="1300" dirty="0"/>
          </a:p>
        </p:txBody>
      </p:sp>
      <p:pic>
        <p:nvPicPr>
          <p:cNvPr id="17" name="Image 0"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18" name="Text 1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7</a:t>
            </a:r>
            <a:endParaRPr lang="en-US" sz="1200" dirty="0"/>
          </a:p>
        </p:txBody>
      </p:sp>
      <p:sp>
        <p:nvSpPr>
          <p:cNvPr id="19" name="Text 1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Classifying a cluster</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2090"/>
          <a:ext cx="10553700" cy="1651000"/>
        </p:xfrm>
        <a:graphic>
          <a:graphicData uri="http://schemas.openxmlformats.org/drawingml/2006/table">
            <a:tbl>
              <a:tblPr/>
              <a:tblGrid>
                <a:gridCol w="2321814">
                  <a:extLst>
                    <a:ext uri="{9D8B030D-6E8A-4147-A177-3AD203B41FA5}">
                      <a16:colId xmlns:a16="http://schemas.microsoft.com/office/drawing/2014/main" val="20000"/>
                    </a:ext>
                  </a:extLst>
                </a:gridCol>
                <a:gridCol w="2743962">
                  <a:extLst>
                    <a:ext uri="{9D8B030D-6E8A-4147-A177-3AD203B41FA5}">
                      <a16:colId xmlns:a16="http://schemas.microsoft.com/office/drawing/2014/main" val="20001"/>
                    </a:ext>
                  </a:extLst>
                </a:gridCol>
                <a:gridCol w="2743962">
                  <a:extLst>
                    <a:ext uri="{9D8B030D-6E8A-4147-A177-3AD203B41FA5}">
                      <a16:colId xmlns:a16="http://schemas.microsoft.com/office/drawing/2014/main" val="20002"/>
                    </a:ext>
                  </a:extLst>
                </a:gridCol>
                <a:gridCol w="2743962">
                  <a:extLst>
                    <a:ext uri="{9D8B030D-6E8A-4147-A177-3AD203B41FA5}">
                      <a16:colId xmlns:a16="http://schemas.microsoft.com/office/drawing/2014/main" val="20003"/>
                    </a:ext>
                  </a:extLst>
                </a:gridCol>
              </a:tblGrid>
              <a:tr h="412750">
                <a:tc>
                  <a:txBody>
                    <a:bodyPr/>
                    <a:lstStyle/>
                    <a:p>
                      <a:pPr marL="0" indent="0">
                        <a:lnSpc>
                          <a:spcPts val="2100"/>
                        </a:lnSpc>
                        <a:buNone/>
                      </a:pPr>
                      <a:r>
                        <a:rPr lang="en-US" sz="1500" b="1" dirty="0">
                          <a:solidFill>
                            <a:srgbClr val="3A322C"/>
                          </a:solidFill>
                          <a:latin typeface="Carlito" pitchFamily="34" charset="0"/>
                          <a:ea typeface="Carlito" pitchFamily="34" charset="-122"/>
                          <a:cs typeface="Carlito" pitchFamily="34" charset="-120"/>
                        </a:rPr>
                        <a:t>Evidence</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100"/>
                        </a:lnSpc>
                        <a:buNone/>
                      </a:pPr>
                      <a:r>
                        <a:rPr lang="en-US" sz="1500" b="1" dirty="0">
                          <a:solidFill>
                            <a:srgbClr val="3A322C"/>
                          </a:solidFill>
                          <a:latin typeface="Carlito" pitchFamily="34" charset="0"/>
                          <a:ea typeface="Carlito" pitchFamily="34" charset="-122"/>
                          <a:cs typeface="Carlito" pitchFamily="34" charset="-120"/>
                        </a:rPr>
                        <a:t>Probable transmission</a:t>
                      </a:r>
                      <a:endParaRPr lang="en-US" sz="1500" dirty="0">
                        <a:latin typeface="Carlito" charset="0"/>
                        <a:ea typeface="Carlito" charset="0"/>
                        <a:cs typeface="Carlito" charset="0"/>
                      </a:endParaRPr>
                    </a:p>
                  </a:txBody>
                  <a:tcPr marL="66675" marR="66675" marT="66675" marB="6667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100"/>
                        </a:lnSpc>
                        <a:buNone/>
                      </a:pPr>
                      <a:r>
                        <a:rPr lang="en-US" sz="1500" b="1" dirty="0">
                          <a:solidFill>
                            <a:srgbClr val="3A322C"/>
                          </a:solidFill>
                          <a:latin typeface="Carlito" pitchFamily="34" charset="0"/>
                          <a:ea typeface="Carlito" pitchFamily="34" charset="-122"/>
                          <a:cs typeface="Carlito" pitchFamily="34" charset="-120"/>
                        </a:rPr>
                        <a:t>Possible transmission</a:t>
                      </a:r>
                      <a:endParaRPr lang="en-US" sz="1500" dirty="0">
                        <a:latin typeface="Carlito" charset="0"/>
                        <a:ea typeface="Carlito" charset="0"/>
                        <a:cs typeface="Carlito" charset="0"/>
                      </a:endParaRPr>
                    </a:p>
                  </a:txBody>
                  <a:tcPr marL="66675" marR="66675" marT="66675" marB="6667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100"/>
                        </a:lnSpc>
                        <a:buNone/>
                      </a:pPr>
                      <a:r>
                        <a:rPr lang="en-US" sz="1500" b="1" dirty="0">
                          <a:solidFill>
                            <a:srgbClr val="3A322C"/>
                          </a:solidFill>
                          <a:latin typeface="Carlito" pitchFamily="34" charset="0"/>
                          <a:ea typeface="Carlito" pitchFamily="34" charset="-122"/>
                          <a:cs typeface="Carlito" pitchFamily="34" charset="-120"/>
                        </a:rPr>
                        <a:t>Unlinked</a:t>
                      </a:r>
                      <a:endParaRPr lang="en-US" sz="1500" dirty="0">
                        <a:latin typeface="Carlito" charset="0"/>
                        <a:ea typeface="Carlito" charset="0"/>
                        <a:cs typeface="Carlito" charset="0"/>
                      </a:endParaRPr>
                    </a:p>
                  </a:txBody>
                  <a:tcPr marL="66675" marR="66675" marT="66675" marB="66675">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Core SNP distance</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Within threshold</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Near threshold</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Well above threshold</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Place</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Same ward</a:t>
                      </a:r>
                      <a:endParaRPr lang="en-US" sz="1500" dirty="0">
                        <a:latin typeface="Carlito" charset="0"/>
                        <a:ea typeface="Carlito" charset="0"/>
                        <a:cs typeface="Carlito" charset="0"/>
                      </a:endParaRPr>
                    </a:p>
                  </a:txBody>
                  <a:tcPr marL="66675" marR="66675" marT="66675" marB="6667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Same hospital, different ward</a:t>
                      </a:r>
                      <a:endParaRPr lang="en-US" sz="1500" dirty="0">
                        <a:latin typeface="Carlito" charset="0"/>
                        <a:ea typeface="Carlito" charset="0"/>
                        <a:cs typeface="Carlito" charset="0"/>
                      </a:endParaRPr>
                    </a:p>
                  </a:txBody>
                  <a:tcPr marL="66675" marR="66675" marT="66675" marB="6667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Different facilities</a:t>
                      </a:r>
                      <a:endParaRPr lang="en-US" sz="1500" dirty="0">
                        <a:latin typeface="Carlito" charset="0"/>
                        <a:ea typeface="Carlito" charset="0"/>
                        <a:cs typeface="Carlito" charset="0"/>
                      </a:endParaRPr>
                    </a:p>
                  </a:txBody>
                  <a:tcPr marL="66675" marR="66675" marT="66675" marB="6667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Time</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Overlapping or close dates</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Months apart</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Years apart</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812800" y="3627090"/>
            <a:ext cx="10566400" cy="660400"/>
          </a:xfrm>
          <a:prstGeom prst="roundRect">
            <a:avLst>
              <a:gd name="adj" fmla="val 11538"/>
            </a:avLst>
          </a:prstGeom>
          <a:solidFill>
            <a:srgbClr val="273003"/>
          </a:solidFill>
          <a:ln/>
        </p:spPr>
        <p:txBody>
          <a:bodyPr/>
          <a:lstStyle/>
          <a:p>
            <a:endParaRPr lang="en-KE"/>
          </a:p>
        </p:txBody>
      </p:sp>
      <p:pic>
        <p:nvPicPr>
          <p:cNvPr id="6" name="Image 0" descr="Warning"/>
          <p:cNvPicPr>
            <a:picLocks noChangeAspect="1"/>
          </p:cNvPicPr>
          <p:nvPr/>
        </p:nvPicPr>
        <p:blipFill>
          <a:blip r:embed="rId3"/>
          <a:srcRect/>
          <a:stretch/>
        </p:blipFill>
        <p:spPr>
          <a:xfrm>
            <a:off x="1066800" y="3804890"/>
            <a:ext cx="304800" cy="304800"/>
          </a:xfrm>
          <a:prstGeom prst="rect">
            <a:avLst/>
          </a:prstGeom>
        </p:spPr>
      </p:pic>
      <p:sp>
        <p:nvSpPr>
          <p:cNvPr id="7" name="Text 3"/>
          <p:cNvSpPr/>
          <p:nvPr/>
        </p:nvSpPr>
        <p:spPr>
          <a:xfrm>
            <a:off x="1524000" y="3837285"/>
            <a:ext cx="985520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Check the method too: a pair close by Snippy but not by SKA2 (or the reverse) is at most </a:t>
            </a:r>
            <a:r>
              <a:rPr lang="en-US" sz="1400" b="1" dirty="0">
                <a:solidFill>
                  <a:srgbClr val="F9F2EA"/>
                </a:solidFill>
                <a:latin typeface="Carlito" pitchFamily="34" charset="0"/>
                <a:ea typeface="Carlito" pitchFamily="34" charset="-122"/>
                <a:cs typeface="Carlito" pitchFamily="34" charset="-120"/>
              </a:rPr>
              <a:t>possible</a:t>
            </a:r>
            <a:r>
              <a:rPr lang="en-US" sz="1400" dirty="0">
                <a:solidFill>
                  <a:srgbClr val="F9F2EA"/>
                </a:solidFill>
                <a:latin typeface="Carlito" pitchFamily="34" charset="0"/>
                <a:ea typeface="Carlito" pitchFamily="34" charset="-122"/>
                <a:cs typeface="Carlito" pitchFamily="34" charset="-120"/>
              </a:rPr>
              <a:t> transmission until you know why.</a:t>
            </a:r>
            <a:endParaRPr lang="en-US" sz="1400" dirty="0"/>
          </a:p>
        </p:txBody>
      </p:sp>
      <p:pic>
        <p:nvPicPr>
          <p:cNvPr id="8"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9" name="Text 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7</a:t>
            </a:r>
            <a:endParaRPr lang="en-US" sz="1200" dirty="0"/>
          </a:p>
        </p:txBody>
      </p:sp>
      <p:sp>
        <p:nvSpPr>
          <p:cNvPr id="10" name="Text 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Exercise: classify the ST39 group</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96690"/>
          <a:ext cx="10553700" cy="2564956"/>
        </p:xfrm>
        <a:graphic>
          <a:graphicData uri="http://schemas.openxmlformats.org/drawingml/2006/table">
            <a:tbl>
              <a:tblPr/>
              <a:tblGrid>
                <a:gridCol w="1583055">
                  <a:extLst>
                    <a:ext uri="{9D8B030D-6E8A-4147-A177-3AD203B41FA5}">
                      <a16:colId xmlns:a16="http://schemas.microsoft.com/office/drawing/2014/main" val="20000"/>
                    </a:ext>
                  </a:extLst>
                </a:gridCol>
                <a:gridCol w="1583055">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gridCol w="1055370">
                  <a:extLst>
                    <a:ext uri="{9D8B030D-6E8A-4147-A177-3AD203B41FA5}">
                      <a16:colId xmlns:a16="http://schemas.microsoft.com/office/drawing/2014/main" val="20003"/>
                    </a:ext>
                  </a:extLst>
                </a:gridCol>
                <a:gridCol w="1899666">
                  <a:extLst>
                    <a:ext uri="{9D8B030D-6E8A-4147-A177-3AD203B41FA5}">
                      <a16:colId xmlns:a16="http://schemas.microsoft.com/office/drawing/2014/main" val="20004"/>
                    </a:ext>
                  </a:extLst>
                </a:gridCol>
                <a:gridCol w="2110740">
                  <a:extLst>
                    <a:ext uri="{9D8B030D-6E8A-4147-A177-3AD203B41FA5}">
                      <a16:colId xmlns:a16="http://schemas.microsoft.com/office/drawing/2014/main" val="20005"/>
                    </a:ext>
                  </a:extLst>
                </a:gridCol>
              </a:tblGrid>
              <a:tr h="634901">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Isolate(s)</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SNPs to nearest cluster member</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Ward</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Year</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Classification</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1960"/>
                        </a:lnSpc>
                        <a:buNone/>
                      </a:pPr>
                      <a:r>
                        <a:rPr lang="en-US" sz="1400" b="1" dirty="0">
                          <a:solidFill>
                            <a:srgbClr val="3A322C"/>
                          </a:solidFill>
                          <a:latin typeface="Carlito" pitchFamily="34" charset="0"/>
                          <a:ea typeface="Carlito" pitchFamily="34" charset="-122"/>
                          <a:cs typeface="Carlito" pitchFamily="34" charset="-120"/>
                        </a:rPr>
                        <a:t>Reason</a:t>
                      </a:r>
                      <a:endParaRPr lang="en-US" sz="1400" dirty="0">
                        <a:latin typeface="Carlito" charset="0"/>
                        <a:ea typeface="Carlito" charset="0"/>
                        <a:cs typeface="Carlito" charset="0"/>
                      </a:endParaRPr>
                    </a:p>
                  </a:txBody>
                  <a:tcPr marL="62230" marR="62230" marT="62230" marB="6223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Cluster (8)</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Chatinkha Nursery</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2017</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BKR8JH</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Chatinkha Nursery</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2016</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D29438</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unknown</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2005</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BHB7VE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4A Female Medical Ward</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2016</a:t>
                      </a: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CHI11E</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unknown</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r>
                        <a:rPr lang="en-US" sz="1400" dirty="0">
                          <a:solidFill>
                            <a:srgbClr val="3A322C"/>
                          </a:solidFill>
                          <a:latin typeface="Carlito" pitchFamily="34" charset="0"/>
                          <a:ea typeface="Carlito" pitchFamily="34" charset="-122"/>
                          <a:cs typeface="Carlito" pitchFamily="34" charset="-120"/>
                        </a:rPr>
                        <a:t>2019</a:t>
                      </a: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960"/>
                        </a:lnSpc>
                        <a:buNone/>
                      </a:pPr>
                      <a:endParaRPr lang="en-US" sz="1400" dirty="0">
                        <a:latin typeface="Carlito" charset="0"/>
                        <a:ea typeface="Carlito" charset="0"/>
                        <a:cs typeface="Carlito" charset="0"/>
                      </a:endParaRPr>
                    </a:p>
                  </a:txBody>
                  <a:tcPr marL="62230" marR="62230" marT="62230" marB="6223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838200" y="4490244"/>
            <a:ext cx="0" cy="358775"/>
          </a:xfrm>
          <a:prstGeom prst="line">
            <a:avLst/>
          </a:prstGeom>
          <a:noFill/>
          <a:ln w="50800">
            <a:solidFill>
              <a:srgbClr val="891F15"/>
            </a:solidFill>
            <a:prstDash val="solid"/>
          </a:ln>
        </p:spPr>
        <p:txBody>
          <a:bodyPr/>
          <a:lstStyle/>
          <a:p>
            <a:endParaRPr lang="en-KE"/>
          </a:p>
        </p:txBody>
      </p:sp>
      <p:sp>
        <p:nvSpPr>
          <p:cNvPr id="6" name="Text 3"/>
          <p:cNvSpPr/>
          <p:nvPr/>
        </p:nvSpPr>
        <p:spPr>
          <a:xfrm>
            <a:off x="1041400" y="4541044"/>
            <a:ext cx="8573318"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3A322C"/>
                </a:solidFill>
                <a:latin typeface="Carlito" pitchFamily="34" charset="0"/>
                <a:ea typeface="Carlito" pitchFamily="34" charset="-122"/>
                <a:cs typeface="Carlito" pitchFamily="34" charset="-120"/>
              </a:rPr>
              <a:t>BKR8JH</a:t>
            </a:r>
            <a:r>
              <a:rPr lang="en-US" sz="1500" dirty="0">
                <a:solidFill>
                  <a:srgbClr val="3A322C"/>
                </a:solidFill>
                <a:latin typeface="Carlito" pitchFamily="34" charset="0"/>
                <a:ea typeface="Carlito" pitchFamily="34" charset="-122"/>
                <a:cs typeface="Carlito" pitchFamily="34" charset="-120"/>
              </a:rPr>
              <a:t> is the interesting one: same ward, one year earlier. Close → a </a:t>
            </a:r>
            <a:r>
              <a:rPr lang="en-US" sz="1500" b="1" dirty="0">
                <a:solidFill>
                  <a:srgbClr val="3A322C"/>
                </a:solidFill>
                <a:latin typeface="Carlito" pitchFamily="34" charset="0"/>
                <a:ea typeface="Carlito" pitchFamily="34" charset="-122"/>
                <a:cs typeface="Carlito" pitchFamily="34" charset="-120"/>
              </a:rPr>
              <a:t>reservoir</a:t>
            </a:r>
            <a:r>
              <a:rPr lang="en-US" sz="1500" dirty="0">
                <a:solidFill>
                  <a:srgbClr val="3A322C"/>
                </a:solidFill>
                <a:latin typeface="Carlito" pitchFamily="34" charset="0"/>
                <a:ea typeface="Carlito" pitchFamily="34" charset="-122"/>
                <a:cs typeface="Carlito" pitchFamily="34" charset="-120"/>
              </a:rPr>
              <a:t>? Far → a new introduction?</a:t>
            </a:r>
            <a:endParaRPr lang="en-US" sz="1500" dirty="0"/>
          </a:p>
        </p:txBody>
      </p:sp>
      <p:pic>
        <p:nvPicPr>
          <p:cNvPr id="7"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8" name="Text 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7</a:t>
            </a:r>
            <a:endParaRPr lang="en-US" sz="1200" dirty="0"/>
          </a:p>
        </p:txBody>
      </p:sp>
      <p:sp>
        <p:nvSpPr>
          <p:cNvPr id="9" name="Text 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CE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372600" y="914400"/>
            <a:ext cx="2819400" cy="52197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891F15"/>
                </a:solidFill>
                <a:latin typeface="Carlito" pitchFamily="34" charset="0"/>
                <a:ea typeface="Carlito" pitchFamily="34" charset="-122"/>
                <a:cs typeface="Carlito" pitchFamily="34" charset="-120"/>
              </a:rPr>
              <a:t>DAY 7 · SESSION 2 · 11:00–12:30</a:t>
            </a:r>
            <a:endParaRPr lang="en-US" sz="1600" dirty="0"/>
          </a:p>
        </p:txBody>
      </p:sp>
      <p:sp>
        <p:nvSpPr>
          <p:cNvPr id="4" name="Text 1"/>
          <p:cNvSpPr>
            <a:spLocks noGrp="1"/>
          </p:cNvSpPr>
          <p:nvPr>
            <p:ph type="title"/>
          </p:nvPr>
        </p:nvSpPr>
        <p:spPr>
          <a:xfrm>
            <a:off x="0" y="3086100"/>
            <a:ext cx="1255776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6D2637"/>
                </a:solidFill>
                <a:latin typeface="Carlito" pitchFamily="34" charset="0"/>
                <a:ea typeface="Carlito" pitchFamily="34" charset="-122"/>
                <a:cs typeface="Carlito" pitchFamily="34" charset="-120"/>
              </a:rPr>
              <a:t>When did the cluster start?</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5A1F2E"/>
                </a:solidFill>
                <a:latin typeface="Carlito" pitchFamily="34" charset="0"/>
                <a:ea typeface="Carlito" pitchFamily="34" charset="-122"/>
                <a:cs typeface="Carlito" pitchFamily="34" charset="-120"/>
              </a:rPr>
              <a:t>Temporal signal and time-scaled trees with BactDating</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D2637"/>
                </a:solidFill>
                <a:latin typeface="Carlito" pitchFamily="34" charset="0"/>
                <a:ea typeface="Carlito" pitchFamily="34" charset="-122"/>
                <a:cs typeface="Carlito" pitchFamily="34" charset="-120"/>
              </a:rPr>
              <a:t>Module 6 · Phylogenetics and outbreak detection | Day 7</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637"/>
                </a:solidFill>
                <a:latin typeface="Carlito" pitchFamily="34" charset="0"/>
                <a:ea typeface="Carlito" pitchFamily="34" charset="-122"/>
                <a:cs typeface="Carlito"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First: is there a temporal signal?</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pic>
        <p:nvPicPr>
          <p:cNvPr id="4" name="Image 0" descr="Illustrative root-to-tip plot: isolates collected in later years sit further from the root, along a rising regression line"/>
          <p:cNvPicPr>
            <a:picLocks noChangeAspect="1"/>
          </p:cNvPicPr>
          <p:nvPr/>
        </p:nvPicPr>
        <p:blipFill>
          <a:blip r:embed="rId3"/>
          <a:srcRect/>
          <a:stretch/>
        </p:blipFill>
        <p:spPr>
          <a:xfrm>
            <a:off x="812800" y="1683990"/>
            <a:ext cx="4572000" cy="2540000"/>
          </a:xfrm>
          <a:prstGeom prst="rect">
            <a:avLst/>
          </a:prstGeom>
        </p:spPr>
      </p:pic>
      <p:sp>
        <p:nvSpPr>
          <p:cNvPr id="5" name="Text 2"/>
          <p:cNvSpPr/>
          <p:nvPr/>
        </p:nvSpPr>
        <p:spPr>
          <a:xfrm>
            <a:off x="812800" y="4300190"/>
            <a:ext cx="18719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 distance from the root</a:t>
            </a:r>
            <a:endParaRPr lang="en-US" sz="1200" dirty="0"/>
          </a:p>
        </p:txBody>
      </p:sp>
      <p:sp>
        <p:nvSpPr>
          <p:cNvPr id="6" name="Text 3"/>
          <p:cNvSpPr/>
          <p:nvPr/>
        </p:nvSpPr>
        <p:spPr>
          <a:xfrm>
            <a:off x="4068028" y="4300190"/>
            <a:ext cx="1316772"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collection date →</a:t>
            </a:r>
            <a:endParaRPr lang="en-US" sz="1200" dirty="0"/>
          </a:p>
        </p:txBody>
      </p:sp>
      <p:sp>
        <p:nvSpPr>
          <p:cNvPr id="7" name="Text 4"/>
          <p:cNvSpPr/>
          <p:nvPr/>
        </p:nvSpPr>
        <p:spPr>
          <a:xfrm>
            <a:off x="812800" y="4589711"/>
            <a:ext cx="47091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Illustrative, not the ST39 data</a:t>
            </a:r>
            <a:endParaRPr lang="en-US" sz="1200" dirty="0"/>
          </a:p>
        </p:txBody>
      </p:sp>
      <p:sp>
        <p:nvSpPr>
          <p:cNvPr id="8" name="Text 5"/>
          <p:cNvSpPr/>
          <p:nvPr/>
        </p:nvSpPr>
        <p:spPr>
          <a:xfrm>
            <a:off x="5740400" y="1683990"/>
            <a:ext cx="5807964" cy="50542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Root-to-tip regression</a:t>
            </a:r>
            <a:r>
              <a:rPr lang="en-US" sz="1400" dirty="0">
                <a:solidFill>
                  <a:srgbClr val="3A322C"/>
                </a:solidFill>
                <a:latin typeface="Carlito" pitchFamily="34" charset="0"/>
                <a:ea typeface="Carlito" pitchFamily="34" charset="-122"/>
                <a:cs typeface="Carlito" pitchFamily="34" charset="-120"/>
              </a:rPr>
              <a:t>: do isolates collected later carry more mutations since the root?</a:t>
            </a:r>
            <a:endParaRPr lang="en-US" sz="1400" dirty="0"/>
          </a:p>
        </p:txBody>
      </p:sp>
      <p:sp>
        <p:nvSpPr>
          <p:cNvPr id="9" name="Text 6"/>
          <p:cNvSpPr/>
          <p:nvPr/>
        </p:nvSpPr>
        <p:spPr>
          <a:xfrm>
            <a:off x="5740400" y="2316411"/>
            <a:ext cx="580796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A clear </a:t>
            </a:r>
            <a:r>
              <a:rPr lang="en-US" sz="1400" b="1" dirty="0">
                <a:solidFill>
                  <a:srgbClr val="3A322C"/>
                </a:solidFill>
                <a:latin typeface="Carlito" pitchFamily="34" charset="0"/>
                <a:ea typeface="Carlito" pitchFamily="34" charset="-122"/>
                <a:cs typeface="Carlito" pitchFamily="34" charset="-120"/>
              </a:rPr>
              <a:t>positive slope</a:t>
            </a:r>
            <a:r>
              <a:rPr lang="en-US" sz="1400" dirty="0">
                <a:solidFill>
                  <a:srgbClr val="3A322C"/>
                </a:solidFill>
                <a:latin typeface="Carlito" pitchFamily="34" charset="0"/>
                <a:ea typeface="Carlito" pitchFamily="34" charset="-122"/>
                <a:cs typeface="Carlito" pitchFamily="34" charset="-120"/>
              </a:rPr>
              <a:t>, with a p-value from randomly permuting the dates, means the tree can be dated.</a:t>
            </a:r>
            <a:endParaRPr lang="en-US" sz="1400" dirty="0"/>
          </a:p>
        </p:txBody>
      </p:sp>
      <p:sp>
        <p:nvSpPr>
          <p:cNvPr id="10" name="Text 7"/>
          <p:cNvSpPr/>
          <p:nvPr/>
        </p:nvSpPr>
        <p:spPr>
          <a:xfrm>
            <a:off x="5740400" y="2948831"/>
            <a:ext cx="5807964"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891F15"/>
                </a:solidFill>
                <a:latin typeface="Carlito" pitchFamily="34" charset="0"/>
                <a:ea typeface="Carlito" pitchFamily="34" charset="-122"/>
                <a:cs typeface="Carlito" pitchFamily="34" charset="-120"/>
              </a:rPr>
              <a:t>No clear slope: </a:t>
            </a:r>
            <a:r>
              <a:rPr lang="en-US" sz="1400" b="1" dirty="0">
                <a:solidFill>
                  <a:srgbClr val="891F15"/>
                </a:solidFill>
                <a:latin typeface="Carlito" pitchFamily="34" charset="0"/>
                <a:ea typeface="Carlito" pitchFamily="34" charset="-122"/>
                <a:cs typeface="Carlito" pitchFamily="34" charset="-120"/>
              </a:rPr>
              <a:t>do not date the tree</a:t>
            </a:r>
            <a:r>
              <a:rPr lang="en-US" sz="1400" dirty="0">
                <a:solidFill>
                  <a:srgbClr val="891F15"/>
                </a:solidFill>
                <a:latin typeface="Carlito" pitchFamily="34" charset="0"/>
                <a:ea typeface="Carlito" pitchFamily="34" charset="-122"/>
                <a:cs typeface="Carlito" pitchFamily="34" charset="-120"/>
              </a:rPr>
              <a:t>. Say the data cannot date the cluster.</a:t>
            </a:r>
            <a:endParaRPr lang="en-US" sz="1400" dirty="0"/>
          </a:p>
        </p:txBody>
      </p:sp>
      <p:pic>
        <p:nvPicPr>
          <p:cNvPr id="11"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12" name="Text 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7</a:t>
            </a:r>
            <a:endParaRPr lang="en-US" sz="1200" dirty="0"/>
          </a:p>
        </p:txBody>
      </p:sp>
      <p:sp>
        <p:nvSpPr>
          <p:cNvPr id="13" name="Text 9"/>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BactDating in R</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58590"/>
            <a:ext cx="6731000" cy="3504605"/>
          </a:xfrm>
          <a:prstGeom prst="roundRect">
            <a:avLst>
              <a:gd name="adj" fmla="val 2174"/>
            </a:avLst>
          </a:prstGeom>
          <a:solidFill>
            <a:srgbClr val="273003"/>
          </a:solidFill>
          <a:ln/>
        </p:spPr>
        <p:txBody>
          <a:bodyPr wrap="square" lIns="180882" tIns="130082" rIns="0" bIns="104682" rtlCol="0" anchor="t">
            <a:normAutofit/>
          </a:bodyPr>
          <a:lstStyle/>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library(ape); library(BactDating); library(readr)</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meta &lt;- read_tsv(file.path(Sys.getenv("COURSE"),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"training_data/metadata_compact.tsv"))</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tree &lt;- loadGubbins("ST39")</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tree &lt;- drop.tip.useRec(tree, "Reference")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dates &lt;- meta$collection_year[match(tree$tip.label,</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meta$sample)]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names(dates) &lt;- tree$tip.label</a:t>
            </a:r>
            <a:endParaRPr lang="en-US" sz="1200" dirty="0"/>
          </a:p>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1. Temporal signal</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rooted &lt;- initRoot(tree, dates, useRec = TRUE)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roottotip(rooted, dates)</a:t>
            </a:r>
            <a:endParaRPr lang="en-US" sz="1200" dirty="0"/>
          </a:p>
          <a:p>
            <a:pPr marL="0" indent="0" algn="l">
              <a:lnSpc>
                <a:spcPts val="1680"/>
              </a:lnSpc>
              <a:buNone/>
            </a:pPr>
            <a:r>
              <a:rPr lang="en-US" sz="1200" dirty="0">
                <a:solidFill>
                  <a:srgbClr val="C2CA6E"/>
                </a:solidFill>
                <a:latin typeface="JetBrains Mono" pitchFamily="49" charset="0"/>
                <a:ea typeface="JetBrains Mono" pitchFamily="49" charset="-122"/>
                <a:cs typeface="JetBrains Mono" pitchFamily="49" charset="-120"/>
              </a:rPr>
              <a:t># 2. Time-scaled tree (a few minutes)</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res &lt;- bactdate(tree, dates, nbIts = 1e5,</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                useRec = TRUE, showProgress = TRUE)</a:t>
            </a:r>
            <a:endParaRPr lang="en-US" sz="1200" dirty="0"/>
          </a:p>
          <a:p>
            <a:pPr marL="0" indent="0" algn="l">
              <a:lnSpc>
                <a:spcPts val="1680"/>
              </a:lnSpc>
              <a:buNone/>
            </a:pPr>
            <a:r>
              <a:rPr lang="en-US" sz="1200" dirty="0">
                <a:solidFill>
                  <a:srgbClr val="F3EEDF"/>
                </a:solidFill>
                <a:latin typeface="JetBrains Mono" pitchFamily="49" charset="0"/>
                <a:ea typeface="JetBrains Mono" pitchFamily="49" charset="-122"/>
                <a:cs typeface="JetBrains Mono" pitchFamily="49" charset="-120"/>
              </a:rPr>
              <a:t>res; plot(res, "treeCI"); plot(res, "trace")</a:t>
            </a:r>
            <a:endParaRPr lang="en-US" sz="1200" dirty="0"/>
          </a:p>
        </p:txBody>
      </p:sp>
      <p:sp>
        <p:nvSpPr>
          <p:cNvPr id="5" name="Text 3"/>
          <p:cNvSpPr/>
          <p:nvPr/>
        </p:nvSpPr>
        <p:spPr>
          <a:xfrm>
            <a:off x="7797800" y="1658590"/>
            <a:ext cx="3688842" cy="471091"/>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A322C"/>
                </a:solidFill>
                <a:latin typeface="Carlito" pitchFamily="34" charset="0"/>
                <a:ea typeface="Carlito" pitchFamily="34" charset="-122"/>
                <a:cs typeface="Carlito" pitchFamily="34" charset="-120"/>
              </a:rPr>
              <a:t>loadGubbins</a:t>
            </a:r>
            <a:r>
              <a:rPr lang="en-US" sz="1300" dirty="0">
                <a:solidFill>
                  <a:srgbClr val="3A322C"/>
                </a:solidFill>
                <a:latin typeface="Carlito" pitchFamily="34" charset="0"/>
                <a:ea typeface="Carlito" pitchFamily="34" charset="-122"/>
                <a:cs typeface="Carlito" pitchFamily="34" charset="-120"/>
              </a:rPr>
              <a:t>: the Gubbins tree, with how much of each branch is free of recombination.</a:t>
            </a:r>
            <a:endParaRPr lang="en-US" sz="1300" dirty="0"/>
          </a:p>
        </p:txBody>
      </p:sp>
      <p:sp>
        <p:nvSpPr>
          <p:cNvPr id="6" name="Text 4"/>
          <p:cNvSpPr/>
          <p:nvPr/>
        </p:nvSpPr>
        <p:spPr>
          <a:xfrm>
            <a:off x="7797800" y="2218581"/>
            <a:ext cx="3688842" cy="471091"/>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A322C"/>
                </a:solidFill>
                <a:latin typeface="Carlito" pitchFamily="34" charset="0"/>
                <a:ea typeface="Carlito" pitchFamily="34" charset="-122"/>
                <a:cs typeface="Carlito" pitchFamily="34" charset="-120"/>
              </a:rPr>
              <a:t>drop.tip.useRec</a:t>
            </a:r>
            <a:r>
              <a:rPr lang="en-US" sz="1300" dirty="0">
                <a:solidFill>
                  <a:srgbClr val="3A322C"/>
                </a:solidFill>
                <a:latin typeface="Carlito" pitchFamily="34" charset="0"/>
                <a:ea typeface="Carlito" pitchFamily="34" charset="-122"/>
                <a:cs typeface="Carlito" pitchFamily="34" charset="-120"/>
              </a:rPr>
              <a:t>: removes the undated Reference tip and keeps that information.</a:t>
            </a:r>
            <a:endParaRPr lang="en-US" sz="1300" dirty="0"/>
          </a:p>
        </p:txBody>
      </p:sp>
      <p:sp>
        <p:nvSpPr>
          <p:cNvPr id="7" name="Text 5"/>
          <p:cNvSpPr/>
          <p:nvPr/>
        </p:nvSpPr>
        <p:spPr>
          <a:xfrm>
            <a:off x="7797800" y="2778571"/>
            <a:ext cx="3688842" cy="471091"/>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A322C"/>
                </a:solidFill>
                <a:latin typeface="Carlito" pitchFamily="34" charset="0"/>
                <a:ea typeface="Carlito" pitchFamily="34" charset="-122"/>
                <a:cs typeface="Carlito" pitchFamily="34" charset="-120"/>
              </a:rPr>
              <a:t>useRec = TRUE</a:t>
            </a:r>
            <a:r>
              <a:rPr lang="en-US" sz="1300" dirty="0">
                <a:solidFill>
                  <a:srgbClr val="3A322C"/>
                </a:solidFill>
                <a:latin typeface="Carlito" pitchFamily="34" charset="0"/>
                <a:ea typeface="Carlito" pitchFamily="34" charset="-122"/>
                <a:cs typeface="Carlito" pitchFamily="34" charset="-120"/>
              </a:rPr>
              <a:t>: recombined stretches do not count as clock-like change.</a:t>
            </a:r>
            <a:endParaRPr lang="en-US" sz="1300" dirty="0"/>
          </a:p>
        </p:txBody>
      </p:sp>
      <p:sp>
        <p:nvSpPr>
          <p:cNvPr id="8" name="Text 6"/>
          <p:cNvSpPr/>
          <p:nvPr/>
        </p:nvSpPr>
        <p:spPr>
          <a:xfrm>
            <a:off x="7797800" y="3338562"/>
            <a:ext cx="3688842" cy="471091"/>
          </a:xfrm>
          <a:prstGeom prst="rect">
            <a:avLst/>
          </a:prstGeom>
          <a:noFill/>
          <a:ln/>
        </p:spPr>
        <p:txBody>
          <a:bodyPr wrap="square" lIns="0" tIns="0" rIns="0" bIns="0" rtlCol="0" anchor="t">
            <a:normAutofit/>
          </a:bodyPr>
          <a:lstStyle/>
          <a:p>
            <a:pPr marL="0" indent="0" algn="l">
              <a:lnSpc>
                <a:spcPts val="1755"/>
              </a:lnSpc>
              <a:buNone/>
            </a:pPr>
            <a:r>
              <a:rPr lang="en-US" sz="1300" b="1" dirty="0">
                <a:solidFill>
                  <a:srgbClr val="3A322C"/>
                </a:solidFill>
                <a:latin typeface="Carlito" pitchFamily="34" charset="0"/>
                <a:ea typeface="Carlito" pitchFamily="34" charset="-122"/>
                <a:cs typeface="Carlito" pitchFamily="34" charset="-120"/>
              </a:rPr>
              <a:t>res</a:t>
            </a:r>
            <a:r>
              <a:rPr lang="en-US" sz="1300" dirty="0">
                <a:solidFill>
                  <a:srgbClr val="3A322C"/>
                </a:solidFill>
                <a:latin typeface="Carlito" pitchFamily="34" charset="0"/>
                <a:ea typeface="Carlito" pitchFamily="34" charset="-122"/>
                <a:cs typeface="Carlito" pitchFamily="34" charset="-120"/>
              </a:rPr>
              <a:t>: root date and rate, with credible intervals. The </a:t>
            </a:r>
            <a:r>
              <a:rPr lang="en-US" sz="1300" b="1" dirty="0">
                <a:solidFill>
                  <a:srgbClr val="3A322C"/>
                </a:solidFill>
                <a:latin typeface="Carlito" pitchFamily="34" charset="0"/>
                <a:ea typeface="Carlito" pitchFamily="34" charset="-122"/>
                <a:cs typeface="Carlito" pitchFamily="34" charset="-120"/>
              </a:rPr>
              <a:t>trace</a:t>
            </a:r>
            <a:r>
              <a:rPr lang="en-US" sz="1300" dirty="0">
                <a:solidFill>
                  <a:srgbClr val="3A322C"/>
                </a:solidFill>
                <a:latin typeface="Carlito" pitchFamily="34" charset="0"/>
                <a:ea typeface="Carlito" pitchFamily="34" charset="-122"/>
                <a:cs typeface="Carlito" pitchFamily="34" charset="-120"/>
              </a:rPr>
              <a:t> should look like a flat, hairy caterpillar.</a:t>
            </a:r>
            <a:endParaRPr lang="en-US" sz="1300" dirty="0"/>
          </a:p>
        </p:txBody>
      </p:sp>
      <p:pic>
        <p:nvPicPr>
          <p:cNvPr id="9"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0" name="Text 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7</a:t>
            </a:r>
            <a:endParaRPr lang="en-US" sz="1200" dirty="0"/>
          </a:p>
        </p:txBody>
      </p:sp>
      <p:sp>
        <p:nvSpPr>
          <p:cNvPr id="11" name="Text 8"/>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7300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9F2EA"/>
                </a:solidFill>
                <a:latin typeface="Carlito" pitchFamily="34" charset="0"/>
                <a:ea typeface="Carlito" pitchFamily="34" charset="-122"/>
                <a:cs typeface="Carlito" pitchFamily="34" charset="-120"/>
              </a:rPr>
              <a:t>What a date can tell the IPC team</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txBody>
          <a:bodyPr/>
          <a:lstStyle/>
          <a:p>
            <a:endParaRPr lang="en-KE"/>
          </a:p>
        </p:txBody>
      </p:sp>
      <p:sp>
        <p:nvSpPr>
          <p:cNvPr id="4" name="Text 2"/>
          <p:cNvSpPr/>
          <p:nvPr/>
        </p:nvSpPr>
        <p:spPr>
          <a:xfrm>
            <a:off x="812800" y="1760190"/>
            <a:ext cx="580796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THE CLUSTER'S COMMON ANCESTOR</a:t>
            </a:r>
            <a:endParaRPr lang="en-US" sz="1200" dirty="0"/>
          </a:p>
        </p:txBody>
      </p:sp>
      <p:sp>
        <p:nvSpPr>
          <p:cNvPr id="5" name="Text 3"/>
          <p:cNvSpPr/>
          <p:nvPr/>
        </p:nvSpPr>
        <p:spPr>
          <a:xfrm>
            <a:off x="812800" y="2100511"/>
            <a:ext cx="5807964"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Roughly when the lineage started diversifying in the unit.</a:t>
            </a:r>
            <a:endParaRPr lang="en-US" sz="1600" dirty="0"/>
          </a:p>
        </p:txBody>
      </p:sp>
      <p:sp>
        <p:nvSpPr>
          <p:cNvPr id="6" name="Text 4"/>
          <p:cNvSpPr/>
          <p:nvPr/>
        </p:nvSpPr>
        <p:spPr>
          <a:xfrm>
            <a:off x="812800" y="2501801"/>
            <a:ext cx="5807964"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DDE2B0"/>
                </a:solidFill>
                <a:latin typeface="Carlito" pitchFamily="34" charset="0"/>
                <a:ea typeface="Carlito" pitchFamily="34" charset="-122"/>
                <a:cs typeface="Carlito" pitchFamily="34" charset="-120"/>
              </a:rPr>
              <a:t>Well before the first case? The lineage may have circulated </a:t>
            </a:r>
            <a:r>
              <a:rPr lang="en-US" sz="1500" b="1" dirty="0">
                <a:solidFill>
                  <a:srgbClr val="DDE2B0"/>
                </a:solidFill>
                <a:latin typeface="Carlito" pitchFamily="34" charset="0"/>
                <a:ea typeface="Carlito" pitchFamily="34" charset="-122"/>
                <a:cs typeface="Carlito" pitchFamily="34" charset="-120"/>
              </a:rPr>
              <a:t>undetected</a:t>
            </a:r>
            <a:r>
              <a:rPr lang="en-US" sz="1500" dirty="0">
                <a:solidFill>
                  <a:srgbClr val="DDE2B0"/>
                </a:solidFill>
                <a:latin typeface="Carlito" pitchFamily="34" charset="0"/>
                <a:ea typeface="Carlito" pitchFamily="34" charset="-122"/>
                <a:cs typeface="Carlito" pitchFamily="34" charset="-120"/>
              </a:rPr>
              <a:t>: colonised babies, an environmental reservoir.</a:t>
            </a:r>
            <a:endParaRPr lang="en-US" sz="1500" dirty="0"/>
          </a:p>
        </p:txBody>
      </p:sp>
      <p:sp>
        <p:nvSpPr>
          <p:cNvPr id="7" name="Shape 5"/>
          <p:cNvSpPr/>
          <p:nvPr/>
        </p:nvSpPr>
        <p:spPr>
          <a:xfrm>
            <a:off x="6807200" y="1760190"/>
            <a:ext cx="4572000" cy="1953220"/>
          </a:xfrm>
          <a:prstGeom prst="roundRect">
            <a:avLst>
              <a:gd name="adj" fmla="val 3901"/>
            </a:avLst>
          </a:prstGeom>
          <a:solidFill>
            <a:srgbClr val="FFCE00"/>
          </a:solidFill>
          <a:ln/>
        </p:spPr>
        <p:txBody>
          <a:bodyPr/>
          <a:lstStyle/>
          <a:p>
            <a:endParaRPr lang="en-KE"/>
          </a:p>
        </p:txBody>
      </p:sp>
      <p:sp>
        <p:nvSpPr>
          <p:cNvPr id="8" name="Text 6"/>
          <p:cNvSpPr/>
          <p:nvPr/>
        </p:nvSpPr>
        <p:spPr>
          <a:xfrm>
            <a:off x="7061200" y="1988790"/>
            <a:ext cx="41859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D2637"/>
                </a:solidFill>
                <a:latin typeface="Carlito" pitchFamily="34" charset="0"/>
                <a:ea typeface="Carlito" pitchFamily="34" charset="-122"/>
                <a:cs typeface="Carlito" pitchFamily="34" charset="-120"/>
              </a:rPr>
              <a:t>LIMITS HERE</a:t>
            </a:r>
            <a:endParaRPr lang="en-US" sz="1200" dirty="0"/>
          </a:p>
        </p:txBody>
      </p:sp>
      <p:sp>
        <p:nvSpPr>
          <p:cNvPr id="9" name="Text 7"/>
          <p:cNvSpPr/>
          <p:nvPr/>
        </p:nvSpPr>
        <p:spPr>
          <a:xfrm>
            <a:off x="7061200" y="2329111"/>
            <a:ext cx="418592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Dates are </a:t>
            </a:r>
            <a:r>
              <a:rPr lang="en-US" sz="1500" b="1" dirty="0">
                <a:solidFill>
                  <a:srgbClr val="3A322C"/>
                </a:solidFill>
                <a:latin typeface="Carlito" pitchFamily="34" charset="0"/>
                <a:ea typeface="Carlito" pitchFamily="34" charset="-122"/>
                <a:cs typeface="Carlito" pitchFamily="34" charset="-120"/>
              </a:rPr>
              <a:t>years only</a:t>
            </a:r>
            <a:r>
              <a:rPr lang="en-US" sz="1500" dirty="0">
                <a:solidFill>
                  <a:srgbClr val="3A322C"/>
                </a:solidFill>
                <a:latin typeface="Carlito" pitchFamily="34" charset="0"/>
                <a:ea typeface="Carlito" pitchFamily="34" charset="-122"/>
                <a:cs typeface="Carlito" pitchFamily="34" charset="-120"/>
              </a:rPr>
              <a:t>, most from 2016–2019: expect wide credible intervals.</a:t>
            </a:r>
            <a:endParaRPr lang="en-US" sz="1500" dirty="0"/>
          </a:p>
        </p:txBody>
      </p:sp>
      <p:sp>
        <p:nvSpPr>
          <p:cNvPr id="10" name="Text 8"/>
          <p:cNvSpPr/>
          <p:nvPr/>
        </p:nvSpPr>
        <p:spPr>
          <a:xfrm>
            <a:off x="7061200" y="2970461"/>
            <a:ext cx="4185920"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Report "around year X", not a month. </a:t>
            </a:r>
            <a:r>
              <a:rPr lang="en-US" sz="1500" b="1" dirty="0">
                <a:solidFill>
                  <a:srgbClr val="3A322C"/>
                </a:solidFill>
                <a:latin typeface="Carlito" pitchFamily="34" charset="0"/>
                <a:ea typeface="Carlito" pitchFamily="34" charset="-122"/>
                <a:cs typeface="Carlito" pitchFamily="34" charset="-120"/>
              </a:rPr>
              <a:t>Honest uncertainty is a valid result.</a:t>
            </a:r>
            <a:endParaRPr lang="en-US" sz="1500" dirty="0"/>
          </a:p>
        </p:txBody>
      </p:sp>
      <p:sp>
        <p:nvSpPr>
          <p:cNvPr id="11" name="Text 9"/>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8A"/>
                </a:solidFill>
                <a:latin typeface="Carlito" pitchFamily="34" charset="0"/>
                <a:ea typeface="Carlito" pitchFamily="34" charset="-122"/>
                <a:cs typeface="Carlito" pitchFamily="34" charset="-120"/>
              </a:rPr>
              <a:t>Module 6 · Phylogenetics and outbreak detection | Day 7</a:t>
            </a:r>
            <a:endParaRPr lang="en-US" sz="1200" dirty="0"/>
          </a:p>
        </p:txBody>
      </p:sp>
      <p:sp>
        <p:nvSpPr>
          <p:cNvPr id="12" name="Text 1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8A"/>
                </a:solidFill>
                <a:latin typeface="Carlito" pitchFamily="34" charset="0"/>
                <a:ea typeface="Carlito" pitchFamily="34" charset="-122"/>
                <a:cs typeface="Carlito"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891F1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410700" y="704850"/>
            <a:ext cx="2781300" cy="5448300"/>
          </a:xfrm>
          <a:prstGeom prst="rect">
            <a:avLst/>
          </a:prstGeom>
        </p:spPr>
      </p:pic>
      <p:sp>
        <p:nvSpPr>
          <p:cNvPr id="3" name="Text 0"/>
          <p:cNvSpPr/>
          <p:nvPr/>
        </p:nvSpPr>
        <p:spPr>
          <a:xfrm>
            <a:off x="0" y="262384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FFCE00"/>
                </a:solidFill>
                <a:latin typeface="Carlito" pitchFamily="34" charset="0"/>
                <a:ea typeface="Carlito" pitchFamily="34" charset="-122"/>
                <a:cs typeface="Carlito" pitchFamily="34" charset="-120"/>
              </a:rPr>
              <a:t>DAY 7 · SESSIONS 3–4 · 13:30–17:00</a:t>
            </a:r>
            <a:endParaRPr lang="en-US" sz="1600" dirty="0"/>
          </a:p>
        </p:txBody>
      </p:sp>
      <p:sp>
        <p:nvSpPr>
          <p:cNvPr id="4" name="Text 1"/>
          <p:cNvSpPr>
            <a:spLocks noGrp="1"/>
          </p:cNvSpPr>
          <p:nvPr>
            <p:ph type="title"/>
          </p:nvPr>
        </p:nvSpPr>
        <p:spPr>
          <a:xfrm>
            <a:off x="0" y="3086100"/>
            <a:ext cx="1255776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9F2EA"/>
                </a:solidFill>
                <a:latin typeface="Carlito" pitchFamily="34" charset="0"/>
                <a:ea typeface="Carlito" pitchFamily="34" charset="-122"/>
                <a:cs typeface="Carlito" pitchFamily="34" charset="-120"/>
              </a:rPr>
              <a:t>From evidence to action</a:t>
            </a:r>
            <a:endParaRPr lang="en-US" sz="4800" dirty="0"/>
          </a:p>
        </p:txBody>
      </p:sp>
      <p:sp>
        <p:nvSpPr>
          <p:cNvPr id="5" name="Text 2"/>
          <p:cNvSpPr/>
          <p:nvPr/>
        </p:nvSpPr>
        <p:spPr>
          <a:xfrm>
            <a:off x="0" y="390396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1D3C9"/>
                </a:solidFill>
                <a:latin typeface="Carlito" pitchFamily="34" charset="0"/>
                <a:ea typeface="Carlito" pitchFamily="34" charset="-122"/>
                <a:cs typeface="Carlito" pitchFamily="34" charset="-120"/>
              </a:rPr>
              <a:t>The outbreak summary, and presenting it to the IPC team</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B5A8"/>
                </a:solidFill>
                <a:latin typeface="Carlito" pitchFamily="34" charset="0"/>
                <a:ea typeface="Carlito" pitchFamily="34" charset="-122"/>
                <a:cs typeface="Carlito" pitchFamily="34" charset="-120"/>
              </a:rPr>
              <a:t>Module 6 · Phylogenetics and outbreak detection | Day 7</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3B5A8"/>
                </a:solidFill>
                <a:latin typeface="Carlito" pitchFamily="34" charset="0"/>
                <a:ea typeface="Carlito" pitchFamily="34" charset="-122"/>
                <a:cs typeface="Carlito"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The one-page outbreak summary</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2071340"/>
            <a:ext cx="5283200" cy="0"/>
          </a:xfrm>
          <a:prstGeom prst="line">
            <a:avLst/>
          </a:prstGeom>
          <a:noFill/>
          <a:ln w="12700">
            <a:solidFill>
              <a:srgbClr val="D9CDBF"/>
            </a:solidFill>
            <a:prstDash val="solid"/>
          </a:ln>
        </p:spPr>
        <p:txBody>
          <a:bodyPr/>
          <a:lstStyle/>
          <a:p>
            <a:endParaRPr lang="en-KE"/>
          </a:p>
        </p:txBody>
      </p:sp>
      <p:sp>
        <p:nvSpPr>
          <p:cNvPr id="5" name="Text 3"/>
          <p:cNvSpPr/>
          <p:nvPr/>
        </p:nvSpPr>
        <p:spPr>
          <a:xfrm>
            <a:off x="812800" y="1683990"/>
            <a:ext cx="179536"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891F15"/>
                </a:solidFill>
                <a:latin typeface="Carlito" pitchFamily="34" charset="0"/>
                <a:ea typeface="Carlito" pitchFamily="34" charset="-122"/>
                <a:cs typeface="Carlito" pitchFamily="34" charset="-120"/>
              </a:rPr>
              <a:t>1</a:t>
            </a:r>
            <a:endParaRPr lang="en-US" sz="2000" dirty="0"/>
          </a:p>
        </p:txBody>
      </p:sp>
      <p:sp>
        <p:nvSpPr>
          <p:cNvPr id="6" name="Text 4"/>
          <p:cNvSpPr/>
          <p:nvPr/>
        </p:nvSpPr>
        <p:spPr>
          <a:xfrm>
            <a:off x="1093936" y="1683990"/>
            <a:ext cx="4816197"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Key finding</a:t>
            </a:r>
            <a:r>
              <a:rPr lang="en-US" sz="1400" dirty="0">
                <a:solidFill>
                  <a:srgbClr val="3A322C"/>
                </a:solidFill>
                <a:latin typeface="Carlito" pitchFamily="34" charset="0"/>
                <a:ea typeface="Carlito" pitchFamily="34" charset="-122"/>
                <a:cs typeface="Carlito" pitchFamily="34" charset="-120"/>
              </a:rPr>
              <a:t>: what you found and how confident you are</a:t>
            </a:r>
            <a:endParaRPr lang="en-US" sz="1400" dirty="0"/>
          </a:p>
        </p:txBody>
      </p:sp>
      <p:sp>
        <p:nvSpPr>
          <p:cNvPr id="7" name="Shape 5"/>
          <p:cNvSpPr/>
          <p:nvPr/>
        </p:nvSpPr>
        <p:spPr>
          <a:xfrm>
            <a:off x="6096000" y="2071340"/>
            <a:ext cx="5283200" cy="0"/>
          </a:xfrm>
          <a:prstGeom prst="line">
            <a:avLst/>
          </a:prstGeom>
          <a:noFill/>
          <a:ln w="12700">
            <a:solidFill>
              <a:srgbClr val="D9CDBF"/>
            </a:solidFill>
            <a:prstDash val="solid"/>
          </a:ln>
        </p:spPr>
        <p:txBody>
          <a:bodyPr/>
          <a:lstStyle/>
          <a:p>
            <a:endParaRPr lang="en-KE"/>
          </a:p>
        </p:txBody>
      </p:sp>
      <p:sp>
        <p:nvSpPr>
          <p:cNvPr id="8" name="Text 6"/>
          <p:cNvSpPr/>
          <p:nvPr/>
        </p:nvSpPr>
        <p:spPr>
          <a:xfrm>
            <a:off x="6096000" y="1683990"/>
            <a:ext cx="179536"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891F15"/>
                </a:solidFill>
                <a:latin typeface="Carlito" pitchFamily="34" charset="0"/>
                <a:ea typeface="Carlito" pitchFamily="34" charset="-122"/>
                <a:cs typeface="Carlito" pitchFamily="34" charset="-120"/>
              </a:rPr>
              <a:t>2</a:t>
            </a:r>
            <a:endParaRPr lang="en-US" sz="2000" dirty="0"/>
          </a:p>
        </p:txBody>
      </p:sp>
      <p:sp>
        <p:nvSpPr>
          <p:cNvPr id="9" name="Text 7"/>
          <p:cNvSpPr/>
          <p:nvPr/>
        </p:nvSpPr>
        <p:spPr>
          <a:xfrm>
            <a:off x="6377136" y="1683990"/>
            <a:ext cx="4001691"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Isolates</a:t>
            </a:r>
            <a:r>
              <a:rPr lang="en-US" sz="1400" dirty="0">
                <a:solidFill>
                  <a:srgbClr val="3A322C"/>
                </a:solidFill>
                <a:latin typeface="Carlito" pitchFamily="34" charset="0"/>
                <a:ea typeface="Carlito" pitchFamily="34" charset="-122"/>
                <a:cs typeface="Carlito" pitchFamily="34" charset="-120"/>
              </a:rPr>
              <a:t>: how many, which ward, which period</a:t>
            </a:r>
            <a:endParaRPr lang="en-US" sz="1400" dirty="0"/>
          </a:p>
        </p:txBody>
      </p:sp>
      <p:sp>
        <p:nvSpPr>
          <p:cNvPr id="10" name="Shape 8"/>
          <p:cNvSpPr/>
          <p:nvPr/>
        </p:nvSpPr>
        <p:spPr>
          <a:xfrm>
            <a:off x="812800" y="2665661"/>
            <a:ext cx="5283200" cy="0"/>
          </a:xfrm>
          <a:prstGeom prst="line">
            <a:avLst/>
          </a:prstGeom>
          <a:noFill/>
          <a:ln w="12700">
            <a:solidFill>
              <a:srgbClr val="D9CDBF"/>
            </a:solidFill>
            <a:prstDash val="solid"/>
          </a:ln>
        </p:spPr>
        <p:txBody>
          <a:bodyPr/>
          <a:lstStyle/>
          <a:p>
            <a:endParaRPr lang="en-KE"/>
          </a:p>
        </p:txBody>
      </p:sp>
      <p:sp>
        <p:nvSpPr>
          <p:cNvPr id="11" name="Text 9"/>
          <p:cNvSpPr/>
          <p:nvPr/>
        </p:nvSpPr>
        <p:spPr>
          <a:xfrm>
            <a:off x="812800" y="2077690"/>
            <a:ext cx="179536"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891F15"/>
                </a:solidFill>
                <a:latin typeface="Carlito" pitchFamily="34" charset="0"/>
                <a:ea typeface="Carlito" pitchFamily="34" charset="-122"/>
                <a:cs typeface="Carlito" pitchFamily="34" charset="-120"/>
              </a:rPr>
              <a:t>3</a:t>
            </a:r>
            <a:endParaRPr lang="en-US" sz="2000" dirty="0"/>
          </a:p>
        </p:txBody>
      </p:sp>
      <p:sp>
        <p:nvSpPr>
          <p:cNvPr id="12" name="Text 10"/>
          <p:cNvSpPr/>
          <p:nvPr/>
        </p:nvSpPr>
        <p:spPr>
          <a:xfrm>
            <a:off x="1093936" y="2077690"/>
            <a:ext cx="5152126" cy="50542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Genomic evidence</a:t>
            </a:r>
            <a:r>
              <a:rPr lang="en-US" sz="1400" dirty="0">
                <a:solidFill>
                  <a:srgbClr val="3A322C"/>
                </a:solidFill>
                <a:latin typeface="Carlito" pitchFamily="34" charset="0"/>
                <a:ea typeface="Carlito" pitchFamily="34" charset="-122"/>
                <a:cs typeface="Carlito" pitchFamily="34" charset="-120"/>
              </a:rPr>
              <a:t>: ST, SNP distances in and outside the cluster, tree figure</a:t>
            </a:r>
            <a:endParaRPr lang="en-US" sz="1400" dirty="0"/>
          </a:p>
        </p:txBody>
      </p:sp>
      <p:sp>
        <p:nvSpPr>
          <p:cNvPr id="13" name="Shape 11"/>
          <p:cNvSpPr/>
          <p:nvPr/>
        </p:nvSpPr>
        <p:spPr>
          <a:xfrm>
            <a:off x="6096000" y="2665661"/>
            <a:ext cx="5283200" cy="0"/>
          </a:xfrm>
          <a:prstGeom prst="line">
            <a:avLst/>
          </a:prstGeom>
          <a:noFill/>
          <a:ln w="12700">
            <a:solidFill>
              <a:srgbClr val="D9CDBF"/>
            </a:solidFill>
            <a:prstDash val="solid"/>
          </a:ln>
        </p:spPr>
        <p:txBody>
          <a:bodyPr/>
          <a:lstStyle/>
          <a:p>
            <a:endParaRPr lang="en-KE"/>
          </a:p>
        </p:txBody>
      </p:sp>
      <p:sp>
        <p:nvSpPr>
          <p:cNvPr id="14" name="Text 12"/>
          <p:cNvSpPr/>
          <p:nvPr/>
        </p:nvSpPr>
        <p:spPr>
          <a:xfrm>
            <a:off x="6096000" y="2077690"/>
            <a:ext cx="179536"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891F15"/>
                </a:solidFill>
                <a:latin typeface="Carlito" pitchFamily="34" charset="0"/>
                <a:ea typeface="Carlito" pitchFamily="34" charset="-122"/>
                <a:cs typeface="Carlito" pitchFamily="34" charset="-120"/>
              </a:rPr>
              <a:t>4</a:t>
            </a:r>
            <a:endParaRPr lang="en-US" sz="2000" dirty="0"/>
          </a:p>
        </p:txBody>
      </p:sp>
      <p:sp>
        <p:nvSpPr>
          <p:cNvPr id="15" name="Text 13"/>
          <p:cNvSpPr/>
          <p:nvPr/>
        </p:nvSpPr>
        <p:spPr>
          <a:xfrm>
            <a:off x="6377136" y="2077690"/>
            <a:ext cx="5152126" cy="50542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Interpretation</a:t>
            </a:r>
            <a:r>
              <a:rPr lang="en-US" sz="1400" dirty="0">
                <a:solidFill>
                  <a:srgbClr val="3A322C"/>
                </a:solidFill>
                <a:latin typeface="Carlito" pitchFamily="34" charset="0"/>
                <a:ea typeface="Carlito" pitchFamily="34" charset="-122"/>
                <a:cs typeface="Carlito" pitchFamily="34" charset="-120"/>
              </a:rPr>
              <a:t>: probable or possible transmission; reservoir or new introduction</a:t>
            </a:r>
            <a:endParaRPr lang="en-US" sz="1400" dirty="0"/>
          </a:p>
        </p:txBody>
      </p:sp>
      <p:sp>
        <p:nvSpPr>
          <p:cNvPr id="16" name="Text 14"/>
          <p:cNvSpPr/>
          <p:nvPr/>
        </p:nvSpPr>
        <p:spPr>
          <a:xfrm>
            <a:off x="812800" y="2672011"/>
            <a:ext cx="179536"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891F15"/>
                </a:solidFill>
                <a:latin typeface="Carlito" pitchFamily="34" charset="0"/>
                <a:ea typeface="Carlito" pitchFamily="34" charset="-122"/>
                <a:cs typeface="Carlito" pitchFamily="34" charset="-120"/>
              </a:rPr>
              <a:t>5</a:t>
            </a:r>
            <a:endParaRPr lang="en-US" sz="2000" dirty="0"/>
          </a:p>
        </p:txBody>
      </p:sp>
      <p:sp>
        <p:nvSpPr>
          <p:cNvPr id="17" name="Text 15"/>
          <p:cNvSpPr/>
          <p:nvPr/>
        </p:nvSpPr>
        <p:spPr>
          <a:xfrm>
            <a:off x="1093936" y="2672011"/>
            <a:ext cx="5152126" cy="50542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Limitations</a:t>
            </a:r>
            <a:r>
              <a:rPr lang="en-US" sz="1400" dirty="0">
                <a:solidFill>
                  <a:srgbClr val="3A322C"/>
                </a:solidFill>
                <a:latin typeface="Carlito" pitchFamily="34" charset="0"/>
                <a:ea typeface="Carlito" pitchFamily="34" charset="-122"/>
                <a:cs typeface="Carlito" pitchFamily="34" charset="-120"/>
              </a:rPr>
              <a:t>: only cultured, sequenced isolates; year-only dates; no environmental samples</a:t>
            </a:r>
            <a:endParaRPr lang="en-US" sz="1400" dirty="0"/>
          </a:p>
        </p:txBody>
      </p:sp>
      <p:sp>
        <p:nvSpPr>
          <p:cNvPr id="18" name="Text 16"/>
          <p:cNvSpPr/>
          <p:nvPr/>
        </p:nvSpPr>
        <p:spPr>
          <a:xfrm>
            <a:off x="6096000" y="2672011"/>
            <a:ext cx="179536" cy="304800"/>
          </a:xfrm>
          <a:prstGeom prst="rect">
            <a:avLst/>
          </a:prstGeom>
          <a:noFill/>
          <a:ln/>
        </p:spPr>
        <p:txBody>
          <a:bodyPr wrap="square" lIns="0" tIns="0" rIns="0" bIns="0" rtlCol="0" anchor="t">
            <a:normAutofit/>
          </a:bodyPr>
          <a:lstStyle/>
          <a:p>
            <a:pPr marL="0" indent="0" algn="l">
              <a:lnSpc>
                <a:spcPts val="2200"/>
              </a:lnSpc>
              <a:buNone/>
            </a:pPr>
            <a:r>
              <a:rPr lang="en-US" sz="2000" b="1" dirty="0">
                <a:solidFill>
                  <a:srgbClr val="891F15"/>
                </a:solidFill>
                <a:latin typeface="Carlito" pitchFamily="34" charset="0"/>
                <a:ea typeface="Carlito" pitchFamily="34" charset="-122"/>
                <a:cs typeface="Carlito" pitchFamily="34" charset="-120"/>
              </a:rPr>
              <a:t>6</a:t>
            </a:r>
            <a:endParaRPr lang="en-US" sz="2000" dirty="0"/>
          </a:p>
        </p:txBody>
      </p:sp>
      <p:sp>
        <p:nvSpPr>
          <p:cNvPr id="19" name="Text 17"/>
          <p:cNvSpPr/>
          <p:nvPr/>
        </p:nvSpPr>
        <p:spPr>
          <a:xfrm>
            <a:off x="6377136" y="2672011"/>
            <a:ext cx="3951030"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Recommended actions</a:t>
            </a:r>
            <a:r>
              <a:rPr lang="en-US" sz="1400" dirty="0">
                <a:solidFill>
                  <a:srgbClr val="3A322C"/>
                </a:solidFill>
                <a:latin typeface="Carlito" pitchFamily="34" charset="0"/>
                <a:ea typeface="Carlito" pitchFamily="34" charset="-122"/>
                <a:cs typeface="Carlito" pitchFamily="34" charset="-120"/>
              </a:rPr>
              <a:t>: two or three, specific</a:t>
            </a:r>
            <a:endParaRPr lang="en-US" sz="1400" dirty="0"/>
          </a:p>
        </p:txBody>
      </p:sp>
      <p:sp>
        <p:nvSpPr>
          <p:cNvPr id="20" name="Shape 18"/>
          <p:cNvSpPr/>
          <p:nvPr/>
        </p:nvSpPr>
        <p:spPr>
          <a:xfrm>
            <a:off x="812800" y="3482231"/>
            <a:ext cx="10566400" cy="609600"/>
          </a:xfrm>
          <a:prstGeom prst="roundRect">
            <a:avLst>
              <a:gd name="adj" fmla="val 12500"/>
            </a:avLst>
          </a:prstGeom>
          <a:solidFill>
            <a:srgbClr val="273003"/>
          </a:solidFill>
          <a:ln/>
        </p:spPr>
        <p:txBody>
          <a:bodyPr/>
          <a:lstStyle/>
          <a:p>
            <a:endParaRPr lang="en-KE"/>
          </a:p>
        </p:txBody>
      </p:sp>
      <p:pic>
        <p:nvPicPr>
          <p:cNvPr id="21" name="Image 0" descr="Lightbulb"/>
          <p:cNvPicPr>
            <a:picLocks noChangeAspect="1"/>
          </p:cNvPicPr>
          <p:nvPr/>
        </p:nvPicPr>
        <p:blipFill>
          <a:blip r:embed="rId3"/>
          <a:srcRect/>
          <a:stretch/>
        </p:blipFill>
        <p:spPr>
          <a:xfrm>
            <a:off x="1066800" y="3634631"/>
            <a:ext cx="304800" cy="304800"/>
          </a:xfrm>
          <a:prstGeom prst="rect">
            <a:avLst/>
          </a:prstGeom>
        </p:spPr>
      </p:pic>
      <p:sp>
        <p:nvSpPr>
          <p:cNvPr id="22" name="Text 19"/>
          <p:cNvSpPr/>
          <p:nvPr/>
        </p:nvSpPr>
        <p:spPr>
          <a:xfrm>
            <a:off x="1524000" y="3667026"/>
            <a:ext cx="7154347"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Write "probable transmission within the neonatal unit", not "outbreak confirmed".</a:t>
            </a:r>
            <a:endParaRPr lang="en-US" sz="1400" dirty="0"/>
          </a:p>
        </p:txBody>
      </p:sp>
      <p:pic>
        <p:nvPicPr>
          <p:cNvPr id="23"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24" name="Text 20"/>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7</a:t>
            </a:r>
            <a:endParaRPr lang="en-US" sz="1200" dirty="0"/>
          </a:p>
        </p:txBody>
      </p:sp>
      <p:sp>
        <p:nvSpPr>
          <p:cNvPr id="25" name="Text 2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Role play: the IPC meeting</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83990"/>
            <a:ext cx="10883392"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You are the genomics lead. Are the 2017 </a:t>
            </a:r>
            <a:r>
              <a:rPr lang="en-US" sz="1500" i="1" dirty="0">
                <a:solidFill>
                  <a:srgbClr val="3A322C"/>
                </a:solidFill>
                <a:latin typeface="Carlito" pitchFamily="34" charset="0"/>
                <a:ea typeface="Carlito" pitchFamily="34" charset="-122"/>
                <a:cs typeface="Carlito" pitchFamily="34" charset="-120"/>
              </a:rPr>
              <a:t>Klebsiella</a:t>
            </a:r>
            <a:r>
              <a:rPr lang="en-US" sz="1500" dirty="0">
                <a:solidFill>
                  <a:srgbClr val="3A322C"/>
                </a:solidFill>
                <a:latin typeface="Carlito" pitchFamily="34" charset="0"/>
                <a:ea typeface="Carlito" pitchFamily="34" charset="-122"/>
                <a:cs typeface="Carlito" pitchFamily="34" charset="-120"/>
              </a:rPr>
              <a:t> bloodstream infections linked? </a:t>
            </a:r>
            <a:r>
              <a:rPr lang="en-US" sz="1500" b="1" dirty="0">
                <a:solidFill>
                  <a:srgbClr val="3A322C"/>
                </a:solidFill>
                <a:latin typeface="Carlito" pitchFamily="34" charset="0"/>
                <a:ea typeface="Carlito" pitchFamily="34" charset="-122"/>
                <a:cs typeface="Carlito" pitchFamily="34" charset="-120"/>
              </a:rPr>
              <a:t>5 minutes</a:t>
            </a:r>
            <a:r>
              <a:rPr lang="en-US" sz="1500" dirty="0">
                <a:solidFill>
                  <a:srgbClr val="3A322C"/>
                </a:solidFill>
                <a:latin typeface="Carlito" pitchFamily="34" charset="0"/>
                <a:ea typeface="Carlito" pitchFamily="34" charset="-122"/>
                <a:cs typeface="Carlito" pitchFamily="34" charset="-120"/>
              </a:rPr>
              <a:t> to present, </a:t>
            </a:r>
            <a:r>
              <a:rPr lang="en-US" sz="1500" b="1" dirty="0">
                <a:solidFill>
                  <a:srgbClr val="3A322C"/>
                </a:solidFill>
                <a:latin typeface="Carlito" pitchFamily="34" charset="0"/>
                <a:ea typeface="Carlito" pitchFamily="34" charset="-122"/>
                <a:cs typeface="Carlito" pitchFamily="34" charset="-120"/>
              </a:rPr>
              <a:t>10</a:t>
            </a:r>
            <a:r>
              <a:rPr lang="en-US" sz="1500" dirty="0">
                <a:solidFill>
                  <a:srgbClr val="3A322C"/>
                </a:solidFill>
                <a:latin typeface="Carlito" pitchFamily="34" charset="0"/>
                <a:ea typeface="Carlito" pitchFamily="34" charset="-122"/>
                <a:cs typeface="Carlito" pitchFamily="34" charset="-120"/>
              </a:rPr>
              <a:t> for questions.</a:t>
            </a:r>
            <a:endParaRPr lang="en-US" sz="1500" dirty="0"/>
          </a:p>
        </p:txBody>
      </p:sp>
      <p:sp>
        <p:nvSpPr>
          <p:cNvPr id="5" name="Shape 3"/>
          <p:cNvSpPr/>
          <p:nvPr/>
        </p:nvSpPr>
        <p:spPr>
          <a:xfrm>
            <a:off x="812800" y="2169765"/>
            <a:ext cx="3302000" cy="1884561"/>
          </a:xfrm>
          <a:prstGeom prst="roundRect">
            <a:avLst>
              <a:gd name="adj" fmla="val 4043"/>
            </a:avLst>
          </a:prstGeom>
          <a:solidFill>
            <a:srgbClr val="273003"/>
          </a:solidFill>
          <a:ln/>
        </p:spPr>
        <p:txBody>
          <a:bodyPr/>
          <a:lstStyle/>
          <a:p>
            <a:endParaRPr lang="en-KE"/>
          </a:p>
        </p:txBody>
      </p:sp>
      <p:sp>
        <p:nvSpPr>
          <p:cNvPr id="6" name="Text 4"/>
          <p:cNvSpPr/>
          <p:nvPr/>
        </p:nvSpPr>
        <p:spPr>
          <a:xfrm>
            <a:off x="1041400" y="2347565"/>
            <a:ext cx="293014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FCE00"/>
                </a:solidFill>
                <a:latin typeface="Carlito" pitchFamily="34" charset="0"/>
                <a:ea typeface="Carlito" pitchFamily="34" charset="-122"/>
                <a:cs typeface="Carlito" pitchFamily="34" charset="-120"/>
              </a:rPr>
              <a:t>ROLES (GROUPS OF 4)</a:t>
            </a:r>
            <a:endParaRPr lang="en-US" sz="1200" dirty="0"/>
          </a:p>
        </p:txBody>
      </p:sp>
      <p:sp>
        <p:nvSpPr>
          <p:cNvPr id="7" name="Text 5"/>
          <p:cNvSpPr/>
          <p:nvPr/>
        </p:nvSpPr>
        <p:spPr>
          <a:xfrm>
            <a:off x="1041400" y="2649786"/>
            <a:ext cx="2930144" cy="985441"/>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Genomics lead</a:t>
            </a:r>
            <a:endParaRPr lang="en-US" sz="1400" dirty="0"/>
          </a:p>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IPC nurse</a:t>
            </a:r>
            <a:endParaRPr lang="en-US" sz="1400" dirty="0"/>
          </a:p>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Neonatologist</a:t>
            </a:r>
            <a:endParaRPr lang="en-US" sz="1400" dirty="0"/>
          </a:p>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Microbiology lab manager</a:t>
            </a:r>
            <a:endParaRPr lang="en-US" sz="1400" dirty="0"/>
          </a:p>
        </p:txBody>
      </p:sp>
      <p:sp>
        <p:nvSpPr>
          <p:cNvPr id="8" name="Shape 6"/>
          <p:cNvSpPr/>
          <p:nvPr/>
        </p:nvSpPr>
        <p:spPr>
          <a:xfrm>
            <a:off x="4368800" y="2169765"/>
            <a:ext cx="7010400" cy="1884561"/>
          </a:xfrm>
          <a:prstGeom prst="roundRect">
            <a:avLst>
              <a:gd name="adj" fmla="val 2696"/>
            </a:avLst>
          </a:prstGeom>
          <a:solidFill>
            <a:srgbClr val="FFFFFF"/>
          </a:solidFill>
          <a:ln/>
        </p:spPr>
        <p:txBody>
          <a:bodyPr/>
          <a:lstStyle/>
          <a:p>
            <a:endParaRPr lang="en-KE"/>
          </a:p>
        </p:txBody>
      </p:sp>
      <p:sp>
        <p:nvSpPr>
          <p:cNvPr id="9" name="Shape 7"/>
          <p:cNvSpPr/>
          <p:nvPr/>
        </p:nvSpPr>
        <p:spPr>
          <a:xfrm>
            <a:off x="4368800" y="2169765"/>
            <a:ext cx="7010400" cy="1884561"/>
          </a:xfrm>
          <a:custGeom>
            <a:avLst/>
            <a:gdLst/>
            <a:ahLst/>
            <a:cxnLst/>
            <a:rect l="l" t="t" r="r" b="b"/>
            <a:pathLst>
              <a:path w="7010400" h="1884561">
                <a:moveTo>
                  <a:pt x="50800" y="1884561"/>
                </a:moveTo>
                <a:lnTo>
                  <a:pt x="50800" y="1884561"/>
                </a:lnTo>
                <a:arcTo wR="50800" hR="50800" stAng="5400000" swAng="5400000"/>
                <a:lnTo>
                  <a:pt x="0" y="50800"/>
                </a:lnTo>
                <a:arcTo wR="50800" hR="50800" stAng="10800000" swAng="5400000"/>
                <a:lnTo>
                  <a:pt x="50800" y="0"/>
                </a:lnTo>
                <a:lnTo>
                  <a:pt x="50800" y="1884561"/>
                </a:lnTo>
                <a:close/>
              </a:path>
            </a:pathLst>
          </a:custGeom>
          <a:solidFill>
            <a:srgbClr val="891F15"/>
          </a:solidFill>
          <a:ln/>
        </p:spPr>
        <p:txBody>
          <a:bodyPr/>
          <a:lstStyle/>
          <a:p>
            <a:endParaRPr lang="en-KE"/>
          </a:p>
        </p:txBody>
      </p:sp>
      <p:sp>
        <p:nvSpPr>
          <p:cNvPr id="10" name="Text 8"/>
          <p:cNvSpPr/>
          <p:nvPr/>
        </p:nvSpPr>
        <p:spPr>
          <a:xfrm>
            <a:off x="4648200" y="2347565"/>
            <a:ext cx="669747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91F15"/>
                </a:solidFill>
                <a:latin typeface="Carlito" pitchFamily="34" charset="0"/>
                <a:ea typeface="Carlito" pitchFamily="34" charset="-122"/>
                <a:cs typeface="Carlito" pitchFamily="34" charset="-120"/>
              </a:rPr>
              <a:t>THE PANEL WILL ASK</a:t>
            </a:r>
            <a:endParaRPr lang="en-US" sz="1200" dirty="0"/>
          </a:p>
        </p:txBody>
      </p:sp>
      <p:sp>
        <p:nvSpPr>
          <p:cNvPr id="11" name="Text 9"/>
          <p:cNvSpPr/>
          <p:nvPr/>
        </p:nvSpPr>
        <p:spPr>
          <a:xfrm>
            <a:off x="4648200" y="2649786"/>
            <a:ext cx="669747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"So is it an outbreak or not?"</a:t>
            </a:r>
            <a:endParaRPr lang="en-US" sz="1400" dirty="0"/>
          </a:p>
        </p:txBody>
      </p:sp>
      <p:sp>
        <p:nvSpPr>
          <p:cNvPr id="12" name="Text 10"/>
          <p:cNvSpPr/>
          <p:nvPr/>
        </p:nvSpPr>
        <p:spPr>
          <a:xfrm>
            <a:off x="4648200" y="2978696"/>
            <a:ext cx="669747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"Did it come from one baby, or from the unit itself?"</a:t>
            </a:r>
            <a:endParaRPr lang="en-US" sz="1400" dirty="0"/>
          </a:p>
        </p:txBody>
      </p:sp>
      <p:sp>
        <p:nvSpPr>
          <p:cNvPr id="13" name="Text 11"/>
          <p:cNvSpPr/>
          <p:nvPr/>
        </p:nvSpPr>
        <p:spPr>
          <a:xfrm>
            <a:off x="4648200" y="3307606"/>
            <a:ext cx="669747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"What should we do on Monday morning?"</a:t>
            </a:r>
            <a:endParaRPr lang="en-US" sz="1400" dirty="0"/>
          </a:p>
        </p:txBody>
      </p:sp>
      <p:sp>
        <p:nvSpPr>
          <p:cNvPr id="14" name="Text 12"/>
          <p:cNvSpPr/>
          <p:nvPr/>
        </p:nvSpPr>
        <p:spPr>
          <a:xfrm>
            <a:off x="4648200" y="3636516"/>
            <a:ext cx="669747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"Will treatment change?" </a:t>
            </a:r>
            <a:r>
              <a:rPr lang="en-US" sz="1400" dirty="0">
                <a:solidFill>
                  <a:srgbClr val="6B6460"/>
                </a:solidFill>
                <a:latin typeface="Carlito" pitchFamily="34" charset="0"/>
                <a:ea typeface="Carlito" pitchFamily="34" charset="-122"/>
                <a:cs typeface="Carlito" pitchFamily="34" charset="-120"/>
              </a:rPr>
              <a:t>(CTX-M-15 and gentamicin resistance: Day 4)</a:t>
            </a:r>
            <a:endParaRPr lang="en-US" sz="1400" dirty="0"/>
          </a:p>
        </p:txBody>
      </p:sp>
      <p:sp>
        <p:nvSpPr>
          <p:cNvPr id="15" name="Text 13"/>
          <p:cNvSpPr/>
          <p:nvPr/>
        </p:nvSpPr>
        <p:spPr>
          <a:xfrm>
            <a:off x="812800" y="4282926"/>
            <a:ext cx="10883392" cy="50542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3A322C"/>
                </a:solidFill>
                <a:latin typeface="Carlito" pitchFamily="34" charset="0"/>
                <a:ea typeface="Carlito" pitchFamily="34" charset="-122"/>
                <a:cs typeface="Carlito" pitchFamily="34" charset="-120"/>
              </a:rPr>
              <a:t>Agree on two actions</a:t>
            </a:r>
            <a:r>
              <a:rPr lang="en-US" sz="1400" dirty="0">
                <a:solidFill>
                  <a:srgbClr val="3A322C"/>
                </a:solidFill>
                <a:latin typeface="Carlito" pitchFamily="34" charset="0"/>
                <a:ea typeface="Carlito" pitchFamily="34" charset="-122"/>
                <a:cs typeface="Carlito" pitchFamily="34" charset="-120"/>
              </a:rPr>
              <a:t>: e.g. sampling sinks and incubators; a hand-hygiene and cleaning audit; screening new admissions; reviewing empiric antibiotics.</a:t>
            </a:r>
            <a:endParaRPr lang="en-US" sz="1400" dirty="0"/>
          </a:p>
        </p:txBody>
      </p:sp>
      <p:pic>
        <p:nvPicPr>
          <p:cNvPr id="16"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7" name="Text 14"/>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 7</a:t>
            </a:r>
            <a:endParaRPr lang="en-US" sz="1200" dirty="0"/>
          </a:p>
        </p:txBody>
      </p:sp>
      <p:sp>
        <p:nvSpPr>
          <p:cNvPr id="18" name="Text 1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7300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9F2EA"/>
                </a:solidFill>
                <a:latin typeface="Carlito" pitchFamily="34" charset="0"/>
                <a:ea typeface="Carlito" pitchFamily="34" charset="-122"/>
                <a:cs typeface="Carlito" pitchFamily="34" charset="-120"/>
              </a:rPr>
              <a:t>Check your understanding</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txBody>
          <a:bodyPr/>
          <a:lstStyle/>
          <a:p>
            <a:endParaRPr lang="en-KE"/>
          </a:p>
        </p:txBody>
      </p:sp>
      <p:sp>
        <p:nvSpPr>
          <p:cNvPr id="4" name="Text 2"/>
          <p:cNvSpPr/>
          <p:nvPr/>
        </p:nvSpPr>
        <p:spPr>
          <a:xfrm>
            <a:off x="812800" y="1709390"/>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1</a:t>
            </a:r>
            <a:endParaRPr lang="en-US" sz="2400" dirty="0"/>
          </a:p>
        </p:txBody>
      </p:sp>
      <p:sp>
        <p:nvSpPr>
          <p:cNvPr id="5" name="Text 3"/>
          <p:cNvSpPr/>
          <p:nvPr/>
        </p:nvSpPr>
        <p:spPr>
          <a:xfrm>
            <a:off x="1119684" y="1709390"/>
            <a:ext cx="5125606"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Why does recombination make two isolates look less related than they are?</a:t>
            </a:r>
            <a:endParaRPr lang="en-US" sz="1600" dirty="0"/>
          </a:p>
        </p:txBody>
      </p:sp>
      <p:sp>
        <p:nvSpPr>
          <p:cNvPr id="6" name="Text 4"/>
          <p:cNvSpPr/>
          <p:nvPr/>
        </p:nvSpPr>
        <p:spPr>
          <a:xfrm>
            <a:off x="6096000" y="1709390"/>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2</a:t>
            </a:r>
            <a:endParaRPr lang="en-US" sz="2400" dirty="0"/>
          </a:p>
        </p:txBody>
      </p:sp>
      <p:sp>
        <p:nvSpPr>
          <p:cNvPr id="7" name="Text 5"/>
          <p:cNvSpPr/>
          <p:nvPr/>
        </p:nvSpPr>
        <p:spPr>
          <a:xfrm>
            <a:off x="6402884" y="1709390"/>
            <a:ext cx="5125606"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The cluster isolates are 0–5 SNPs apart. Does that prove baby-to-baby transmission?</a:t>
            </a:r>
            <a:endParaRPr lang="en-US" sz="1600" dirty="0"/>
          </a:p>
        </p:txBody>
      </p:sp>
      <p:sp>
        <p:nvSpPr>
          <p:cNvPr id="8" name="Text 6"/>
          <p:cNvSpPr/>
          <p:nvPr/>
        </p:nvSpPr>
        <p:spPr>
          <a:xfrm>
            <a:off x="812800" y="2257971"/>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3</a:t>
            </a:r>
            <a:endParaRPr lang="en-US" sz="2400" dirty="0"/>
          </a:p>
        </p:txBody>
      </p:sp>
      <p:sp>
        <p:nvSpPr>
          <p:cNvPr id="9" name="Text 7"/>
          <p:cNvSpPr/>
          <p:nvPr/>
        </p:nvSpPr>
        <p:spPr>
          <a:xfrm>
            <a:off x="1119684" y="2257971"/>
            <a:ext cx="4842629"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Why use only the chromosome as the reference?</a:t>
            </a:r>
            <a:endParaRPr lang="en-US" sz="1600" dirty="0"/>
          </a:p>
        </p:txBody>
      </p:sp>
      <p:sp>
        <p:nvSpPr>
          <p:cNvPr id="10" name="Text 8"/>
          <p:cNvSpPr/>
          <p:nvPr/>
        </p:nvSpPr>
        <p:spPr>
          <a:xfrm>
            <a:off x="6096000" y="2257971"/>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4</a:t>
            </a:r>
            <a:endParaRPr lang="en-US" sz="2400" dirty="0"/>
          </a:p>
        </p:txBody>
      </p:sp>
      <p:sp>
        <p:nvSpPr>
          <p:cNvPr id="11" name="Text 9"/>
          <p:cNvSpPr/>
          <p:nvPr/>
        </p:nvSpPr>
        <p:spPr>
          <a:xfrm>
            <a:off x="6402884" y="2257971"/>
            <a:ext cx="5125606"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A pair is 8 SNPs apart by Snippy and 45 by SKA2. What do you check?</a:t>
            </a:r>
            <a:endParaRPr lang="en-US" sz="1600" dirty="0"/>
          </a:p>
        </p:txBody>
      </p:sp>
      <p:sp>
        <p:nvSpPr>
          <p:cNvPr id="12" name="Text 10"/>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8A"/>
                </a:solidFill>
                <a:latin typeface="Carlito" pitchFamily="34" charset="0"/>
                <a:ea typeface="Carlito" pitchFamily="34" charset="-122"/>
                <a:cs typeface="Carlito" pitchFamily="34" charset="-120"/>
              </a:rPr>
              <a:t>Module 6 · Phylogenetics and outbreak detection | Days 6–7</a:t>
            </a:r>
            <a:endParaRPr lang="en-US" sz="1200" dirty="0"/>
          </a:p>
        </p:txBody>
      </p:sp>
      <p:sp>
        <p:nvSpPr>
          <p:cNvPr id="13" name="Text 1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8A"/>
                </a:solidFill>
                <a:latin typeface="Carlito" pitchFamily="34" charset="0"/>
                <a:ea typeface="Carlito" pitchFamily="34" charset="-122"/>
                <a:cs typeface="Carlito"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Checklist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58590"/>
            <a:ext cx="525856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891F15"/>
                </a:solidFill>
                <a:latin typeface="Carlito" pitchFamily="34" charset="0"/>
                <a:ea typeface="Carlito" pitchFamily="34" charset="-122"/>
                <a:cs typeface="Carlito" pitchFamily="34" charset="-120"/>
              </a:rPr>
              <a:t>DAY 6</a:t>
            </a:r>
            <a:endParaRPr lang="en-US" sz="1200" dirty="0"/>
          </a:p>
        </p:txBody>
      </p:sp>
      <p:sp>
        <p:nvSpPr>
          <p:cNvPr id="5" name="Shape 3"/>
          <p:cNvSpPr/>
          <p:nvPr/>
        </p:nvSpPr>
        <p:spPr>
          <a:xfrm>
            <a:off x="812800" y="2322761"/>
            <a:ext cx="5105400" cy="0"/>
          </a:xfrm>
          <a:prstGeom prst="line">
            <a:avLst/>
          </a:prstGeom>
          <a:noFill/>
          <a:ln w="12700">
            <a:solidFill>
              <a:srgbClr val="D9CDBF"/>
            </a:solidFill>
            <a:prstDash val="solid"/>
          </a:ln>
        </p:spPr>
        <p:txBody>
          <a:bodyPr/>
          <a:lstStyle/>
          <a:p>
            <a:endParaRPr lang="en-KE"/>
          </a:p>
        </p:txBody>
      </p:sp>
      <p:pic>
        <p:nvPicPr>
          <p:cNvPr id="6" name="Image 0" descr="CheckCircle"/>
          <p:cNvPicPr>
            <a:picLocks noChangeAspect="1"/>
          </p:cNvPicPr>
          <p:nvPr/>
        </p:nvPicPr>
        <p:blipFill>
          <a:blip r:embed="rId3"/>
          <a:srcRect/>
          <a:stretch/>
        </p:blipFill>
        <p:spPr>
          <a:xfrm>
            <a:off x="812800" y="1973511"/>
            <a:ext cx="254000" cy="254000"/>
          </a:xfrm>
          <a:prstGeom prst="rect">
            <a:avLst/>
          </a:prstGeom>
        </p:spPr>
      </p:pic>
      <p:sp>
        <p:nvSpPr>
          <p:cNvPr id="7" name="Text 4"/>
          <p:cNvSpPr/>
          <p:nvPr/>
        </p:nvSpPr>
        <p:spPr>
          <a:xfrm>
            <a:off x="1193800" y="1973511"/>
            <a:ext cx="3667899" cy="240010"/>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3A322C"/>
                </a:solidFill>
                <a:latin typeface="Carlito" pitchFamily="34" charset="0"/>
                <a:ea typeface="Carlito" pitchFamily="34" charset="-122"/>
                <a:cs typeface="Carlito" pitchFamily="34" charset="-120"/>
              </a:rPr>
              <a:t>ST39.treefile</a:t>
            </a:r>
            <a:r>
              <a:rPr lang="en-US" sz="1300" dirty="0">
                <a:solidFill>
                  <a:srgbClr val="3A322C"/>
                </a:solidFill>
                <a:latin typeface="Carlito" pitchFamily="34" charset="0"/>
                <a:ea typeface="Carlito" pitchFamily="34" charset="-122"/>
                <a:cs typeface="Carlito" pitchFamily="34" charset="-120"/>
              </a:rPr>
              <a:t> and </a:t>
            </a:r>
            <a:r>
              <a:rPr lang="en-US" sz="1300" b="1" dirty="0">
                <a:solidFill>
                  <a:srgbClr val="3A322C"/>
                </a:solidFill>
                <a:latin typeface="Carlito" pitchFamily="34" charset="0"/>
                <a:ea typeface="Carlito" pitchFamily="34" charset="-122"/>
                <a:cs typeface="Carlito" pitchFamily="34" charset="-120"/>
              </a:rPr>
              <a:t>ST39_snp_dists_filtered.tsv</a:t>
            </a:r>
            <a:endParaRPr lang="en-US" sz="1300" dirty="0"/>
          </a:p>
        </p:txBody>
      </p:sp>
      <p:sp>
        <p:nvSpPr>
          <p:cNvPr id="8" name="Shape 5"/>
          <p:cNvSpPr/>
          <p:nvPr/>
        </p:nvSpPr>
        <p:spPr>
          <a:xfrm>
            <a:off x="812800" y="2779961"/>
            <a:ext cx="5105400" cy="0"/>
          </a:xfrm>
          <a:prstGeom prst="line">
            <a:avLst/>
          </a:prstGeom>
          <a:noFill/>
          <a:ln w="12700">
            <a:solidFill>
              <a:srgbClr val="D9CDBF"/>
            </a:solidFill>
            <a:prstDash val="solid"/>
          </a:ln>
        </p:spPr>
        <p:txBody>
          <a:bodyPr/>
          <a:lstStyle/>
          <a:p>
            <a:endParaRPr lang="en-KE"/>
          </a:p>
        </p:txBody>
      </p:sp>
      <p:pic>
        <p:nvPicPr>
          <p:cNvPr id="9" name="Image 1" descr="CheckCircle"/>
          <p:cNvPicPr>
            <a:picLocks noChangeAspect="1"/>
          </p:cNvPicPr>
          <p:nvPr/>
        </p:nvPicPr>
        <p:blipFill>
          <a:blip r:embed="rId3"/>
          <a:srcRect/>
          <a:stretch/>
        </p:blipFill>
        <p:spPr>
          <a:xfrm>
            <a:off x="812800" y="2430711"/>
            <a:ext cx="254000" cy="254000"/>
          </a:xfrm>
          <a:prstGeom prst="rect">
            <a:avLst/>
          </a:prstGeom>
        </p:spPr>
      </p:pic>
      <p:sp>
        <p:nvSpPr>
          <p:cNvPr id="10" name="Text 6"/>
          <p:cNvSpPr/>
          <p:nvPr/>
        </p:nvSpPr>
        <p:spPr>
          <a:xfrm>
            <a:off x="1193800" y="2430711"/>
            <a:ext cx="4202311"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Raw and recombination-filtered distances compared</a:t>
            </a:r>
            <a:endParaRPr lang="en-US" sz="1300" dirty="0"/>
          </a:p>
        </p:txBody>
      </p:sp>
      <p:sp>
        <p:nvSpPr>
          <p:cNvPr id="11" name="Shape 7"/>
          <p:cNvSpPr/>
          <p:nvPr/>
        </p:nvSpPr>
        <p:spPr>
          <a:xfrm>
            <a:off x="812800" y="3237161"/>
            <a:ext cx="5105400" cy="0"/>
          </a:xfrm>
          <a:prstGeom prst="line">
            <a:avLst/>
          </a:prstGeom>
          <a:noFill/>
          <a:ln w="12700">
            <a:solidFill>
              <a:srgbClr val="D9CDBF"/>
            </a:solidFill>
            <a:prstDash val="solid"/>
          </a:ln>
        </p:spPr>
        <p:txBody>
          <a:bodyPr/>
          <a:lstStyle/>
          <a:p>
            <a:endParaRPr lang="en-KE"/>
          </a:p>
        </p:txBody>
      </p:sp>
      <p:pic>
        <p:nvPicPr>
          <p:cNvPr id="12" name="Image 2" descr="CheckCircle"/>
          <p:cNvPicPr>
            <a:picLocks noChangeAspect="1"/>
          </p:cNvPicPr>
          <p:nvPr/>
        </p:nvPicPr>
        <p:blipFill>
          <a:blip r:embed="rId3"/>
          <a:srcRect/>
          <a:stretch/>
        </p:blipFill>
        <p:spPr>
          <a:xfrm>
            <a:off x="812800" y="2887911"/>
            <a:ext cx="254000" cy="254000"/>
          </a:xfrm>
          <a:prstGeom prst="rect">
            <a:avLst/>
          </a:prstGeom>
        </p:spPr>
      </p:pic>
      <p:sp>
        <p:nvSpPr>
          <p:cNvPr id="13" name="Text 8"/>
          <p:cNvSpPr/>
          <p:nvPr/>
        </p:nvSpPr>
        <p:spPr>
          <a:xfrm>
            <a:off x="1193800" y="2887911"/>
            <a:ext cx="2528292"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Min, median, max per pair type</a:t>
            </a:r>
            <a:endParaRPr lang="en-US" sz="1300" dirty="0"/>
          </a:p>
        </p:txBody>
      </p:sp>
      <p:pic>
        <p:nvPicPr>
          <p:cNvPr id="14" name="Image 3" descr="CheckCircle"/>
          <p:cNvPicPr>
            <a:picLocks noChangeAspect="1"/>
          </p:cNvPicPr>
          <p:nvPr/>
        </p:nvPicPr>
        <p:blipFill>
          <a:blip r:embed="rId3"/>
          <a:srcRect/>
          <a:stretch/>
        </p:blipFill>
        <p:spPr>
          <a:xfrm>
            <a:off x="812800" y="3345111"/>
            <a:ext cx="254000" cy="254000"/>
          </a:xfrm>
          <a:prstGeom prst="rect">
            <a:avLst/>
          </a:prstGeom>
        </p:spPr>
      </p:pic>
      <p:sp>
        <p:nvSpPr>
          <p:cNvPr id="15" name="Text 9"/>
          <p:cNvSpPr/>
          <p:nvPr/>
        </p:nvSpPr>
        <p:spPr>
          <a:xfrm>
            <a:off x="1193800" y="3345111"/>
            <a:ext cx="5080000"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Snippy vs SKA2: </a:t>
            </a:r>
            <a:r>
              <a:rPr lang="en-US" sz="1300" b="1" dirty="0">
                <a:solidFill>
                  <a:srgbClr val="3A322C"/>
                </a:solidFill>
                <a:latin typeface="Carlito" pitchFamily="34" charset="0"/>
                <a:ea typeface="Carlito" pitchFamily="34" charset="-122"/>
                <a:cs typeface="Carlito" pitchFamily="34" charset="-120"/>
              </a:rPr>
              <a:t>ST39_snippy_vs_ska.tsv</a:t>
            </a:r>
            <a:r>
              <a:rPr lang="en-US" sz="1300" dirty="0">
                <a:solidFill>
                  <a:srgbClr val="3A322C"/>
                </a:solidFill>
                <a:latin typeface="Carlito" pitchFamily="34" charset="0"/>
                <a:ea typeface="Carlito" pitchFamily="34" charset="-122"/>
                <a:cs typeface="Carlito" pitchFamily="34" charset="-120"/>
              </a:rPr>
              <a:t> and the pipeline summary</a:t>
            </a:r>
            <a:endParaRPr lang="en-US" sz="1300" dirty="0"/>
          </a:p>
        </p:txBody>
      </p:sp>
      <p:sp>
        <p:nvSpPr>
          <p:cNvPr id="16" name="Text 10"/>
          <p:cNvSpPr/>
          <p:nvPr/>
        </p:nvSpPr>
        <p:spPr>
          <a:xfrm>
            <a:off x="6273800" y="1658590"/>
            <a:ext cx="525856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73003"/>
                </a:solidFill>
                <a:latin typeface="Carlito" pitchFamily="34" charset="0"/>
                <a:ea typeface="Carlito" pitchFamily="34" charset="-122"/>
                <a:cs typeface="Carlito" pitchFamily="34" charset="-120"/>
              </a:rPr>
              <a:t>DAY 7</a:t>
            </a:r>
            <a:endParaRPr lang="en-US" sz="1200" dirty="0"/>
          </a:p>
        </p:txBody>
      </p:sp>
      <p:sp>
        <p:nvSpPr>
          <p:cNvPr id="17" name="Shape 11"/>
          <p:cNvSpPr/>
          <p:nvPr/>
        </p:nvSpPr>
        <p:spPr>
          <a:xfrm>
            <a:off x="6273800" y="2322761"/>
            <a:ext cx="5105400" cy="0"/>
          </a:xfrm>
          <a:prstGeom prst="line">
            <a:avLst/>
          </a:prstGeom>
          <a:noFill/>
          <a:ln w="12700">
            <a:solidFill>
              <a:srgbClr val="D9CDBF"/>
            </a:solidFill>
            <a:prstDash val="solid"/>
          </a:ln>
        </p:spPr>
        <p:txBody>
          <a:bodyPr/>
          <a:lstStyle/>
          <a:p>
            <a:endParaRPr lang="en-KE"/>
          </a:p>
        </p:txBody>
      </p:sp>
      <p:pic>
        <p:nvPicPr>
          <p:cNvPr id="18" name="Image 4" descr="CheckCircle"/>
          <p:cNvPicPr>
            <a:picLocks noChangeAspect="1"/>
          </p:cNvPicPr>
          <p:nvPr/>
        </p:nvPicPr>
        <p:blipFill>
          <a:blip r:embed="rId3"/>
          <a:srcRect/>
          <a:stretch/>
        </p:blipFill>
        <p:spPr>
          <a:xfrm>
            <a:off x="6273800" y="1973511"/>
            <a:ext cx="254000" cy="254000"/>
          </a:xfrm>
          <a:prstGeom prst="rect">
            <a:avLst/>
          </a:prstGeom>
        </p:spPr>
      </p:pic>
      <p:sp>
        <p:nvSpPr>
          <p:cNvPr id="19" name="Text 12"/>
          <p:cNvSpPr/>
          <p:nvPr/>
        </p:nvSpPr>
        <p:spPr>
          <a:xfrm>
            <a:off x="6654800" y="1973511"/>
            <a:ext cx="3728025"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Microreact project, coloured by ward and year</a:t>
            </a:r>
            <a:endParaRPr lang="en-US" sz="1300" dirty="0"/>
          </a:p>
        </p:txBody>
      </p:sp>
      <p:sp>
        <p:nvSpPr>
          <p:cNvPr id="20" name="Shape 13"/>
          <p:cNvSpPr/>
          <p:nvPr/>
        </p:nvSpPr>
        <p:spPr>
          <a:xfrm>
            <a:off x="6273800" y="2779961"/>
            <a:ext cx="5105400" cy="0"/>
          </a:xfrm>
          <a:prstGeom prst="line">
            <a:avLst/>
          </a:prstGeom>
          <a:noFill/>
          <a:ln w="12700">
            <a:solidFill>
              <a:srgbClr val="D9CDBF"/>
            </a:solidFill>
            <a:prstDash val="solid"/>
          </a:ln>
        </p:spPr>
        <p:txBody>
          <a:bodyPr/>
          <a:lstStyle/>
          <a:p>
            <a:endParaRPr lang="en-KE"/>
          </a:p>
        </p:txBody>
      </p:sp>
      <p:pic>
        <p:nvPicPr>
          <p:cNvPr id="21" name="Image 5" descr="CheckCircle"/>
          <p:cNvPicPr>
            <a:picLocks noChangeAspect="1"/>
          </p:cNvPicPr>
          <p:nvPr/>
        </p:nvPicPr>
        <p:blipFill>
          <a:blip r:embed="rId3"/>
          <a:srcRect/>
          <a:stretch/>
        </p:blipFill>
        <p:spPr>
          <a:xfrm>
            <a:off x="6273800" y="2430711"/>
            <a:ext cx="254000" cy="254000"/>
          </a:xfrm>
          <a:prstGeom prst="rect">
            <a:avLst/>
          </a:prstGeom>
        </p:spPr>
      </p:pic>
      <p:sp>
        <p:nvSpPr>
          <p:cNvPr id="22" name="Text 14"/>
          <p:cNvSpPr/>
          <p:nvPr/>
        </p:nvSpPr>
        <p:spPr>
          <a:xfrm>
            <a:off x="6654800" y="2430711"/>
            <a:ext cx="2810828"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ST39 classification table completed</a:t>
            </a:r>
            <a:endParaRPr lang="en-US" sz="1300" dirty="0"/>
          </a:p>
        </p:txBody>
      </p:sp>
      <p:sp>
        <p:nvSpPr>
          <p:cNvPr id="23" name="Shape 15"/>
          <p:cNvSpPr/>
          <p:nvPr/>
        </p:nvSpPr>
        <p:spPr>
          <a:xfrm>
            <a:off x="6273800" y="3237161"/>
            <a:ext cx="5105400" cy="0"/>
          </a:xfrm>
          <a:prstGeom prst="line">
            <a:avLst/>
          </a:prstGeom>
          <a:noFill/>
          <a:ln w="12700">
            <a:solidFill>
              <a:srgbClr val="D9CDBF"/>
            </a:solidFill>
            <a:prstDash val="solid"/>
          </a:ln>
        </p:spPr>
        <p:txBody>
          <a:bodyPr/>
          <a:lstStyle/>
          <a:p>
            <a:endParaRPr lang="en-KE"/>
          </a:p>
        </p:txBody>
      </p:sp>
      <p:pic>
        <p:nvPicPr>
          <p:cNvPr id="24" name="Image 6" descr="CheckCircle"/>
          <p:cNvPicPr>
            <a:picLocks noChangeAspect="1"/>
          </p:cNvPicPr>
          <p:nvPr/>
        </p:nvPicPr>
        <p:blipFill>
          <a:blip r:embed="rId3"/>
          <a:srcRect/>
          <a:stretch/>
        </p:blipFill>
        <p:spPr>
          <a:xfrm>
            <a:off x="6273800" y="2887911"/>
            <a:ext cx="254000" cy="254000"/>
          </a:xfrm>
          <a:prstGeom prst="rect">
            <a:avLst/>
          </a:prstGeom>
        </p:spPr>
      </p:pic>
      <p:sp>
        <p:nvSpPr>
          <p:cNvPr id="25" name="Text 16"/>
          <p:cNvSpPr/>
          <p:nvPr/>
        </p:nvSpPr>
        <p:spPr>
          <a:xfrm>
            <a:off x="6654800" y="2887911"/>
            <a:ext cx="4584383"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Root-to-tip result; dated tree only if the signal supports it</a:t>
            </a:r>
            <a:endParaRPr lang="en-US" sz="1300" dirty="0"/>
          </a:p>
        </p:txBody>
      </p:sp>
      <p:pic>
        <p:nvPicPr>
          <p:cNvPr id="26" name="Image 7" descr="CheckCircle"/>
          <p:cNvPicPr>
            <a:picLocks noChangeAspect="1"/>
          </p:cNvPicPr>
          <p:nvPr/>
        </p:nvPicPr>
        <p:blipFill>
          <a:blip r:embed="rId3"/>
          <a:srcRect/>
          <a:stretch/>
        </p:blipFill>
        <p:spPr>
          <a:xfrm>
            <a:off x="6273800" y="3345111"/>
            <a:ext cx="254000" cy="254000"/>
          </a:xfrm>
          <a:prstGeom prst="rect">
            <a:avLst/>
          </a:prstGeom>
        </p:spPr>
      </p:pic>
      <p:sp>
        <p:nvSpPr>
          <p:cNvPr id="27" name="Text 17"/>
          <p:cNvSpPr/>
          <p:nvPr/>
        </p:nvSpPr>
        <p:spPr>
          <a:xfrm>
            <a:off x="6654800" y="3345111"/>
            <a:ext cx="4452818"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One-page summary; two actions agreed in the role play</a:t>
            </a:r>
            <a:endParaRPr lang="en-US" sz="1300" dirty="0"/>
          </a:p>
        </p:txBody>
      </p:sp>
      <p:pic>
        <p:nvPicPr>
          <p:cNvPr id="28" name="Image 8"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29" name="Text 1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Days 6–7</a:t>
            </a:r>
            <a:endParaRPr lang="en-US" sz="1200" dirty="0"/>
          </a:p>
        </p:txBody>
      </p:sp>
      <p:sp>
        <p:nvSpPr>
          <p:cNvPr id="30" name="Text 19"/>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Further reading</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09390"/>
            <a:ext cx="693293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73003"/>
                </a:solidFill>
                <a:latin typeface="Carlito" pitchFamily="34" charset="0"/>
                <a:ea typeface="Carlito" pitchFamily="34" charset="-122"/>
                <a:cs typeface="Carlito" pitchFamily="34" charset="-120"/>
              </a:rPr>
              <a:t>Papers</a:t>
            </a:r>
            <a:endParaRPr lang="en-US" sz="1600" dirty="0"/>
          </a:p>
        </p:txBody>
      </p:sp>
      <p:sp>
        <p:nvSpPr>
          <p:cNvPr id="5" name="Text 3"/>
          <p:cNvSpPr/>
          <p:nvPr/>
        </p:nvSpPr>
        <p:spPr>
          <a:xfrm>
            <a:off x="910844" y="2054820"/>
            <a:ext cx="6827266" cy="1874441"/>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Cornick J, et al. Genomic investigation of a suspected </a:t>
            </a:r>
            <a:r>
              <a:rPr lang="en-US" sz="1300" i="1" dirty="0">
                <a:solidFill>
                  <a:srgbClr val="3A322C"/>
                </a:solidFill>
                <a:latin typeface="Carlito" pitchFamily="34" charset="0"/>
                <a:ea typeface="Carlito" pitchFamily="34" charset="-122"/>
                <a:cs typeface="Carlito" pitchFamily="34" charset="-120"/>
              </a:rPr>
              <a:t>K. pneumoniae</a:t>
            </a:r>
            <a:r>
              <a:rPr lang="en-US" sz="1300" dirty="0">
                <a:solidFill>
                  <a:srgbClr val="3A322C"/>
                </a:solidFill>
                <a:latin typeface="Carlito" pitchFamily="34" charset="0"/>
                <a:ea typeface="Carlito" pitchFamily="34" charset="-122"/>
                <a:cs typeface="Carlito" pitchFamily="34" charset="-120"/>
              </a:rPr>
              <a:t> outbreak in a neonatal care unit in sub-Saharan Africa. </a:t>
            </a:r>
            <a:r>
              <a:rPr lang="en-US" sz="1300" i="1" dirty="0">
                <a:solidFill>
                  <a:srgbClr val="3A322C"/>
                </a:solidFill>
                <a:latin typeface="Carlito" pitchFamily="34" charset="0"/>
                <a:ea typeface="Carlito" pitchFamily="34" charset="-122"/>
                <a:cs typeface="Carlito" pitchFamily="34" charset="-120"/>
              </a:rPr>
              <a:t>Microb Genom</a:t>
            </a:r>
            <a:r>
              <a:rPr lang="en-US" sz="1300" dirty="0">
                <a:solidFill>
                  <a:srgbClr val="3A322C"/>
                </a:solidFill>
                <a:latin typeface="Carlito" pitchFamily="34" charset="0"/>
                <a:ea typeface="Carlito" pitchFamily="34" charset="-122"/>
                <a:cs typeface="Carlito" pitchFamily="34" charset="-120"/>
              </a:rPr>
              <a:t> 2021. </a:t>
            </a:r>
            <a:r>
              <a:rPr lang="en-US" sz="1300" u="sng" dirty="0">
                <a:solidFill>
                  <a:srgbClr val="3A322C"/>
                </a:solidFill>
                <a:latin typeface="Carlito" pitchFamily="34" charset="0"/>
                <a:ea typeface="Carlito" pitchFamily="34" charset="-122"/>
                <a:cs typeface="Carlito" pitchFamily="34" charset="-120"/>
                <a:hlinkClick r:id="rId3">
                  <a:extLst>
                    <a:ext uri="{A12FA001-AC4F-418D-AE19-62706E023703}">
                      <ahyp:hlinkClr xmlns:ahyp="http://schemas.microsoft.com/office/drawing/2018/hyperlinkcolor" val="tx"/>
                    </a:ext>
                  </a:extLst>
                </a:hlinkClick>
              </a:rPr>
              <a:t>PMC8743538</a:t>
            </a:r>
            <a:endParaRPr lang="en-US" sz="1300" dirty="0"/>
          </a:p>
          <a:p>
            <a:pPr marL="155956" indent="-155956" algn="l">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Derelle R, et al. Seamless, rapid, and accurate analyses of outbreak genomic data using split k-mer analysis. </a:t>
            </a:r>
            <a:r>
              <a:rPr lang="en-US" sz="1300" i="1" dirty="0">
                <a:solidFill>
                  <a:srgbClr val="3A322C"/>
                </a:solidFill>
                <a:latin typeface="Carlito" pitchFamily="34" charset="0"/>
                <a:ea typeface="Carlito" pitchFamily="34" charset="-122"/>
                <a:cs typeface="Carlito" pitchFamily="34" charset="-120"/>
              </a:rPr>
              <a:t>Genome Res</a:t>
            </a:r>
            <a:r>
              <a:rPr lang="en-US" sz="1300" dirty="0">
                <a:solidFill>
                  <a:srgbClr val="3A322C"/>
                </a:solidFill>
                <a:latin typeface="Carlito" pitchFamily="34" charset="0"/>
                <a:ea typeface="Carlito" pitchFamily="34" charset="-122"/>
                <a:cs typeface="Carlito" pitchFamily="34" charset="-120"/>
              </a:rPr>
              <a:t> 2024. </a:t>
            </a:r>
            <a:r>
              <a:rPr lang="en-US" sz="1300" u="sng" dirty="0">
                <a:solidFill>
                  <a:srgbClr val="3A322C"/>
                </a:solidFill>
                <a:latin typeface="Carlito" pitchFamily="34" charset="0"/>
                <a:ea typeface="Carlito" pitchFamily="34" charset="-122"/>
                <a:cs typeface="Carlito" pitchFamily="34" charset="-120"/>
                <a:hlinkClick r:id="rId4">
                  <a:extLst>
                    <a:ext uri="{A12FA001-AC4F-418D-AE19-62706E023703}">
                      <ahyp:hlinkClr xmlns:ahyp="http://schemas.microsoft.com/office/drawing/2018/hyperlinkcolor" val="tx"/>
                    </a:ext>
                  </a:extLst>
                </a:hlinkClick>
              </a:rPr>
              <a:t>doi:10.1101/gr.279449.124</a:t>
            </a:r>
            <a:endParaRPr lang="en-US" sz="1300" dirty="0"/>
          </a:p>
          <a:p>
            <a:pPr marL="155956" indent="-155956" algn="l">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Didelot X, et al. Bayesian inference of ancestral dates on bacterial phylogenetic trees. </a:t>
            </a:r>
            <a:r>
              <a:rPr lang="en-US" sz="1300" i="1" dirty="0">
                <a:solidFill>
                  <a:srgbClr val="3A322C"/>
                </a:solidFill>
                <a:latin typeface="Carlito" pitchFamily="34" charset="0"/>
                <a:ea typeface="Carlito" pitchFamily="34" charset="-122"/>
                <a:cs typeface="Carlito" pitchFamily="34" charset="-120"/>
              </a:rPr>
              <a:t>Nucleic Acids Res</a:t>
            </a:r>
            <a:r>
              <a:rPr lang="en-US" sz="1300" dirty="0">
                <a:solidFill>
                  <a:srgbClr val="3A322C"/>
                </a:solidFill>
                <a:latin typeface="Carlito" pitchFamily="34" charset="0"/>
                <a:ea typeface="Carlito" pitchFamily="34" charset="-122"/>
                <a:cs typeface="Carlito" pitchFamily="34" charset="-120"/>
              </a:rPr>
              <a:t> 2018.</a:t>
            </a:r>
            <a:endParaRPr lang="en-US" sz="1300" dirty="0"/>
          </a:p>
          <a:p>
            <a:pPr marL="155956" indent="-155956" algn="l">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Vos M. Why do bacteria engage in homologous recombination? </a:t>
            </a:r>
            <a:r>
              <a:rPr lang="en-US" sz="1300" i="1" dirty="0">
                <a:solidFill>
                  <a:srgbClr val="3A322C"/>
                </a:solidFill>
                <a:latin typeface="Carlito" pitchFamily="34" charset="0"/>
                <a:ea typeface="Carlito" pitchFamily="34" charset="-122"/>
                <a:cs typeface="Carlito" pitchFamily="34" charset="-120"/>
              </a:rPr>
              <a:t>Trends Microbiol</a:t>
            </a:r>
            <a:r>
              <a:rPr lang="en-US" sz="1300" dirty="0">
                <a:solidFill>
                  <a:srgbClr val="3A322C"/>
                </a:solidFill>
                <a:latin typeface="Carlito" pitchFamily="34" charset="0"/>
                <a:ea typeface="Carlito" pitchFamily="34" charset="-122"/>
                <a:cs typeface="Carlito" pitchFamily="34" charset="-120"/>
              </a:rPr>
              <a:t> 2009. </a:t>
            </a:r>
            <a:r>
              <a:rPr lang="en-US" sz="1300" u="sng" dirty="0">
                <a:solidFill>
                  <a:srgbClr val="3A322C"/>
                </a:solidFill>
                <a:latin typeface="Carlito" pitchFamily="34" charset="0"/>
                <a:ea typeface="Carlito" pitchFamily="34" charset="-122"/>
                <a:cs typeface="Carlito" pitchFamily="34" charset="-120"/>
                <a:hlinkClick r:id="rId5">
                  <a:extLst>
                    <a:ext uri="{A12FA001-AC4F-418D-AE19-62706E023703}">
                      <ahyp:hlinkClr xmlns:ahyp="http://schemas.microsoft.com/office/drawing/2018/hyperlinkcolor" val="tx"/>
                    </a:ext>
                  </a:extLst>
                </a:hlinkClick>
              </a:rPr>
              <a:t>doi:10.1016/j.tim.2009.03.001</a:t>
            </a:r>
            <a:endParaRPr lang="en-US" sz="1300" dirty="0"/>
          </a:p>
        </p:txBody>
      </p:sp>
      <p:sp>
        <p:nvSpPr>
          <p:cNvPr id="6" name="Text 4"/>
          <p:cNvSpPr/>
          <p:nvPr/>
        </p:nvSpPr>
        <p:spPr>
          <a:xfrm>
            <a:off x="7950200" y="1709390"/>
            <a:ext cx="353187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73003"/>
                </a:solidFill>
                <a:latin typeface="Carlito" pitchFamily="34" charset="0"/>
                <a:ea typeface="Carlito" pitchFamily="34" charset="-122"/>
                <a:cs typeface="Carlito" pitchFamily="34" charset="-120"/>
              </a:rPr>
              <a:t>Tools</a:t>
            </a:r>
            <a:endParaRPr lang="en-US" sz="1600" dirty="0"/>
          </a:p>
        </p:txBody>
      </p:sp>
      <p:sp>
        <p:nvSpPr>
          <p:cNvPr id="7" name="Text 5"/>
          <p:cNvSpPr/>
          <p:nvPr/>
        </p:nvSpPr>
        <p:spPr>
          <a:xfrm>
            <a:off x="8048244" y="2054820"/>
            <a:ext cx="3426206"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6">
                  <a:extLst>
                    <a:ext uri="{A12FA001-AC4F-418D-AE19-62706E023703}">
                      <ahyp:hlinkClr xmlns:ahyp="http://schemas.microsoft.com/office/drawing/2018/hyperlinkcolor" val="tx"/>
                    </a:ext>
                  </a:extLst>
                </a:hlinkClick>
              </a:rPr>
              <a:t>Snippy</a:t>
            </a:r>
            <a:r>
              <a:rPr lang="en-US" sz="1300" dirty="0">
                <a:solidFill>
                  <a:srgbClr val="3A322C"/>
                </a:solidFill>
                <a:latin typeface="Carlito" pitchFamily="34" charset="0"/>
                <a:ea typeface="Carlito" pitchFamily="34" charset="-122"/>
                <a:cs typeface="Carlito" pitchFamily="34" charset="-120"/>
              </a:rPr>
              <a:t>, </a:t>
            </a:r>
            <a:r>
              <a:rPr lang="en-US" sz="1300" u="sng" dirty="0">
                <a:solidFill>
                  <a:srgbClr val="3A322C"/>
                </a:solidFill>
                <a:latin typeface="Carlito" pitchFamily="34" charset="0"/>
                <a:ea typeface="Carlito" pitchFamily="34" charset="-122"/>
                <a:cs typeface="Carlito" pitchFamily="34" charset="-120"/>
                <a:hlinkClick r:id="rId7">
                  <a:extLst>
                    <a:ext uri="{A12FA001-AC4F-418D-AE19-62706E023703}">
                      <ahyp:hlinkClr xmlns:ahyp="http://schemas.microsoft.com/office/drawing/2018/hyperlinkcolor" val="tx"/>
                    </a:ext>
                  </a:extLst>
                </a:hlinkClick>
              </a:rPr>
              <a:t>Gubbins</a:t>
            </a:r>
            <a:r>
              <a:rPr lang="en-US" sz="1300" dirty="0">
                <a:solidFill>
                  <a:srgbClr val="3A322C"/>
                </a:solidFill>
                <a:latin typeface="Carlito" pitchFamily="34" charset="0"/>
                <a:ea typeface="Carlito" pitchFamily="34" charset="-122"/>
                <a:cs typeface="Carlito" pitchFamily="34" charset="-120"/>
              </a:rPr>
              <a:t>, </a:t>
            </a:r>
            <a:r>
              <a:rPr lang="en-US" sz="1300" u="sng" dirty="0">
                <a:solidFill>
                  <a:srgbClr val="3A322C"/>
                </a:solidFill>
                <a:latin typeface="Carlito" pitchFamily="34" charset="0"/>
                <a:ea typeface="Carlito" pitchFamily="34" charset="-122"/>
                <a:cs typeface="Carlito" pitchFamily="34" charset="-120"/>
                <a:hlinkClick r:id="rId8">
                  <a:extLst>
                    <a:ext uri="{A12FA001-AC4F-418D-AE19-62706E023703}">
                      <ahyp:hlinkClr xmlns:ahyp="http://schemas.microsoft.com/office/drawing/2018/hyperlinkcolor" val="tx"/>
                    </a:ext>
                  </a:extLst>
                </a:hlinkClick>
              </a:rPr>
              <a:t>IQ-TREE</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9">
                  <a:extLst>
                    <a:ext uri="{A12FA001-AC4F-418D-AE19-62706E023703}">
                      <ahyp:hlinkClr xmlns:ahyp="http://schemas.microsoft.com/office/drawing/2018/hyperlinkcolor" val="tx"/>
                    </a:ext>
                  </a:extLst>
                </a:hlinkClick>
              </a:rPr>
              <a:t>SKA2</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10">
                  <a:extLst>
                    <a:ext uri="{A12FA001-AC4F-418D-AE19-62706E023703}">
                      <ahyp:hlinkClr xmlns:ahyp="http://schemas.microsoft.com/office/drawing/2018/hyperlinkcolor" val="tx"/>
                    </a:ext>
                  </a:extLst>
                </a:hlinkClick>
              </a:rPr>
              <a:t>BactDating</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11">
                  <a:extLst>
                    <a:ext uri="{A12FA001-AC4F-418D-AE19-62706E023703}">
                      <ahyp:hlinkClr xmlns:ahyp="http://schemas.microsoft.com/office/drawing/2018/hyperlinkcolor" val="tx"/>
                    </a:ext>
                  </a:extLst>
                </a:hlinkClick>
              </a:rPr>
              <a:t>Microreact</a:t>
            </a:r>
            <a:r>
              <a:rPr lang="en-US" sz="1300" dirty="0">
                <a:solidFill>
                  <a:srgbClr val="3A322C"/>
                </a:solidFill>
                <a:latin typeface="Carlito" pitchFamily="34" charset="0"/>
                <a:ea typeface="Carlito" pitchFamily="34" charset="-122"/>
                <a:cs typeface="Carlito" pitchFamily="34" charset="-120"/>
              </a:rPr>
              <a:t>, </a:t>
            </a:r>
            <a:r>
              <a:rPr lang="en-US" sz="1300" u="sng" dirty="0">
                <a:solidFill>
                  <a:srgbClr val="3A322C"/>
                </a:solidFill>
                <a:latin typeface="Carlito" pitchFamily="34" charset="0"/>
                <a:ea typeface="Carlito" pitchFamily="34" charset="-122"/>
                <a:cs typeface="Carlito" pitchFamily="34" charset="-120"/>
                <a:hlinkClick r:id="rId12">
                  <a:extLst>
                    <a:ext uri="{A12FA001-AC4F-418D-AE19-62706E023703}">
                      <ahyp:hlinkClr xmlns:ahyp="http://schemas.microsoft.com/office/drawing/2018/hyperlinkcolor" val="tx"/>
                    </a:ext>
                  </a:extLst>
                </a:hlinkClick>
              </a:rPr>
              <a:t>iTOL</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13">
                  <a:extLst>
                    <a:ext uri="{A12FA001-AC4F-418D-AE19-62706E023703}">
                      <ahyp:hlinkClr xmlns:ahyp="http://schemas.microsoft.com/office/drawing/2018/hyperlinkcolor" val="tx"/>
                    </a:ext>
                  </a:extLst>
                </a:hlinkClick>
              </a:rPr>
              <a:t>CSI Phylogeny</a:t>
            </a:r>
            <a:endParaRPr lang="en-US" sz="1300" dirty="0"/>
          </a:p>
        </p:txBody>
      </p:sp>
      <p:pic>
        <p:nvPicPr>
          <p:cNvPr id="8" name="Image 0" descr="ILRI and CGIAR logos"/>
          <p:cNvPicPr>
            <a:picLocks noChangeAspect="1"/>
          </p:cNvPicPr>
          <p:nvPr/>
        </p:nvPicPr>
        <p:blipFill>
          <a:blip r:embed="rId14"/>
          <a:srcRect l="-56" r="-56"/>
          <a:stretch/>
        </p:blipFill>
        <p:spPr>
          <a:xfrm>
            <a:off x="10033000" y="254000"/>
            <a:ext cx="1346200" cy="381000"/>
          </a:xfrm>
          <a:prstGeom prst="rect">
            <a:avLst/>
          </a:prstGeom>
        </p:spPr>
      </p:pic>
      <p:sp>
        <p:nvSpPr>
          <p:cNvPr id="9" name="Text 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Days 6–7</a:t>
            </a:r>
            <a:endParaRPr lang="en-US" sz="1200" dirty="0"/>
          </a:p>
        </p:txBody>
      </p:sp>
      <p:sp>
        <p:nvSpPr>
          <p:cNvPr id="10" name="Text 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9F2EA"/>
        </a:solidFill>
        <a:effectLst/>
      </p:bgPr>
    </p:bg>
    <p:spTree>
      <p:nvGrpSpPr>
        <p:cNvPr id="1" name=""/>
        <p:cNvGrpSpPr/>
        <p:nvPr/>
      </p:nvGrpSpPr>
      <p:grpSpPr>
        <a:xfrm>
          <a:off x="0" y="0"/>
          <a:ext cx="0" cy="0"/>
          <a:chOff x="0" y="0"/>
          <a:chExt cx="0" cy="0"/>
        </a:xfrm>
      </p:grpSpPr>
      <p:pic>
        <p:nvPicPr>
          <p:cNvPr id="2" name="Image 0" descr="ILRI and CGIAR logos"/>
          <p:cNvPicPr>
            <a:picLocks noChangeAspect="1"/>
          </p:cNvPicPr>
          <p:nvPr/>
        </p:nvPicPr>
        <p:blipFill>
          <a:blip r:embed="rId3"/>
          <a:srcRect t="-63" b="-63"/>
          <a:stretch/>
        </p:blipFill>
        <p:spPr>
          <a:xfrm>
            <a:off x="425450" y="393700"/>
            <a:ext cx="1790700" cy="508000"/>
          </a:xfrm>
          <a:prstGeom prst="rect">
            <a:avLst/>
          </a:prstGeom>
        </p:spPr>
      </p:pic>
      <p:sp>
        <p:nvSpPr>
          <p:cNvPr id="3" name="Text 0"/>
          <p:cNvSpPr>
            <a:spLocks noGrp="1"/>
          </p:cNvSpPr>
          <p:nvPr>
            <p:ph type="title"/>
          </p:nvPr>
        </p:nvSpPr>
        <p:spPr>
          <a:xfrm>
            <a:off x="812800" y="254000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6D2637"/>
                </a:solidFill>
                <a:latin typeface="Carlito" pitchFamily="34" charset="0"/>
                <a:ea typeface="Carlito" pitchFamily="34" charset="-122"/>
                <a:cs typeface="Carlito" pitchFamily="34" charset="-120"/>
              </a:rPr>
              <a:t>Questions?</a:t>
            </a:r>
            <a:endParaRPr lang="en-US" sz="6000" dirty="0"/>
          </a:p>
        </p:txBody>
      </p:sp>
      <p:sp>
        <p:nvSpPr>
          <p:cNvPr id="4" name="Shape 1"/>
          <p:cNvSpPr/>
          <p:nvPr/>
        </p:nvSpPr>
        <p:spPr>
          <a:xfrm>
            <a:off x="812800" y="3543300"/>
            <a:ext cx="1524000" cy="38100"/>
          </a:xfrm>
          <a:prstGeom prst="roundRect">
            <a:avLst>
              <a:gd name="adj" fmla="val 50000"/>
            </a:avLst>
          </a:prstGeom>
          <a:solidFill>
            <a:srgbClr val="6D2637"/>
          </a:solidFill>
          <a:ln/>
        </p:spPr>
        <p:txBody>
          <a:bodyPr/>
          <a:lstStyle/>
          <a:p>
            <a:endParaRPr lang="en-KE"/>
          </a:p>
        </p:txBody>
      </p:sp>
      <p:sp>
        <p:nvSpPr>
          <p:cNvPr id="5" name="Text 2"/>
          <p:cNvSpPr/>
          <p:nvPr/>
        </p:nvSpPr>
        <p:spPr>
          <a:xfrm>
            <a:off x="812800" y="3784600"/>
            <a:ext cx="10883392"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3A322C"/>
                </a:solidFill>
                <a:latin typeface="Carlito" pitchFamily="34" charset="0"/>
                <a:ea typeface="Carlito" pitchFamily="34" charset="-122"/>
                <a:cs typeface="Carlito" pitchFamily="34" charset="-120"/>
              </a:rPr>
              <a:t>Next: </a:t>
            </a:r>
            <a:r>
              <a:rPr lang="en-US" sz="2000" b="1" dirty="0">
                <a:solidFill>
                  <a:srgbClr val="3A322C"/>
                </a:solidFill>
                <a:latin typeface="Carlito" pitchFamily="34" charset="0"/>
                <a:ea typeface="Carlito" pitchFamily="34" charset="-122"/>
                <a:cs typeface="Carlito" pitchFamily="34" charset="-120"/>
              </a:rPr>
              <a:t>Day 8</a:t>
            </a:r>
            <a:r>
              <a:rPr lang="en-US" sz="2000" dirty="0">
                <a:solidFill>
                  <a:srgbClr val="3A322C"/>
                </a:solidFill>
                <a:latin typeface="Carlito" pitchFamily="34" charset="0"/>
                <a:ea typeface="Carlito" pitchFamily="34" charset="-122"/>
                <a:cs typeface="Carlito" pitchFamily="34" charset="-120"/>
              </a:rPr>
              <a:t> · Capsule and O-antigen typing, and bringing results together</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6 · Phylogenetics and outbreak detection | Days 6–7</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43</a:t>
            </a:r>
            <a:endParaRPr lang="en-US" sz="1200" dirty="0"/>
          </a:p>
        </p:txBody>
      </p:sp>
    </p:spTree>
  </p:cSld>
  <p:clrMapOvr>
    <a:masterClrMapping/>
  </p:clrMapOvr>
</p:sld>
</file>

<file path=ppt/theme/theme1.xml><?xml version="1.0" encoding="utf-8"?>
<a:theme xmlns:a="http://schemas.openxmlformats.org/drawingml/2006/main" name="Module 6: Phylogenetics and outbreak detection">
  <a:themeElements>
    <a:clrScheme name="Module 6: Phylogenetics and outbreak detection">
      <a:dk1>
        <a:srgbClr val="6D2637"/>
      </a:dk1>
      <a:lt1>
        <a:srgbClr val="F9F2EA"/>
      </a:lt1>
      <a:dk2>
        <a:srgbClr val="905964"/>
      </a:dk2>
      <a:lt2>
        <a:srgbClr val="EBDED8"/>
      </a:lt2>
      <a:accent1>
        <a:srgbClr val="273003"/>
      </a:accent1>
      <a:accent2>
        <a:srgbClr val="891F15"/>
      </a:accent2>
      <a:accent3>
        <a:srgbClr val="FFCE00"/>
      </a:accent3>
      <a:accent4>
        <a:srgbClr val="B9C08A"/>
      </a:accent4>
      <a:accent5>
        <a:srgbClr val="E3B5A8"/>
      </a:accent5>
      <a:accent6>
        <a:srgbClr val="F1D3C9"/>
      </a:accent6>
      <a:hlink>
        <a:srgbClr val="0563C1"/>
      </a:hlink>
      <a:folHlink>
        <a:srgbClr val="954F72"/>
      </a:folHlink>
    </a:clrScheme>
    <a:fontScheme name="Module 6: Phylogenetics and outbreak detection">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TotalTime>
  <Words>7044</Words>
  <Application>Microsoft Macintosh PowerPoint</Application>
  <PresentationFormat>Widescreen</PresentationFormat>
  <Paragraphs>621</Paragraphs>
  <Slides>43</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Carlito</vt:lpstr>
      <vt:lpstr>JetBrains Mono</vt:lpstr>
      <vt:lpstr>Module 6: Phylogenetics and outbreak detection</vt:lpstr>
      <vt:lpstr>Is it an outbreak?</vt:lpstr>
      <vt:lpstr>Days 6–7 at a glance</vt:lpstr>
      <vt:lpstr>By the end of Module 6 you can</vt:lpstr>
      <vt:lpstr>Genomic epidemiology in action</vt:lpstr>
      <vt:lpstr>Investigating transmission: two approaches</vt:lpstr>
      <vt:lpstr>A core-genome SNP alignment</vt:lpstr>
      <vt:lpstr>The worked example: 12 ST39 isolates</vt:lpstr>
      <vt:lpstr>Choosing a reference</vt:lpstr>
      <vt:lpstr>Hands-on: map reads with Snippy</vt:lpstr>
      <vt:lpstr>The core alignment</vt:lpstr>
      <vt:lpstr>Recombination and why it matters</vt:lpstr>
      <vt:lpstr>Recombination</vt:lpstr>
      <vt:lpstr>How DNA moves between bacteria</vt:lpstr>
      <vt:lpstr>Why recombination misleads a tree</vt:lpstr>
      <vt:lpstr>Detecting recombination: two families</vt:lpstr>
      <vt:lpstr>How Gubbins works</vt:lpstr>
      <vt:lpstr>Hands-on: Gubbins</vt:lpstr>
      <vt:lpstr>Maximum-likelihood trees</vt:lpstr>
      <vt:lpstr>Hands-on: IQ-TREE</vt:lpstr>
      <vt:lpstr>Reading the tree</vt:lpstr>
      <vt:lpstr>SNP distances and SKA2</vt:lpstr>
      <vt:lpstr>Hands-on: SNP distances</vt:lpstr>
      <vt:lpstr>What does a SNP threshold mean?</vt:lpstr>
      <vt:lpstr>SKA2: SNPs without a reference</vt:lpstr>
      <vt:lpstr>Hands-on: SKA2 on the ST39 group</vt:lpstr>
      <vt:lpstr>Why SKA2 and Snippy distances differ</vt:lpstr>
      <vt:lpstr>Both methods for every group: the pipeline</vt:lpstr>
      <vt:lpstr>Tools for SNP distances and trees</vt:lpstr>
      <vt:lpstr>Tree plus metadata</vt:lpstr>
      <vt:lpstr>Hands-on: tree and metadata in Microreact</vt:lpstr>
      <vt:lpstr>Classifying a cluster</vt:lpstr>
      <vt:lpstr>Exercise: classify the ST39 group</vt:lpstr>
      <vt:lpstr>When did the cluster start?</vt:lpstr>
      <vt:lpstr>First: is there a temporal signal?</vt:lpstr>
      <vt:lpstr>Hands-on: BactDating in R</vt:lpstr>
      <vt:lpstr>What a date can tell the IPC team</vt:lpstr>
      <vt:lpstr>From evidence to action</vt:lpstr>
      <vt:lpstr>The one-page outbreak summary</vt:lpstr>
      <vt:lpstr>Role play: the IPC meeting</vt:lpstr>
      <vt:lpstr>Check your understanding</vt:lpstr>
      <vt:lpstr>Checklist</vt:lpstr>
      <vt:lpstr>Further reading</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Phylogenetics and outbreak detection</dc:title>
  <dc:subject/>
  <dc:creator/>
  <cp:lastModifiedBy>Juma, John (ILRI)</cp:lastModifiedBy>
  <cp:revision>2</cp:revision>
  <dcterms:created xsi:type="dcterms:W3CDTF">2026-10-19T04:38:27Z</dcterms:created>
  <dcterms:modified xsi:type="dcterms:W3CDTF">2026-10-19T07:21:52Z</dcterms:modified>
</cp:coreProperties>
</file>