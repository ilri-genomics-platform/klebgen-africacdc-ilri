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JetBrains Mono" panose="02000009000000000000" pitchFamily="49" charset="0"/>
      <p:regular r:id="rId31"/>
      <p:bold r:id="rId3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8 morning. Everything so far has been about the inside of the cell: which genes it carries, where they sit, how lineages are related. This morning we look at the outside, at the two sugar coats a vaccine or an antibody would have to recognise. Two warnings up front, because trainees often expect the opposite. First, serotype does not tell you which antibiotic to give; AST does. Second, the honest value of this typing is at population level, for vaccine design and surveillance, not at the bedside. We will be explicit about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slides cover the morning only: Module 7, the two antigen sessions. The afternoon (shaded rows) starts Module 8, joining every result table into one row per isolate, which has its own slides. Module 7 is short on tool work and long on interpretation, so expect more discussion than typing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objective is the one trainees most often arrive with the wrong expectation about. Many assume that because serotyping guides therapy in some other infections, it must do so here. It does not. Say so early, then spend the second session on where the typing genuinely earns its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 is the mechanics: what the two polysaccharides are, how they are named, how Kaptive finds them, and why the K locus in particular is hard to get right from short reads. Keep the vaccine arithmetic for session 2 so that trainees first learn to distrust a bad call before they start counting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from the outside in. The capsule is the thick outer layer, so it is the most accessible target for antibody, but it is also the most variable: well over a hundred capsule loci are described. The O antigen is underneath it, on LPS, and is far less diverse. Both are encoded by a single cluster of genes on the chromosome, which is what makes in silico typing possible at all: you find the cluster and read off which one it is. Note the last point on the diagram, because the locus-versus-type slide depends on it: the tool tells you which gene cluster is present, which is not quite the same as telling you which sugar is on the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trainees ask as soon as they see the diagram: why does the organism bother with two sugar coats? Because each one is a defence against a different arm of innate immunity. The capsule is the general-purpose shield and the reason an unencapsulated mutant is almost avirulent. Draw out the third bullet in particular, because it sets up the tension we return to before the coverage arithmetic: the capsule hides the O antigen, so an antibody raised against the O antigen has to reach through the capsule to do anything. Keep the lipid A point clear as well, since trainees routinely conflate endotoxin with the O antigen; they are parts of the same molecule but only lipid A drives the TLR4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diversity difference is the single most important row in this table, and it drives the whole vaccine discussion in session 2: a capsule vaccine has to be very highly multivalent to be useful, an O-antigen vaccine does not. The GC row explains why the confidence column matters more for K than for O, and it is also why trainees often see a split K locus in a short-read assembly and an intact one in a hybrid assembly of the same isolate. The O12 warning looks pedantic but it is a real bug trainees hit in the R exercise, so flag it now rather than after they have computed the wrong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prevents most of the misreading later in the day. The KL prefix means locus and the bare K means the serotype predicted from it; the two columns in the output are not redundant. Trainees often treat an unknown type as a failed run and try to rescue it, so say explicitly that a confident locus with an unnamed type is a perfectly good result and should be reported as the locus. The O1 and O2 example is worth dwelling on: it is the cleanest demonstration that surface phenotype is not fully determined by the locus, and it also explains the odd-looking O1/O2v1 strings trainees will see in their own output in about twenty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two-stage design is the point worth remembering: a cheap gene-level screen over the whole database, then an expensive full alignment of only the best two candidates. That is where the speed comes from, and it is also what lets the tool separate closely related loci that differ in only a gene or two. Step 4 is the one that connects back to the previous slide: the predicted type is assembled from gene content, including genes outside the locus, which is why it can differ from what the locus name alone would suggest. The fragmented-locus handling in v3 matters a great deal for us, because our short-read capsule loci are frequently in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trainees read these two columns together, never the type alone. The confidence call tells you whether to believe the locus; the problems string tells you why the tool is worried. The distinction that matters most in practice is between a fragmented but otherwise complete locus, which is usually fine, and a truncated gene, which is ambiguous between biology and assembly error. The only way to settle a truncation is to look: check the contig ends, and if an isolate matters, sequence it long-read. Note the version warning as well, since much of the published Klebsiella literature uses Kaptive 2's confidence tiers and trainees will be comparing their output against exactly those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Kaptive is fast, so everyone can run their own practice isolates in a couple of minutes; use_precomputed then brings in the full set of 29 for the vaccine arithmetic after the break. The hybrid comparison is the most instructive part of the session: in most cases the locus call is the same and only the confidence and the problems string improve, which is exactly the reassuring result trainees need before they trust short-read capsule typing at all. If an isolate's locus call actually changes between assemblies, that is worth five minutes of group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Capsule switching is the fact that ties this session to the vaccine arithmetic after the break, and it is also a direct callback to yesterday's outbreak work. Five capsule loci within one ST in a single hospital collection is a vivid local illustration; trainees can verify it themselves in the published typing column. Be careful to keep the outbreak inference honest: a different capsule raises a question, and only the core SNP distance answers it. Exactly the same logic runs the other way, which is why we never infer a capsule type from a sequence type even when the association in the literature looks strong.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is the interpretation half. Start with the question trainees actually want answered, which is whether any of this changes how a baby is treated, give the honest answer, and only then show where the typing genuinely earns its keep. Ending the morning on the coverage arithmetic leaves them with something they can compute on their own country's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No out loud and let it sit. Trainees arrive expecting serotyping to behave the way it does for pneumococcus or Salmonella, where a serotype genuinely steers management, and the analogy misleads them. The hypervirulent K1 and K2 example is the cleanest way to break it: the most dangerous capsule types in the literature are usually the ones that respond to ordinary antibiotics, while the hard-to-treat isolates in our own collection have unremarkable capsules. Do acknowledge the real associations rather than denying them, because trainees will find them in the literature and you lose credibility if you pretended there were none; the point is that a correlation mediated by clone is useless at the bedside. Then move straight on, because the next slide is where the typing pays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said no on the previous slide, this is the pay-off, and it reframes the trainees' own work: the reason a national surveillance programme types antigens at all is that someone designing a vaccine needs to know what is circulating in their country, and nobody else can supply that. The phage point is the one that usually surprises people, and it is a real clinical application, though a rare and specialised one. Keep the last box as the sentence trainees write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careful slide. There is a genuine clinical association between K1 or K2 and invasive community-acquired disease, and trainees will have read about it, so denying it would be wrong. But the capsule is a marker that travels with the virulence plasmid, not the cause, and the plasmid is what Kleborate actually measures, so the right habit is to read the virulence score. Be clear too about what changes if hypervirulence is present: it is a prompt to go looking for an abscess or another focus, not a reason to change antibiotic class. For a neonatal collection like ours, the practical message is that this is not our problem; our problem is resistance in unremarkable lineages. The convergent case is the exception worth naming because it is the one that would change what a unit does the same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constraints, and together they explain every design choice in the real candidate. Serotype specificity is why valency matters at all. T-cell independence is why Kleb4V is a conjugate rather than a plain polysaccharide, with the sugars linked to a detoxified Pseudomonas exoprotein A carrier. The third point is the one that connects the immunology to their own code, and it is worth pausing on: protection must be transferred from the mother, mostly in the third trimester, so adult serotype distributions are the wrong denominator and neonatal ones are the right one. The fourth closes the loop opened on the evasion slide. One more consequence to mention if there is time: once any vaccine is introduced, the non-vaccine types can expand to fill the gap, which is the serotype replacement seen after pneumococcal conjugate vaccines, and detecting it requires exactly the baseline typing these trainees are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quantitative heart of the module. The striking thing is that two completely independent collections, one neonatal unit in Malawi and 645 bloodstream isolates from thirteen countries, both land at about ninety per cent with four O types, while the capsule needs twenty-four. That is the whole argument for O-antigen vaccines in one comparison. Then make the second point, which is subtler and more important for the trainees' own countries: the ninety per cent is robust but the composition is not, so a vaccine designed on global averages could be badly matched locally, and the only way to know is to type local isolates. Finally, the real candidate is a useful corrective to the course's tidy O1/O2/O3b/O5 exercise: its designers split the O1 and O2 variants instead, and they project seventy per cent rather than ninety, partly because they assume cross-protection between O1 variants and partly because the denominator is all human infection worldwide rather than one hospital.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traps account for nearly every wrong answer in this exercise. The first is string matching: str_starts on "O1" swallows O12, which is a genuinely different O type, so the explicit list for O1 is not fussiness. The second is the denominator: unknown O types are real isolates that a vaccine would not cover, so they belong in the denominator and not in the bin. If someone reports a figure a few points above everyone else's, one of those two is almost always why. The period split is worth doing properly because it is the evidence for the instability point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period numbers are the ones to put on the board: ninety-four per cent, then seventy-three, then ninety-one, on samples of thirty-five, thirty and three hundred and twenty-one. That is enough to make the point that the apparent precision of the headline figure is an artefact, without anyone needing to be told. The cluster caveat is the subtlest and the one that generalises best to their own work, since any collection assembled around outbreak investigation is enriched for whatever the outbreak strain was. End on the constructive note: the fragility of other people's numbers is the reason their own country's data has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two is the one to spend time on, and the expected answer is roughly: the capsule type tells us nothing about which antibiotic will work, so start on your empiric guideline and the susceptibility result; separately, a K2 isolate is worth a look for hypervirulence markers, which would make me want to exclude a deep-seated focus. Question four should elicit sampling and case mix, the time period, and clustering, before anyone questions the vaccine. If a group concludes from a low local figure that the vaccine is useless, that is the misreading to correct: a different mix is an argument for local data informing valency choice, not against vaccination.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while they check these off; the hybrid comparison is the one most often skipped and the most worth having. The last item is not busywork: being able to say the negative result clearly to a clinician is the practical skill this module delivers, and it is worth asking two or three people to say their sentence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we can type both surface polysaccharides and judge whether to believe the call, we know that a locus is not a serotype, we can say honestly that serotype does not pick the antibiotic while explaining where it does matter, and we can compute what a multivalent vaccine would cover and say why that number is fragile. This afternoon everything from the week joins into one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9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6D2637"/>
                </a:solidFill>
                <a:latin typeface="Carlito" pitchFamily="34" charset="0"/>
                <a:ea typeface="Carlito" pitchFamily="34" charset="-122"/>
                <a:cs typeface="Carlit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6D2637"/>
                </a:solidFill>
                <a:latin typeface="Carlito" pitchFamily="34" charset="0"/>
                <a:ea typeface="Carlito" pitchFamily="34" charset="-122"/>
                <a:cs typeface="Carlit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6D2637"/>
                </a:solidFill>
                <a:latin typeface="Carlito" pitchFamily="34" charset="0"/>
                <a:ea typeface="Carlito" pitchFamily="34" charset="-122"/>
                <a:cs typeface="Carlit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6D2637"/>
                </a:solidFill>
                <a:latin typeface="Carlito" pitchFamily="34" charset="0"/>
                <a:ea typeface="Carlito" pitchFamily="34" charset="-122"/>
                <a:cs typeface="Carlit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2.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doi.org/10.1101/2025.02.05.636613" TargetMode="External"/><Relationship Id="rId2" Type="http://schemas.openxmlformats.org/officeDocument/2006/relationships/hyperlink" Target="https://doi.org/10.1186/s13073-024-01342-3" TargetMode="External"/><Relationship Id="rId3" Type="http://schemas.openxmlformats.org/officeDocument/2006/relationships/hyperlink" Target="https://doi.org/10.3389/fmicb.2020.01249" TargetMode="External"/><Relationship Id="rId4" Type="http://schemas.openxmlformats.org/officeDocument/2006/relationships/hyperlink" Target="https://kaptive.readthedocs.io" TargetMode="External"/><Relationship Id="rId5" Type="http://schemas.openxmlformats.org/officeDocument/2006/relationships/hyperlink" Target="https://kaptive-web.erc.monash.edu" TargetMode="External"/><Relationship Id="rId6" Type="http://schemas.openxmlformats.org/officeDocument/2006/relationships/hyperlink" Target="https://github.com/klebgenomics/Kleborate" TargetMode="External"/><Relationship Id="rId7" Type="http://schemas.openxmlformats.org/officeDocument/2006/relationships/hyperlink" Target="https://clinicaltrials.gov/study/NCT04959344" TargetMode="External"/><Relationship Id="rId8" Type="http://schemas.openxmlformats.org/officeDocument/2006/relationships/image" Target="../media/image-23-1.png"/><Relationship Id="rId9" Type="http://schemas.openxmlformats.org/officeDocument/2006/relationships/slideLayout" Target="../slideLayouts/slideLayout2.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91F15"/>
        </a:solidFill>
      </p:bgPr>
    </p:bg>
    <p:spTree>
      <p:nvGrpSpPr>
        <p:cNvPr id="1" name=""/>
        <p:cNvGrpSpPr/>
        <p:nvPr/>
      </p:nvGrpSpPr>
      <p:grpSpPr>
        <a:xfrm>
          <a:off x="0" y="0"/>
          <a:ext cx="0" cy="0"/>
          <a:chOff x="0" y="0"/>
          <a:chExt cx="0" cy="0"/>
        </a:xfrm>
      </p:grpSpPr>
      <p:pic>
        <p:nvPicPr>
          <p:cNvPr id="2" name="Image 0" descr="Pastoralists walking with their cattle at dawn">    </p:cNvPr>
          <p:cNvPicPr>
            <a:picLocks noChangeAspect="1"/>
          </p:cNvPicPr>
          <p:nvPr/>
        </p:nvPicPr>
        <p:blipFill>
          <a:blip r:embed="rId1"/>
          <a:srcRect l="0" r="0" t="0" b="0"/>
          <a:stretch/>
        </p:blipFill>
        <p:spPr>
          <a:xfrm>
            <a:off x="6096000" y="0"/>
            <a:ext cx="6096000" cy="6858000"/>
          </a:xfrm>
          <a:prstGeom prst="rect">
            <a:avLst/>
          </a:prstGeom>
        </p:spPr>
      </p:pic>
      <p:pic>
        <p:nvPicPr>
          <p:cNvPr id="3" name="Image 1" descr="ILRI and CGIAR logos">    </p:cNvPr>
          <p:cNvPicPr>
            <a:picLocks noChangeAspect="1"/>
          </p:cNvPicPr>
          <p:nvPr/>
        </p:nvPicPr>
        <p:blipFill>
          <a:blip r:embed="rId2"/>
          <a:srcRect l="-36" r="-36" t="0" b="0"/>
          <a:stretch/>
        </p:blipFill>
        <p:spPr>
          <a:xfrm>
            <a:off x="368300" y="336550"/>
            <a:ext cx="2984500" cy="806450"/>
          </a:xfrm>
          <a:prstGeom prst="rect">
            <a:avLst/>
          </a:prstGeom>
        </p:spPr>
      </p:pic>
      <p:sp>
        <p:nvSpPr>
          <p:cNvPr id="4" name="Text 0"/>
          <p:cNvSpPr/>
          <p:nvPr/>
        </p:nvSpPr>
        <p:spPr>
          <a:xfrm>
            <a:off x="0" y="2194620"/>
            <a:ext cx="12557760" cy="30986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FFCE00"/>
                </a:solidFill>
                <a:latin typeface="Carlito" pitchFamily="34" charset="0"/>
                <a:ea typeface="Carlito" pitchFamily="34" charset="-122"/>
                <a:cs typeface="Carlito" pitchFamily="34" charset="-120"/>
              </a:rPr>
              <a:t>MODULE 7 · DAY 8 MORNING</a:t>
            </a:r>
            <a:endParaRPr lang="en-US" sz="1600" dirty="0"/>
          </a:p>
        </p:txBody>
      </p:sp>
      <p:sp>
        <p:nvSpPr>
          <p:cNvPr id="5" name="Text 1"/>
          <p:cNvSpPr/>
          <p:nvPr>
            <p:ph type="title"/>
          </p:nvPr>
        </p:nvSpPr>
        <p:spPr>
          <a:xfrm>
            <a:off x="0" y="2682280"/>
            <a:ext cx="12557760" cy="7721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9F2EA"/>
                </a:solidFill>
                <a:latin typeface="Carlito" pitchFamily="34" charset="0"/>
                <a:ea typeface="Carlito" pitchFamily="34" charset="-122"/>
                <a:cs typeface="Carlito" pitchFamily="34" charset="-120"/>
              </a:rPr>
              <a:t>What is on the surface?</a:t>
            </a:r>
            <a:endParaRPr lang="en-US" sz="5600" dirty="0"/>
          </a:p>
        </p:txBody>
      </p:sp>
      <p:sp>
        <p:nvSpPr>
          <p:cNvPr id="6" name="Text 2"/>
          <p:cNvSpPr/>
          <p:nvPr/>
        </p:nvSpPr>
        <p:spPr>
          <a:xfrm>
            <a:off x="0" y="3632200"/>
            <a:ext cx="1255776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9F2EA"/>
                </a:solidFill>
                <a:latin typeface="Carlito" pitchFamily="34" charset="0"/>
                <a:ea typeface="Carlito" pitchFamily="34" charset="-122"/>
                <a:cs typeface="Carlito" pitchFamily="34" charset="-120"/>
              </a:rPr>
              <a:t>Capsule and O-antigen typing with Kaptive, and what serotypes do and do not tell us about treatment</a:t>
            </a:r>
            <a:endParaRPr lang="en-US" sz="2000" dirty="0"/>
          </a:p>
        </p:txBody>
      </p:sp>
      <p:sp>
        <p:nvSpPr>
          <p:cNvPr id="7" name="Text 3"/>
          <p:cNvSpPr/>
          <p:nvPr/>
        </p:nvSpPr>
        <p:spPr>
          <a:xfrm>
            <a:off x="0" y="4165600"/>
            <a:ext cx="1255776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D3C9"/>
                </a:solidFill>
                <a:latin typeface="Carlito" pitchFamily="34" charset="0"/>
                <a:ea typeface="Carlito" pitchFamily="34" charset="-122"/>
                <a:cs typeface="Carlito" pitchFamily="34" charset="-120"/>
              </a:rPr>
              <a:t>Neonatal AMR genomic surveillance of </a:t>
            </a:r>
            <a:r>
              <a:rPr lang="en-US" sz="1400" i="1" dirty="0">
                <a:solidFill>
                  <a:srgbClr val="F1D3C9"/>
                </a:solidFill>
                <a:latin typeface="Carlito" pitchFamily="34" charset="0"/>
                <a:ea typeface="Carlito" pitchFamily="34" charset="-122"/>
                <a:cs typeface="Carlito" pitchFamily="34" charset="-120"/>
              </a:rPr>
              <a:t>K. pneumoniae</a:t>
            </a:r>
            <a:r>
              <a:rPr lang="en-US" sz="1400" dirty="0">
                <a:solidFill>
                  <a:srgbClr val="F1D3C9"/>
                </a:solidFill>
                <a:latin typeface="Carlito" pitchFamily="34" charset="0"/>
                <a:ea typeface="Carlito" pitchFamily="34" charset="-122"/>
                <a:cs typeface="Carlito" pitchFamily="34" charset="-120"/>
              </a:rPr>
              <a:t> and </a:t>
            </a:r>
            <a:r>
              <a:rPr lang="en-US" sz="1400" i="1" dirty="0">
                <a:solidFill>
                  <a:srgbClr val="F1D3C9"/>
                </a:solidFill>
                <a:latin typeface="Carlito" pitchFamily="34" charset="0"/>
                <a:ea typeface="Carlito" pitchFamily="34" charset="-122"/>
                <a:cs typeface="Carlito" pitchFamily="34" charset="-120"/>
              </a:rPr>
              <a:t>E. coli</a:t>
            </a:r>
            <a:endParaRPr lang="en-US" sz="1400" dirty="0"/>
          </a:p>
          <a:p>
            <a:pPr algn="l" indent="0" marL="0">
              <a:lnSpc>
                <a:spcPts val="1960"/>
              </a:lnSpc>
              <a:buNone/>
            </a:pPr>
            <a:r>
              <a:rPr lang="en-US" sz="1400" dirty="0">
                <a:solidFill>
                  <a:srgbClr val="F1D3C9"/>
                </a:solidFill>
                <a:latin typeface="Carlito" pitchFamily="34" charset="0"/>
                <a:ea typeface="Carlito" pitchFamily="34" charset="-122"/>
                <a:cs typeface="Carlito" pitchFamily="34" charset="-120"/>
              </a:rPr>
              <a:t>KlebGen training · Africa CDC and ILRI</a:t>
            </a:r>
            <a:endParaRPr lang="en-US" sz="1400" dirty="0"/>
          </a:p>
        </p:txBody>
      </p:sp>
      <p:sp>
        <p:nvSpPr>
          <p:cNvPr id="8" name="Text 4"/>
          <p:cNvSpPr/>
          <p:nvPr/>
        </p:nvSpPr>
        <p:spPr>
          <a:xfrm>
            <a:off x="425450" y="628908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B5A8"/>
                </a:solidFill>
                <a:latin typeface="Carlito" pitchFamily="34" charset="0"/>
                <a:ea typeface="Carlito" pitchFamily="34" charset="-122"/>
                <a:cs typeface="Carlito" pitchFamily="34" charset="-120"/>
              </a:rPr>
              <a:t>Module 7 · Capsule, O antigen and vaccines | Day 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Day 8 at a glance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96690"/>
          <a:ext cx="10553700" cy="1930053"/>
        </p:xfrm>
        <a:graphic>
          <a:graphicData uri="http://schemas.openxmlformats.org/drawingml/2006/table">
            <a:tbl>
              <a:tblPr/>
              <a:tblGrid>
                <a:gridCol w="1477518"/>
                <a:gridCol w="1794129"/>
                <a:gridCol w="6015609"/>
                <a:gridCol w="1266444"/>
              </a:tblGrid>
              <a:tr h="386011">
                <a:tc>
                  <a:txBody>
                    <a:bodyPr/>
                    <a:lstStyle/>
                    <a:p>
                      <a:pPr indent="0" marL="0">
                        <a:lnSpc>
                          <a:spcPts val="1960"/>
                        </a:lnSpc>
                        <a:buNone/>
                      </a:pPr>
                      <a:r>
                        <a:rPr lang="en-US" sz="1400" b="1" dirty="0">
                          <a:solidFill>
                            <a:srgbClr val="3A322C"/>
                          </a:solidFill>
                          <a:latin typeface="Carlito" pitchFamily="34" charset="0"/>
                          <a:ea typeface="Carlito" pitchFamily="34" charset="-122"/>
                          <a:cs typeface="Carlito" pitchFamily="34" charset="-120"/>
                        </a:rPr>
                        <a:t>Session</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1960"/>
                        </a:lnSpc>
                        <a:buNone/>
                      </a:pPr>
                      <a:r>
                        <a:rPr lang="en-US" sz="1400" b="1" dirty="0">
                          <a:solidFill>
                            <a:srgbClr val="3A322C"/>
                          </a:solidFill>
                          <a:latin typeface="Carlito" pitchFamily="34" charset="0"/>
                          <a:ea typeface="Carlito" pitchFamily="34" charset="-122"/>
                          <a:cs typeface="Carlito" pitchFamily="34" charset="-120"/>
                        </a:rPr>
                        <a:t>Time</a:t>
                      </a:r>
                      <a:endParaRPr lang="en-US" sz="1400" dirty="0">
                        <a:latin typeface="Carlito" charset="0"/>
                        <a:ea typeface="Carlito" charset="0"/>
                        <a:cs typeface="Carlito" charset="0"/>
                      </a:endParaRPr>
                    </a:p>
                  </a:txBody>
                  <a:tcPr marL="62230" marR="62230" marT="62230" marB="62230"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1960"/>
                        </a:lnSpc>
                        <a:buNone/>
                      </a:pPr>
                      <a:r>
                        <a:rPr lang="en-US" sz="1400" b="1" dirty="0">
                          <a:solidFill>
                            <a:srgbClr val="3A322C"/>
                          </a:solidFill>
                          <a:latin typeface="Carlito" pitchFamily="34" charset="0"/>
                          <a:ea typeface="Carlito" pitchFamily="34" charset="-122"/>
                          <a:cs typeface="Carlito" pitchFamily="34" charset="-120"/>
                        </a:rPr>
                        <a:t>Topic</a:t>
                      </a:r>
                      <a:endParaRPr lang="en-US" sz="1400" dirty="0">
                        <a:latin typeface="Carlito" charset="0"/>
                        <a:ea typeface="Carlito" charset="0"/>
                        <a:cs typeface="Carlito" charset="0"/>
                      </a:endParaRPr>
                    </a:p>
                  </a:txBody>
                  <a:tcPr marL="62230" marR="62230" marT="62230" marB="62230"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1960"/>
                        </a:lnSpc>
                        <a:buNone/>
                      </a:pPr>
                      <a:r>
                        <a:rPr lang="en-US" sz="1400" b="1" dirty="0">
                          <a:solidFill>
                            <a:srgbClr val="3A322C"/>
                          </a:solidFill>
                          <a:latin typeface="Carlito" pitchFamily="34" charset="0"/>
                          <a:ea typeface="Carlito" pitchFamily="34" charset="-122"/>
                          <a:cs typeface="Carlito" pitchFamily="34" charset="-120"/>
                        </a:rPr>
                        <a:t>Module</a:t>
                      </a:r>
                      <a:endParaRPr lang="en-US" sz="1400" dirty="0">
                        <a:latin typeface="Carlito" charset="0"/>
                        <a:ea typeface="Carlito" charset="0"/>
                        <a:cs typeface="Carlito" charset="0"/>
                      </a:endParaRPr>
                    </a:p>
                  </a:txBody>
                  <a:tcPr marL="62230" marR="62230" marT="62230" marB="62230"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1</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09:00–10:30</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Capsule (K) and O-antigen typing with Kaptive</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7</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2</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11:00–12:30</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What would a vaccine cover?</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7</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3</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13:30–15:00</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One table for everything: joining results in R</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8</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4</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15:30–17:00</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Checking the joined table; summary statistics</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8</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bl>
          </a:graphicData>
        </a:graphic>
      </p:graphicFrame>
      <p:sp>
        <p:nvSpPr>
          <p:cNvPr id="5" name="Shape 2"/>
          <p:cNvSpPr/>
          <p:nvPr/>
        </p:nvSpPr>
        <p:spPr>
          <a:xfrm>
            <a:off x="812800" y="3855343"/>
            <a:ext cx="10566400" cy="622300"/>
          </a:xfrm>
          <a:prstGeom prst="roundRect">
            <a:avLst>
              <a:gd name="adj" fmla="val 12245"/>
            </a:avLst>
          </a:prstGeom>
          <a:solidFill>
            <a:srgbClr val="273003"/>
          </a:solidFill>
          <a:ln/>
        </p:spPr>
      </p:sp>
      <p:sp>
        <p:nvSpPr>
          <p:cNvPr id="6" name="Text 3"/>
          <p:cNvSpPr/>
          <p:nvPr/>
        </p:nvSpPr>
        <p:spPr>
          <a:xfrm>
            <a:off x="1066800" y="4033143"/>
            <a:ext cx="1357610" cy="292100"/>
          </a:xfrm>
          <a:prstGeom prst="rect">
            <a:avLst/>
          </a:prstGeom>
          <a:noFill/>
          <a:ln/>
        </p:spPr>
        <p:txBody>
          <a:bodyPr wrap="none" lIns="0" tIns="0" rIns="0" bIns="0" rtlCol="0" anchor="t">
            <a:normAutofit/>
          </a:bodyPr>
          <a:lstStyle/>
          <a:p>
            <a:pPr algn="l" indent="0" marL="0">
              <a:lnSpc>
                <a:spcPts val="2100"/>
              </a:lnSpc>
              <a:buNone/>
            </a:pPr>
            <a:r>
              <a:rPr lang="en-US" sz="1500" b="1" dirty="0">
                <a:solidFill>
                  <a:srgbClr val="FFCE00"/>
                </a:solidFill>
                <a:latin typeface="Carlito" pitchFamily="34" charset="0"/>
                <a:ea typeface="Carlito" pitchFamily="34" charset="-122"/>
                <a:cs typeface="Carlito" pitchFamily="34" charset="-120"/>
              </a:rPr>
              <a:t>You will produce</a:t>
            </a:r>
            <a:endParaRPr lang="en-US" sz="1500" dirty="0"/>
          </a:p>
        </p:txBody>
      </p:sp>
      <p:sp>
        <p:nvSpPr>
          <p:cNvPr id="7" name="Text 4"/>
          <p:cNvSpPr/>
          <p:nvPr/>
        </p:nvSpPr>
        <p:spPr>
          <a:xfrm>
            <a:off x="2526010" y="4046488"/>
            <a:ext cx="845242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9F2EA"/>
                </a:solidFill>
                <a:latin typeface="Carlito" pitchFamily="34" charset="0"/>
                <a:ea typeface="Carlito" pitchFamily="34" charset="-122"/>
                <a:cs typeface="Carlito" pitchFamily="34" charset="-120"/>
              </a:rPr>
              <a:t>K and O calls for all 29 isolates compared with the published typing, and a vaccine-coverage figure</a:t>
            </a:r>
            <a:endParaRPr lang="en-US" sz="1400" dirty="0"/>
          </a:p>
        </p:txBody>
      </p:sp>
      <p:pic>
        <p:nvPicPr>
          <p:cNvPr id="8"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9" name="Text 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7 · Capsule, O antigen and vaccines | Day 8</a:t>
            </a:r>
            <a:endParaRPr lang="en-US" sz="1200" dirty="0"/>
          </a:p>
        </p:txBody>
      </p:sp>
      <p:sp>
        <p:nvSpPr>
          <p:cNvPr id="10" name="Text 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By the end of this morning you can</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709390"/>
            <a:ext cx="5181600" cy="1093391"/>
          </a:xfrm>
          <a:prstGeom prst="roundRect">
            <a:avLst>
              <a:gd name="adj" fmla="val 4646"/>
            </a:avLst>
          </a:prstGeom>
          <a:solidFill>
            <a:srgbClr val="FFFFFF"/>
          </a:solidFill>
          <a:ln/>
        </p:spPr>
      </p:sp>
      <p:sp>
        <p:nvSpPr>
          <p:cNvPr id="5" name="Shape 3"/>
          <p:cNvSpPr/>
          <p:nvPr/>
        </p:nvSpPr>
        <p:spPr>
          <a:xfrm>
            <a:off x="812800" y="1709390"/>
            <a:ext cx="5181600" cy="1093391"/>
          </a:xfrm>
          <a:custGeom>
            <a:avLst/>
            <a:gdLst/>
            <a:ahLst/>
            <a:cxnLst/>
            <a:rect l="l" t="t" r="r" b="b"/>
            <a:pathLst>
              <a:path w="5181600" h="1093391">
                <a:moveTo>
                  <a:pt x="50800" y="1093391"/>
                </a:moveTo>
                <a:lnTo>
                  <a:pt x="50800" y="1093391"/>
                </a:lnTo>
                <a:arcTo hR="50800" wR="50800" stAng="5400000" swAng="5400000"/>
                <a:lnTo>
                  <a:pt x="0" y="50800"/>
                </a:lnTo>
                <a:arcTo hR="50800" wR="50800" stAng="10800000" swAng="5400000"/>
                <a:lnTo>
                  <a:pt x="50800" y="0"/>
                </a:lnTo>
                <a:lnTo>
                  <a:pt x="50800" y="1093391"/>
                </a:lnTo>
                <a:close/>
              </a:path>
            </a:pathLst>
          </a:custGeom>
          <a:solidFill>
            <a:srgbClr val="891F15"/>
          </a:solidFill>
          <a:ln/>
        </p:spPr>
      </p:sp>
      <p:sp>
        <p:nvSpPr>
          <p:cNvPr id="6" name="Text 4"/>
          <p:cNvSpPr/>
          <p:nvPr/>
        </p:nvSpPr>
        <p:spPr>
          <a:xfrm>
            <a:off x="1066800" y="1887190"/>
            <a:ext cx="48661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91F15"/>
                </a:solidFill>
                <a:latin typeface="Carlito" pitchFamily="34" charset="0"/>
                <a:ea typeface="Carlito" pitchFamily="34" charset="-122"/>
                <a:cs typeface="Carlito" pitchFamily="34" charset="-120"/>
              </a:rPr>
              <a:t>Name things correctly</a:t>
            </a:r>
            <a:endParaRPr lang="en-US" sz="1500" dirty="0"/>
          </a:p>
        </p:txBody>
      </p:sp>
      <p:sp>
        <p:nvSpPr>
          <p:cNvPr id="7" name="Text 5"/>
          <p:cNvSpPr/>
          <p:nvPr/>
        </p:nvSpPr>
        <p:spPr>
          <a:xfrm>
            <a:off x="1066800" y="2179290"/>
            <a:ext cx="486613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Explain K-locus (KL) and O-locus (OL) nomenclature, and the difference between a </a:t>
            </a:r>
            <a:r>
              <a:rPr lang="en-US" sz="1300" b="1" dirty="0">
                <a:solidFill>
                  <a:srgbClr val="3A322C"/>
                </a:solidFill>
                <a:latin typeface="Carlito" pitchFamily="34" charset="0"/>
                <a:ea typeface="Carlito" pitchFamily="34" charset="-122"/>
                <a:cs typeface="Carlito" pitchFamily="34" charset="-120"/>
              </a:rPr>
              <a:t>locus</a:t>
            </a:r>
            <a:r>
              <a:rPr lang="en-US" sz="1300" dirty="0">
                <a:solidFill>
                  <a:srgbClr val="3A322C"/>
                </a:solidFill>
                <a:latin typeface="Carlito" pitchFamily="34" charset="0"/>
                <a:ea typeface="Carlito" pitchFamily="34" charset="-122"/>
                <a:cs typeface="Carlito" pitchFamily="34" charset="-120"/>
              </a:rPr>
              <a:t> and a </a:t>
            </a:r>
            <a:r>
              <a:rPr lang="en-US" sz="1300" b="1" dirty="0">
                <a:solidFill>
                  <a:srgbClr val="3A322C"/>
                </a:solidFill>
                <a:latin typeface="Carlito" pitchFamily="34" charset="0"/>
                <a:ea typeface="Carlito" pitchFamily="34" charset="-122"/>
                <a:cs typeface="Carlito" pitchFamily="34" charset="-120"/>
              </a:rPr>
              <a:t>predicted type</a:t>
            </a:r>
            <a:r>
              <a:rPr lang="en-US" sz="1300" dirty="0">
                <a:solidFill>
                  <a:srgbClr val="3A322C"/>
                </a:solidFill>
                <a:latin typeface="Carlito" pitchFamily="34" charset="0"/>
                <a:ea typeface="Carlito" pitchFamily="34" charset="-122"/>
                <a:cs typeface="Carlito" pitchFamily="34" charset="-120"/>
              </a:rPr>
              <a:t>.</a:t>
            </a:r>
            <a:endParaRPr lang="en-US" sz="1300" dirty="0"/>
          </a:p>
        </p:txBody>
      </p:sp>
      <p:sp>
        <p:nvSpPr>
          <p:cNvPr id="8" name="Shape 6"/>
          <p:cNvSpPr/>
          <p:nvPr/>
        </p:nvSpPr>
        <p:spPr>
          <a:xfrm>
            <a:off x="6197600" y="1709390"/>
            <a:ext cx="5181600" cy="1093391"/>
          </a:xfrm>
          <a:prstGeom prst="roundRect">
            <a:avLst>
              <a:gd name="adj" fmla="val 4646"/>
            </a:avLst>
          </a:prstGeom>
          <a:solidFill>
            <a:srgbClr val="FFFFFF"/>
          </a:solidFill>
          <a:ln/>
        </p:spPr>
      </p:sp>
      <p:sp>
        <p:nvSpPr>
          <p:cNvPr id="9" name="Shape 7"/>
          <p:cNvSpPr/>
          <p:nvPr/>
        </p:nvSpPr>
        <p:spPr>
          <a:xfrm>
            <a:off x="6197600" y="1709390"/>
            <a:ext cx="5181600" cy="1093391"/>
          </a:xfrm>
          <a:custGeom>
            <a:avLst/>
            <a:gdLst/>
            <a:ahLst/>
            <a:cxnLst/>
            <a:rect l="l" t="t" r="r" b="b"/>
            <a:pathLst>
              <a:path w="5181600" h="1093391">
                <a:moveTo>
                  <a:pt x="50800" y="1093391"/>
                </a:moveTo>
                <a:lnTo>
                  <a:pt x="50800" y="1093391"/>
                </a:lnTo>
                <a:arcTo hR="50800" wR="50800" stAng="5400000" swAng="5400000"/>
                <a:lnTo>
                  <a:pt x="0" y="50800"/>
                </a:lnTo>
                <a:arcTo hR="50800" wR="50800" stAng="10800000" swAng="5400000"/>
                <a:lnTo>
                  <a:pt x="50800" y="0"/>
                </a:lnTo>
                <a:lnTo>
                  <a:pt x="50800" y="1093391"/>
                </a:lnTo>
                <a:close/>
              </a:path>
            </a:pathLst>
          </a:custGeom>
          <a:solidFill>
            <a:srgbClr val="891F15"/>
          </a:solidFill>
          <a:ln/>
        </p:spPr>
      </p:sp>
      <p:sp>
        <p:nvSpPr>
          <p:cNvPr id="10" name="Text 8"/>
          <p:cNvSpPr/>
          <p:nvPr/>
        </p:nvSpPr>
        <p:spPr>
          <a:xfrm>
            <a:off x="6451600" y="1887190"/>
            <a:ext cx="48661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91F15"/>
                </a:solidFill>
                <a:latin typeface="Carlito" pitchFamily="34" charset="0"/>
                <a:ea typeface="Carlito" pitchFamily="34" charset="-122"/>
                <a:cs typeface="Carlito" pitchFamily="34" charset="-120"/>
              </a:rPr>
              <a:t>Run and judge Kaptive 3</a:t>
            </a:r>
            <a:endParaRPr lang="en-US" sz="1500" dirty="0"/>
          </a:p>
        </p:txBody>
      </p:sp>
      <p:sp>
        <p:nvSpPr>
          <p:cNvPr id="11" name="Text 9"/>
          <p:cNvSpPr/>
          <p:nvPr/>
        </p:nvSpPr>
        <p:spPr>
          <a:xfrm>
            <a:off x="6451600" y="2179290"/>
            <a:ext cx="486613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Type K and O loci, read the </a:t>
            </a:r>
            <a:r>
              <a:rPr lang="en-US" sz="1300" b="1" dirty="0">
                <a:solidFill>
                  <a:srgbClr val="3A322C"/>
                </a:solidFill>
                <a:latin typeface="Carlito" pitchFamily="34" charset="0"/>
                <a:ea typeface="Carlito" pitchFamily="34" charset="-122"/>
                <a:cs typeface="Carlito" pitchFamily="34" charset="-120"/>
              </a:rPr>
              <a:t>Match confidence</a:t>
            </a:r>
            <a:r>
              <a:rPr lang="en-US" sz="1300" dirty="0">
                <a:solidFill>
                  <a:srgbClr val="3A322C"/>
                </a:solidFill>
                <a:latin typeface="Carlito" pitchFamily="34" charset="0"/>
                <a:ea typeface="Carlito" pitchFamily="34" charset="-122"/>
                <a:cs typeface="Carlito" pitchFamily="34" charset="-120"/>
              </a:rPr>
              <a:t> and </a:t>
            </a:r>
            <a:r>
              <a:rPr lang="en-US" sz="1300" b="1" dirty="0">
                <a:solidFill>
                  <a:srgbClr val="3A322C"/>
                </a:solidFill>
                <a:latin typeface="Carlito" pitchFamily="34" charset="0"/>
                <a:ea typeface="Carlito" pitchFamily="34" charset="-122"/>
                <a:cs typeface="Carlito" pitchFamily="34" charset="-120"/>
              </a:rPr>
              <a:t>Problems</a:t>
            </a:r>
            <a:r>
              <a:rPr lang="en-US" sz="1300" dirty="0">
                <a:solidFill>
                  <a:srgbClr val="3A322C"/>
                </a:solidFill>
                <a:latin typeface="Carlito" pitchFamily="34" charset="0"/>
                <a:ea typeface="Carlito" pitchFamily="34" charset="-122"/>
                <a:cs typeface="Carlito" pitchFamily="34" charset="-120"/>
              </a:rPr>
              <a:t> columns, and say when not to trust a call.</a:t>
            </a:r>
            <a:endParaRPr lang="en-US" sz="1300" dirty="0"/>
          </a:p>
        </p:txBody>
      </p:sp>
      <p:sp>
        <p:nvSpPr>
          <p:cNvPr id="12" name="Shape 10"/>
          <p:cNvSpPr/>
          <p:nvPr/>
        </p:nvSpPr>
        <p:spPr>
          <a:xfrm>
            <a:off x="812800" y="3005981"/>
            <a:ext cx="5181600" cy="1093391"/>
          </a:xfrm>
          <a:prstGeom prst="roundRect">
            <a:avLst>
              <a:gd name="adj" fmla="val 4646"/>
            </a:avLst>
          </a:prstGeom>
          <a:solidFill>
            <a:srgbClr val="FFFFFF"/>
          </a:solidFill>
          <a:ln/>
        </p:spPr>
      </p:sp>
      <p:sp>
        <p:nvSpPr>
          <p:cNvPr id="13" name="Shape 11"/>
          <p:cNvSpPr/>
          <p:nvPr/>
        </p:nvSpPr>
        <p:spPr>
          <a:xfrm>
            <a:off x="812800" y="3005981"/>
            <a:ext cx="5181600" cy="1093391"/>
          </a:xfrm>
          <a:custGeom>
            <a:avLst/>
            <a:gdLst/>
            <a:ahLst/>
            <a:cxnLst/>
            <a:rect l="l" t="t" r="r" b="b"/>
            <a:pathLst>
              <a:path w="5181600" h="1093391">
                <a:moveTo>
                  <a:pt x="50800" y="1093391"/>
                </a:moveTo>
                <a:lnTo>
                  <a:pt x="50800" y="1093391"/>
                </a:lnTo>
                <a:arcTo hR="50800" wR="50800" stAng="5400000" swAng="5400000"/>
                <a:lnTo>
                  <a:pt x="0" y="50800"/>
                </a:lnTo>
                <a:arcTo hR="50800" wR="50800" stAng="10800000" swAng="5400000"/>
                <a:lnTo>
                  <a:pt x="50800" y="0"/>
                </a:lnTo>
                <a:lnTo>
                  <a:pt x="50800" y="1093391"/>
                </a:lnTo>
                <a:close/>
              </a:path>
            </a:pathLst>
          </a:custGeom>
          <a:solidFill>
            <a:srgbClr val="891F15"/>
          </a:solidFill>
          <a:ln/>
        </p:spPr>
      </p:sp>
      <p:sp>
        <p:nvSpPr>
          <p:cNvPr id="14" name="Text 12"/>
          <p:cNvSpPr/>
          <p:nvPr/>
        </p:nvSpPr>
        <p:spPr>
          <a:xfrm>
            <a:off x="1066800" y="3183781"/>
            <a:ext cx="48661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91F15"/>
                </a:solidFill>
                <a:latin typeface="Carlito" pitchFamily="34" charset="0"/>
                <a:ea typeface="Carlito" pitchFamily="34" charset="-122"/>
                <a:cs typeface="Carlito" pitchFamily="34" charset="-120"/>
              </a:rPr>
              <a:t>Answer the clinical question honestly</a:t>
            </a:r>
            <a:endParaRPr lang="en-US" sz="1500" dirty="0"/>
          </a:p>
        </p:txBody>
      </p:sp>
      <p:sp>
        <p:nvSpPr>
          <p:cNvPr id="15" name="Text 13"/>
          <p:cNvSpPr/>
          <p:nvPr/>
        </p:nvSpPr>
        <p:spPr>
          <a:xfrm>
            <a:off x="1066800" y="3475881"/>
            <a:ext cx="486613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Say what a serotype does and does not change for the baby in front of you, and where it changes management instead.</a:t>
            </a:r>
            <a:endParaRPr lang="en-US" sz="1300" dirty="0"/>
          </a:p>
        </p:txBody>
      </p:sp>
      <p:sp>
        <p:nvSpPr>
          <p:cNvPr id="16" name="Shape 14"/>
          <p:cNvSpPr/>
          <p:nvPr/>
        </p:nvSpPr>
        <p:spPr>
          <a:xfrm>
            <a:off x="6197600" y="3005981"/>
            <a:ext cx="5181600" cy="1093391"/>
          </a:xfrm>
          <a:prstGeom prst="roundRect">
            <a:avLst>
              <a:gd name="adj" fmla="val 4646"/>
            </a:avLst>
          </a:prstGeom>
          <a:solidFill>
            <a:srgbClr val="FFFFFF"/>
          </a:solidFill>
          <a:ln/>
        </p:spPr>
      </p:sp>
      <p:sp>
        <p:nvSpPr>
          <p:cNvPr id="17" name="Shape 15"/>
          <p:cNvSpPr/>
          <p:nvPr/>
        </p:nvSpPr>
        <p:spPr>
          <a:xfrm>
            <a:off x="6197600" y="3005981"/>
            <a:ext cx="5181600" cy="1093391"/>
          </a:xfrm>
          <a:custGeom>
            <a:avLst/>
            <a:gdLst/>
            <a:ahLst/>
            <a:cxnLst/>
            <a:rect l="l" t="t" r="r" b="b"/>
            <a:pathLst>
              <a:path w="5181600" h="1093391">
                <a:moveTo>
                  <a:pt x="50800" y="1093391"/>
                </a:moveTo>
                <a:lnTo>
                  <a:pt x="50800" y="1093391"/>
                </a:lnTo>
                <a:arcTo hR="50800" wR="50800" stAng="5400000" swAng="5400000"/>
                <a:lnTo>
                  <a:pt x="0" y="50800"/>
                </a:lnTo>
                <a:arcTo hR="50800" wR="50800" stAng="10800000" swAng="5400000"/>
                <a:lnTo>
                  <a:pt x="50800" y="0"/>
                </a:lnTo>
                <a:lnTo>
                  <a:pt x="50800" y="1093391"/>
                </a:lnTo>
                <a:close/>
              </a:path>
            </a:pathLst>
          </a:custGeom>
          <a:solidFill>
            <a:srgbClr val="891F15"/>
          </a:solidFill>
          <a:ln/>
        </p:spPr>
      </p:sp>
      <p:sp>
        <p:nvSpPr>
          <p:cNvPr id="18" name="Text 16"/>
          <p:cNvSpPr/>
          <p:nvPr/>
        </p:nvSpPr>
        <p:spPr>
          <a:xfrm>
            <a:off x="6451600" y="3183781"/>
            <a:ext cx="48661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91F15"/>
                </a:solidFill>
                <a:latin typeface="Carlito" pitchFamily="34" charset="0"/>
                <a:ea typeface="Carlito" pitchFamily="34" charset="-122"/>
                <a:cs typeface="Carlito" pitchFamily="34" charset="-120"/>
              </a:rPr>
              <a:t>Calculate vaccine coverage</a:t>
            </a:r>
            <a:endParaRPr lang="en-US" sz="1500" dirty="0"/>
          </a:p>
        </p:txBody>
      </p:sp>
      <p:sp>
        <p:nvSpPr>
          <p:cNvPr id="19" name="Text 17"/>
          <p:cNvSpPr/>
          <p:nvPr/>
        </p:nvSpPr>
        <p:spPr>
          <a:xfrm>
            <a:off x="6451600" y="3475881"/>
            <a:ext cx="486613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322C"/>
                </a:solidFill>
                <a:latin typeface="Carlito" pitchFamily="34" charset="0"/>
                <a:ea typeface="Carlito" pitchFamily="34" charset="-122"/>
                <a:cs typeface="Carlito" pitchFamily="34" charset="-120"/>
              </a:rPr>
              <a:t>Work out what a multivalent vaccine would cover, and explain how sampling, place and time move that number.</a:t>
            </a:r>
            <a:endParaRPr lang="en-US" sz="1300" dirty="0"/>
          </a:p>
        </p:txBody>
      </p:sp>
      <p:pic>
        <p:nvPicPr>
          <p:cNvPr id="20"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21" name="Text 1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7 · Capsule, O antigen and vaccines | Day 8</a:t>
            </a:r>
            <a:endParaRPr lang="en-US" sz="1200" dirty="0"/>
          </a:p>
        </p:txBody>
      </p:sp>
      <p:sp>
        <p:nvSpPr>
          <p:cNvPr id="22" name="Text 1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73003"/>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rcRect l="-5140" r="-5140" t="0" b="0"/>
          <a:stretch/>
        </p:blipFill>
        <p:spPr>
          <a:xfrm>
            <a:off x="9372600" y="914400"/>
            <a:ext cx="2819400" cy="5219700"/>
          </a:xfrm>
          <a:prstGeom prst="rect">
            <a:avLst/>
          </a:prstGeom>
        </p:spPr>
      </p:pic>
      <p:sp>
        <p:nvSpPr>
          <p:cNvPr id="3" name="Text 0"/>
          <p:cNvSpPr/>
          <p:nvPr/>
        </p:nvSpPr>
        <p:spPr>
          <a:xfrm>
            <a:off x="0" y="2623840"/>
            <a:ext cx="12557760" cy="30986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FFCE00"/>
                </a:solidFill>
                <a:latin typeface="Carlito" pitchFamily="34" charset="0"/>
                <a:ea typeface="Carlito" pitchFamily="34" charset="-122"/>
                <a:cs typeface="Carlito" pitchFamily="34" charset="-120"/>
              </a:rPr>
              <a:t>SESSION 1 · 09:00–10:30 · MODULE 7</a:t>
            </a:r>
            <a:endParaRPr lang="en-US" sz="1600" dirty="0"/>
          </a:p>
        </p:txBody>
      </p:sp>
      <p:sp>
        <p:nvSpPr>
          <p:cNvPr id="4" name="Text 1"/>
          <p:cNvSpPr/>
          <p:nvPr>
            <p:ph type="title"/>
          </p:nvPr>
        </p:nvSpPr>
        <p:spPr>
          <a:xfrm>
            <a:off x="0" y="3086100"/>
            <a:ext cx="12557760"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9F2EA"/>
                </a:solidFill>
                <a:latin typeface="Carlito" pitchFamily="34" charset="0"/>
                <a:ea typeface="Carlito" pitchFamily="34" charset="-122"/>
                <a:cs typeface="Carlito" pitchFamily="34" charset="-120"/>
              </a:rPr>
              <a:t>Typing the sugar coats</a:t>
            </a:r>
            <a:endParaRPr lang="en-US" sz="4800" dirty="0"/>
          </a:p>
        </p:txBody>
      </p:sp>
      <p:sp>
        <p:nvSpPr>
          <p:cNvPr id="5" name="Text 2"/>
          <p:cNvSpPr/>
          <p:nvPr/>
        </p:nvSpPr>
        <p:spPr>
          <a:xfrm>
            <a:off x="0" y="3903960"/>
            <a:ext cx="1255776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2CA6E"/>
                </a:solidFill>
                <a:latin typeface="Carlito" pitchFamily="34" charset="0"/>
                <a:ea typeface="Carlito" pitchFamily="34" charset="-122"/>
                <a:cs typeface="Carlito" pitchFamily="34" charset="-120"/>
              </a:rPr>
              <a:t>Capsule (K) and O antigen, and how Kaptive 3 calls them</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CA6E"/>
                </a:solidFill>
                <a:latin typeface="Carlito" pitchFamily="34" charset="0"/>
                <a:ea typeface="Carlito" pitchFamily="34" charset="-122"/>
                <a:cs typeface="Carlito" pitchFamily="34" charset="-120"/>
              </a:rPr>
              <a:t>Module 7 · Capsule, O antigen and vaccines | Day 8</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2CA6E"/>
                </a:solidFill>
                <a:latin typeface="Carlito" pitchFamily="34" charset="0"/>
                <a:ea typeface="Carlito" pitchFamily="34" charset="-122"/>
                <a:cs typeface="Carlito"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3627"/>
          </a:xfrm>
          <a:prstGeom prst="rect">
            <a:avLst/>
          </a:prstGeom>
          <a:noFill/>
          <a:ln/>
        </p:spPr>
        <p:txBody>
          <a:bodyPr wrap="square" lIns="0" tIns="0" rIns="0" bIns="0" rtlCol="0" anchor="t">
            <a:normAutofit/>
          </a:bodyPr>
          <a:lstStyle/>
          <a:p>
            <a:pPr algn="l" indent="0" marL="0">
              <a:lnSpc>
                <a:spcPts val="3923"/>
              </a:lnSpc>
              <a:buNone/>
            </a:pPr>
            <a:r>
              <a:rPr lang="en-US" sz="3566" b="1" i="0" dirty="0">
                <a:solidFill>
                  <a:srgbClr val="6D2637"/>
                </a:solidFill>
                <a:latin typeface="Carlito" pitchFamily="34" charset="0"/>
                <a:ea typeface="Carlito" pitchFamily="34" charset="-122"/>
                <a:cs typeface="Carlito" pitchFamily="34" charset="-120"/>
              </a:rPr>
              <a:t>Two sugar coats on the outside</a:t>
            </a:r>
            <a:endParaRPr lang="en-US" sz="3566" dirty="0"/>
          </a:p>
        </p:txBody>
      </p:sp>
      <p:sp>
        <p:nvSpPr>
          <p:cNvPr id="3" name="Shape 1"/>
          <p:cNvSpPr/>
          <p:nvPr/>
        </p:nvSpPr>
        <p:spPr>
          <a:xfrm>
            <a:off x="812800" y="1412627"/>
            <a:ext cx="1524000" cy="38100"/>
          </a:xfrm>
          <a:prstGeom prst="roundRect">
            <a:avLst>
              <a:gd name="adj" fmla="val 50000"/>
            </a:avLst>
          </a:prstGeom>
          <a:solidFill>
            <a:srgbClr val="6D2637"/>
          </a:solidFill>
          <a:ln/>
        </p:spPr>
      </p:sp>
      <p:pic>
        <p:nvPicPr>
          <p:cNvPr id="4" name="Image 0" descr="Cross-section of the Klebsiella cell envelope from the outside in: a thick capsule layer of K antigen, then O-antigen chains projecting from the outer membrane, the outer membrane itself, the peptidoglycan layer in the periplasm, the inner membrane, and inside the cell the two chromosomal gene clusters, the K locus and the O locus, that build the two coats.">    </p:cNvPr>
          <p:cNvPicPr>
            <a:picLocks noChangeAspect="1"/>
          </p:cNvPicPr>
          <p:nvPr/>
        </p:nvPicPr>
        <p:blipFill>
          <a:blip r:embed="rId1"/>
          <a:srcRect l="0" r="0" t="0" b="0"/>
          <a:stretch/>
        </p:blipFill>
        <p:spPr>
          <a:xfrm>
            <a:off x="812800" y="1628527"/>
            <a:ext cx="5715000" cy="3937000"/>
          </a:xfrm>
          <a:prstGeom prst="rect">
            <a:avLst/>
          </a:prstGeom>
        </p:spPr>
      </p:pic>
      <p:sp>
        <p:nvSpPr>
          <p:cNvPr id="5" name="Text 2"/>
          <p:cNvSpPr/>
          <p:nvPr/>
        </p:nvSpPr>
        <p:spPr>
          <a:xfrm>
            <a:off x="4241800" y="2123827"/>
            <a:ext cx="22237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E6B1E"/>
                </a:solidFill>
                <a:latin typeface="Carlito" pitchFamily="34" charset="0"/>
                <a:ea typeface="Carlito" pitchFamily="34" charset="-122"/>
                <a:cs typeface="Carlito" pitchFamily="34" charset="-120"/>
              </a:rPr>
              <a:t>Capsule — K antigen</a:t>
            </a:r>
            <a:endParaRPr lang="en-US" sz="1300" dirty="0"/>
          </a:p>
        </p:txBody>
      </p:sp>
      <p:sp>
        <p:nvSpPr>
          <p:cNvPr id="6" name="Text 3"/>
          <p:cNvSpPr/>
          <p:nvPr/>
        </p:nvSpPr>
        <p:spPr>
          <a:xfrm>
            <a:off x="4241800" y="2898527"/>
            <a:ext cx="22237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9700B"/>
                </a:solidFill>
                <a:latin typeface="Carlito" pitchFamily="34" charset="0"/>
                <a:ea typeface="Carlito" pitchFamily="34" charset="-122"/>
                <a:cs typeface="Carlito" pitchFamily="34" charset="-120"/>
              </a:rPr>
              <a:t>O antigen (outer part of LPS)</a:t>
            </a:r>
            <a:endParaRPr lang="en-US" sz="1300" dirty="0"/>
          </a:p>
        </p:txBody>
      </p:sp>
      <p:sp>
        <p:nvSpPr>
          <p:cNvPr id="7" name="Text 4"/>
          <p:cNvSpPr/>
          <p:nvPr/>
        </p:nvSpPr>
        <p:spPr>
          <a:xfrm>
            <a:off x="4241800" y="3450977"/>
            <a:ext cx="22237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91F15"/>
                </a:solidFill>
                <a:latin typeface="Carlito" pitchFamily="34" charset="0"/>
                <a:ea typeface="Carlito" pitchFamily="34" charset="-122"/>
                <a:cs typeface="Carlito" pitchFamily="34" charset="-120"/>
              </a:rPr>
              <a:t>Outer membrane</a:t>
            </a:r>
            <a:endParaRPr lang="en-US" sz="1300" dirty="0"/>
          </a:p>
        </p:txBody>
      </p:sp>
      <p:sp>
        <p:nvSpPr>
          <p:cNvPr id="8" name="Text 5"/>
          <p:cNvSpPr/>
          <p:nvPr/>
        </p:nvSpPr>
        <p:spPr>
          <a:xfrm>
            <a:off x="4241800" y="3844677"/>
            <a:ext cx="22237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6F63"/>
                </a:solidFill>
                <a:latin typeface="Carlito" pitchFamily="34" charset="0"/>
                <a:ea typeface="Carlito" pitchFamily="34" charset="-122"/>
                <a:cs typeface="Carlito" pitchFamily="34" charset="-120"/>
              </a:rPr>
              <a:t>Peptidoglycan, periplasm</a:t>
            </a:r>
            <a:endParaRPr lang="en-US" sz="1300" dirty="0"/>
          </a:p>
        </p:txBody>
      </p:sp>
      <p:sp>
        <p:nvSpPr>
          <p:cNvPr id="9" name="Text 6"/>
          <p:cNvSpPr/>
          <p:nvPr/>
        </p:nvSpPr>
        <p:spPr>
          <a:xfrm>
            <a:off x="4241800" y="4212977"/>
            <a:ext cx="22237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D2637"/>
                </a:solidFill>
                <a:latin typeface="Carlito" pitchFamily="34" charset="0"/>
                <a:ea typeface="Carlito" pitchFamily="34" charset="-122"/>
                <a:cs typeface="Carlito" pitchFamily="34" charset="-120"/>
              </a:rPr>
              <a:t>Inner membrane</a:t>
            </a:r>
            <a:endParaRPr lang="en-US" sz="1300" dirty="0"/>
          </a:p>
        </p:txBody>
      </p:sp>
      <p:sp>
        <p:nvSpPr>
          <p:cNvPr id="10" name="Text 7"/>
          <p:cNvSpPr/>
          <p:nvPr/>
        </p:nvSpPr>
        <p:spPr>
          <a:xfrm>
            <a:off x="4241800" y="4701927"/>
            <a:ext cx="2223770"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73003"/>
                </a:solidFill>
                <a:latin typeface="Carlito" pitchFamily="34" charset="0"/>
                <a:ea typeface="Carlito" pitchFamily="34" charset="-122"/>
                <a:cs typeface="Carlito" pitchFamily="34" charset="-120"/>
              </a:rPr>
              <a:t>K locus (KL) on the chromosome</a:t>
            </a:r>
            <a:endParaRPr lang="en-US" sz="1300" dirty="0"/>
          </a:p>
        </p:txBody>
      </p:sp>
      <p:sp>
        <p:nvSpPr>
          <p:cNvPr id="11" name="Text 8"/>
          <p:cNvSpPr/>
          <p:nvPr/>
        </p:nvSpPr>
        <p:spPr>
          <a:xfrm>
            <a:off x="4241800" y="5133727"/>
            <a:ext cx="22237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91F15"/>
                </a:solidFill>
                <a:latin typeface="Carlito" pitchFamily="34" charset="0"/>
                <a:ea typeface="Carlito" pitchFamily="34" charset="-122"/>
                <a:cs typeface="Carlito" pitchFamily="34" charset="-120"/>
              </a:rPr>
              <a:t>O locus (OL), the </a:t>
            </a:r>
            <a:r>
              <a:rPr lang="en-US" sz="1300" b="1" i="1" dirty="0">
                <a:solidFill>
                  <a:srgbClr val="891F15"/>
                </a:solidFill>
                <a:latin typeface="Carlito" pitchFamily="34" charset="0"/>
                <a:ea typeface="Carlito" pitchFamily="34" charset="-122"/>
                <a:cs typeface="Carlito" pitchFamily="34" charset="-120"/>
              </a:rPr>
              <a:t>rfb</a:t>
            </a:r>
            <a:r>
              <a:rPr lang="en-US" sz="1300" b="1" dirty="0">
                <a:solidFill>
                  <a:srgbClr val="891F15"/>
                </a:solidFill>
                <a:latin typeface="Carlito" pitchFamily="34" charset="0"/>
                <a:ea typeface="Carlito" pitchFamily="34" charset="-122"/>
                <a:cs typeface="Carlito" pitchFamily="34" charset="-120"/>
              </a:rPr>
              <a:t> cluster</a:t>
            </a:r>
            <a:endParaRPr lang="en-US" sz="1300" dirty="0"/>
          </a:p>
        </p:txBody>
      </p:sp>
      <p:sp>
        <p:nvSpPr>
          <p:cNvPr id="12" name="Shape 9"/>
          <p:cNvSpPr/>
          <p:nvPr/>
        </p:nvSpPr>
        <p:spPr>
          <a:xfrm>
            <a:off x="6781800" y="1628527"/>
            <a:ext cx="4597400" cy="1065659"/>
          </a:xfrm>
          <a:prstGeom prst="roundRect">
            <a:avLst>
              <a:gd name="adj" fmla="val 4767"/>
            </a:avLst>
          </a:prstGeom>
          <a:solidFill>
            <a:srgbClr val="FFFFFF"/>
          </a:solidFill>
          <a:ln/>
        </p:spPr>
      </p:sp>
      <p:sp>
        <p:nvSpPr>
          <p:cNvPr id="13" name="Shape 10"/>
          <p:cNvSpPr/>
          <p:nvPr/>
        </p:nvSpPr>
        <p:spPr>
          <a:xfrm>
            <a:off x="6781800" y="1628527"/>
            <a:ext cx="4597400" cy="1065659"/>
          </a:xfrm>
          <a:custGeom>
            <a:avLst/>
            <a:gdLst/>
            <a:ahLst/>
            <a:cxnLst/>
            <a:rect l="l" t="t" r="r" b="b"/>
            <a:pathLst>
              <a:path w="4597400" h="1065659">
                <a:moveTo>
                  <a:pt x="50800" y="1065659"/>
                </a:moveTo>
                <a:lnTo>
                  <a:pt x="50800" y="1065659"/>
                </a:lnTo>
                <a:arcTo hR="50800" wR="50800" stAng="5400000" swAng="5400000"/>
                <a:lnTo>
                  <a:pt x="0" y="50800"/>
                </a:lnTo>
                <a:arcTo hR="50800" wR="50800" stAng="10800000" swAng="5400000"/>
                <a:lnTo>
                  <a:pt x="50800" y="0"/>
                </a:lnTo>
                <a:lnTo>
                  <a:pt x="50800" y="1065659"/>
                </a:lnTo>
                <a:close/>
              </a:path>
            </a:pathLst>
          </a:custGeom>
          <a:solidFill>
            <a:srgbClr val="891F15"/>
          </a:solidFill>
          <a:ln/>
        </p:spPr>
      </p:sp>
      <p:sp>
        <p:nvSpPr>
          <p:cNvPr id="14" name="Text 11"/>
          <p:cNvSpPr/>
          <p:nvPr/>
        </p:nvSpPr>
        <p:spPr>
          <a:xfrm>
            <a:off x="6997700" y="1742827"/>
            <a:ext cx="4342892" cy="236438"/>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891F15"/>
                </a:solidFill>
                <a:latin typeface="Carlito" pitchFamily="34" charset="0"/>
                <a:ea typeface="Carlito" pitchFamily="34" charset="-122"/>
                <a:cs typeface="Carlito" pitchFamily="34" charset="-120"/>
              </a:rPr>
              <a:t>The capsule is the thick outer coat</a:t>
            </a:r>
            <a:endParaRPr lang="en-US" sz="1396" dirty="0"/>
          </a:p>
        </p:txBody>
      </p:sp>
      <p:sp>
        <p:nvSpPr>
          <p:cNvPr id="15" name="Text 12"/>
          <p:cNvSpPr/>
          <p:nvPr/>
        </p:nvSpPr>
        <p:spPr>
          <a:xfrm>
            <a:off x="6997700" y="1991965"/>
            <a:ext cx="4342892" cy="613321"/>
          </a:xfrm>
          <a:prstGeom prst="rect">
            <a:avLst/>
          </a:prstGeom>
          <a:noFill/>
          <a:ln/>
        </p:spPr>
        <p:txBody>
          <a:bodyPr wrap="square" lIns="0" tIns="0" rIns="0" bIns="0" rtlCol="0" anchor="t">
            <a:normAutofit/>
          </a:bodyPr>
          <a:lstStyle/>
          <a:p>
            <a:pPr algn="l" indent="0" marL="0">
              <a:lnSpc>
                <a:spcPts val="1555"/>
              </a:lnSpc>
              <a:buNone/>
            </a:pPr>
            <a:r>
              <a:rPr lang="en-US" sz="1196" dirty="0">
                <a:solidFill>
                  <a:srgbClr val="3A322C"/>
                </a:solidFill>
                <a:latin typeface="Carlito" pitchFamily="34" charset="0"/>
                <a:ea typeface="Carlito" pitchFamily="34" charset="-122"/>
                <a:cs typeface="Carlito" pitchFamily="34" charset="-120"/>
              </a:rPr>
              <a:t>It hides the cell from complement and phagocytes, and it is the first thing an antibody meets. It is also by far the more diverse of the two.</a:t>
            </a:r>
            <a:endParaRPr lang="en-US" sz="1196" dirty="0"/>
          </a:p>
        </p:txBody>
      </p:sp>
      <p:sp>
        <p:nvSpPr>
          <p:cNvPr id="16" name="Shape 13"/>
          <p:cNvSpPr/>
          <p:nvPr/>
        </p:nvSpPr>
        <p:spPr>
          <a:xfrm>
            <a:off x="6781800" y="2808486"/>
            <a:ext cx="4597400" cy="1065659"/>
          </a:xfrm>
          <a:prstGeom prst="roundRect">
            <a:avLst>
              <a:gd name="adj" fmla="val 4767"/>
            </a:avLst>
          </a:prstGeom>
          <a:solidFill>
            <a:srgbClr val="FFFFFF"/>
          </a:solidFill>
          <a:ln/>
        </p:spPr>
      </p:sp>
      <p:sp>
        <p:nvSpPr>
          <p:cNvPr id="17" name="Shape 14"/>
          <p:cNvSpPr/>
          <p:nvPr/>
        </p:nvSpPr>
        <p:spPr>
          <a:xfrm>
            <a:off x="6781800" y="2808486"/>
            <a:ext cx="4597400" cy="1065659"/>
          </a:xfrm>
          <a:custGeom>
            <a:avLst/>
            <a:gdLst/>
            <a:ahLst/>
            <a:cxnLst/>
            <a:rect l="l" t="t" r="r" b="b"/>
            <a:pathLst>
              <a:path w="4597400" h="1065659">
                <a:moveTo>
                  <a:pt x="50800" y="1065659"/>
                </a:moveTo>
                <a:lnTo>
                  <a:pt x="50800" y="1065659"/>
                </a:lnTo>
                <a:arcTo hR="50800" wR="50800" stAng="5400000" swAng="5400000"/>
                <a:lnTo>
                  <a:pt x="0" y="50800"/>
                </a:lnTo>
                <a:arcTo hR="50800" wR="50800" stAng="10800000" swAng="5400000"/>
                <a:lnTo>
                  <a:pt x="50800" y="0"/>
                </a:lnTo>
                <a:lnTo>
                  <a:pt x="50800" y="1065659"/>
                </a:lnTo>
                <a:close/>
              </a:path>
            </a:pathLst>
          </a:custGeom>
          <a:solidFill>
            <a:srgbClr val="891F15"/>
          </a:solidFill>
          <a:ln/>
        </p:spPr>
      </p:sp>
      <p:sp>
        <p:nvSpPr>
          <p:cNvPr id="18" name="Text 15"/>
          <p:cNvSpPr/>
          <p:nvPr/>
        </p:nvSpPr>
        <p:spPr>
          <a:xfrm>
            <a:off x="6997700" y="2922786"/>
            <a:ext cx="4342892" cy="236438"/>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891F15"/>
                </a:solidFill>
                <a:latin typeface="Carlito" pitchFamily="34" charset="0"/>
                <a:ea typeface="Carlito" pitchFamily="34" charset="-122"/>
                <a:cs typeface="Carlito" pitchFamily="34" charset="-120"/>
              </a:rPr>
              <a:t>The O antigen is part of LPS</a:t>
            </a:r>
            <a:endParaRPr lang="en-US" sz="1396" dirty="0"/>
          </a:p>
        </p:txBody>
      </p:sp>
      <p:sp>
        <p:nvSpPr>
          <p:cNvPr id="19" name="Text 16"/>
          <p:cNvSpPr/>
          <p:nvPr/>
        </p:nvSpPr>
        <p:spPr>
          <a:xfrm>
            <a:off x="6997700" y="3171924"/>
            <a:ext cx="4342892" cy="613321"/>
          </a:xfrm>
          <a:prstGeom prst="rect">
            <a:avLst/>
          </a:prstGeom>
          <a:noFill/>
          <a:ln/>
        </p:spPr>
        <p:txBody>
          <a:bodyPr wrap="square" lIns="0" tIns="0" rIns="0" bIns="0" rtlCol="0" anchor="t">
            <a:normAutofit/>
          </a:bodyPr>
          <a:lstStyle/>
          <a:p>
            <a:pPr algn="l" indent="0" marL="0">
              <a:lnSpc>
                <a:spcPts val="1555"/>
              </a:lnSpc>
              <a:buNone/>
            </a:pPr>
            <a:r>
              <a:rPr lang="en-US" sz="1196" dirty="0">
                <a:solidFill>
                  <a:srgbClr val="3A322C"/>
                </a:solidFill>
                <a:latin typeface="Carlito" pitchFamily="34" charset="0"/>
                <a:ea typeface="Carlito" pitchFamily="34" charset="-122"/>
                <a:cs typeface="Carlito" pitchFamily="34" charset="-120"/>
              </a:rPr>
              <a:t>The repeating sugar chain on the outer end of lipopolysaccharide. Shorter than the capsule, and only about a dozen types across the whole species complex.</a:t>
            </a:r>
            <a:endParaRPr lang="en-US" sz="1196" dirty="0"/>
          </a:p>
        </p:txBody>
      </p:sp>
      <p:sp>
        <p:nvSpPr>
          <p:cNvPr id="20" name="Shape 17"/>
          <p:cNvSpPr/>
          <p:nvPr/>
        </p:nvSpPr>
        <p:spPr>
          <a:xfrm>
            <a:off x="6781800" y="3988445"/>
            <a:ext cx="4597400" cy="869603"/>
          </a:xfrm>
          <a:prstGeom prst="roundRect">
            <a:avLst>
              <a:gd name="adj" fmla="val 5842"/>
            </a:avLst>
          </a:prstGeom>
          <a:solidFill>
            <a:srgbClr val="FFFFFF"/>
          </a:solidFill>
          <a:ln/>
        </p:spPr>
      </p:sp>
      <p:sp>
        <p:nvSpPr>
          <p:cNvPr id="21" name="Shape 18"/>
          <p:cNvSpPr/>
          <p:nvPr/>
        </p:nvSpPr>
        <p:spPr>
          <a:xfrm>
            <a:off x="6781800" y="3988445"/>
            <a:ext cx="4597400" cy="869603"/>
          </a:xfrm>
          <a:custGeom>
            <a:avLst/>
            <a:gdLst/>
            <a:ahLst/>
            <a:cxnLst/>
            <a:rect l="l" t="t" r="r" b="b"/>
            <a:pathLst>
              <a:path w="4597400" h="869603">
                <a:moveTo>
                  <a:pt x="50800" y="869603"/>
                </a:moveTo>
                <a:lnTo>
                  <a:pt x="50800" y="869603"/>
                </a:lnTo>
                <a:arcTo hR="50800" wR="50800" stAng="5400000" swAng="5400000"/>
                <a:lnTo>
                  <a:pt x="0" y="50800"/>
                </a:lnTo>
                <a:arcTo hR="50800" wR="50800" stAng="10800000" swAng="5400000"/>
                <a:lnTo>
                  <a:pt x="50800" y="0"/>
                </a:lnTo>
                <a:lnTo>
                  <a:pt x="50800" y="869603"/>
                </a:lnTo>
                <a:close/>
              </a:path>
            </a:pathLst>
          </a:custGeom>
          <a:solidFill>
            <a:srgbClr val="891F15"/>
          </a:solidFill>
          <a:ln/>
        </p:spPr>
      </p:sp>
      <p:sp>
        <p:nvSpPr>
          <p:cNvPr id="22" name="Text 19"/>
          <p:cNvSpPr/>
          <p:nvPr/>
        </p:nvSpPr>
        <p:spPr>
          <a:xfrm>
            <a:off x="6997700" y="4102745"/>
            <a:ext cx="4342892" cy="236389"/>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891F15"/>
                </a:solidFill>
                <a:latin typeface="Carlito" pitchFamily="34" charset="0"/>
                <a:ea typeface="Carlito" pitchFamily="34" charset="-122"/>
                <a:cs typeface="Carlito" pitchFamily="34" charset="-120"/>
              </a:rPr>
              <a:t>Each coat is built by one gene cluster</a:t>
            </a:r>
            <a:endParaRPr lang="en-US" sz="1396" dirty="0"/>
          </a:p>
        </p:txBody>
      </p:sp>
      <p:sp>
        <p:nvSpPr>
          <p:cNvPr id="23" name="Text 20"/>
          <p:cNvSpPr/>
          <p:nvPr/>
        </p:nvSpPr>
        <p:spPr>
          <a:xfrm>
            <a:off x="6997700" y="4351834"/>
            <a:ext cx="4342892" cy="4173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The K locus sits between </a:t>
            </a:r>
            <a:r>
              <a:rPr lang="en-US" sz="1200" i="1" dirty="0">
                <a:solidFill>
                  <a:srgbClr val="3A322C"/>
                </a:solidFill>
                <a:latin typeface="Carlito" pitchFamily="34" charset="0"/>
                <a:ea typeface="Carlito" pitchFamily="34" charset="-122"/>
                <a:cs typeface="Carlito" pitchFamily="34" charset="-120"/>
              </a:rPr>
              <a:t>galF</a:t>
            </a:r>
            <a:r>
              <a:rPr lang="en-US" sz="1200" dirty="0">
                <a:solidFill>
                  <a:srgbClr val="3A322C"/>
                </a:solidFill>
                <a:latin typeface="Carlito" pitchFamily="34" charset="0"/>
                <a:ea typeface="Carlito" pitchFamily="34" charset="-122"/>
                <a:cs typeface="Carlito" pitchFamily="34" charset="-120"/>
              </a:rPr>
              <a:t> and </a:t>
            </a:r>
            <a:r>
              <a:rPr lang="en-US" sz="1200" i="1" dirty="0">
                <a:solidFill>
                  <a:srgbClr val="3A322C"/>
                </a:solidFill>
                <a:latin typeface="Carlito" pitchFamily="34" charset="0"/>
                <a:ea typeface="Carlito" pitchFamily="34" charset="-122"/>
                <a:cs typeface="Carlito" pitchFamily="34" charset="-120"/>
              </a:rPr>
              <a:t>ugd</a:t>
            </a:r>
            <a:r>
              <a:rPr lang="en-US" sz="1200" dirty="0">
                <a:solidFill>
                  <a:srgbClr val="3A322C"/>
                </a:solidFill>
                <a:latin typeface="Carlito" pitchFamily="34" charset="0"/>
                <a:ea typeface="Carlito" pitchFamily="34" charset="-122"/>
                <a:cs typeface="Carlito" pitchFamily="34" charset="-120"/>
              </a:rPr>
              <a:t>; the O locus is the </a:t>
            </a:r>
            <a:r>
              <a:rPr lang="en-US" sz="1200" i="1" dirty="0">
                <a:solidFill>
                  <a:srgbClr val="3A322C"/>
                </a:solidFill>
                <a:latin typeface="Carlito" pitchFamily="34" charset="0"/>
                <a:ea typeface="Carlito" pitchFamily="34" charset="-122"/>
                <a:cs typeface="Carlito" pitchFamily="34" charset="-120"/>
              </a:rPr>
              <a:t>rfb</a:t>
            </a:r>
            <a:r>
              <a:rPr lang="en-US" sz="1200" dirty="0">
                <a:solidFill>
                  <a:srgbClr val="3A322C"/>
                </a:solidFill>
                <a:latin typeface="Carlito" pitchFamily="34" charset="0"/>
                <a:ea typeface="Carlito" pitchFamily="34" charset="-122"/>
                <a:cs typeface="Carlito" pitchFamily="34" charset="-120"/>
              </a:rPr>
              <a:t> cluster. </a:t>
            </a:r>
            <a:r>
              <a:rPr lang="en-US" sz="1200" b="1" dirty="0">
                <a:solidFill>
                  <a:srgbClr val="3A322C"/>
                </a:solidFill>
                <a:latin typeface="Carlito" pitchFamily="34" charset="0"/>
                <a:ea typeface="Carlito" pitchFamily="34" charset="-122"/>
                <a:cs typeface="Carlito" pitchFamily="34" charset="-120"/>
              </a:rPr>
              <a:t>Kaptive types the gene cluster, not the sugar.</a:t>
            </a:r>
            <a:endParaRPr lang="en-US" sz="1200" dirty="0"/>
          </a:p>
        </p:txBody>
      </p:sp>
      <p:sp>
        <p:nvSpPr>
          <p:cNvPr id="24" name="Shape 21"/>
          <p:cNvSpPr/>
          <p:nvPr/>
        </p:nvSpPr>
        <p:spPr>
          <a:xfrm>
            <a:off x="6781800" y="4972348"/>
            <a:ext cx="4597400" cy="869652"/>
          </a:xfrm>
          <a:prstGeom prst="roundRect">
            <a:avLst>
              <a:gd name="adj" fmla="val 5841"/>
            </a:avLst>
          </a:prstGeom>
          <a:solidFill>
            <a:srgbClr val="273003"/>
          </a:solidFill>
          <a:ln/>
        </p:spPr>
      </p:sp>
      <p:sp>
        <p:nvSpPr>
          <p:cNvPr id="25" name="Text 22"/>
          <p:cNvSpPr/>
          <p:nvPr/>
        </p:nvSpPr>
        <p:spPr>
          <a:xfrm>
            <a:off x="6946900" y="5086648"/>
            <a:ext cx="4395216" cy="236438"/>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FFCE00"/>
                </a:solidFill>
                <a:latin typeface="Carlito" pitchFamily="34" charset="0"/>
                <a:ea typeface="Carlito" pitchFamily="34" charset="-122"/>
                <a:cs typeface="Carlito" pitchFamily="34" charset="-120"/>
              </a:rPr>
              <a:t>Why we care today</a:t>
            </a:r>
            <a:endParaRPr lang="en-US" sz="1396" dirty="0"/>
          </a:p>
        </p:txBody>
      </p:sp>
      <p:sp>
        <p:nvSpPr>
          <p:cNvPr id="26" name="Text 23"/>
          <p:cNvSpPr/>
          <p:nvPr/>
        </p:nvSpPr>
        <p:spPr>
          <a:xfrm>
            <a:off x="6946900" y="5335786"/>
            <a:ext cx="4395216" cy="4173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9F2EA"/>
                </a:solidFill>
                <a:latin typeface="Carlito" pitchFamily="34" charset="0"/>
                <a:ea typeface="Carlito" pitchFamily="34" charset="-122"/>
                <a:cs typeface="Carlito" pitchFamily="34" charset="-120"/>
              </a:rPr>
              <a:t>Both are candidate targets for a </a:t>
            </a:r>
            <a:r>
              <a:rPr lang="en-US" sz="1200" b="1" dirty="0">
                <a:solidFill>
                  <a:srgbClr val="F9F2EA"/>
                </a:solidFill>
                <a:latin typeface="Carlito" pitchFamily="34" charset="0"/>
                <a:ea typeface="Carlito" pitchFamily="34" charset="-122"/>
                <a:cs typeface="Carlito" pitchFamily="34" charset="-120"/>
              </a:rPr>
              <a:t>maternal vaccine</a:t>
            </a:r>
            <a:r>
              <a:rPr lang="en-US" sz="1200" dirty="0">
                <a:solidFill>
                  <a:srgbClr val="F9F2EA"/>
                </a:solidFill>
                <a:latin typeface="Carlito" pitchFamily="34" charset="0"/>
                <a:ea typeface="Carlito" pitchFamily="34" charset="-122"/>
                <a:cs typeface="Carlito" pitchFamily="34" charset="-120"/>
              </a:rPr>
              <a:t> against neonatal sepsis, and the choice between them is a diversity problem.</a:t>
            </a:r>
            <a:endParaRPr lang="en-US" sz="1200" dirty="0"/>
          </a:p>
        </p:txBody>
      </p:sp>
      <p:pic>
        <p:nvPicPr>
          <p:cNvPr id="27" name="Image 1" descr="ILRI and CGIAR logos">    </p:cNvPr>
          <p:cNvPicPr>
            <a:picLocks noChangeAspect="1"/>
          </p:cNvPicPr>
          <p:nvPr/>
        </p:nvPicPr>
        <p:blipFill>
          <a:blip r:embed="rId2"/>
          <a:srcRect l="-56" r="-56" t="0" b="0"/>
          <a:stretch/>
        </p:blipFill>
        <p:spPr>
          <a:xfrm>
            <a:off x="10033000" y="254000"/>
            <a:ext cx="1346200" cy="381000"/>
          </a:xfrm>
          <a:prstGeom prst="rect">
            <a:avLst/>
          </a:prstGeom>
        </p:spPr>
      </p:pic>
      <p:sp>
        <p:nvSpPr>
          <p:cNvPr id="28" name="Text 2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7 · Capsule, O antigen and vaccines | Day 8</a:t>
            </a:r>
            <a:endParaRPr lang="en-US" sz="1200" dirty="0"/>
          </a:p>
        </p:txBody>
      </p:sp>
      <p:sp>
        <p:nvSpPr>
          <p:cNvPr id="29" name="Text 2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Both coats exist to evade immunity</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Text 2"/>
          <p:cNvSpPr/>
          <p:nvPr/>
        </p:nvSpPr>
        <p:spPr>
          <a:xfrm>
            <a:off x="812800" y="1633190"/>
            <a:ext cx="588645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73003"/>
                </a:solidFill>
                <a:latin typeface="Carlito" pitchFamily="34" charset="0"/>
                <a:ea typeface="Carlito" pitchFamily="34" charset="-122"/>
                <a:cs typeface="Carlito" pitchFamily="34" charset="-120"/>
              </a:rPr>
              <a:t>The capsule does most of the work</a:t>
            </a:r>
            <a:endParaRPr lang="en-US" sz="1600" dirty="0"/>
          </a:p>
        </p:txBody>
      </p:sp>
      <p:sp>
        <p:nvSpPr>
          <p:cNvPr id="5" name="Shape 3"/>
          <p:cNvSpPr/>
          <p:nvPr/>
        </p:nvSpPr>
        <p:spPr>
          <a:xfrm>
            <a:off x="812800" y="1965920"/>
            <a:ext cx="5715000" cy="637480"/>
          </a:xfrm>
          <a:prstGeom prst="roundRect">
            <a:avLst>
              <a:gd name="adj" fmla="val 7969"/>
            </a:avLst>
          </a:prstGeom>
          <a:solidFill>
            <a:srgbClr val="FFFFFF"/>
          </a:solidFill>
          <a:ln/>
        </p:spPr>
      </p:sp>
      <p:sp>
        <p:nvSpPr>
          <p:cNvPr id="6" name="Shape 4"/>
          <p:cNvSpPr/>
          <p:nvPr/>
        </p:nvSpPr>
        <p:spPr>
          <a:xfrm>
            <a:off x="812800" y="1965920"/>
            <a:ext cx="5715000" cy="637480"/>
          </a:xfrm>
          <a:custGeom>
            <a:avLst/>
            <a:gdLst/>
            <a:ahLst/>
            <a:cxnLst/>
            <a:rect l="l" t="t" r="r" b="b"/>
            <a:pathLst>
              <a:path w="5715000" h="637480">
                <a:moveTo>
                  <a:pt x="50800" y="637480"/>
                </a:moveTo>
                <a:lnTo>
                  <a:pt x="50800" y="637480"/>
                </a:lnTo>
                <a:arcTo hR="50800" wR="50800" stAng="5400000" swAng="5400000"/>
                <a:lnTo>
                  <a:pt x="0" y="50800"/>
                </a:lnTo>
                <a:arcTo hR="50800" wR="50800" stAng="10800000" swAng="5400000"/>
                <a:lnTo>
                  <a:pt x="50800" y="0"/>
                </a:lnTo>
                <a:lnTo>
                  <a:pt x="50800" y="637480"/>
                </a:lnTo>
                <a:close/>
              </a:path>
            </a:pathLst>
          </a:custGeom>
          <a:solidFill>
            <a:srgbClr val="891F15"/>
          </a:solidFill>
          <a:ln/>
        </p:spPr>
      </p:sp>
      <p:sp>
        <p:nvSpPr>
          <p:cNvPr id="7" name="Text 5"/>
          <p:cNvSpPr/>
          <p:nvPr/>
        </p:nvSpPr>
        <p:spPr>
          <a:xfrm>
            <a:off x="1016000" y="2067520"/>
            <a:ext cx="5520182"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891F15"/>
                </a:solidFill>
                <a:latin typeface="Carlito" pitchFamily="34" charset="0"/>
                <a:ea typeface="Carlito" pitchFamily="34" charset="-122"/>
                <a:cs typeface="Carlito" pitchFamily="34" charset="-120"/>
              </a:rPr>
              <a:t>Resists phagocytosis</a:t>
            </a:r>
            <a:endParaRPr lang="en-US" sz="1300" dirty="0"/>
          </a:p>
        </p:txBody>
      </p:sp>
      <p:sp>
        <p:nvSpPr>
          <p:cNvPr id="8" name="Text 6"/>
          <p:cNvSpPr/>
          <p:nvPr/>
        </p:nvSpPr>
        <p:spPr>
          <a:xfrm>
            <a:off x="1016000" y="2303711"/>
            <a:ext cx="552018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A hydrated, negatively charged surface that phagocyte receptors cannot get hold of.</a:t>
            </a:r>
            <a:endParaRPr lang="en-US" sz="1200" dirty="0"/>
          </a:p>
        </p:txBody>
      </p:sp>
      <p:sp>
        <p:nvSpPr>
          <p:cNvPr id="9" name="Shape 7"/>
          <p:cNvSpPr/>
          <p:nvPr/>
        </p:nvSpPr>
        <p:spPr>
          <a:xfrm>
            <a:off x="812800" y="2692301"/>
            <a:ext cx="5715000" cy="835571"/>
          </a:xfrm>
          <a:prstGeom prst="roundRect">
            <a:avLst>
              <a:gd name="adj" fmla="val 6080"/>
            </a:avLst>
          </a:prstGeom>
          <a:solidFill>
            <a:srgbClr val="FFFFFF"/>
          </a:solidFill>
          <a:ln/>
        </p:spPr>
      </p:sp>
      <p:sp>
        <p:nvSpPr>
          <p:cNvPr id="10" name="Shape 8"/>
          <p:cNvSpPr/>
          <p:nvPr/>
        </p:nvSpPr>
        <p:spPr>
          <a:xfrm>
            <a:off x="812800" y="2692301"/>
            <a:ext cx="5715000" cy="835571"/>
          </a:xfrm>
          <a:custGeom>
            <a:avLst/>
            <a:gdLst/>
            <a:ahLst/>
            <a:cxnLst/>
            <a:rect l="l" t="t" r="r" b="b"/>
            <a:pathLst>
              <a:path w="5715000" h="835571">
                <a:moveTo>
                  <a:pt x="50800" y="835571"/>
                </a:moveTo>
                <a:lnTo>
                  <a:pt x="50800" y="835571"/>
                </a:lnTo>
                <a:arcTo hR="50800" wR="50800" stAng="5400000" swAng="5400000"/>
                <a:lnTo>
                  <a:pt x="0" y="50800"/>
                </a:lnTo>
                <a:arcTo hR="50800" wR="50800" stAng="10800000" swAng="5400000"/>
                <a:lnTo>
                  <a:pt x="50800" y="0"/>
                </a:lnTo>
                <a:lnTo>
                  <a:pt x="50800" y="835571"/>
                </a:lnTo>
                <a:close/>
              </a:path>
            </a:pathLst>
          </a:custGeom>
          <a:solidFill>
            <a:srgbClr val="891F15"/>
          </a:solidFill>
          <a:ln/>
        </p:spPr>
      </p:sp>
      <p:sp>
        <p:nvSpPr>
          <p:cNvPr id="11" name="Text 9"/>
          <p:cNvSpPr/>
          <p:nvPr/>
        </p:nvSpPr>
        <p:spPr>
          <a:xfrm>
            <a:off x="1016000" y="2793901"/>
            <a:ext cx="5520182"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891F15"/>
                </a:solidFill>
                <a:latin typeface="Carlito" pitchFamily="34" charset="0"/>
                <a:ea typeface="Carlito" pitchFamily="34" charset="-122"/>
                <a:cs typeface="Carlito" pitchFamily="34" charset="-120"/>
              </a:rPr>
              <a:t>Blocks complement</a:t>
            </a:r>
            <a:endParaRPr lang="en-US" sz="1300" dirty="0"/>
          </a:p>
        </p:txBody>
      </p:sp>
      <p:sp>
        <p:nvSpPr>
          <p:cNvPr id="12" name="Text 10"/>
          <p:cNvSpPr/>
          <p:nvPr/>
        </p:nvSpPr>
        <p:spPr>
          <a:xfrm>
            <a:off x="1016000" y="3030091"/>
            <a:ext cx="552018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Keeps C3b from depositing on the surface, or hides it from receptors, and holds the membrane attack complex away from the outer membrane.</a:t>
            </a:r>
            <a:endParaRPr lang="en-US" sz="1200" dirty="0"/>
          </a:p>
        </p:txBody>
      </p:sp>
      <p:sp>
        <p:nvSpPr>
          <p:cNvPr id="13" name="Shape 11"/>
          <p:cNvSpPr/>
          <p:nvPr/>
        </p:nvSpPr>
        <p:spPr>
          <a:xfrm>
            <a:off x="812800" y="3616771"/>
            <a:ext cx="5715000" cy="637480"/>
          </a:xfrm>
          <a:prstGeom prst="roundRect">
            <a:avLst>
              <a:gd name="adj" fmla="val 7969"/>
            </a:avLst>
          </a:prstGeom>
          <a:solidFill>
            <a:srgbClr val="FFFFFF"/>
          </a:solidFill>
          <a:ln/>
        </p:spPr>
      </p:sp>
      <p:sp>
        <p:nvSpPr>
          <p:cNvPr id="14" name="Shape 12"/>
          <p:cNvSpPr/>
          <p:nvPr/>
        </p:nvSpPr>
        <p:spPr>
          <a:xfrm>
            <a:off x="812800" y="3616771"/>
            <a:ext cx="5715000" cy="637480"/>
          </a:xfrm>
          <a:custGeom>
            <a:avLst/>
            <a:gdLst/>
            <a:ahLst/>
            <a:cxnLst/>
            <a:rect l="l" t="t" r="r" b="b"/>
            <a:pathLst>
              <a:path w="5715000" h="637480">
                <a:moveTo>
                  <a:pt x="50800" y="637480"/>
                </a:moveTo>
                <a:lnTo>
                  <a:pt x="50800" y="637480"/>
                </a:lnTo>
                <a:arcTo hR="50800" wR="50800" stAng="5400000" swAng="5400000"/>
                <a:lnTo>
                  <a:pt x="0" y="50800"/>
                </a:lnTo>
                <a:arcTo hR="50800" wR="50800" stAng="10800000" swAng="5400000"/>
                <a:lnTo>
                  <a:pt x="50800" y="0"/>
                </a:lnTo>
                <a:lnTo>
                  <a:pt x="50800" y="637480"/>
                </a:lnTo>
                <a:close/>
              </a:path>
            </a:pathLst>
          </a:custGeom>
          <a:solidFill>
            <a:srgbClr val="891F15"/>
          </a:solidFill>
          <a:ln/>
        </p:spPr>
      </p:sp>
      <p:sp>
        <p:nvSpPr>
          <p:cNvPr id="15" name="Text 13"/>
          <p:cNvSpPr/>
          <p:nvPr/>
        </p:nvSpPr>
        <p:spPr>
          <a:xfrm>
            <a:off x="1016000" y="3718371"/>
            <a:ext cx="5520182"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891F15"/>
                </a:solidFill>
                <a:latin typeface="Carlito" pitchFamily="34" charset="0"/>
                <a:ea typeface="Carlito" pitchFamily="34" charset="-122"/>
                <a:cs typeface="Carlito" pitchFamily="34" charset="-120"/>
              </a:rPr>
              <a:t>Masks what lies beneath</a:t>
            </a:r>
            <a:endParaRPr lang="en-US" sz="1300" dirty="0"/>
          </a:p>
        </p:txBody>
      </p:sp>
      <p:sp>
        <p:nvSpPr>
          <p:cNvPr id="16" name="Text 14"/>
          <p:cNvSpPr/>
          <p:nvPr/>
        </p:nvSpPr>
        <p:spPr>
          <a:xfrm>
            <a:off x="1016000" y="3954562"/>
            <a:ext cx="552018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Outer membrane proteins — and </a:t>
            </a:r>
            <a:r>
              <a:rPr lang="en-US" sz="1200" b="1" dirty="0">
                <a:solidFill>
                  <a:srgbClr val="3A322C"/>
                </a:solidFill>
                <a:latin typeface="Carlito" pitchFamily="34" charset="0"/>
                <a:ea typeface="Carlito" pitchFamily="34" charset="-122"/>
                <a:cs typeface="Carlito" pitchFamily="34" charset="-120"/>
              </a:rPr>
              <a:t>the O antigen itself</a:t>
            </a:r>
            <a:r>
              <a:rPr lang="en-US" sz="1200" dirty="0">
                <a:solidFill>
                  <a:srgbClr val="3A322C"/>
                </a:solidFill>
                <a:latin typeface="Carlito" pitchFamily="34" charset="0"/>
                <a:ea typeface="Carlito" pitchFamily="34" charset="-122"/>
                <a:cs typeface="Carlito" pitchFamily="34" charset="-120"/>
              </a:rPr>
              <a:t> — are hidden from antibody.</a:t>
            </a:r>
            <a:endParaRPr lang="en-US" sz="1200" dirty="0"/>
          </a:p>
        </p:txBody>
      </p:sp>
      <p:sp>
        <p:nvSpPr>
          <p:cNvPr id="17" name="Shape 15"/>
          <p:cNvSpPr/>
          <p:nvPr/>
        </p:nvSpPr>
        <p:spPr>
          <a:xfrm>
            <a:off x="812800" y="4343152"/>
            <a:ext cx="5715000" cy="835571"/>
          </a:xfrm>
          <a:prstGeom prst="roundRect">
            <a:avLst>
              <a:gd name="adj" fmla="val 6080"/>
            </a:avLst>
          </a:prstGeom>
          <a:solidFill>
            <a:srgbClr val="FFFFFF"/>
          </a:solidFill>
          <a:ln/>
        </p:spPr>
      </p:sp>
      <p:sp>
        <p:nvSpPr>
          <p:cNvPr id="18" name="Shape 16"/>
          <p:cNvSpPr/>
          <p:nvPr/>
        </p:nvSpPr>
        <p:spPr>
          <a:xfrm>
            <a:off x="812800" y="4343152"/>
            <a:ext cx="5715000" cy="835571"/>
          </a:xfrm>
          <a:custGeom>
            <a:avLst/>
            <a:gdLst/>
            <a:ahLst/>
            <a:cxnLst/>
            <a:rect l="l" t="t" r="r" b="b"/>
            <a:pathLst>
              <a:path w="5715000" h="835571">
                <a:moveTo>
                  <a:pt x="50800" y="835571"/>
                </a:moveTo>
                <a:lnTo>
                  <a:pt x="50800" y="835571"/>
                </a:lnTo>
                <a:arcTo hR="50800" wR="50800" stAng="5400000" swAng="5400000"/>
                <a:lnTo>
                  <a:pt x="0" y="50800"/>
                </a:lnTo>
                <a:arcTo hR="50800" wR="50800" stAng="10800000" swAng="5400000"/>
                <a:lnTo>
                  <a:pt x="50800" y="0"/>
                </a:lnTo>
                <a:lnTo>
                  <a:pt x="50800" y="835571"/>
                </a:lnTo>
                <a:close/>
              </a:path>
            </a:pathLst>
          </a:custGeom>
          <a:solidFill>
            <a:srgbClr val="891F15"/>
          </a:solidFill>
          <a:ln/>
        </p:spPr>
      </p:sp>
      <p:sp>
        <p:nvSpPr>
          <p:cNvPr id="19" name="Text 17"/>
          <p:cNvSpPr/>
          <p:nvPr/>
        </p:nvSpPr>
        <p:spPr>
          <a:xfrm>
            <a:off x="1016000" y="4444752"/>
            <a:ext cx="5520182"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891F15"/>
                </a:solidFill>
                <a:latin typeface="Carlito" pitchFamily="34" charset="0"/>
                <a:ea typeface="Carlito" pitchFamily="34" charset="-122"/>
                <a:cs typeface="Carlito" pitchFamily="34" charset="-120"/>
              </a:rPr>
              <a:t>Buffers antimicrobial peptides</a:t>
            </a:r>
            <a:endParaRPr lang="en-US" sz="1300" dirty="0"/>
          </a:p>
        </p:txBody>
      </p:sp>
      <p:sp>
        <p:nvSpPr>
          <p:cNvPr id="20" name="Text 18"/>
          <p:cNvSpPr/>
          <p:nvPr/>
        </p:nvSpPr>
        <p:spPr>
          <a:xfrm>
            <a:off x="1016000" y="4680942"/>
            <a:ext cx="552018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Defensins and LL-37 are trapped before they reach the membrane. In hypervirulent strains </a:t>
            </a:r>
            <a:r>
              <a:rPr lang="en-US" sz="1200" i="1" dirty="0">
                <a:solidFill>
                  <a:srgbClr val="3A322C"/>
                </a:solidFill>
                <a:latin typeface="Carlito" pitchFamily="34" charset="0"/>
                <a:ea typeface="Carlito" pitchFamily="34" charset="-122"/>
                <a:cs typeface="Carlito" pitchFamily="34" charset="-120"/>
              </a:rPr>
              <a:t>rmpADC</a:t>
            </a:r>
            <a:r>
              <a:rPr lang="en-US" sz="1200" dirty="0">
                <a:solidFill>
                  <a:srgbClr val="3A322C"/>
                </a:solidFill>
                <a:latin typeface="Carlito" pitchFamily="34" charset="0"/>
                <a:ea typeface="Carlito" pitchFamily="34" charset="-122"/>
                <a:cs typeface="Carlito" pitchFamily="34" charset="-120"/>
              </a:rPr>
              <a:t> thickens the capsule further.</a:t>
            </a:r>
            <a:endParaRPr lang="en-US" sz="1200" dirty="0"/>
          </a:p>
        </p:txBody>
      </p:sp>
      <p:sp>
        <p:nvSpPr>
          <p:cNvPr id="21" name="Text 19"/>
          <p:cNvSpPr/>
          <p:nvPr/>
        </p:nvSpPr>
        <p:spPr>
          <a:xfrm>
            <a:off x="6756400" y="1633190"/>
            <a:ext cx="476148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73003"/>
                </a:solidFill>
                <a:latin typeface="Carlito" pitchFamily="34" charset="0"/>
                <a:ea typeface="Carlito" pitchFamily="34" charset="-122"/>
                <a:cs typeface="Carlito" pitchFamily="34" charset="-120"/>
              </a:rPr>
              <a:t>The O antigen, more narrowly</a:t>
            </a:r>
            <a:endParaRPr lang="en-US" sz="1600" dirty="0"/>
          </a:p>
        </p:txBody>
      </p:sp>
      <p:sp>
        <p:nvSpPr>
          <p:cNvPr id="22" name="Text 20"/>
          <p:cNvSpPr/>
          <p:nvPr/>
        </p:nvSpPr>
        <p:spPr>
          <a:xfrm>
            <a:off x="6759575" y="1981795"/>
            <a:ext cx="4616450" cy="829221"/>
          </a:xfrm>
          <a:prstGeom prst="roundRect">
            <a:avLst>
              <a:gd name="adj" fmla="val 5743"/>
            </a:avLst>
          </a:prstGeom>
          <a:solidFill>
            <a:srgbClr val="FFFFFF"/>
          </a:solidFill>
          <a:ln w="6350">
            <a:solidFill>
              <a:srgbClr val="D8CFC4"/>
            </a:solidFill>
            <a:prstDash val="solid"/>
          </a:ln>
        </p:spPr>
        <p:txBody>
          <a:bodyPr wrap="square" lIns="154326" tIns="103526" rIns="25929" bIns="78126"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Long O chains hold the membrane attack complex at a distance — the classic </a:t>
            </a:r>
            <a:r>
              <a:rPr lang="en-US" sz="1200" b="1" dirty="0">
                <a:solidFill>
                  <a:srgbClr val="3A322C"/>
                </a:solidFill>
                <a:latin typeface="Carlito" pitchFamily="34" charset="0"/>
                <a:ea typeface="Carlito" pitchFamily="34" charset="-122"/>
                <a:cs typeface="Carlito" pitchFamily="34" charset="-120"/>
              </a:rPr>
              <a:t>serum resistance</a:t>
            </a:r>
            <a:r>
              <a:rPr lang="en-US" sz="1200" dirty="0">
                <a:solidFill>
                  <a:srgbClr val="3A322C"/>
                </a:solidFill>
                <a:latin typeface="Carlito" pitchFamily="34" charset="0"/>
                <a:ea typeface="Carlito" pitchFamily="34" charset="-122"/>
                <a:cs typeface="Carlito" pitchFamily="34" charset="-120"/>
              </a:rPr>
              <a:t> mechanism — and the chain is strongly immunogenic in its own right.</a:t>
            </a:r>
            <a:endParaRPr lang="en-US" sz="1200" dirty="0"/>
          </a:p>
        </p:txBody>
      </p:sp>
      <p:sp>
        <p:nvSpPr>
          <p:cNvPr id="23" name="Text 21"/>
          <p:cNvSpPr/>
          <p:nvPr/>
        </p:nvSpPr>
        <p:spPr>
          <a:xfrm>
            <a:off x="6759575" y="2918966"/>
            <a:ext cx="4616450" cy="631130"/>
          </a:xfrm>
          <a:prstGeom prst="roundRect">
            <a:avLst>
              <a:gd name="adj" fmla="val 7546"/>
            </a:avLst>
          </a:prstGeom>
          <a:solidFill>
            <a:srgbClr val="FFFFFF"/>
          </a:solidFill>
          <a:ln w="6350">
            <a:solidFill>
              <a:srgbClr val="D8CFC4"/>
            </a:solidFill>
            <a:prstDash val="solid"/>
          </a:ln>
        </p:spPr>
        <p:txBody>
          <a:bodyPr wrap="square" lIns="154326" tIns="103526" rIns="25929" bIns="78126"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The inflammatory storm of Gram-negative sepsis comes from </a:t>
            </a:r>
            <a:r>
              <a:rPr lang="en-US" sz="1200" b="1" dirty="0">
                <a:solidFill>
                  <a:srgbClr val="3A322C"/>
                </a:solidFill>
                <a:latin typeface="Carlito" pitchFamily="34" charset="0"/>
                <a:ea typeface="Carlito" pitchFamily="34" charset="-122"/>
                <a:cs typeface="Carlito" pitchFamily="34" charset="-120"/>
              </a:rPr>
              <a:t>lipid A</a:t>
            </a:r>
            <a:r>
              <a:rPr lang="en-US" sz="1200" dirty="0">
                <a:solidFill>
                  <a:srgbClr val="3A322C"/>
                </a:solidFill>
                <a:latin typeface="Carlito" pitchFamily="34" charset="0"/>
                <a:ea typeface="Carlito" pitchFamily="34" charset="-122"/>
                <a:cs typeface="Carlito" pitchFamily="34" charset="-120"/>
              </a:rPr>
              <a:t> beneath it, not from the O antigen.</a:t>
            </a:r>
            <a:endParaRPr lang="en-US" sz="1200" dirty="0"/>
          </a:p>
        </p:txBody>
      </p:sp>
      <p:sp>
        <p:nvSpPr>
          <p:cNvPr id="24" name="Shape 22"/>
          <p:cNvSpPr/>
          <p:nvPr/>
        </p:nvSpPr>
        <p:spPr>
          <a:xfrm>
            <a:off x="6756400" y="3654871"/>
            <a:ext cx="4622800" cy="906711"/>
          </a:xfrm>
          <a:prstGeom prst="roundRect">
            <a:avLst>
              <a:gd name="adj" fmla="val 5603"/>
            </a:avLst>
          </a:prstGeom>
          <a:solidFill>
            <a:srgbClr val="273003"/>
          </a:solidFill>
          <a:ln/>
        </p:spPr>
      </p:sp>
      <p:sp>
        <p:nvSpPr>
          <p:cNvPr id="25" name="Text 23"/>
          <p:cNvSpPr/>
          <p:nvPr/>
        </p:nvSpPr>
        <p:spPr>
          <a:xfrm>
            <a:off x="6921500" y="3781871"/>
            <a:ext cx="4421378" cy="231130"/>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FFCE00"/>
                </a:solidFill>
                <a:latin typeface="Carlito" pitchFamily="34" charset="0"/>
                <a:ea typeface="Carlito" pitchFamily="34" charset="-122"/>
                <a:cs typeface="Carlito" pitchFamily="34" charset="-120"/>
              </a:rPr>
              <a:t>Why this makes them targets</a:t>
            </a:r>
            <a:endParaRPr lang="en-US" sz="1350" dirty="0"/>
          </a:p>
        </p:txBody>
      </p:sp>
      <p:sp>
        <p:nvSpPr>
          <p:cNvPr id="26" name="Text 24"/>
          <p:cNvSpPr/>
          <p:nvPr/>
        </p:nvSpPr>
        <p:spPr>
          <a:xfrm>
            <a:off x="6921500" y="4038402"/>
            <a:ext cx="4421378"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9F2EA"/>
                </a:solidFill>
                <a:latin typeface="Carlito" pitchFamily="34" charset="0"/>
                <a:ea typeface="Carlito" pitchFamily="34" charset="-122"/>
                <a:cs typeface="Carlito" pitchFamily="34" charset="-120"/>
              </a:rPr>
              <a:t>Abundant, surface-exposed, and already what the immune system is trying to attack. That is the definition of a good vaccine antigen.</a:t>
            </a:r>
            <a:endParaRPr lang="en-US" sz="1200" dirty="0"/>
          </a:p>
        </p:txBody>
      </p:sp>
      <p:sp>
        <p:nvSpPr>
          <p:cNvPr id="27" name="Shape 25"/>
          <p:cNvSpPr/>
          <p:nvPr/>
        </p:nvSpPr>
        <p:spPr>
          <a:xfrm>
            <a:off x="6756400" y="4663182"/>
            <a:ext cx="4622800" cy="906711"/>
          </a:xfrm>
          <a:prstGeom prst="roundRect">
            <a:avLst>
              <a:gd name="adj" fmla="val 5603"/>
            </a:avLst>
          </a:prstGeom>
          <a:solidFill>
            <a:srgbClr val="F1E6DA"/>
          </a:solidFill>
          <a:ln/>
        </p:spPr>
      </p:sp>
      <p:sp>
        <p:nvSpPr>
          <p:cNvPr id="28" name="Shape 26"/>
          <p:cNvSpPr/>
          <p:nvPr/>
        </p:nvSpPr>
        <p:spPr>
          <a:xfrm>
            <a:off x="6756400" y="4663182"/>
            <a:ext cx="4622800" cy="906711"/>
          </a:xfrm>
          <a:custGeom>
            <a:avLst/>
            <a:gdLst/>
            <a:ahLst/>
            <a:cxnLst/>
            <a:rect l="l" t="t" r="r" b="b"/>
            <a:pathLst>
              <a:path w="4622800" h="906711">
                <a:moveTo>
                  <a:pt x="50800" y="906711"/>
                </a:moveTo>
                <a:lnTo>
                  <a:pt x="50800" y="906711"/>
                </a:lnTo>
                <a:arcTo hR="50800" wR="50800" stAng="5400000" swAng="5400000"/>
                <a:lnTo>
                  <a:pt x="0" y="50800"/>
                </a:lnTo>
                <a:arcTo hR="50800" wR="50800" stAng="10800000" swAng="5400000"/>
                <a:lnTo>
                  <a:pt x="50800" y="0"/>
                </a:lnTo>
                <a:lnTo>
                  <a:pt x="50800" y="906711"/>
                </a:lnTo>
                <a:close/>
              </a:path>
            </a:pathLst>
          </a:custGeom>
          <a:solidFill>
            <a:srgbClr val="6D2637"/>
          </a:solidFill>
          <a:ln/>
        </p:spPr>
      </p:sp>
      <p:sp>
        <p:nvSpPr>
          <p:cNvPr id="29" name="Text 27"/>
          <p:cNvSpPr/>
          <p:nvPr/>
        </p:nvSpPr>
        <p:spPr>
          <a:xfrm>
            <a:off x="6972300" y="4790182"/>
            <a:ext cx="4369054" cy="231130"/>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6D2637"/>
                </a:solidFill>
                <a:latin typeface="Carlito" pitchFamily="34" charset="0"/>
                <a:ea typeface="Carlito" pitchFamily="34" charset="-122"/>
                <a:cs typeface="Carlito" pitchFamily="34" charset="-120"/>
              </a:rPr>
              <a:t>But note the geometry</a:t>
            </a:r>
            <a:endParaRPr lang="en-US" sz="1350" dirty="0"/>
          </a:p>
        </p:txBody>
      </p:sp>
      <p:sp>
        <p:nvSpPr>
          <p:cNvPr id="30" name="Text 28"/>
          <p:cNvSpPr/>
          <p:nvPr/>
        </p:nvSpPr>
        <p:spPr>
          <a:xfrm>
            <a:off x="6972300" y="5046712"/>
            <a:ext cx="4369054"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The capsule </a:t>
            </a:r>
            <a:r>
              <a:rPr lang="en-US" sz="1200" b="1" dirty="0">
                <a:solidFill>
                  <a:srgbClr val="3A322C"/>
                </a:solidFill>
                <a:latin typeface="Carlito" pitchFamily="34" charset="0"/>
                <a:ea typeface="Carlito" pitchFamily="34" charset="-122"/>
                <a:cs typeface="Carlito" pitchFamily="34" charset="-120"/>
              </a:rPr>
              <a:t>covers</a:t>
            </a:r>
            <a:r>
              <a:rPr lang="en-US" sz="1200" dirty="0">
                <a:solidFill>
                  <a:srgbClr val="3A322C"/>
                </a:solidFill>
                <a:latin typeface="Carlito" pitchFamily="34" charset="0"/>
                <a:ea typeface="Carlito" pitchFamily="34" charset="-122"/>
                <a:cs typeface="Carlito" pitchFamily="34" charset="-120"/>
              </a:rPr>
              <a:t> the O antigen. Hold on to that — it is the central difficulty for an O-antigen vaccine.</a:t>
            </a:r>
            <a:endParaRPr lang="en-US" sz="1200" dirty="0"/>
          </a:p>
        </p:txBody>
      </p:sp>
      <p:pic>
        <p:nvPicPr>
          <p:cNvPr id="31"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32" name="Text 2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7 · Capsule, O antigen and vaccines | Day 8</a:t>
            </a:r>
            <a:endParaRPr lang="en-US" sz="1200" dirty="0"/>
          </a:p>
        </p:txBody>
      </p:sp>
      <p:sp>
        <p:nvSpPr>
          <p:cNvPr id="33" name="Text 3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K and O side by side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71290"/>
          <a:ext cx="10553700" cy="2564954"/>
        </p:xfrm>
        <a:graphic>
          <a:graphicData uri="http://schemas.openxmlformats.org/drawingml/2006/table">
            <a:tbl>
              <a:tblPr/>
              <a:tblGrid>
                <a:gridCol w="2321814"/>
                <a:gridCol w="4115943"/>
                <a:gridCol w="4115943"/>
              </a:tblGrid>
              <a:tr h="386011">
                <a:tc>
                  <a:txBody>
                    <a:bodyPr/>
                    <a:lstStyle/>
                    <a:p>
                      <a:pPr indent="0" marL="0">
                        <a:lnSpc>
                          <a:spcPts val="1960"/>
                        </a:lnSpc>
                        <a:buNone/>
                      </a:pP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1960"/>
                        </a:lnSpc>
                        <a:buNone/>
                      </a:pPr>
                      <a:r>
                        <a:rPr lang="en-US" sz="1400" b="1" dirty="0">
                          <a:solidFill>
                            <a:srgbClr val="3A322C"/>
                          </a:solidFill>
                          <a:latin typeface="Carlito" pitchFamily="34" charset="0"/>
                          <a:ea typeface="Carlito" pitchFamily="34" charset="-122"/>
                          <a:cs typeface="Carlito" pitchFamily="34" charset="-120"/>
                        </a:rPr>
                        <a:t>Capsule (K antigen)</a:t>
                      </a:r>
                      <a:endParaRPr lang="en-US" sz="1400" dirty="0">
                        <a:latin typeface="Carlito" charset="0"/>
                        <a:ea typeface="Carlito" charset="0"/>
                        <a:cs typeface="Carlito" charset="0"/>
                      </a:endParaRPr>
                    </a:p>
                  </a:txBody>
                  <a:tcPr marL="62230" marR="62230" marT="62230" marB="62230"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1960"/>
                        </a:lnSpc>
                        <a:buNone/>
                      </a:pPr>
                      <a:r>
                        <a:rPr lang="en-US" sz="1400" b="1" dirty="0">
                          <a:solidFill>
                            <a:srgbClr val="3A322C"/>
                          </a:solidFill>
                          <a:latin typeface="Carlito" pitchFamily="34" charset="0"/>
                          <a:ea typeface="Carlito" pitchFamily="34" charset="-122"/>
                          <a:cs typeface="Carlito" pitchFamily="34" charset="-120"/>
                        </a:rPr>
                        <a:t>O antigen (LPS)</a:t>
                      </a:r>
                      <a:endParaRPr lang="en-US" sz="1400" dirty="0">
                        <a:latin typeface="Carlito" charset="0"/>
                        <a:ea typeface="Carlito" charset="0"/>
                        <a:cs typeface="Carlito" charset="0"/>
                      </a:endParaRPr>
                    </a:p>
                  </a:txBody>
                  <a:tcPr marL="62230" marR="62230" marT="62230" marB="62230"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Diversity</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High: well over 100 known K loci</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Low: about a dozen types</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Locus name</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KL1, KL2, KL107 …</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O1/O2v1, O3b, OL101 …</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Predicted type</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K1, K2 … or unknown</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O1, O2, O3b, O4, O5 …</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63490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Assembly from short reads</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Harder: lower GC than the rest of the genome, so coverage dips and the locus breaks across contigs</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Easier: shorter and usually in one piece</a:t>
                      </a:r>
                      <a:endParaRPr lang="en-US" sz="1400" dirty="0">
                        <a:latin typeface="Carlito" charset="0"/>
                        <a:ea typeface="Carlito" charset="0"/>
                        <a:cs typeface="Carlito" charset="0"/>
                      </a:endParaRPr>
                    </a:p>
                  </a:txBody>
                  <a:tcPr marL="62230" marR="62230" marT="62230" marB="62230"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r h="386011">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Vaccine implication</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Needs many valencies to cover a population</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960"/>
                        </a:lnSpc>
                        <a:buNone/>
                      </a:pPr>
                      <a:r>
                        <a:rPr lang="en-US" sz="1400" dirty="0">
                          <a:solidFill>
                            <a:srgbClr val="3A322C"/>
                          </a:solidFill>
                          <a:latin typeface="Carlito" pitchFamily="34" charset="0"/>
                          <a:ea typeface="Carlito" pitchFamily="34" charset="-122"/>
                          <a:cs typeface="Carlito" pitchFamily="34" charset="-120"/>
                        </a:rPr>
                        <a:t>A few valencies can cover most strains</a:t>
                      </a:r>
                      <a:endParaRPr lang="en-US" sz="1400" dirty="0">
                        <a:latin typeface="Carlito" charset="0"/>
                        <a:ea typeface="Carlito" charset="0"/>
                        <a:cs typeface="Carlito" charset="0"/>
                      </a:endParaRPr>
                    </a:p>
                  </a:txBody>
                  <a:tcPr marL="62230" marR="62230" marT="62230" marB="62230"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bl>
          </a:graphicData>
        </a:graphic>
      </p:graphicFrame>
      <p:sp>
        <p:nvSpPr>
          <p:cNvPr id="5" name="Shape 2"/>
          <p:cNvSpPr/>
          <p:nvPr/>
        </p:nvSpPr>
        <p:spPr>
          <a:xfrm>
            <a:off x="812800" y="4439444"/>
            <a:ext cx="5207000" cy="930870"/>
          </a:xfrm>
          <a:prstGeom prst="roundRect">
            <a:avLst>
              <a:gd name="adj" fmla="val 5457"/>
            </a:avLst>
          </a:prstGeom>
          <a:solidFill>
            <a:srgbClr val="FFFFFF"/>
          </a:solidFill>
          <a:ln/>
        </p:spPr>
      </p:sp>
      <p:sp>
        <p:nvSpPr>
          <p:cNvPr id="6" name="Shape 3"/>
          <p:cNvSpPr/>
          <p:nvPr/>
        </p:nvSpPr>
        <p:spPr>
          <a:xfrm>
            <a:off x="812800" y="4439444"/>
            <a:ext cx="5207000" cy="930870"/>
          </a:xfrm>
          <a:custGeom>
            <a:avLst/>
            <a:gdLst/>
            <a:ahLst/>
            <a:cxnLst/>
            <a:rect l="l" t="t" r="r" b="b"/>
            <a:pathLst>
              <a:path w="5207000" h="930870">
                <a:moveTo>
                  <a:pt x="50800" y="930870"/>
                </a:moveTo>
                <a:lnTo>
                  <a:pt x="50800" y="930870"/>
                </a:lnTo>
                <a:arcTo hR="50800" wR="50800" stAng="5400000" swAng="5400000"/>
                <a:lnTo>
                  <a:pt x="0" y="50800"/>
                </a:lnTo>
                <a:arcTo hR="50800" wR="50800" stAng="10800000" swAng="5400000"/>
                <a:lnTo>
                  <a:pt x="50800" y="0"/>
                </a:lnTo>
                <a:lnTo>
                  <a:pt x="50800" y="930870"/>
                </a:lnTo>
                <a:close/>
              </a:path>
            </a:pathLst>
          </a:custGeom>
          <a:solidFill>
            <a:srgbClr val="891F15"/>
          </a:solidFill>
          <a:ln/>
        </p:spPr>
      </p:sp>
      <p:sp>
        <p:nvSpPr>
          <p:cNvPr id="7" name="Text 4"/>
          <p:cNvSpPr/>
          <p:nvPr/>
        </p:nvSpPr>
        <p:spPr>
          <a:xfrm>
            <a:off x="1041400" y="4566444"/>
            <a:ext cx="494461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Watch the string matching</a:t>
            </a:r>
            <a:endParaRPr lang="en-US" sz="1400" dirty="0"/>
          </a:p>
        </p:txBody>
      </p:sp>
      <p:sp>
        <p:nvSpPr>
          <p:cNvPr id="8" name="Text 5"/>
          <p:cNvSpPr/>
          <p:nvPr/>
        </p:nvSpPr>
        <p:spPr>
          <a:xfrm>
            <a:off x="1041400" y="4830564"/>
            <a:ext cx="4944618" cy="438150"/>
          </a:xfrm>
          <a:prstGeom prst="rect">
            <a:avLst/>
          </a:prstGeom>
          <a:noFill/>
          <a:ln/>
        </p:spPr>
        <p:txBody>
          <a:bodyPr wrap="square" lIns="0" tIns="0" rIns="0" bIns="0" rtlCol="0" anchor="t">
            <a:normAutofit/>
          </a:bodyPr>
          <a:lstStyle/>
          <a:p>
            <a:pPr algn="l" indent="0" marL="0">
              <a:lnSpc>
                <a:spcPts val="1625"/>
              </a:lnSpc>
              <a:buNone/>
            </a:pPr>
            <a:r>
              <a:rPr lang="en-US" sz="1250" b="1" dirty="0">
                <a:solidFill>
                  <a:srgbClr val="3A322C"/>
                </a:solidFill>
                <a:latin typeface="Carlito" pitchFamily="34" charset="0"/>
                <a:ea typeface="Carlito" pitchFamily="34" charset="-122"/>
                <a:cs typeface="Carlito" pitchFamily="34" charset="-120"/>
              </a:rPr>
              <a:t>O12 is not an O1.</a:t>
            </a:r>
            <a:r>
              <a:rPr lang="en-US" sz="1250" dirty="0">
                <a:solidFill>
                  <a:srgbClr val="3A322C"/>
                </a:solidFill>
                <a:latin typeface="Carlito" pitchFamily="34" charset="0"/>
                <a:ea typeface="Carlito" pitchFamily="34" charset="-122"/>
                <a:cs typeface="Carlito" pitchFamily="34" charset="-120"/>
              </a:rPr>
              <a:t> Grouping O types with </a:t>
            </a:r>
            <a:r>
              <a:rPr lang="en-US" sz="1250" i="1" dirty="0">
                <a:solidFill>
                  <a:srgbClr val="3A322C"/>
                </a:solidFill>
                <a:latin typeface="Carlito" pitchFamily="34" charset="0"/>
                <a:ea typeface="Carlito" pitchFamily="34" charset="-122"/>
                <a:cs typeface="Carlito" pitchFamily="34" charset="-120"/>
              </a:rPr>
              <a:t>starts with</a:t>
            </a:r>
            <a:r>
              <a:rPr lang="en-US" sz="1250" dirty="0">
                <a:solidFill>
                  <a:srgbClr val="3A322C"/>
                </a:solidFill>
                <a:latin typeface="Carlito" pitchFamily="34" charset="0"/>
                <a:ea typeface="Carlito" pitchFamily="34" charset="-122"/>
                <a:cs typeface="Carlito" pitchFamily="34" charset="-120"/>
              </a:rPr>
              <a:t> “O1” silently swallows O12 and inflates your coverage figure. Group O1a, O1b and O1 explicitly.</a:t>
            </a:r>
            <a:endParaRPr lang="en-US" sz="1250" dirty="0"/>
          </a:p>
        </p:txBody>
      </p:sp>
      <p:sp>
        <p:nvSpPr>
          <p:cNvPr id="9" name="Shape 6"/>
          <p:cNvSpPr/>
          <p:nvPr/>
        </p:nvSpPr>
        <p:spPr>
          <a:xfrm>
            <a:off x="6223000" y="4439444"/>
            <a:ext cx="5156200" cy="930870"/>
          </a:xfrm>
          <a:prstGeom prst="roundRect">
            <a:avLst>
              <a:gd name="adj" fmla="val 5457"/>
            </a:avLst>
          </a:prstGeom>
          <a:solidFill>
            <a:srgbClr val="273003"/>
          </a:solidFill>
          <a:ln/>
        </p:spPr>
      </p:sp>
      <p:sp>
        <p:nvSpPr>
          <p:cNvPr id="10" name="Text 7"/>
          <p:cNvSpPr/>
          <p:nvPr/>
        </p:nvSpPr>
        <p:spPr>
          <a:xfrm>
            <a:off x="6400800" y="4566444"/>
            <a:ext cx="494461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CE00"/>
                </a:solidFill>
                <a:latin typeface="Carlito" pitchFamily="34" charset="0"/>
                <a:ea typeface="Carlito" pitchFamily="34" charset="-122"/>
                <a:cs typeface="Carlito" pitchFamily="34" charset="-120"/>
              </a:rPr>
              <a:t>Both coats, one isolate</a:t>
            </a:r>
            <a:endParaRPr lang="en-US" sz="1400" dirty="0"/>
          </a:p>
        </p:txBody>
      </p:sp>
      <p:sp>
        <p:nvSpPr>
          <p:cNvPr id="11" name="Text 8"/>
          <p:cNvSpPr/>
          <p:nvPr/>
        </p:nvSpPr>
        <p:spPr>
          <a:xfrm>
            <a:off x="6400800" y="4830564"/>
            <a:ext cx="4944618" cy="43815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F9F2EA"/>
                </a:solidFill>
                <a:latin typeface="Carlito" pitchFamily="34" charset="0"/>
                <a:ea typeface="Carlito" pitchFamily="34" charset="-122"/>
                <a:cs typeface="Carlito" pitchFamily="34" charset="-120"/>
              </a:rPr>
              <a:t>Every isolate has a K type </a:t>
            </a:r>
            <a:r>
              <a:rPr lang="en-US" sz="1250" b="1" dirty="0">
                <a:solidFill>
                  <a:srgbClr val="F9F2EA"/>
                </a:solidFill>
                <a:latin typeface="Carlito" pitchFamily="34" charset="0"/>
                <a:ea typeface="Carlito" pitchFamily="34" charset="-122"/>
                <a:cs typeface="Carlito" pitchFamily="34" charset="-120"/>
              </a:rPr>
              <a:t>and</a:t>
            </a:r>
            <a:r>
              <a:rPr lang="en-US" sz="1250" dirty="0">
                <a:solidFill>
                  <a:srgbClr val="F9F2EA"/>
                </a:solidFill>
                <a:latin typeface="Carlito" pitchFamily="34" charset="0"/>
                <a:ea typeface="Carlito" pitchFamily="34" charset="-122"/>
                <a:cs typeface="Carlito" pitchFamily="34" charset="-120"/>
              </a:rPr>
              <a:t> an O type, and they vary independently. Our ST39 cluster is KL2 with O1b; other KL2 isolates carry other O types.</a:t>
            </a:r>
            <a:endParaRPr lang="en-US" sz="1250" dirty="0"/>
          </a:p>
        </p:txBody>
      </p:sp>
      <p:pic>
        <p:nvPicPr>
          <p:cNvPr id="12"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13" name="Text 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7 · Capsule, O antigen and vaccines | Day 8</a:t>
            </a:r>
            <a:endParaRPr lang="en-US" sz="1200" dirty="0"/>
          </a:p>
        </p:txBody>
      </p:sp>
      <p:sp>
        <p:nvSpPr>
          <p:cNvPr id="14" name="Text 1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A locus is not a serotype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645890"/>
            <a:ext cx="4826000" cy="1164530"/>
          </a:xfrm>
          <a:prstGeom prst="roundRect">
            <a:avLst>
              <a:gd name="adj" fmla="val 4362"/>
            </a:avLst>
          </a:prstGeom>
          <a:solidFill>
            <a:srgbClr val="FFFFFF"/>
          </a:solidFill>
          <a:ln/>
        </p:spPr>
      </p:sp>
      <p:sp>
        <p:nvSpPr>
          <p:cNvPr id="5" name="Shape 3"/>
          <p:cNvSpPr/>
          <p:nvPr/>
        </p:nvSpPr>
        <p:spPr>
          <a:xfrm>
            <a:off x="812800" y="1645890"/>
            <a:ext cx="4826000" cy="1164530"/>
          </a:xfrm>
          <a:custGeom>
            <a:avLst/>
            <a:gdLst/>
            <a:ahLst/>
            <a:cxnLst/>
            <a:rect l="l" t="t" r="r" b="b"/>
            <a:pathLst>
              <a:path w="4826000" h="1164530">
                <a:moveTo>
                  <a:pt x="50800" y="1164530"/>
                </a:moveTo>
                <a:lnTo>
                  <a:pt x="50800" y="1164530"/>
                </a:lnTo>
                <a:arcTo hR="50800" wR="50800" stAng="5400000" swAng="5400000"/>
                <a:lnTo>
                  <a:pt x="0" y="50800"/>
                </a:lnTo>
                <a:arcTo hR="50800" wR="50800" stAng="10800000" swAng="5400000"/>
                <a:lnTo>
                  <a:pt x="50800" y="0"/>
                </a:lnTo>
                <a:lnTo>
                  <a:pt x="50800" y="1164530"/>
                </a:lnTo>
                <a:close/>
              </a:path>
            </a:pathLst>
          </a:custGeom>
          <a:solidFill>
            <a:srgbClr val="273003"/>
          </a:solidFill>
          <a:ln/>
        </p:spPr>
      </p:sp>
      <p:sp>
        <p:nvSpPr>
          <p:cNvPr id="6" name="Text 4"/>
          <p:cNvSpPr/>
          <p:nvPr/>
        </p:nvSpPr>
        <p:spPr>
          <a:xfrm>
            <a:off x="1041400" y="1772890"/>
            <a:ext cx="455218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73003"/>
                </a:solidFill>
                <a:latin typeface="Carlito" pitchFamily="34" charset="0"/>
                <a:ea typeface="Carlito" pitchFamily="34" charset="-122"/>
                <a:cs typeface="Carlito" pitchFamily="34" charset="-120"/>
              </a:rPr>
              <a:t>KL2 is a </a:t>
            </a:r>
            <a:r>
              <a:rPr lang="en-US" sz="1500" b="1" i="1" dirty="0">
                <a:solidFill>
                  <a:srgbClr val="273003"/>
                </a:solidFill>
                <a:latin typeface="Carlito" pitchFamily="34" charset="0"/>
                <a:ea typeface="Carlito" pitchFamily="34" charset="-122"/>
                <a:cs typeface="Carlito" pitchFamily="34" charset="-120"/>
              </a:rPr>
              <a:t>genotype</a:t>
            </a:r>
            <a:endParaRPr lang="en-US" sz="1500" dirty="0"/>
          </a:p>
        </p:txBody>
      </p:sp>
      <p:sp>
        <p:nvSpPr>
          <p:cNvPr id="7" name="Text 5"/>
          <p:cNvSpPr/>
          <p:nvPr/>
        </p:nvSpPr>
        <p:spPr>
          <a:xfrm>
            <a:off x="1041400" y="2039590"/>
            <a:ext cx="4552188"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322C"/>
                </a:solidFill>
                <a:latin typeface="Carlito" pitchFamily="34" charset="0"/>
                <a:ea typeface="Carlito" pitchFamily="34" charset="-122"/>
                <a:cs typeface="Carlito" pitchFamily="34" charset="-120"/>
              </a:rPr>
              <a:t>“The gene cluster in this genome matches reference K locus 2.” That is a statement about DNA, and it is what Kaptive actually measures.</a:t>
            </a:r>
            <a:endParaRPr lang="en-US" sz="1300" dirty="0"/>
          </a:p>
        </p:txBody>
      </p:sp>
      <p:sp>
        <p:nvSpPr>
          <p:cNvPr id="8" name="Shape 6"/>
          <p:cNvSpPr/>
          <p:nvPr/>
        </p:nvSpPr>
        <p:spPr>
          <a:xfrm>
            <a:off x="812800" y="2924721"/>
            <a:ext cx="4826000" cy="1164530"/>
          </a:xfrm>
          <a:prstGeom prst="roundRect">
            <a:avLst>
              <a:gd name="adj" fmla="val 4362"/>
            </a:avLst>
          </a:prstGeom>
          <a:solidFill>
            <a:srgbClr val="FFFFFF"/>
          </a:solidFill>
          <a:ln/>
        </p:spPr>
      </p:sp>
      <p:sp>
        <p:nvSpPr>
          <p:cNvPr id="9" name="Shape 7"/>
          <p:cNvSpPr/>
          <p:nvPr/>
        </p:nvSpPr>
        <p:spPr>
          <a:xfrm>
            <a:off x="812800" y="2924721"/>
            <a:ext cx="4826000" cy="1164530"/>
          </a:xfrm>
          <a:custGeom>
            <a:avLst/>
            <a:gdLst/>
            <a:ahLst/>
            <a:cxnLst/>
            <a:rect l="l" t="t" r="r" b="b"/>
            <a:pathLst>
              <a:path w="4826000" h="1164530">
                <a:moveTo>
                  <a:pt x="50800" y="1164530"/>
                </a:moveTo>
                <a:lnTo>
                  <a:pt x="50800" y="1164530"/>
                </a:lnTo>
                <a:arcTo hR="50800" wR="50800" stAng="5400000" swAng="5400000"/>
                <a:lnTo>
                  <a:pt x="0" y="50800"/>
                </a:lnTo>
                <a:arcTo hR="50800" wR="50800" stAng="10800000" swAng="5400000"/>
                <a:lnTo>
                  <a:pt x="50800" y="0"/>
                </a:lnTo>
                <a:lnTo>
                  <a:pt x="50800" y="1164530"/>
                </a:lnTo>
                <a:close/>
              </a:path>
            </a:pathLst>
          </a:custGeom>
          <a:solidFill>
            <a:srgbClr val="891F15"/>
          </a:solidFill>
          <a:ln/>
        </p:spPr>
      </p:sp>
      <p:sp>
        <p:nvSpPr>
          <p:cNvPr id="10" name="Text 8"/>
          <p:cNvSpPr/>
          <p:nvPr/>
        </p:nvSpPr>
        <p:spPr>
          <a:xfrm>
            <a:off x="1041400" y="3051721"/>
            <a:ext cx="455218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91F15"/>
                </a:solidFill>
                <a:latin typeface="Carlito" pitchFamily="34" charset="0"/>
                <a:ea typeface="Carlito" pitchFamily="34" charset="-122"/>
                <a:cs typeface="Carlito" pitchFamily="34" charset="-120"/>
              </a:rPr>
              <a:t>K2 is a </a:t>
            </a:r>
            <a:r>
              <a:rPr lang="en-US" sz="1500" b="1" i="1" dirty="0">
                <a:solidFill>
                  <a:srgbClr val="891F15"/>
                </a:solidFill>
                <a:latin typeface="Carlito" pitchFamily="34" charset="0"/>
                <a:ea typeface="Carlito" pitchFamily="34" charset="-122"/>
                <a:cs typeface="Carlito" pitchFamily="34" charset="-120"/>
              </a:rPr>
              <a:t>predicted phenotype</a:t>
            </a:r>
            <a:endParaRPr lang="en-US" sz="1500" dirty="0"/>
          </a:p>
        </p:txBody>
      </p:sp>
      <p:sp>
        <p:nvSpPr>
          <p:cNvPr id="11" name="Text 9"/>
          <p:cNvSpPr/>
          <p:nvPr/>
        </p:nvSpPr>
        <p:spPr>
          <a:xfrm>
            <a:off x="1041400" y="3318421"/>
            <a:ext cx="4552188"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322C"/>
                </a:solidFill>
                <a:latin typeface="Carlito" pitchFamily="34" charset="0"/>
                <a:ea typeface="Carlito" pitchFamily="34" charset="-122"/>
                <a:cs typeface="Carlito" pitchFamily="34" charset="-120"/>
              </a:rPr>
              <a:t>“That cluster is expected to make the K2 capsule, which antiserum would agglutinate.” An inference from the DNA, not a serological result.</a:t>
            </a:r>
            <a:endParaRPr lang="en-US" sz="1300" dirty="0"/>
          </a:p>
        </p:txBody>
      </p:sp>
      <p:sp>
        <p:nvSpPr>
          <p:cNvPr id="12" name="Shape 10"/>
          <p:cNvSpPr/>
          <p:nvPr/>
        </p:nvSpPr>
        <p:spPr>
          <a:xfrm>
            <a:off x="812800" y="4203551"/>
            <a:ext cx="4826000" cy="1164530"/>
          </a:xfrm>
          <a:prstGeom prst="roundRect">
            <a:avLst>
              <a:gd name="adj" fmla="val 4362"/>
            </a:avLst>
          </a:prstGeom>
          <a:solidFill>
            <a:srgbClr val="FFFFFF"/>
          </a:solidFill>
          <a:ln/>
        </p:spPr>
      </p:sp>
      <p:sp>
        <p:nvSpPr>
          <p:cNvPr id="13" name="Shape 11"/>
          <p:cNvSpPr/>
          <p:nvPr/>
        </p:nvSpPr>
        <p:spPr>
          <a:xfrm>
            <a:off x="812800" y="4203551"/>
            <a:ext cx="4826000" cy="1164530"/>
          </a:xfrm>
          <a:custGeom>
            <a:avLst/>
            <a:gdLst/>
            <a:ahLst/>
            <a:cxnLst/>
            <a:rect l="l" t="t" r="r" b="b"/>
            <a:pathLst>
              <a:path w="4826000" h="1164530">
                <a:moveTo>
                  <a:pt x="50800" y="1164530"/>
                </a:moveTo>
                <a:lnTo>
                  <a:pt x="50800" y="1164530"/>
                </a:lnTo>
                <a:arcTo hR="50800" wR="50800" stAng="5400000" swAng="5400000"/>
                <a:lnTo>
                  <a:pt x="0" y="50800"/>
                </a:lnTo>
                <a:arcTo hR="50800" wR="50800" stAng="10800000" swAng="5400000"/>
                <a:lnTo>
                  <a:pt x="50800" y="0"/>
                </a:lnTo>
                <a:lnTo>
                  <a:pt x="50800" y="1164530"/>
                </a:lnTo>
                <a:close/>
              </a:path>
            </a:pathLst>
          </a:custGeom>
          <a:solidFill>
            <a:srgbClr val="6D2637"/>
          </a:solidFill>
          <a:ln/>
        </p:spPr>
      </p:sp>
      <p:sp>
        <p:nvSpPr>
          <p:cNvPr id="14" name="Text 12"/>
          <p:cNvSpPr/>
          <p:nvPr/>
        </p:nvSpPr>
        <p:spPr>
          <a:xfrm>
            <a:off x="1041400" y="4330551"/>
            <a:ext cx="455218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6D2637"/>
                </a:solidFill>
                <a:latin typeface="Carlito" pitchFamily="34" charset="0"/>
                <a:ea typeface="Carlito" pitchFamily="34" charset="-122"/>
                <a:cs typeface="Carlito" pitchFamily="34" charset="-120"/>
              </a:rPr>
              <a:t>Hence “unknown” in the type column</a:t>
            </a:r>
            <a:endParaRPr lang="en-US" sz="1500" dirty="0"/>
          </a:p>
        </p:txBody>
      </p:sp>
      <p:sp>
        <p:nvSpPr>
          <p:cNvPr id="15" name="Text 13"/>
          <p:cNvSpPr/>
          <p:nvPr/>
        </p:nvSpPr>
        <p:spPr>
          <a:xfrm>
            <a:off x="1041400" y="4597251"/>
            <a:ext cx="4552188"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322C"/>
                </a:solidFill>
                <a:latin typeface="Carlito" pitchFamily="34" charset="0"/>
                <a:ea typeface="Carlito" pitchFamily="34" charset="-122"/>
                <a:cs typeface="Carlito" pitchFamily="34" charset="-120"/>
              </a:rPr>
              <a:t>Many K loci have never been matched to a named serotype. A confident </a:t>
            </a:r>
            <a:r>
              <a:rPr lang="en-US" sz="1300" b="1" dirty="0">
                <a:solidFill>
                  <a:srgbClr val="3A322C"/>
                </a:solidFill>
                <a:latin typeface="Carlito" pitchFamily="34" charset="0"/>
                <a:ea typeface="Carlito" pitchFamily="34" charset="-122"/>
                <a:cs typeface="Carlito" pitchFamily="34" charset="-120"/>
              </a:rPr>
              <a:t>KL107</a:t>
            </a:r>
            <a:r>
              <a:rPr lang="en-US" sz="1300" dirty="0">
                <a:solidFill>
                  <a:srgbClr val="3A322C"/>
                </a:solidFill>
                <a:latin typeface="Carlito" pitchFamily="34" charset="0"/>
                <a:ea typeface="Carlito" pitchFamily="34" charset="-122"/>
                <a:cs typeface="Carlito" pitchFamily="34" charset="-120"/>
              </a:rPr>
              <a:t> call with an </a:t>
            </a:r>
            <a:r>
              <a:rPr lang="en-US" sz="1300" b="1" dirty="0">
                <a:solidFill>
                  <a:srgbClr val="3A322C"/>
                </a:solidFill>
                <a:latin typeface="Carlito" pitchFamily="34" charset="0"/>
                <a:ea typeface="Carlito" pitchFamily="34" charset="-122"/>
                <a:cs typeface="Carlito" pitchFamily="34" charset="-120"/>
              </a:rPr>
              <a:t>unknown</a:t>
            </a:r>
            <a:r>
              <a:rPr lang="en-US" sz="1300" dirty="0">
                <a:solidFill>
                  <a:srgbClr val="3A322C"/>
                </a:solidFill>
                <a:latin typeface="Carlito" pitchFamily="34" charset="0"/>
                <a:ea typeface="Carlito" pitchFamily="34" charset="-122"/>
                <a:cs typeface="Carlito" pitchFamily="34" charset="-120"/>
              </a:rPr>
              <a:t> type is a good result, not a failure.</a:t>
            </a:r>
            <a:endParaRPr lang="en-US" sz="1300" dirty="0"/>
          </a:p>
        </p:txBody>
      </p:sp>
      <p:sp>
        <p:nvSpPr>
          <p:cNvPr id="16" name="Shape 14"/>
          <p:cNvSpPr/>
          <p:nvPr/>
        </p:nvSpPr>
        <p:spPr>
          <a:xfrm>
            <a:off x="5842000" y="1645890"/>
            <a:ext cx="5537200" cy="1419820"/>
          </a:xfrm>
          <a:prstGeom prst="roundRect">
            <a:avLst>
              <a:gd name="adj" fmla="val 3578"/>
            </a:avLst>
          </a:prstGeom>
          <a:solidFill>
            <a:srgbClr val="273003"/>
          </a:solidFill>
          <a:ln/>
        </p:spPr>
      </p:sp>
      <p:sp>
        <p:nvSpPr>
          <p:cNvPr id="17" name="Text 15"/>
          <p:cNvSpPr/>
          <p:nvPr/>
        </p:nvSpPr>
        <p:spPr>
          <a:xfrm>
            <a:off x="6032500" y="1785590"/>
            <a:ext cx="531088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CE00"/>
                </a:solidFill>
                <a:latin typeface="Carlito" pitchFamily="34" charset="0"/>
                <a:ea typeface="Carlito" pitchFamily="34" charset="-122"/>
                <a:cs typeface="Carlito" pitchFamily="34" charset="-120"/>
              </a:rPr>
              <a:t>Genes outside the locus can change the type</a:t>
            </a:r>
            <a:endParaRPr lang="en-US" sz="1400" dirty="0"/>
          </a:p>
        </p:txBody>
      </p:sp>
      <p:sp>
        <p:nvSpPr>
          <p:cNvPr id="18" name="Text 16"/>
          <p:cNvSpPr/>
          <p:nvPr/>
        </p:nvSpPr>
        <p:spPr>
          <a:xfrm>
            <a:off x="6032500" y="2049711"/>
            <a:ext cx="5310886" cy="43815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F9F2EA"/>
                </a:solidFill>
                <a:latin typeface="Carlito" pitchFamily="34" charset="0"/>
                <a:ea typeface="Carlito" pitchFamily="34" charset="-122"/>
                <a:cs typeface="Carlito" pitchFamily="34" charset="-120"/>
              </a:rPr>
              <a:t>O1 and O2 are built from the </a:t>
            </a:r>
            <a:r>
              <a:rPr lang="en-US" sz="1250" b="1" dirty="0">
                <a:solidFill>
                  <a:srgbClr val="F9F2EA"/>
                </a:solidFill>
                <a:latin typeface="Carlito" pitchFamily="34" charset="0"/>
                <a:ea typeface="Carlito" pitchFamily="34" charset="-122"/>
                <a:cs typeface="Carlito" pitchFamily="34" charset="-120"/>
              </a:rPr>
              <a:t>same O locus</a:t>
            </a:r>
            <a:r>
              <a:rPr lang="en-US" sz="1250" dirty="0">
                <a:solidFill>
                  <a:srgbClr val="F9F2EA"/>
                </a:solidFill>
                <a:latin typeface="Carlito" pitchFamily="34" charset="0"/>
                <a:ea typeface="Carlito" pitchFamily="34" charset="-122"/>
                <a:cs typeface="Carlito" pitchFamily="34" charset="-120"/>
              </a:rPr>
              <a:t>. Which one appears on the surface depends on extra genes (</a:t>
            </a:r>
            <a:r>
              <a:rPr lang="en-US" sz="1250" i="1" dirty="0">
                <a:solidFill>
                  <a:srgbClr val="F9F2EA"/>
                </a:solidFill>
                <a:latin typeface="Carlito" pitchFamily="34" charset="0"/>
                <a:ea typeface="Carlito" pitchFamily="34" charset="-122"/>
                <a:cs typeface="Carlito" pitchFamily="34" charset="-120"/>
              </a:rPr>
              <a:t>wbbY</a:t>
            </a:r>
            <a:r>
              <a:rPr lang="en-US" sz="1250" dirty="0">
                <a:solidFill>
                  <a:srgbClr val="F9F2EA"/>
                </a:solidFill>
                <a:latin typeface="Carlito" pitchFamily="34" charset="0"/>
                <a:ea typeface="Carlito" pitchFamily="34" charset="-122"/>
                <a:cs typeface="Carlito" pitchFamily="34" charset="-120"/>
              </a:rPr>
              <a:t>, </a:t>
            </a:r>
            <a:r>
              <a:rPr lang="en-US" sz="1250" i="1" dirty="0">
                <a:solidFill>
                  <a:srgbClr val="F9F2EA"/>
                </a:solidFill>
                <a:latin typeface="Carlito" pitchFamily="34" charset="0"/>
                <a:ea typeface="Carlito" pitchFamily="34" charset="-122"/>
                <a:cs typeface="Carlito" pitchFamily="34" charset="-120"/>
              </a:rPr>
              <a:t>wbbZ</a:t>
            </a:r>
            <a:r>
              <a:rPr lang="en-US" sz="1250" dirty="0">
                <a:solidFill>
                  <a:srgbClr val="F9F2EA"/>
                </a:solidFill>
                <a:latin typeface="Carlito" pitchFamily="34" charset="0"/>
                <a:ea typeface="Carlito" pitchFamily="34" charset="-122"/>
                <a:cs typeface="Carlito" pitchFamily="34" charset="-120"/>
              </a:rPr>
              <a:t>) sitting elsewhere in the genome.</a:t>
            </a:r>
            <a:endParaRPr lang="en-US" sz="1250" dirty="0"/>
          </a:p>
        </p:txBody>
      </p:sp>
      <p:sp>
        <p:nvSpPr>
          <p:cNvPr id="19" name="Text 17"/>
          <p:cNvSpPr/>
          <p:nvPr/>
        </p:nvSpPr>
        <p:spPr>
          <a:xfrm>
            <a:off x="6032500" y="2513261"/>
            <a:ext cx="5310886" cy="43815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F9F2EA"/>
                </a:solidFill>
                <a:latin typeface="Carlito" pitchFamily="34" charset="0"/>
                <a:ea typeface="Carlito" pitchFamily="34" charset="-122"/>
                <a:cs typeface="Carlito" pitchFamily="34" charset="-120"/>
              </a:rPr>
              <a:t>That is why Kaptive reports the locus as </a:t>
            </a:r>
            <a:r>
              <a:rPr lang="en-US" sz="1250" b="1" dirty="0">
                <a:solidFill>
                  <a:srgbClr val="F9F2EA"/>
                </a:solidFill>
                <a:latin typeface="Carlito" pitchFamily="34" charset="0"/>
                <a:ea typeface="Carlito" pitchFamily="34" charset="-122"/>
                <a:cs typeface="Carlito" pitchFamily="34" charset="-120"/>
              </a:rPr>
              <a:t>O1/O2v1</a:t>
            </a:r>
            <a:r>
              <a:rPr lang="en-US" sz="1250" dirty="0">
                <a:solidFill>
                  <a:srgbClr val="F9F2EA"/>
                </a:solidFill>
                <a:latin typeface="Carlito" pitchFamily="34" charset="0"/>
                <a:ea typeface="Carlito" pitchFamily="34" charset="-122"/>
                <a:cs typeface="Carlito" pitchFamily="34" charset="-120"/>
              </a:rPr>
              <a:t> and then resolves the type separately.</a:t>
            </a:r>
            <a:endParaRPr lang="en-US" sz="1250" dirty="0"/>
          </a:p>
        </p:txBody>
      </p:sp>
      <p:sp>
        <p:nvSpPr>
          <p:cNvPr id="20" name="Shape 18"/>
          <p:cNvSpPr/>
          <p:nvPr/>
        </p:nvSpPr>
        <p:spPr>
          <a:xfrm>
            <a:off x="5845175" y="3183186"/>
            <a:ext cx="5530850" cy="1168995"/>
          </a:xfrm>
          <a:prstGeom prst="roundRect">
            <a:avLst>
              <a:gd name="adj" fmla="val 4074"/>
            </a:avLst>
          </a:prstGeom>
          <a:solidFill>
            <a:srgbClr val="FFFFFF"/>
          </a:solidFill>
          <a:ln w="6350">
            <a:solidFill>
              <a:srgbClr val="D8CFC4"/>
            </a:solidFill>
            <a:prstDash val="solid"/>
          </a:ln>
        </p:spPr>
      </p:sp>
      <p:sp>
        <p:nvSpPr>
          <p:cNvPr id="21" name="Text 19"/>
          <p:cNvSpPr/>
          <p:nvPr/>
        </p:nvSpPr>
        <p:spPr>
          <a:xfrm>
            <a:off x="6038850" y="3326061"/>
            <a:ext cx="529780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And a broken gene can remove it</a:t>
            </a:r>
            <a:endParaRPr lang="en-US" sz="1400" dirty="0"/>
          </a:p>
        </p:txBody>
      </p:sp>
      <p:sp>
        <p:nvSpPr>
          <p:cNvPr id="22" name="Text 20"/>
          <p:cNvSpPr/>
          <p:nvPr/>
        </p:nvSpPr>
        <p:spPr>
          <a:xfrm>
            <a:off x="6038850" y="3590181"/>
            <a:ext cx="5297805" cy="64452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A truncated </a:t>
            </a:r>
            <a:r>
              <a:rPr lang="en-US" sz="1250" i="1" dirty="0">
                <a:solidFill>
                  <a:srgbClr val="3A322C"/>
                </a:solidFill>
                <a:latin typeface="Carlito" pitchFamily="34" charset="0"/>
                <a:ea typeface="Carlito" pitchFamily="34" charset="-122"/>
                <a:cs typeface="Carlito" pitchFamily="34" charset="-120"/>
              </a:rPr>
              <a:t>wcaJ</a:t>
            </a:r>
            <a:r>
              <a:rPr lang="en-US" sz="1250" dirty="0">
                <a:solidFill>
                  <a:srgbClr val="3A322C"/>
                </a:solidFill>
                <a:latin typeface="Carlito" pitchFamily="34" charset="0"/>
                <a:ea typeface="Carlito" pitchFamily="34" charset="-122"/>
                <a:cs typeface="Carlito" pitchFamily="34" charset="-120"/>
              </a:rPr>
              <a:t> or </a:t>
            </a:r>
            <a:r>
              <a:rPr lang="en-US" sz="1250" i="1" dirty="0">
                <a:solidFill>
                  <a:srgbClr val="3A322C"/>
                </a:solidFill>
                <a:latin typeface="Carlito" pitchFamily="34" charset="0"/>
                <a:ea typeface="Carlito" pitchFamily="34" charset="-122"/>
                <a:cs typeface="Carlito" pitchFamily="34" charset="-120"/>
              </a:rPr>
              <a:t>wbaP</a:t>
            </a:r>
            <a:r>
              <a:rPr lang="en-US" sz="1250" dirty="0">
                <a:solidFill>
                  <a:srgbClr val="3A322C"/>
                </a:solidFill>
                <a:latin typeface="Carlito" pitchFamily="34" charset="0"/>
                <a:ea typeface="Carlito" pitchFamily="34" charset="-122"/>
                <a:cs typeface="Carlito" pitchFamily="34" charset="-120"/>
              </a:rPr>
              <a:t> gives an </a:t>
            </a:r>
            <a:r>
              <a:rPr lang="en-US" sz="1250" b="1" dirty="0">
                <a:solidFill>
                  <a:srgbClr val="3A322C"/>
                </a:solidFill>
                <a:latin typeface="Carlito" pitchFamily="34" charset="0"/>
                <a:ea typeface="Carlito" pitchFamily="34" charset="-122"/>
                <a:cs typeface="Carlito" pitchFamily="34" charset="-120"/>
              </a:rPr>
              <a:t>acapsular</a:t>
            </a:r>
            <a:r>
              <a:rPr lang="en-US" sz="1250" dirty="0">
                <a:solidFill>
                  <a:srgbClr val="3A322C"/>
                </a:solidFill>
                <a:latin typeface="Carlito" pitchFamily="34" charset="0"/>
                <a:ea typeface="Carlito" pitchFamily="34" charset="-122"/>
                <a:cs typeface="Carlito" pitchFamily="34" charset="-120"/>
              </a:rPr>
              <a:t> cell: the locus is still KL-something, but there is no capsule on the surface. Kaptive 3 checks for this and updates the predicted type.</a:t>
            </a:r>
            <a:endParaRPr lang="en-US" sz="1250" dirty="0"/>
          </a:p>
        </p:txBody>
      </p:sp>
      <p:pic>
        <p:nvPicPr>
          <p:cNvPr id="23"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24" name="Text 2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7 · Capsule, O antigen and vaccines | Day 8</a:t>
            </a:r>
            <a:endParaRPr lang="en-US" sz="1200" dirty="0"/>
          </a:p>
        </p:txBody>
      </p:sp>
      <p:sp>
        <p:nvSpPr>
          <p:cNvPr id="25" name="Text 2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How Kaptive 3 makes a call</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645890"/>
            <a:ext cx="5194300" cy="1162645"/>
          </a:xfrm>
          <a:prstGeom prst="roundRect">
            <a:avLst>
              <a:gd name="adj" fmla="val 4369"/>
            </a:avLst>
          </a:prstGeom>
          <a:solidFill>
            <a:srgbClr val="FFFFFF"/>
          </a:solidFill>
          <a:ln/>
        </p:spPr>
      </p:sp>
      <p:sp>
        <p:nvSpPr>
          <p:cNvPr id="5" name="Shape 3"/>
          <p:cNvSpPr/>
          <p:nvPr/>
        </p:nvSpPr>
        <p:spPr>
          <a:xfrm>
            <a:off x="812800" y="1645890"/>
            <a:ext cx="5194300" cy="1162645"/>
          </a:xfrm>
          <a:custGeom>
            <a:avLst/>
            <a:gdLst/>
            <a:ahLst/>
            <a:cxnLst/>
            <a:rect l="l" t="t" r="r" b="b"/>
            <a:pathLst>
              <a:path w="5194300" h="1162645">
                <a:moveTo>
                  <a:pt x="50800" y="1162645"/>
                </a:moveTo>
                <a:lnTo>
                  <a:pt x="50800" y="1162645"/>
                </a:lnTo>
                <a:arcTo hR="50800" wR="50800" stAng="5400000" swAng="5400000"/>
                <a:lnTo>
                  <a:pt x="0" y="50800"/>
                </a:lnTo>
                <a:arcTo hR="50800" wR="50800" stAng="10800000" swAng="5400000"/>
                <a:lnTo>
                  <a:pt x="50800" y="0"/>
                </a:lnTo>
                <a:lnTo>
                  <a:pt x="50800" y="1162645"/>
                </a:lnTo>
                <a:close/>
              </a:path>
            </a:pathLst>
          </a:custGeom>
          <a:solidFill>
            <a:srgbClr val="891F15"/>
          </a:solidFill>
          <a:ln/>
        </p:spPr>
      </p:sp>
      <p:sp>
        <p:nvSpPr>
          <p:cNvPr id="6" name="Text 4"/>
          <p:cNvSpPr/>
          <p:nvPr/>
        </p:nvSpPr>
        <p:spPr>
          <a:xfrm>
            <a:off x="1054100" y="1785590"/>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1 · Score every locus, gene by gene</a:t>
            </a:r>
            <a:endParaRPr lang="en-US" sz="1400" dirty="0"/>
          </a:p>
        </p:txBody>
      </p:sp>
      <p:sp>
        <p:nvSpPr>
          <p:cNvPr id="7" name="Text 5"/>
          <p:cNvSpPr/>
          <p:nvPr/>
        </p:nvSpPr>
        <p:spPr>
          <a:xfrm>
            <a:off x="1054100" y="2049711"/>
            <a:ext cx="4905375" cy="64452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minimap2 aligns the genes of </a:t>
            </a:r>
            <a:r>
              <a:rPr lang="en-US" sz="1250" b="1" dirty="0">
                <a:solidFill>
                  <a:srgbClr val="3A322C"/>
                </a:solidFill>
                <a:latin typeface="Carlito" pitchFamily="34" charset="0"/>
                <a:ea typeface="Carlito" pitchFamily="34" charset="-122"/>
                <a:cs typeface="Carlito" pitchFamily="34" charset="-120"/>
              </a:rPr>
              <a:t>every</a:t>
            </a:r>
            <a:r>
              <a:rPr lang="en-US" sz="1250" dirty="0">
                <a:solidFill>
                  <a:srgbClr val="3A322C"/>
                </a:solidFill>
                <a:latin typeface="Carlito" pitchFamily="34" charset="0"/>
                <a:ea typeface="Carlito" pitchFamily="34" charset="-122"/>
                <a:cs typeface="Carlito" pitchFamily="34" charset="-120"/>
              </a:rPr>
              <a:t> reference locus to the contigs. Scores are summed per locus and weighted by the proportion of that locus’s genes found, then the loci are ranked.</a:t>
            </a:r>
            <a:endParaRPr lang="en-US" sz="1250" dirty="0"/>
          </a:p>
        </p:txBody>
      </p:sp>
      <p:sp>
        <p:nvSpPr>
          <p:cNvPr id="8" name="Shape 6"/>
          <p:cNvSpPr/>
          <p:nvPr/>
        </p:nvSpPr>
        <p:spPr>
          <a:xfrm>
            <a:off x="6184900" y="1645890"/>
            <a:ext cx="5194300" cy="1162645"/>
          </a:xfrm>
          <a:prstGeom prst="roundRect">
            <a:avLst>
              <a:gd name="adj" fmla="val 4369"/>
            </a:avLst>
          </a:prstGeom>
          <a:solidFill>
            <a:srgbClr val="FFFFFF"/>
          </a:solidFill>
          <a:ln/>
        </p:spPr>
      </p:sp>
      <p:sp>
        <p:nvSpPr>
          <p:cNvPr id="9" name="Shape 7"/>
          <p:cNvSpPr/>
          <p:nvPr/>
        </p:nvSpPr>
        <p:spPr>
          <a:xfrm>
            <a:off x="6184900" y="1645890"/>
            <a:ext cx="5194300" cy="1162645"/>
          </a:xfrm>
          <a:custGeom>
            <a:avLst/>
            <a:gdLst/>
            <a:ahLst/>
            <a:cxnLst/>
            <a:rect l="l" t="t" r="r" b="b"/>
            <a:pathLst>
              <a:path w="5194300" h="1162645">
                <a:moveTo>
                  <a:pt x="50800" y="1162645"/>
                </a:moveTo>
                <a:lnTo>
                  <a:pt x="50800" y="1162645"/>
                </a:lnTo>
                <a:arcTo hR="50800" wR="50800" stAng="5400000" swAng="5400000"/>
                <a:lnTo>
                  <a:pt x="0" y="50800"/>
                </a:lnTo>
                <a:arcTo hR="50800" wR="50800" stAng="10800000" swAng="5400000"/>
                <a:lnTo>
                  <a:pt x="50800" y="0"/>
                </a:lnTo>
                <a:lnTo>
                  <a:pt x="50800" y="1162645"/>
                </a:lnTo>
                <a:close/>
              </a:path>
            </a:pathLst>
          </a:custGeom>
          <a:solidFill>
            <a:srgbClr val="891F15"/>
          </a:solidFill>
          <a:ln/>
        </p:spPr>
      </p:sp>
      <p:sp>
        <p:nvSpPr>
          <p:cNvPr id="10" name="Text 8"/>
          <p:cNvSpPr/>
          <p:nvPr/>
        </p:nvSpPr>
        <p:spPr>
          <a:xfrm>
            <a:off x="6426200" y="1785590"/>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2 · Align the top loci in full</a:t>
            </a:r>
            <a:endParaRPr lang="en-US" sz="1400" dirty="0"/>
          </a:p>
        </p:txBody>
      </p:sp>
      <p:sp>
        <p:nvSpPr>
          <p:cNvPr id="11" name="Text 9"/>
          <p:cNvSpPr/>
          <p:nvPr/>
        </p:nvSpPr>
        <p:spPr>
          <a:xfrm>
            <a:off x="6426200" y="2049711"/>
            <a:ext cx="4905375" cy="64452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Only the top-ranked loci (two by default, </a:t>
            </a:r>
            <a:r>
              <a:rPr lang="en-US" sz="1250" dirty="0">
                <a:solidFill>
                  <a:srgbClr val="273003"/>
                </a:solidFill>
                <a:latin typeface="Carlito" pitchFamily="34" charset="0"/>
                <a:ea typeface="Carlito" pitchFamily="34" charset="-122"/>
                <a:cs typeface="Carlito" pitchFamily="34" charset="-120"/>
              </a:rPr>
              <a:t>--n-best</a:t>
            </a:r>
            <a:r>
              <a:rPr lang="en-US" sz="1250" dirty="0">
                <a:solidFill>
                  <a:srgbClr val="3A322C"/>
                </a:solidFill>
                <a:latin typeface="Carlito" pitchFamily="34" charset="0"/>
                <a:ea typeface="Carlito" pitchFamily="34" charset="-122"/>
                <a:cs typeface="Carlito" pitchFamily="34" charset="-120"/>
              </a:rPr>
              <a:t>) are aligned whole. Highest alignment score wins, and this step also gives the locus </a:t>
            </a:r>
            <a:r>
              <a:rPr lang="en-US" sz="1250" b="1" dirty="0">
                <a:solidFill>
                  <a:srgbClr val="3A322C"/>
                </a:solidFill>
                <a:latin typeface="Carlito" pitchFamily="34" charset="0"/>
                <a:ea typeface="Carlito" pitchFamily="34" charset="-122"/>
                <a:cs typeface="Carlito" pitchFamily="34" charset="-120"/>
              </a:rPr>
              <a:t>coordinates</a:t>
            </a:r>
            <a:r>
              <a:rPr lang="en-US" sz="1250" dirty="0">
                <a:solidFill>
                  <a:srgbClr val="3A322C"/>
                </a:solidFill>
                <a:latin typeface="Carlito" pitchFamily="34" charset="0"/>
                <a:ea typeface="Carlito" pitchFamily="34" charset="-122"/>
                <a:cs typeface="Carlito" pitchFamily="34" charset="-120"/>
              </a:rPr>
              <a:t> in the assembly.</a:t>
            </a:r>
            <a:endParaRPr lang="en-US" sz="1250" dirty="0"/>
          </a:p>
        </p:txBody>
      </p:sp>
      <p:sp>
        <p:nvSpPr>
          <p:cNvPr id="12" name="Shape 10"/>
          <p:cNvSpPr/>
          <p:nvPr/>
        </p:nvSpPr>
        <p:spPr>
          <a:xfrm>
            <a:off x="812800" y="2986336"/>
            <a:ext cx="5194300" cy="1162645"/>
          </a:xfrm>
          <a:prstGeom prst="roundRect">
            <a:avLst>
              <a:gd name="adj" fmla="val 4369"/>
            </a:avLst>
          </a:prstGeom>
          <a:solidFill>
            <a:srgbClr val="FFFFFF"/>
          </a:solidFill>
          <a:ln/>
        </p:spPr>
      </p:sp>
      <p:sp>
        <p:nvSpPr>
          <p:cNvPr id="13" name="Shape 11"/>
          <p:cNvSpPr/>
          <p:nvPr/>
        </p:nvSpPr>
        <p:spPr>
          <a:xfrm>
            <a:off x="812800" y="2986336"/>
            <a:ext cx="5194300" cy="1162645"/>
          </a:xfrm>
          <a:custGeom>
            <a:avLst/>
            <a:gdLst/>
            <a:ahLst/>
            <a:cxnLst/>
            <a:rect l="l" t="t" r="r" b="b"/>
            <a:pathLst>
              <a:path w="5194300" h="1162645">
                <a:moveTo>
                  <a:pt x="50800" y="1162645"/>
                </a:moveTo>
                <a:lnTo>
                  <a:pt x="50800" y="1162645"/>
                </a:lnTo>
                <a:arcTo hR="50800" wR="50800" stAng="5400000" swAng="5400000"/>
                <a:lnTo>
                  <a:pt x="0" y="50800"/>
                </a:lnTo>
                <a:arcTo hR="50800" wR="50800" stAng="10800000" swAng="5400000"/>
                <a:lnTo>
                  <a:pt x="50800" y="0"/>
                </a:lnTo>
                <a:lnTo>
                  <a:pt x="50800" y="1162645"/>
                </a:lnTo>
                <a:close/>
              </a:path>
            </a:pathLst>
          </a:custGeom>
          <a:solidFill>
            <a:srgbClr val="891F15"/>
          </a:solidFill>
          <a:ln/>
        </p:spPr>
      </p:sp>
      <p:sp>
        <p:nvSpPr>
          <p:cNvPr id="14" name="Text 12"/>
          <p:cNvSpPr/>
          <p:nvPr/>
        </p:nvSpPr>
        <p:spPr>
          <a:xfrm>
            <a:off x="1054100" y="3126036"/>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3 · Annotate the genes inside</a:t>
            </a:r>
            <a:endParaRPr lang="en-US" sz="1400" dirty="0"/>
          </a:p>
        </p:txBody>
      </p:sp>
      <p:sp>
        <p:nvSpPr>
          <p:cNvPr id="15" name="Text 13"/>
          <p:cNvSpPr/>
          <p:nvPr/>
        </p:nvSpPr>
        <p:spPr>
          <a:xfrm>
            <a:off x="1054100" y="3390156"/>
            <a:ext cx="4905375" cy="64452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Overlapping hits from other loci are dropped, the genes within the coordinates are translated and aligned to their reference proteins, and identity and coverage are reported per gene.</a:t>
            </a:r>
            <a:endParaRPr lang="en-US" sz="1250" dirty="0"/>
          </a:p>
        </p:txBody>
      </p:sp>
      <p:sp>
        <p:nvSpPr>
          <p:cNvPr id="16" name="Shape 14"/>
          <p:cNvSpPr/>
          <p:nvPr/>
        </p:nvSpPr>
        <p:spPr>
          <a:xfrm>
            <a:off x="6184900" y="2986336"/>
            <a:ext cx="5194300" cy="1162645"/>
          </a:xfrm>
          <a:prstGeom prst="roundRect">
            <a:avLst>
              <a:gd name="adj" fmla="val 4369"/>
            </a:avLst>
          </a:prstGeom>
          <a:solidFill>
            <a:srgbClr val="FFFFFF"/>
          </a:solidFill>
          <a:ln/>
        </p:spPr>
      </p:sp>
      <p:sp>
        <p:nvSpPr>
          <p:cNvPr id="17" name="Shape 15"/>
          <p:cNvSpPr/>
          <p:nvPr/>
        </p:nvSpPr>
        <p:spPr>
          <a:xfrm>
            <a:off x="6184900" y="2986336"/>
            <a:ext cx="5194300" cy="1162645"/>
          </a:xfrm>
          <a:custGeom>
            <a:avLst/>
            <a:gdLst/>
            <a:ahLst/>
            <a:cxnLst/>
            <a:rect l="l" t="t" r="r" b="b"/>
            <a:pathLst>
              <a:path w="5194300" h="1162645">
                <a:moveTo>
                  <a:pt x="50800" y="1162645"/>
                </a:moveTo>
                <a:lnTo>
                  <a:pt x="50800" y="1162645"/>
                </a:lnTo>
                <a:arcTo hR="50800" wR="50800" stAng="5400000" swAng="5400000"/>
                <a:lnTo>
                  <a:pt x="0" y="50800"/>
                </a:lnTo>
                <a:arcTo hR="50800" wR="50800" stAng="10800000" swAng="5400000"/>
                <a:lnTo>
                  <a:pt x="50800" y="0"/>
                </a:lnTo>
                <a:lnTo>
                  <a:pt x="50800" y="1162645"/>
                </a:lnTo>
                <a:close/>
              </a:path>
            </a:pathLst>
          </a:custGeom>
          <a:solidFill>
            <a:srgbClr val="891F15"/>
          </a:solidFill>
          <a:ln/>
        </p:spPr>
      </p:sp>
      <p:sp>
        <p:nvSpPr>
          <p:cNvPr id="18" name="Text 16"/>
          <p:cNvSpPr/>
          <p:nvPr/>
        </p:nvSpPr>
        <p:spPr>
          <a:xfrm>
            <a:off x="6426200" y="3126036"/>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4 · Resolve the predicted type</a:t>
            </a:r>
            <a:endParaRPr lang="en-US" sz="1400" dirty="0"/>
          </a:p>
        </p:txBody>
      </p:sp>
      <p:sp>
        <p:nvSpPr>
          <p:cNvPr id="19" name="Text 17"/>
          <p:cNvSpPr/>
          <p:nvPr/>
        </p:nvSpPr>
        <p:spPr>
          <a:xfrm>
            <a:off x="6426200" y="3390156"/>
            <a:ext cx="4905375" cy="64452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Known phenotype-changing genes </a:t>
            </a:r>
            <a:r>
              <a:rPr lang="en-US" sz="1250" b="1" dirty="0">
                <a:solidFill>
                  <a:srgbClr val="3A322C"/>
                </a:solidFill>
                <a:latin typeface="Carlito" pitchFamily="34" charset="0"/>
                <a:ea typeface="Carlito" pitchFamily="34" charset="-122"/>
                <a:cs typeface="Carlito" pitchFamily="34" charset="-120"/>
              </a:rPr>
              <a:t>outside</a:t>
            </a:r>
            <a:r>
              <a:rPr lang="en-US" sz="1250" dirty="0">
                <a:solidFill>
                  <a:srgbClr val="3A322C"/>
                </a:solidFill>
                <a:latin typeface="Carlito" pitchFamily="34" charset="0"/>
                <a:ea typeface="Carlito" pitchFamily="34" charset="-122"/>
                <a:cs typeface="Carlito" pitchFamily="34" charset="-120"/>
              </a:rPr>
              <a:t> the locus are checked, and the type is set from the intact gene content — so a truncated </a:t>
            </a:r>
            <a:r>
              <a:rPr lang="en-US" sz="1250" i="1" dirty="0">
                <a:solidFill>
                  <a:srgbClr val="3A322C"/>
                </a:solidFill>
                <a:latin typeface="Carlito" pitchFamily="34" charset="0"/>
                <a:ea typeface="Carlito" pitchFamily="34" charset="-122"/>
                <a:cs typeface="Carlito" pitchFamily="34" charset="-120"/>
              </a:rPr>
              <a:t>wcaJ</a:t>
            </a:r>
            <a:r>
              <a:rPr lang="en-US" sz="1250" dirty="0">
                <a:solidFill>
                  <a:srgbClr val="3A322C"/>
                </a:solidFill>
                <a:latin typeface="Carlito" pitchFamily="34" charset="0"/>
                <a:ea typeface="Carlito" pitchFamily="34" charset="-122"/>
                <a:cs typeface="Carlito" pitchFamily="34" charset="-120"/>
              </a:rPr>
              <a:t> yields an acapsular call.</a:t>
            </a:r>
            <a:endParaRPr lang="en-US" sz="1250" dirty="0"/>
          </a:p>
        </p:txBody>
      </p:sp>
      <p:sp>
        <p:nvSpPr>
          <p:cNvPr id="20" name="Shape 18"/>
          <p:cNvSpPr/>
          <p:nvPr/>
        </p:nvSpPr>
        <p:spPr>
          <a:xfrm>
            <a:off x="812800" y="4339481"/>
            <a:ext cx="10566400" cy="750491"/>
          </a:xfrm>
          <a:prstGeom prst="roundRect">
            <a:avLst>
              <a:gd name="adj" fmla="val 10153"/>
            </a:avLst>
          </a:prstGeom>
          <a:solidFill>
            <a:srgbClr val="273003"/>
          </a:solidFill>
          <a:ln/>
        </p:spPr>
      </p:sp>
      <p:sp>
        <p:nvSpPr>
          <p:cNvPr id="21" name="Text 19"/>
          <p:cNvSpPr/>
          <p:nvPr/>
        </p:nvSpPr>
        <p:spPr>
          <a:xfrm>
            <a:off x="1041400" y="4581376"/>
            <a:ext cx="728613" cy="292100"/>
          </a:xfrm>
          <a:prstGeom prst="rect">
            <a:avLst/>
          </a:prstGeom>
          <a:noFill/>
          <a:ln/>
        </p:spPr>
        <p:txBody>
          <a:bodyPr wrap="none" lIns="0" tIns="0" rIns="0" bIns="0" rtlCol="0" anchor="t">
            <a:normAutofit/>
          </a:bodyPr>
          <a:lstStyle/>
          <a:p>
            <a:pPr algn="l" indent="0" marL="0">
              <a:lnSpc>
                <a:spcPts val="2100"/>
              </a:lnSpc>
              <a:buNone/>
            </a:pPr>
            <a:r>
              <a:rPr lang="en-US" sz="1500" b="1" dirty="0">
                <a:solidFill>
                  <a:srgbClr val="FFCE00"/>
                </a:solidFill>
                <a:latin typeface="Carlito" pitchFamily="34" charset="0"/>
                <a:ea typeface="Carlito" pitchFamily="34" charset="-122"/>
                <a:cs typeface="Carlito" pitchFamily="34" charset="-120"/>
              </a:rPr>
              <a:t>Versus Kaptive 2</a:t>
            </a:r>
            <a:endParaRPr lang="en-US" sz="1500" dirty="0"/>
          </a:p>
        </p:txBody>
      </p:sp>
      <p:sp>
        <p:nvSpPr>
          <p:cNvPr id="22" name="Text 20"/>
          <p:cNvSpPr/>
          <p:nvPr/>
        </p:nvSpPr>
        <p:spPr>
          <a:xfrm>
            <a:off x="1871613" y="4491881"/>
            <a:ext cx="955735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9F2EA"/>
                </a:solidFill>
                <a:latin typeface="Carlito" pitchFamily="34" charset="0"/>
                <a:ea typeface="Carlito" pitchFamily="34" charset="-122"/>
                <a:cs typeface="Carlito" pitchFamily="34" charset="-120"/>
              </a:rPr>
              <a:t>v2 aligned every locus with BLASTn and chose on overall coverage. v3 drops BLAST+ entirely, fully aligns only the best candidates, and runs about </a:t>
            </a:r>
            <a:r>
              <a:rPr lang="en-US" sz="1300" b="1" dirty="0">
                <a:solidFill>
                  <a:srgbClr val="F9F2EA"/>
                </a:solidFill>
                <a:latin typeface="Carlito" pitchFamily="34" charset="0"/>
                <a:ea typeface="Carlito" pitchFamily="34" charset="-122"/>
                <a:cs typeface="Carlito" pitchFamily="34" charset="-120"/>
              </a:rPr>
              <a:t>18× faster</a:t>
            </a:r>
            <a:r>
              <a:rPr lang="en-US" sz="1300" dirty="0">
                <a:solidFill>
                  <a:srgbClr val="F9F2EA"/>
                </a:solidFill>
                <a:latin typeface="Carlito" pitchFamily="34" charset="0"/>
                <a:ea typeface="Carlito" pitchFamily="34" charset="-122"/>
                <a:cs typeface="Carlito" pitchFamily="34" charset="-120"/>
              </a:rPr>
              <a:t> on the KpSC K database (1.3 s versus 23.4 s per genome). Crucially, it also handles a locus </a:t>
            </a:r>
            <a:r>
              <a:rPr lang="en-US" sz="1300" b="1" dirty="0">
                <a:solidFill>
                  <a:srgbClr val="F9F2EA"/>
                </a:solidFill>
                <a:latin typeface="Carlito" pitchFamily="34" charset="0"/>
                <a:ea typeface="Carlito" pitchFamily="34" charset="-122"/>
                <a:cs typeface="Carlito" pitchFamily="34" charset="-120"/>
              </a:rPr>
              <a:t>split across contigs</a:t>
            </a:r>
            <a:r>
              <a:rPr lang="en-US" sz="1300" dirty="0">
                <a:solidFill>
                  <a:srgbClr val="F9F2EA"/>
                </a:solidFill>
                <a:latin typeface="Carlito" pitchFamily="34" charset="0"/>
                <a:ea typeface="Carlito" pitchFamily="34" charset="-122"/>
                <a:cs typeface="Carlito" pitchFamily="34" charset="-120"/>
              </a:rPr>
              <a:t>.</a:t>
            </a:r>
            <a:endParaRPr lang="en-US" sz="1300" dirty="0"/>
          </a:p>
        </p:txBody>
      </p:sp>
      <p:pic>
        <p:nvPicPr>
          <p:cNvPr id="23"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24" name="Text 2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7 · Capsule, O antigen and vaccines | Day 8</a:t>
            </a:r>
            <a:endParaRPr lang="en-US" sz="1200" dirty="0"/>
          </a:p>
        </p:txBody>
      </p:sp>
      <p:sp>
        <p:nvSpPr>
          <p:cNvPr id="25" name="Text 2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Reading confidence and problems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645890"/>
            <a:ext cx="5080000" cy="1616075"/>
          </a:xfrm>
          <a:prstGeom prst="roundRect">
            <a:avLst>
              <a:gd name="adj" fmla="val 3143"/>
            </a:avLst>
          </a:prstGeom>
          <a:solidFill>
            <a:srgbClr val="FFFFFF"/>
          </a:solidFill>
          <a:ln/>
        </p:spPr>
      </p:sp>
      <p:sp>
        <p:nvSpPr>
          <p:cNvPr id="5" name="Shape 3"/>
          <p:cNvSpPr/>
          <p:nvPr/>
        </p:nvSpPr>
        <p:spPr>
          <a:xfrm>
            <a:off x="812800" y="1645890"/>
            <a:ext cx="5080000" cy="1616075"/>
          </a:xfrm>
          <a:custGeom>
            <a:avLst/>
            <a:gdLst/>
            <a:ahLst/>
            <a:cxnLst/>
            <a:rect l="l" t="t" r="r" b="b"/>
            <a:pathLst>
              <a:path w="5080000" h="1616075">
                <a:moveTo>
                  <a:pt x="50800" y="1616075"/>
                </a:moveTo>
                <a:lnTo>
                  <a:pt x="50800" y="1616075"/>
                </a:lnTo>
                <a:arcTo hR="50800" wR="50800" stAng="5400000" swAng="5400000"/>
                <a:lnTo>
                  <a:pt x="0" y="50800"/>
                </a:lnTo>
                <a:arcTo hR="50800" wR="50800" stAng="10800000" swAng="5400000"/>
                <a:lnTo>
                  <a:pt x="50800" y="0"/>
                </a:lnTo>
                <a:lnTo>
                  <a:pt x="50800" y="1616075"/>
                </a:lnTo>
                <a:close/>
              </a:path>
            </a:pathLst>
          </a:custGeom>
          <a:solidFill>
            <a:srgbClr val="273003"/>
          </a:solidFill>
          <a:ln/>
        </p:spPr>
      </p:sp>
      <p:sp>
        <p:nvSpPr>
          <p:cNvPr id="6" name="Text 4"/>
          <p:cNvSpPr/>
          <p:nvPr/>
        </p:nvSpPr>
        <p:spPr>
          <a:xfrm>
            <a:off x="1041400" y="1772890"/>
            <a:ext cx="48138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73003"/>
                </a:solidFill>
                <a:latin typeface="Carlito" pitchFamily="34" charset="0"/>
                <a:ea typeface="Carlito" pitchFamily="34" charset="-122"/>
                <a:cs typeface="Carlito" pitchFamily="34" charset="-120"/>
              </a:rPr>
              <a:t>Typeable</a:t>
            </a:r>
            <a:endParaRPr lang="en-US" sz="1500" dirty="0"/>
          </a:p>
        </p:txBody>
      </p:sp>
      <p:sp>
        <p:nvSpPr>
          <p:cNvPr id="7" name="Text 5"/>
          <p:cNvSpPr/>
          <p:nvPr/>
        </p:nvSpPr>
        <p:spPr>
          <a:xfrm>
            <a:off x="1041400" y="2052290"/>
            <a:ext cx="4813808" cy="438150"/>
          </a:xfrm>
          <a:prstGeom prst="rect">
            <a:avLst/>
          </a:prstGeom>
          <a:noFill/>
          <a:ln/>
        </p:spPr>
        <p:txBody>
          <a:bodyPr wrap="square" lIns="0" tIns="0" rIns="0" bIns="0" rtlCol="0" anchor="t">
            <a:normAutofit/>
          </a:bodyPr>
          <a:lstStyle/>
          <a:p>
            <a:pPr algn="l" indent="0" marL="0">
              <a:lnSpc>
                <a:spcPts val="1625"/>
              </a:lnSpc>
              <a:buNone/>
            </a:pPr>
            <a:r>
              <a:rPr lang="en-US" sz="1250" b="1" dirty="0">
                <a:solidFill>
                  <a:srgbClr val="3A322C"/>
                </a:solidFill>
                <a:latin typeface="Carlito" pitchFamily="34" charset="0"/>
                <a:ea typeface="Carlito" pitchFamily="34" charset="-122"/>
                <a:cs typeface="Carlito" pitchFamily="34" charset="-120"/>
              </a:rPr>
              <a:t>In one piece:</a:t>
            </a:r>
            <a:r>
              <a:rPr lang="en-US" sz="1250" dirty="0">
                <a:solidFill>
                  <a:srgbClr val="3A322C"/>
                </a:solidFill>
                <a:latin typeface="Carlito" pitchFamily="34" charset="0"/>
                <a:ea typeface="Carlito" pitchFamily="34" charset="-122"/>
                <a:cs typeface="Carlito" pitchFamily="34" charset="-120"/>
              </a:rPr>
              <a:t> no gene below the identity threshold, no missing genes, and no untruncated genes from other loci inside the region.</a:t>
            </a:r>
            <a:endParaRPr lang="en-US" sz="1250" dirty="0"/>
          </a:p>
        </p:txBody>
      </p:sp>
      <p:sp>
        <p:nvSpPr>
          <p:cNvPr id="8" name="Text 6"/>
          <p:cNvSpPr/>
          <p:nvPr/>
        </p:nvSpPr>
        <p:spPr>
          <a:xfrm>
            <a:off x="1041400" y="2515840"/>
            <a:ext cx="4813808" cy="644525"/>
          </a:xfrm>
          <a:prstGeom prst="rect">
            <a:avLst/>
          </a:prstGeom>
          <a:noFill/>
          <a:ln/>
        </p:spPr>
        <p:txBody>
          <a:bodyPr wrap="square" lIns="0" tIns="0" rIns="0" bIns="0" rtlCol="0" anchor="t">
            <a:normAutofit/>
          </a:bodyPr>
          <a:lstStyle/>
          <a:p>
            <a:pPr algn="l" indent="0" marL="0">
              <a:lnSpc>
                <a:spcPts val="1625"/>
              </a:lnSpc>
              <a:buNone/>
            </a:pPr>
            <a:r>
              <a:rPr lang="en-US" sz="1250" b="1" dirty="0">
                <a:solidFill>
                  <a:srgbClr val="3A322C"/>
                </a:solidFill>
                <a:latin typeface="Carlito" pitchFamily="34" charset="0"/>
                <a:ea typeface="Carlito" pitchFamily="34" charset="-122"/>
                <a:cs typeface="Carlito" pitchFamily="34" charset="-120"/>
              </a:rPr>
              <a:t>In several pieces:</a:t>
            </a:r>
            <a:r>
              <a:rPr lang="en-US" sz="1250" dirty="0">
                <a:solidFill>
                  <a:srgbClr val="3A322C"/>
                </a:solidFill>
                <a:latin typeface="Carlito" pitchFamily="34" charset="0"/>
                <a:ea typeface="Carlito" pitchFamily="34" charset="-122"/>
                <a:cs typeface="Carlito" pitchFamily="34" charset="-120"/>
              </a:rPr>
              <a:t> no gene below the threshold, missing genes within the limit (50% by default), and no more unexpected genes than the limit (1 by default).</a:t>
            </a:r>
            <a:endParaRPr lang="en-US" sz="1250" dirty="0"/>
          </a:p>
        </p:txBody>
      </p:sp>
      <p:sp>
        <p:nvSpPr>
          <p:cNvPr id="9" name="Shape 7"/>
          <p:cNvSpPr/>
          <p:nvPr/>
        </p:nvSpPr>
        <p:spPr>
          <a:xfrm>
            <a:off x="812800" y="3376265"/>
            <a:ext cx="5080000" cy="946150"/>
          </a:xfrm>
          <a:prstGeom prst="roundRect">
            <a:avLst>
              <a:gd name="adj" fmla="val 5369"/>
            </a:avLst>
          </a:prstGeom>
          <a:solidFill>
            <a:srgbClr val="FFFFFF"/>
          </a:solidFill>
          <a:ln/>
        </p:spPr>
      </p:sp>
      <p:sp>
        <p:nvSpPr>
          <p:cNvPr id="10" name="Shape 8"/>
          <p:cNvSpPr/>
          <p:nvPr/>
        </p:nvSpPr>
        <p:spPr>
          <a:xfrm>
            <a:off x="812800" y="3376265"/>
            <a:ext cx="5080000" cy="946150"/>
          </a:xfrm>
          <a:custGeom>
            <a:avLst/>
            <a:gdLst/>
            <a:ahLst/>
            <a:cxnLst/>
            <a:rect l="l" t="t" r="r" b="b"/>
            <a:pathLst>
              <a:path w="5080000" h="946150">
                <a:moveTo>
                  <a:pt x="50800" y="946150"/>
                </a:moveTo>
                <a:lnTo>
                  <a:pt x="50800" y="946150"/>
                </a:lnTo>
                <a:arcTo hR="50800" wR="50800" stAng="5400000" swAng="5400000"/>
                <a:lnTo>
                  <a:pt x="0" y="50800"/>
                </a:lnTo>
                <a:arcTo hR="50800" wR="50800" stAng="10800000" swAng="5400000"/>
                <a:lnTo>
                  <a:pt x="50800" y="0"/>
                </a:lnTo>
                <a:lnTo>
                  <a:pt x="50800" y="946150"/>
                </a:lnTo>
                <a:close/>
              </a:path>
            </a:pathLst>
          </a:custGeom>
          <a:solidFill>
            <a:srgbClr val="891F15"/>
          </a:solidFill>
          <a:ln/>
        </p:spPr>
      </p:sp>
      <p:sp>
        <p:nvSpPr>
          <p:cNvPr id="11" name="Text 9"/>
          <p:cNvSpPr/>
          <p:nvPr/>
        </p:nvSpPr>
        <p:spPr>
          <a:xfrm>
            <a:off x="1041400" y="3503265"/>
            <a:ext cx="48138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91F15"/>
                </a:solidFill>
                <a:latin typeface="Carlito" pitchFamily="34" charset="0"/>
                <a:ea typeface="Carlito" pitchFamily="34" charset="-122"/>
                <a:cs typeface="Carlito" pitchFamily="34" charset="-120"/>
              </a:rPr>
              <a:t>Untypeable</a:t>
            </a:r>
            <a:endParaRPr lang="en-US" sz="1500" dirty="0"/>
          </a:p>
        </p:txBody>
      </p:sp>
      <p:sp>
        <p:nvSpPr>
          <p:cNvPr id="12" name="Text 10"/>
          <p:cNvSpPr/>
          <p:nvPr/>
        </p:nvSpPr>
        <p:spPr>
          <a:xfrm>
            <a:off x="1041400" y="3782665"/>
            <a:ext cx="4813808" cy="43815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Fails both sets of criteria. The documentation is blunt: </a:t>
            </a:r>
            <a:r>
              <a:rPr lang="en-US" sz="1250" b="1" dirty="0">
                <a:solidFill>
                  <a:srgbClr val="3A322C"/>
                </a:solidFill>
                <a:latin typeface="Carlito" pitchFamily="34" charset="0"/>
                <a:ea typeface="Carlito" pitchFamily="34" charset="-122"/>
                <a:cs typeface="Carlito" pitchFamily="34" charset="-120"/>
              </a:rPr>
              <a:t>do not accept these results</a:t>
            </a:r>
            <a:r>
              <a:rPr lang="en-US" sz="1250" dirty="0">
                <a:solidFill>
                  <a:srgbClr val="3A322C"/>
                </a:solidFill>
                <a:latin typeface="Carlito" pitchFamily="34" charset="0"/>
                <a:ea typeface="Carlito" pitchFamily="34" charset="-122"/>
                <a:cs typeface="Carlito" pitchFamily="34" charset="-120"/>
              </a:rPr>
              <a:t> unless you can go and look at the data yourself.</a:t>
            </a:r>
            <a:endParaRPr lang="en-US" sz="1250" dirty="0"/>
          </a:p>
        </p:txBody>
      </p:sp>
      <p:sp>
        <p:nvSpPr>
          <p:cNvPr id="13" name="Shape 11"/>
          <p:cNvSpPr/>
          <p:nvPr/>
        </p:nvSpPr>
        <p:spPr>
          <a:xfrm>
            <a:off x="812800" y="4436715"/>
            <a:ext cx="5080000" cy="1152525"/>
          </a:xfrm>
          <a:prstGeom prst="roundRect">
            <a:avLst>
              <a:gd name="adj" fmla="val 4408"/>
            </a:avLst>
          </a:prstGeom>
          <a:solidFill>
            <a:srgbClr val="273003"/>
          </a:solidFill>
          <a:ln/>
        </p:spPr>
      </p:sp>
      <p:sp>
        <p:nvSpPr>
          <p:cNvPr id="14" name="Text 12"/>
          <p:cNvSpPr/>
          <p:nvPr/>
        </p:nvSpPr>
        <p:spPr>
          <a:xfrm>
            <a:off x="990600" y="4563715"/>
            <a:ext cx="48661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CE00"/>
                </a:solidFill>
                <a:latin typeface="Carlito" pitchFamily="34" charset="0"/>
                <a:ea typeface="Carlito" pitchFamily="34" charset="-122"/>
                <a:cs typeface="Carlito" pitchFamily="34" charset="-120"/>
              </a:rPr>
              <a:t>Two tiers, not six</a:t>
            </a:r>
            <a:endParaRPr lang="en-US" sz="1500" dirty="0"/>
          </a:p>
        </p:txBody>
      </p:sp>
      <p:sp>
        <p:nvSpPr>
          <p:cNvPr id="15" name="Text 13"/>
          <p:cNvSpPr/>
          <p:nvPr/>
        </p:nvSpPr>
        <p:spPr>
          <a:xfrm>
            <a:off x="990600" y="4843115"/>
            <a:ext cx="4866132" cy="64452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F9F2EA"/>
                </a:solidFill>
                <a:latin typeface="Carlito" pitchFamily="34" charset="0"/>
                <a:ea typeface="Carlito" pitchFamily="34" charset="-122"/>
                <a:cs typeface="Carlito" pitchFamily="34" charset="-120"/>
              </a:rPr>
              <a:t>Kaptive 2’s six levels (Perfect, Very high, High, Good, Low, None) are gone. If you have older results or older papers to compare with, the confidence columns are </a:t>
            </a:r>
            <a:r>
              <a:rPr lang="en-US" sz="1250" b="1" dirty="0">
                <a:solidFill>
                  <a:srgbClr val="F9F2EA"/>
                </a:solidFill>
                <a:latin typeface="Carlito" pitchFamily="34" charset="0"/>
                <a:ea typeface="Carlito" pitchFamily="34" charset="-122"/>
                <a:cs typeface="Carlito" pitchFamily="34" charset="-120"/>
              </a:rPr>
              <a:t>not</a:t>
            </a:r>
            <a:r>
              <a:rPr lang="en-US" sz="1250" dirty="0">
                <a:solidFill>
                  <a:srgbClr val="F9F2EA"/>
                </a:solidFill>
                <a:latin typeface="Carlito" pitchFamily="34" charset="0"/>
                <a:ea typeface="Carlito" pitchFamily="34" charset="-122"/>
                <a:cs typeface="Carlito" pitchFamily="34" charset="-120"/>
              </a:rPr>
              <a:t> interchangeable.</a:t>
            </a:r>
            <a:endParaRPr lang="en-US" sz="1250" dirty="0"/>
          </a:p>
        </p:txBody>
      </p:sp>
      <p:sp>
        <p:nvSpPr>
          <p:cNvPr id="16" name="Text 14"/>
          <p:cNvSpPr/>
          <p:nvPr/>
        </p:nvSpPr>
        <p:spPr>
          <a:xfrm>
            <a:off x="6121400" y="1645890"/>
            <a:ext cx="541553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73003"/>
                </a:solidFill>
                <a:latin typeface="Carlito" pitchFamily="34" charset="0"/>
                <a:ea typeface="Carlito" pitchFamily="34" charset="-122"/>
                <a:cs typeface="Carlito" pitchFamily="34" charset="-120"/>
              </a:rPr>
              <a:t>The </a:t>
            </a:r>
            <a:r>
              <a:rPr lang="en-US" sz="1600" b="1" i="1" dirty="0">
                <a:solidFill>
                  <a:srgbClr val="273003"/>
                </a:solidFill>
                <a:latin typeface="Carlito" pitchFamily="34" charset="0"/>
                <a:ea typeface="Carlito" pitchFamily="34" charset="-122"/>
                <a:cs typeface="Carlito" pitchFamily="34" charset="-120"/>
              </a:rPr>
              <a:t>Problems</a:t>
            </a:r>
            <a:r>
              <a:rPr lang="en-US" sz="1600" b="1" dirty="0">
                <a:solidFill>
                  <a:srgbClr val="273003"/>
                </a:solidFill>
                <a:latin typeface="Carlito" pitchFamily="34" charset="0"/>
                <a:ea typeface="Carlito" pitchFamily="34" charset="-122"/>
                <a:cs typeface="Carlito" pitchFamily="34" charset="-120"/>
              </a:rPr>
              <a:t> column</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134100" y="2004020"/>
          <a:ext cx="5245100" cy="2387054"/>
        </p:xfrm>
        <a:graphic>
          <a:graphicData uri="http://schemas.openxmlformats.org/drawingml/2006/table">
            <a:tbl>
              <a:tblPr/>
              <a:tblGrid>
                <a:gridCol w="1153922"/>
                <a:gridCol w="4091178"/>
              </a:tblGrid>
              <a:tr h="359321">
                <a:tc>
                  <a:txBody>
                    <a:bodyPr/>
                    <a:lstStyle/>
                    <a:p>
                      <a:pPr indent="0" marL="0">
                        <a:lnSpc>
                          <a:spcPts val="1820"/>
                        </a:lnSpc>
                        <a:buNone/>
                      </a:pPr>
                      <a:r>
                        <a:rPr lang="en-US" sz="1300" b="1" dirty="0">
                          <a:solidFill>
                            <a:srgbClr val="3A322C"/>
                          </a:solidFill>
                          <a:latin typeface="Carlito" pitchFamily="34" charset="0"/>
                          <a:ea typeface="Carlito" pitchFamily="34" charset="-122"/>
                          <a:cs typeface="Carlito" pitchFamily="34" charset="-120"/>
                        </a:rPr>
                        <a:t>Symbol</a:t>
                      </a:r>
                      <a:endParaRPr lang="en-US" sz="1300" dirty="0">
                        <a:latin typeface="Carlito" charset="0"/>
                        <a:ea typeface="Carlito" charset="0"/>
                        <a:cs typeface="Carlito" charset="0"/>
                      </a:endParaRPr>
                    </a:p>
                  </a:txBody>
                  <a:tcPr marL="57785" marR="57785" marT="57785" marB="57785" anchor="t">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1820"/>
                        </a:lnSpc>
                        <a:buNone/>
                      </a:pPr>
                      <a:r>
                        <a:rPr lang="en-US" sz="1300" b="1" dirty="0">
                          <a:solidFill>
                            <a:srgbClr val="3A322C"/>
                          </a:solidFill>
                          <a:latin typeface="Carlito" pitchFamily="34" charset="0"/>
                          <a:ea typeface="Carlito" pitchFamily="34" charset="-122"/>
                          <a:cs typeface="Carlito" pitchFamily="34" charset="-120"/>
                        </a:rPr>
                        <a:t>What it reports</a:t>
                      </a:r>
                      <a:endParaRPr lang="en-US" sz="1300" dirty="0">
                        <a:latin typeface="Carlito" charset="0"/>
                        <a:ea typeface="Carlito" charset="0"/>
                        <a:cs typeface="Carlito" charset="0"/>
                      </a:endParaRPr>
                    </a:p>
                  </a:txBody>
                  <a:tcPr marL="57785" marR="57785" marT="57785" marB="57785"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r>
              <a:tr h="590451">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a:t>
                      </a:r>
                      <a:endParaRPr lang="en-US" sz="1300" dirty="0">
                        <a:latin typeface="Carlito" charset="0"/>
                        <a:ea typeface="Carlito" charset="0"/>
                        <a:cs typeface="Carlito" charset="0"/>
                      </a:endParaRPr>
                    </a:p>
                  </a:txBody>
                  <a:tcPr marL="57785" marR="57785" marT="57785" marB="5778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Match was in several pieces; the number after it is how many</a:t>
                      </a:r>
                      <a:endParaRPr lang="en-US" sz="1300" dirty="0">
                        <a:latin typeface="Carlito" charset="0"/>
                        <a:ea typeface="Carlito" charset="0"/>
                        <a:cs typeface="Carlito" charset="0"/>
                      </a:endParaRPr>
                    </a:p>
                  </a:txBody>
                  <a:tcPr marL="57785" marR="57785" marT="57785" marB="5778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359321">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a:t>
                      </a:r>
                      <a:endParaRPr lang="en-US" sz="1300" dirty="0">
                        <a:latin typeface="Carlito" charset="0"/>
                        <a:ea typeface="Carlito" charset="0"/>
                        <a:cs typeface="Carlito" charset="0"/>
                      </a:endParaRPr>
                    </a:p>
                  </a:txBody>
                  <a:tcPr marL="57785" marR="57785" marT="57785" marB="57785"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Expected genes were not found</a:t>
                      </a:r>
                      <a:endParaRPr lang="en-US" sz="1300" dirty="0">
                        <a:latin typeface="Carlito" charset="0"/>
                        <a:ea typeface="Carlito" charset="0"/>
                        <a:cs typeface="Carlito" charset="0"/>
                      </a:endParaRPr>
                    </a:p>
                  </a:txBody>
                  <a:tcPr marL="57785" marR="57785" marT="57785" marB="57785"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r h="359321">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a:t>
                      </a:r>
                      <a:endParaRPr lang="en-US" sz="1300" dirty="0">
                        <a:latin typeface="Carlito" charset="0"/>
                        <a:ea typeface="Carlito" charset="0"/>
                        <a:cs typeface="Carlito" charset="0"/>
                      </a:endParaRPr>
                    </a:p>
                  </a:txBody>
                  <a:tcPr marL="57785" marR="57785" marT="57785" marB="5778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Extra genes found inside the locus</a:t>
                      </a:r>
                      <a:endParaRPr lang="en-US" sz="1300" dirty="0">
                        <a:latin typeface="Carlito" charset="0"/>
                        <a:ea typeface="Carlito" charset="0"/>
                        <a:cs typeface="Carlito" charset="0"/>
                      </a:endParaRPr>
                    </a:p>
                  </a:txBody>
                  <a:tcPr marL="57785" marR="57785" marT="57785" marB="5778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359321">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a:t>
                      </a:r>
                      <a:endParaRPr lang="en-US" sz="1300" dirty="0">
                        <a:latin typeface="Carlito" charset="0"/>
                        <a:ea typeface="Carlito" charset="0"/>
                        <a:cs typeface="Carlito" charset="0"/>
                      </a:endParaRPr>
                    </a:p>
                  </a:txBody>
                  <a:tcPr marL="57785" marR="57785" marT="57785" marB="57785"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Expected gene found, but below the identity threshold</a:t>
                      </a:r>
                      <a:endParaRPr lang="en-US" sz="1300" dirty="0">
                        <a:latin typeface="Carlito" charset="0"/>
                        <a:ea typeface="Carlito" charset="0"/>
                        <a:cs typeface="Carlito" charset="0"/>
                      </a:endParaRPr>
                    </a:p>
                  </a:txBody>
                  <a:tcPr marL="57785" marR="57785" marT="57785" marB="57785"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r h="359321">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a:t>
                      </a:r>
                      <a:endParaRPr lang="en-US" sz="1300" dirty="0">
                        <a:latin typeface="Carlito" charset="0"/>
                        <a:ea typeface="Carlito" charset="0"/>
                        <a:cs typeface="Carlito" charset="0"/>
                      </a:endParaRPr>
                    </a:p>
                  </a:txBody>
                  <a:tcPr marL="57785" marR="57785" marT="57785" marB="5778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One or more genes found but truncated</a:t>
                      </a:r>
                      <a:endParaRPr lang="en-US" sz="1300" dirty="0">
                        <a:latin typeface="Carlito" charset="0"/>
                        <a:ea typeface="Carlito" charset="0"/>
                        <a:cs typeface="Carlito" charset="0"/>
                      </a:endParaRPr>
                    </a:p>
                  </a:txBody>
                  <a:tcPr marL="57785" marR="57785" marT="57785" marB="5778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bl>
          </a:graphicData>
        </a:graphic>
      </p:graphicFrame>
      <p:sp>
        <p:nvSpPr>
          <p:cNvPr id="18" name="Text 15"/>
          <p:cNvSpPr/>
          <p:nvPr/>
        </p:nvSpPr>
        <p:spPr>
          <a:xfrm>
            <a:off x="6121400" y="4492675"/>
            <a:ext cx="5415534"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3A322C"/>
                </a:solidFill>
                <a:latin typeface="Carlito" pitchFamily="34" charset="0"/>
                <a:ea typeface="Carlito" pitchFamily="34" charset="-122"/>
                <a:cs typeface="Carlito" pitchFamily="34" charset="-120"/>
              </a:rPr>
              <a:t>A </a:t>
            </a:r>
            <a:r>
              <a:rPr lang="en-US" sz="1250" b="1" dirty="0">
                <a:solidFill>
                  <a:srgbClr val="3A322C"/>
                </a:solidFill>
                <a:latin typeface="Carlito" pitchFamily="34" charset="0"/>
                <a:ea typeface="Carlito" pitchFamily="34" charset="-122"/>
                <a:cs typeface="Carlito" pitchFamily="34" charset="-120"/>
              </a:rPr>
              <a:t>?2</a:t>
            </a:r>
            <a:r>
              <a:rPr lang="en-US" sz="1250" dirty="0">
                <a:solidFill>
                  <a:srgbClr val="3A322C"/>
                </a:solidFill>
                <a:latin typeface="Carlito" pitchFamily="34" charset="0"/>
                <a:ea typeface="Carlito" pitchFamily="34" charset="-122"/>
                <a:cs typeface="Carlito" pitchFamily="34" charset="-120"/>
              </a:rPr>
              <a:t> on a short-read capsule locus is routine and often harmless. A </a:t>
            </a:r>
            <a:r>
              <a:rPr lang="en-US" sz="1250" b="1" dirty="0">
                <a:solidFill>
                  <a:srgbClr val="3A322C"/>
                </a:solidFill>
                <a:latin typeface="Carlito" pitchFamily="34" charset="0"/>
                <a:ea typeface="Carlito" pitchFamily="34" charset="-122"/>
                <a:cs typeface="Carlito" pitchFamily="34" charset="-120"/>
              </a:rPr>
              <a:t>!</a:t>
            </a:r>
            <a:r>
              <a:rPr lang="en-US" sz="1250" dirty="0">
                <a:solidFill>
                  <a:srgbClr val="3A322C"/>
                </a:solidFill>
                <a:latin typeface="Carlito" pitchFamily="34" charset="0"/>
                <a:ea typeface="Carlito" pitchFamily="34" charset="-122"/>
                <a:cs typeface="Carlito" pitchFamily="34" charset="-120"/>
              </a:rPr>
              <a:t> is the one to stop on: a truncated gene may be a real acapsular mutant, or just a contig break.</a:t>
            </a:r>
            <a:endParaRPr lang="en-US" sz="1250" dirty="0"/>
          </a:p>
        </p:txBody>
      </p:sp>
      <p:pic>
        <p:nvPicPr>
          <p:cNvPr id="19"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20" name="Text 1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7 · Capsule, O antigen and vaccines | Day 8</a:t>
            </a:r>
            <a:endParaRPr lang="en-US" sz="1200" dirty="0"/>
          </a:p>
        </p:txBody>
      </p:sp>
      <p:sp>
        <p:nvSpPr>
          <p:cNvPr id="21" name="Text 1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6264"/>
          </a:xfrm>
          <a:prstGeom prst="rect">
            <a:avLst/>
          </a:prstGeom>
          <a:noFill/>
          <a:ln/>
        </p:spPr>
        <p:txBody>
          <a:bodyPr wrap="square" lIns="0" tIns="0" rIns="0" bIns="0" rtlCol="0" anchor="t">
            <a:normAutofit/>
          </a:bodyPr>
          <a:lstStyle/>
          <a:p>
            <a:pPr algn="l" indent="0" marL="0">
              <a:lnSpc>
                <a:spcPts val="3824"/>
              </a:lnSpc>
              <a:buNone/>
            </a:pPr>
            <a:r>
              <a:rPr lang="en-US" sz="3476" b="1" i="0" dirty="0">
                <a:solidFill>
                  <a:srgbClr val="6D2637"/>
                </a:solidFill>
                <a:latin typeface="Carlito" pitchFamily="34" charset="0"/>
                <a:ea typeface="Carlito" pitchFamily="34" charset="-122"/>
                <a:cs typeface="Carlito" pitchFamily="34" charset="-120"/>
              </a:rPr>
              <a:t>Hands-on: Kaptive on your isolates</a:t>
            </a:r>
            <a:endParaRPr lang="en-US" sz="3476" dirty="0"/>
          </a:p>
        </p:txBody>
      </p:sp>
      <p:sp>
        <p:nvSpPr>
          <p:cNvPr id="3" name="Shape 1"/>
          <p:cNvSpPr/>
          <p:nvPr/>
        </p:nvSpPr>
        <p:spPr>
          <a:xfrm>
            <a:off x="812800" y="1395264"/>
            <a:ext cx="1524000" cy="38100"/>
          </a:xfrm>
          <a:prstGeom prst="roundRect">
            <a:avLst>
              <a:gd name="adj" fmla="val 50000"/>
            </a:avLst>
          </a:prstGeom>
          <a:solidFill>
            <a:srgbClr val="6D2637"/>
          </a:solidFill>
          <a:ln/>
        </p:spPr>
      </p:sp>
      <p:sp>
        <p:nvSpPr>
          <p:cNvPr id="4" name="Text 2"/>
          <p:cNvSpPr/>
          <p:nvPr/>
        </p:nvSpPr>
        <p:spPr>
          <a:xfrm>
            <a:off x="812800" y="1611164"/>
            <a:ext cx="10566400" cy="2291705"/>
          </a:xfrm>
          <a:prstGeom prst="roundRect">
            <a:avLst>
              <a:gd name="adj" fmla="val 3325"/>
            </a:avLst>
          </a:prstGeom>
          <a:solidFill>
            <a:srgbClr val="273003"/>
          </a:solidFill>
          <a:ln/>
        </p:spPr>
        <p:txBody>
          <a:bodyPr wrap="square" lIns="206282" tIns="130082" rIns="0" bIns="104682" rtlCol="0" anchor="t">
            <a:normAutofit/>
          </a:bodyPr>
          <a:lstStyle/>
          <a:p>
            <a:pPr algn="l" indent="0" marL="0">
              <a:lnSpc>
                <a:spcPts val="1564"/>
              </a:lnSpc>
              <a:buNone/>
            </a:pPr>
            <a:r>
              <a:rPr lang="en-US" sz="1159" dirty="0">
                <a:solidFill>
                  <a:srgbClr val="F3EEDF"/>
                </a:solidFill>
                <a:latin typeface="JetBrains Mono" pitchFamily="49" charset="0"/>
                <a:ea typeface="JetBrains Mono" pitchFamily="49" charset="-122"/>
                <a:cs typeface="JetBrains Mono" pitchFamily="49" charset="-120"/>
              </a:rPr>
              <a:t>use_tools typing</a:t>
            </a:r>
            <a:endParaRPr lang="en-US" sz="1159" dirty="0"/>
          </a:p>
          <a:p>
            <a:pPr algn="l" indent="0" marL="0">
              <a:lnSpc>
                <a:spcPts val="1564"/>
              </a:lnSpc>
              <a:buNone/>
            </a:pPr>
            <a:r>
              <a:rPr lang="en-US" sz="1159" dirty="0">
                <a:solidFill>
                  <a:srgbClr val="F3EEDF"/>
                </a:solidFill>
                <a:latin typeface="JetBrains Mono" pitchFamily="49" charset="0"/>
                <a:ea typeface="JetBrains Mono" pitchFamily="49" charset="-122"/>
                <a:cs typeface="JetBrains Mono" pitchFamily="49" charset="-120"/>
              </a:rPr>
              <a:t>mkdir -p $RESULTS/07_antigens</a:t>
            </a:r>
            <a:endParaRPr lang="en-US" sz="1159" dirty="0"/>
          </a:p>
          <a:p>
            <a:pPr algn="l" indent="0" marL="0">
              <a:lnSpc>
                <a:spcPts val="1564"/>
              </a:lnSpc>
              <a:buNone/>
            </a:pPr>
            <a:r>
              <a:rPr lang="en-US" sz="1159" dirty="0">
                <a:solidFill>
                  <a:srgbClr val="C2CA6E"/>
                </a:solidFill>
                <a:latin typeface="JetBrains Mono" pitchFamily="49" charset="0"/>
                <a:ea typeface="JetBrains Mono" pitchFamily="49" charset="-122"/>
                <a:cs typeface="JetBrains Mono" pitchFamily="49" charset="-120"/>
              </a:rPr>
              <a:t># your practice isolates, K locus then O locus</a:t>
            </a:r>
            <a:endParaRPr lang="en-US" sz="1159" dirty="0"/>
          </a:p>
          <a:p>
            <a:pPr algn="l" indent="0" marL="0">
              <a:lnSpc>
                <a:spcPts val="1564"/>
              </a:lnSpc>
              <a:buNone/>
            </a:pPr>
            <a:r>
              <a:rPr lang="en-US" sz="1159" dirty="0">
                <a:solidFill>
                  <a:srgbClr val="F3EEDF"/>
                </a:solidFill>
                <a:latin typeface="JetBrains Mono" pitchFamily="49" charset="0"/>
                <a:ea typeface="JetBrains Mono" pitchFamily="49" charset="-122"/>
                <a:cs typeface="JetBrains Mono" pitchFamily="49" charset="-120"/>
              </a:rPr>
              <a:t>practice=$(for s in $PRACTICE; do echo $COURSE/best/$s.fasta; done)</a:t>
            </a:r>
            <a:endParaRPr lang="en-US" sz="1159" dirty="0"/>
          </a:p>
          <a:p>
            <a:pPr algn="l" indent="0" marL="0">
              <a:lnSpc>
                <a:spcPts val="1564"/>
              </a:lnSpc>
              <a:buNone/>
            </a:pPr>
            <a:r>
              <a:rPr lang="en-US" sz="1159" dirty="0">
                <a:solidFill>
                  <a:srgbClr val="F3EEDF"/>
                </a:solidFill>
                <a:latin typeface="JetBrains Mono" pitchFamily="49" charset="0"/>
                <a:ea typeface="JetBrains Mono" pitchFamily="49" charset="-122"/>
                <a:cs typeface="JetBrains Mono" pitchFamily="49" charset="-120"/>
              </a:rPr>
              <a:t>kaptive assembly kpsc_k $practice -o $RESULTS/07_antigens/kaptive_k_practice.tsv -t $THREADS</a:t>
            </a:r>
            <a:endParaRPr lang="en-US" sz="1159" dirty="0"/>
          </a:p>
          <a:p>
            <a:pPr algn="l" indent="0" marL="0">
              <a:lnSpc>
                <a:spcPts val="1564"/>
              </a:lnSpc>
              <a:buNone/>
            </a:pPr>
            <a:r>
              <a:rPr lang="en-US" sz="1159" dirty="0">
                <a:solidFill>
                  <a:srgbClr val="F3EEDF"/>
                </a:solidFill>
                <a:latin typeface="JetBrains Mono" pitchFamily="49" charset="0"/>
                <a:ea typeface="JetBrains Mono" pitchFamily="49" charset="-122"/>
                <a:cs typeface="JetBrains Mono" pitchFamily="49" charset="-120"/>
              </a:rPr>
              <a:t>kaptive assembly kpsc_o $practice -o $RESULTS/07_antigens/kaptive_o_practice.tsv -t $THREADS</a:t>
            </a:r>
            <a:endParaRPr lang="en-US" sz="1159" dirty="0"/>
          </a:p>
          <a:p>
            <a:pPr algn="l" indent="0" marL="0">
              <a:lnSpc>
                <a:spcPts val="1564"/>
              </a:lnSpc>
              <a:buNone/>
            </a:pPr>
            <a:r>
              <a:rPr lang="en-US" sz="1159" dirty="0">
                <a:solidFill>
                  <a:srgbClr val="F3EEDF"/>
                </a:solidFill>
                <a:latin typeface="JetBrains Mono" pitchFamily="49" charset="0"/>
                <a:ea typeface="JetBrains Mono" pitchFamily="49" charset="-122"/>
                <a:cs typeface="JetBrains Mono" pitchFamily="49" charset="-120"/>
              </a:rPr>
              <a:t>pick 'Best match locus|Best match type|Match confidence|Problems' $RESULTS/07_antigens/kaptive_k_practice.tsv</a:t>
            </a:r>
            <a:endParaRPr lang="en-US" sz="1159" dirty="0"/>
          </a:p>
          <a:p>
            <a:pPr algn="l" indent="0" marL="0">
              <a:lnSpc>
                <a:spcPts val="1564"/>
              </a:lnSpc>
              <a:buNone/>
            </a:pPr>
            <a:endParaRPr lang="en-US" sz="1159" dirty="0"/>
          </a:p>
          <a:p>
            <a:pPr algn="l" indent="0" marL="0">
              <a:lnSpc>
                <a:spcPts val="1564"/>
              </a:lnSpc>
              <a:buNone/>
            </a:pPr>
            <a:r>
              <a:rPr lang="en-US" sz="1159" dirty="0">
                <a:solidFill>
                  <a:srgbClr val="C2CA6E"/>
                </a:solidFill>
                <a:latin typeface="JetBrains Mono" pitchFamily="49" charset="0"/>
                <a:ea typeface="JetBrains Mono" pitchFamily="49" charset="-122"/>
                <a:cs typeface="JetBrains Mono" pitchFamily="49" charset="-120"/>
              </a:rPr>
              <a:t># the trainers' tables for all 29 isolates, used in session 2</a:t>
            </a:r>
            <a:endParaRPr lang="en-US" sz="1159" dirty="0"/>
          </a:p>
          <a:p>
            <a:pPr algn="l" indent="0" marL="0">
              <a:lnSpc>
                <a:spcPts val="1564"/>
              </a:lnSpc>
              <a:buNone/>
            </a:pPr>
            <a:r>
              <a:rPr lang="en-US" sz="1159" dirty="0">
                <a:solidFill>
                  <a:srgbClr val="F3EEDF"/>
                </a:solidFill>
                <a:latin typeface="JetBrains Mono" pitchFamily="49" charset="0"/>
                <a:ea typeface="JetBrains Mono" pitchFamily="49" charset="-122"/>
                <a:cs typeface="JetBrains Mono" pitchFamily="49" charset="-120"/>
              </a:rPr>
              <a:t>use_precomputed 07_antigens</a:t>
            </a:r>
            <a:endParaRPr lang="en-US" sz="1159" dirty="0"/>
          </a:p>
        </p:txBody>
      </p:sp>
      <p:sp>
        <p:nvSpPr>
          <p:cNvPr id="5" name="Shape 3"/>
          <p:cNvSpPr/>
          <p:nvPr/>
        </p:nvSpPr>
        <p:spPr>
          <a:xfrm>
            <a:off x="812800" y="4080669"/>
            <a:ext cx="5194300" cy="899071"/>
          </a:xfrm>
          <a:prstGeom prst="roundRect">
            <a:avLst>
              <a:gd name="adj" fmla="val 5650"/>
            </a:avLst>
          </a:prstGeom>
          <a:solidFill>
            <a:srgbClr val="FFFFFF"/>
          </a:solidFill>
          <a:ln/>
        </p:spPr>
      </p:sp>
      <p:sp>
        <p:nvSpPr>
          <p:cNvPr id="6" name="Shape 4"/>
          <p:cNvSpPr/>
          <p:nvPr/>
        </p:nvSpPr>
        <p:spPr>
          <a:xfrm>
            <a:off x="812800" y="4080669"/>
            <a:ext cx="5194300" cy="899071"/>
          </a:xfrm>
          <a:custGeom>
            <a:avLst/>
            <a:gdLst/>
            <a:ahLst/>
            <a:cxnLst/>
            <a:rect l="l" t="t" r="r" b="b"/>
            <a:pathLst>
              <a:path w="5194300" h="899071">
                <a:moveTo>
                  <a:pt x="50800" y="899071"/>
                </a:moveTo>
                <a:lnTo>
                  <a:pt x="50800" y="899071"/>
                </a:lnTo>
                <a:arcTo hR="50800" wR="50800" stAng="5400000" swAng="5400000"/>
                <a:lnTo>
                  <a:pt x="0" y="50800"/>
                </a:lnTo>
                <a:arcTo hR="50800" wR="50800" stAng="10800000" swAng="5400000"/>
                <a:lnTo>
                  <a:pt x="50800" y="0"/>
                </a:lnTo>
                <a:lnTo>
                  <a:pt x="50800" y="899071"/>
                </a:lnTo>
                <a:close/>
              </a:path>
            </a:pathLst>
          </a:custGeom>
          <a:solidFill>
            <a:srgbClr val="891F15"/>
          </a:solidFill>
          <a:ln/>
        </p:spPr>
      </p:sp>
      <p:sp>
        <p:nvSpPr>
          <p:cNvPr id="7" name="Text 5"/>
          <p:cNvSpPr/>
          <p:nvPr/>
        </p:nvSpPr>
        <p:spPr>
          <a:xfrm>
            <a:off x="1041400" y="4207669"/>
            <a:ext cx="4931537" cy="227905"/>
          </a:xfrm>
          <a:prstGeom prst="rect">
            <a:avLst/>
          </a:prstGeom>
          <a:noFill/>
          <a:ln/>
        </p:spPr>
        <p:txBody>
          <a:bodyPr wrap="square" lIns="0" tIns="0" rIns="0" bIns="0" rtlCol="0" anchor="t">
            <a:normAutofit/>
          </a:bodyPr>
          <a:lstStyle/>
          <a:p>
            <a:pPr algn="l" indent="0" marL="0">
              <a:lnSpc>
                <a:spcPts val="1622"/>
              </a:lnSpc>
              <a:buNone/>
            </a:pPr>
            <a:r>
              <a:rPr lang="en-US" sz="1352" b="1" dirty="0">
                <a:solidFill>
                  <a:srgbClr val="891F15"/>
                </a:solidFill>
                <a:latin typeface="Carlito" pitchFamily="34" charset="0"/>
                <a:ea typeface="Carlito" pitchFamily="34" charset="-122"/>
                <a:cs typeface="Carlito" pitchFamily="34" charset="-120"/>
              </a:rPr>
              <a:t>Then check your calls</a:t>
            </a:r>
            <a:endParaRPr lang="en-US" sz="1352" dirty="0"/>
          </a:p>
        </p:txBody>
      </p:sp>
      <p:sp>
        <p:nvSpPr>
          <p:cNvPr id="8" name="Text 6"/>
          <p:cNvSpPr/>
          <p:nvPr/>
        </p:nvSpPr>
        <p:spPr>
          <a:xfrm>
            <a:off x="1041400" y="4460974"/>
            <a:ext cx="4931537" cy="417165"/>
          </a:xfrm>
          <a:prstGeom prst="rect">
            <a:avLst/>
          </a:prstGeom>
          <a:noFill/>
          <a:ln/>
        </p:spPr>
        <p:txBody>
          <a:bodyPr wrap="square" lIns="0" tIns="0" rIns="0" bIns="0" rtlCol="0" anchor="t">
            <a:normAutofit/>
          </a:bodyPr>
          <a:lstStyle/>
          <a:p>
            <a:pPr algn="l" indent="0" marL="0">
              <a:lnSpc>
                <a:spcPts val="1559"/>
              </a:lnSpc>
              <a:buNone/>
            </a:pPr>
            <a:r>
              <a:rPr lang="en-US" sz="1199" dirty="0">
                <a:solidFill>
                  <a:srgbClr val="3A322C"/>
                </a:solidFill>
                <a:latin typeface="Carlito" pitchFamily="34" charset="0"/>
                <a:ea typeface="Carlito" pitchFamily="34" charset="-122"/>
                <a:cs typeface="Carlito" pitchFamily="34" charset="-120"/>
              </a:rPr>
              <a:t>Compare with </a:t>
            </a:r>
            <a:r>
              <a:rPr lang="en-US" sz="1199" dirty="0">
                <a:solidFill>
                  <a:srgbClr val="273003"/>
                </a:solidFill>
                <a:latin typeface="Carlito" pitchFamily="34" charset="0"/>
                <a:ea typeface="Carlito" pitchFamily="34" charset="-122"/>
                <a:cs typeface="Carlito" pitchFamily="34" charset="-120"/>
              </a:rPr>
              <a:t>published_K_locus</a:t>
            </a:r>
            <a:r>
              <a:rPr lang="en-US" sz="1199" dirty="0">
                <a:solidFill>
                  <a:srgbClr val="3A322C"/>
                </a:solidFill>
                <a:latin typeface="Carlito" pitchFamily="34" charset="0"/>
                <a:ea typeface="Carlito" pitchFamily="34" charset="-122"/>
                <a:cs typeface="Carlito" pitchFamily="34" charset="-120"/>
              </a:rPr>
              <a:t> and </a:t>
            </a:r>
            <a:r>
              <a:rPr lang="en-US" sz="1199" dirty="0">
                <a:solidFill>
                  <a:srgbClr val="273003"/>
                </a:solidFill>
                <a:latin typeface="Carlito" pitchFamily="34" charset="0"/>
                <a:ea typeface="Carlito" pitchFamily="34" charset="-122"/>
                <a:cs typeface="Carlito" pitchFamily="34" charset="-120"/>
              </a:rPr>
              <a:t>published_O_type</a:t>
            </a:r>
            <a:r>
              <a:rPr lang="en-US" sz="1199" dirty="0">
                <a:solidFill>
                  <a:srgbClr val="3A322C"/>
                </a:solidFill>
                <a:latin typeface="Carlito" pitchFamily="34" charset="0"/>
                <a:ea typeface="Carlito" pitchFamily="34" charset="-122"/>
                <a:cs typeface="Carlito" pitchFamily="34" charset="-120"/>
              </a:rPr>
              <a:t> in </a:t>
            </a:r>
            <a:r>
              <a:rPr lang="en-US" sz="1199" dirty="0">
                <a:solidFill>
                  <a:srgbClr val="273003"/>
                </a:solidFill>
                <a:latin typeface="Carlito" pitchFamily="34" charset="0"/>
                <a:ea typeface="Carlito" pitchFamily="34" charset="-122"/>
                <a:cs typeface="Carlito" pitchFamily="34" charset="-120"/>
              </a:rPr>
              <a:t>metadata_compact.tsv</a:t>
            </a:r>
            <a:r>
              <a:rPr lang="en-US" sz="1199" dirty="0">
                <a:solidFill>
                  <a:srgbClr val="3A322C"/>
                </a:solidFill>
                <a:latin typeface="Carlito" pitchFamily="34" charset="0"/>
                <a:ea typeface="Carlito" pitchFamily="34" charset="-122"/>
                <a:cs typeface="Carlito" pitchFamily="34" charset="-120"/>
              </a:rPr>
              <a:t>. Explain every disagreement.</a:t>
            </a:r>
            <a:endParaRPr lang="en-US" sz="1199" dirty="0"/>
          </a:p>
        </p:txBody>
      </p:sp>
      <p:sp>
        <p:nvSpPr>
          <p:cNvPr id="9" name="Shape 7"/>
          <p:cNvSpPr/>
          <p:nvPr/>
        </p:nvSpPr>
        <p:spPr>
          <a:xfrm>
            <a:off x="6184900" y="4080669"/>
            <a:ext cx="5194300" cy="899071"/>
          </a:xfrm>
          <a:prstGeom prst="roundRect">
            <a:avLst>
              <a:gd name="adj" fmla="val 5650"/>
            </a:avLst>
          </a:prstGeom>
          <a:solidFill>
            <a:srgbClr val="FFFFFF"/>
          </a:solidFill>
          <a:ln/>
        </p:spPr>
      </p:sp>
      <p:sp>
        <p:nvSpPr>
          <p:cNvPr id="10" name="Shape 8"/>
          <p:cNvSpPr/>
          <p:nvPr/>
        </p:nvSpPr>
        <p:spPr>
          <a:xfrm>
            <a:off x="6184900" y="4080669"/>
            <a:ext cx="5194300" cy="899071"/>
          </a:xfrm>
          <a:custGeom>
            <a:avLst/>
            <a:gdLst/>
            <a:ahLst/>
            <a:cxnLst/>
            <a:rect l="l" t="t" r="r" b="b"/>
            <a:pathLst>
              <a:path w="5194300" h="899071">
                <a:moveTo>
                  <a:pt x="50800" y="899071"/>
                </a:moveTo>
                <a:lnTo>
                  <a:pt x="50800" y="899071"/>
                </a:lnTo>
                <a:arcTo hR="50800" wR="50800" stAng="5400000" swAng="5400000"/>
                <a:lnTo>
                  <a:pt x="0" y="50800"/>
                </a:lnTo>
                <a:arcTo hR="50800" wR="50800" stAng="10800000" swAng="5400000"/>
                <a:lnTo>
                  <a:pt x="50800" y="0"/>
                </a:lnTo>
                <a:lnTo>
                  <a:pt x="50800" y="899071"/>
                </a:lnTo>
                <a:close/>
              </a:path>
            </a:pathLst>
          </a:custGeom>
          <a:solidFill>
            <a:srgbClr val="891F15"/>
          </a:solidFill>
          <a:ln/>
        </p:spPr>
      </p:sp>
      <p:sp>
        <p:nvSpPr>
          <p:cNvPr id="11" name="Text 9"/>
          <p:cNvSpPr/>
          <p:nvPr/>
        </p:nvSpPr>
        <p:spPr>
          <a:xfrm>
            <a:off x="6413500" y="4207669"/>
            <a:ext cx="4931537" cy="227905"/>
          </a:xfrm>
          <a:prstGeom prst="rect">
            <a:avLst/>
          </a:prstGeom>
          <a:noFill/>
          <a:ln/>
        </p:spPr>
        <p:txBody>
          <a:bodyPr wrap="square" lIns="0" tIns="0" rIns="0" bIns="0" rtlCol="0" anchor="t">
            <a:normAutofit/>
          </a:bodyPr>
          <a:lstStyle/>
          <a:p>
            <a:pPr algn="l" indent="0" marL="0">
              <a:lnSpc>
                <a:spcPts val="1622"/>
              </a:lnSpc>
              <a:buNone/>
            </a:pPr>
            <a:r>
              <a:rPr lang="en-US" sz="1352" b="1" dirty="0">
                <a:solidFill>
                  <a:srgbClr val="891F15"/>
                </a:solidFill>
                <a:latin typeface="Carlito" pitchFamily="34" charset="0"/>
                <a:ea typeface="Carlito" pitchFamily="34" charset="-122"/>
                <a:cs typeface="Carlito" pitchFamily="34" charset="-120"/>
              </a:rPr>
              <a:t>Short read versus hybrid</a:t>
            </a:r>
            <a:endParaRPr lang="en-US" sz="1352" dirty="0"/>
          </a:p>
        </p:txBody>
      </p:sp>
      <p:sp>
        <p:nvSpPr>
          <p:cNvPr id="12" name="Text 10"/>
          <p:cNvSpPr/>
          <p:nvPr/>
        </p:nvSpPr>
        <p:spPr>
          <a:xfrm>
            <a:off x="6413500" y="4460974"/>
            <a:ext cx="4931537" cy="417165"/>
          </a:xfrm>
          <a:prstGeom prst="rect">
            <a:avLst/>
          </a:prstGeom>
          <a:noFill/>
          <a:ln/>
        </p:spPr>
        <p:txBody>
          <a:bodyPr wrap="square" lIns="0" tIns="0" rIns="0" bIns="0" rtlCol="0" anchor="t">
            <a:normAutofit/>
          </a:bodyPr>
          <a:lstStyle/>
          <a:p>
            <a:pPr algn="l" indent="0" marL="0">
              <a:lnSpc>
                <a:spcPts val="1559"/>
              </a:lnSpc>
              <a:buNone/>
            </a:pPr>
            <a:r>
              <a:rPr lang="en-US" sz="1199" dirty="0">
                <a:solidFill>
                  <a:srgbClr val="3A322C"/>
                </a:solidFill>
                <a:latin typeface="Carlito" pitchFamily="34" charset="0"/>
                <a:ea typeface="Carlito" pitchFamily="34" charset="-122"/>
                <a:cs typeface="Carlito" pitchFamily="34" charset="-120"/>
              </a:rPr>
              <a:t>Run the three hybrid isolates on </a:t>
            </a:r>
            <a:r>
              <a:rPr lang="en-US" sz="1199" b="1" dirty="0">
                <a:solidFill>
                  <a:srgbClr val="3A322C"/>
                </a:solidFill>
                <a:latin typeface="Carlito" pitchFamily="34" charset="0"/>
                <a:ea typeface="Carlito" pitchFamily="34" charset="-122"/>
                <a:cs typeface="Carlito" pitchFamily="34" charset="-120"/>
              </a:rPr>
              <a:t>both</a:t>
            </a:r>
            <a:r>
              <a:rPr lang="en-US" sz="1199" dirty="0">
                <a:solidFill>
                  <a:srgbClr val="3A322C"/>
                </a:solidFill>
                <a:latin typeface="Carlito" pitchFamily="34" charset="0"/>
                <a:ea typeface="Carlito" pitchFamily="34" charset="-122"/>
                <a:cs typeface="Carlito" pitchFamily="34" charset="-120"/>
              </a:rPr>
              <a:t> assemblies. Does the locus change, or only the confidence? Write down which.</a:t>
            </a:r>
            <a:endParaRPr lang="en-US" sz="1199" dirty="0"/>
          </a:p>
        </p:txBody>
      </p:sp>
      <p:sp>
        <p:nvSpPr>
          <p:cNvPr id="13" name="Shape 11"/>
          <p:cNvSpPr/>
          <p:nvPr/>
        </p:nvSpPr>
        <p:spPr>
          <a:xfrm>
            <a:off x="812800" y="5157539"/>
            <a:ext cx="10566400" cy="684461"/>
          </a:xfrm>
          <a:prstGeom prst="roundRect">
            <a:avLst>
              <a:gd name="adj" fmla="val 7422"/>
            </a:avLst>
          </a:prstGeom>
          <a:solidFill>
            <a:srgbClr val="F1E6DA"/>
          </a:solidFill>
          <a:ln/>
        </p:spPr>
      </p:sp>
      <p:sp>
        <p:nvSpPr>
          <p:cNvPr id="14" name="Shape 12"/>
          <p:cNvSpPr/>
          <p:nvPr/>
        </p:nvSpPr>
        <p:spPr>
          <a:xfrm>
            <a:off x="812800" y="5157539"/>
            <a:ext cx="10566400" cy="684461"/>
          </a:xfrm>
          <a:custGeom>
            <a:avLst/>
            <a:gdLst/>
            <a:ahLst/>
            <a:cxnLst/>
            <a:rect l="l" t="t" r="r" b="b"/>
            <a:pathLst>
              <a:path w="10566400" h="684461">
                <a:moveTo>
                  <a:pt x="50800" y="684461"/>
                </a:moveTo>
                <a:lnTo>
                  <a:pt x="50800" y="684461"/>
                </a:lnTo>
                <a:arcTo hR="50800" wR="50800" stAng="5400000" swAng="5400000"/>
                <a:lnTo>
                  <a:pt x="0" y="50800"/>
                </a:lnTo>
                <a:arcTo hR="50800" wR="50800" stAng="10800000" swAng="5400000"/>
                <a:lnTo>
                  <a:pt x="50800" y="0"/>
                </a:lnTo>
                <a:lnTo>
                  <a:pt x="50800" y="684461"/>
                </a:lnTo>
                <a:close/>
              </a:path>
            </a:pathLst>
          </a:custGeom>
          <a:solidFill>
            <a:srgbClr val="6D2637"/>
          </a:solidFill>
          <a:ln/>
        </p:spPr>
      </p:sp>
      <p:sp>
        <p:nvSpPr>
          <p:cNvPr id="15" name="Text 13"/>
          <p:cNvSpPr/>
          <p:nvPr/>
        </p:nvSpPr>
        <p:spPr>
          <a:xfrm>
            <a:off x="1041400" y="5284539"/>
            <a:ext cx="10464800" cy="455861"/>
          </a:xfrm>
          <a:prstGeom prst="rect">
            <a:avLst/>
          </a:prstGeom>
          <a:noFill/>
          <a:ln/>
        </p:spPr>
        <p:txBody>
          <a:bodyPr wrap="square" lIns="0" tIns="0" rIns="0" bIns="0" rtlCol="0" anchor="t">
            <a:normAutofit/>
          </a:bodyPr>
          <a:lstStyle/>
          <a:p>
            <a:pPr algn="l" indent="0" marL="0">
              <a:lnSpc>
                <a:spcPts val="1711"/>
              </a:lnSpc>
              <a:buNone/>
            </a:pPr>
            <a:r>
              <a:rPr lang="en-US" sz="1268" b="1" dirty="0">
                <a:solidFill>
                  <a:srgbClr val="3A322C"/>
                </a:solidFill>
                <a:latin typeface="Carlito" pitchFamily="34" charset="0"/>
                <a:ea typeface="Carlito" pitchFamily="34" charset="-122"/>
                <a:cs typeface="Carlito" pitchFamily="34" charset="-120"/>
              </a:rPr>
              <a:t>Two databases, two runs.</a:t>
            </a:r>
            <a:r>
              <a:rPr lang="en-US" sz="1268" dirty="0">
                <a:solidFill>
                  <a:srgbClr val="3A322C"/>
                </a:solidFill>
                <a:latin typeface="Carlito" pitchFamily="34" charset="0"/>
                <a:ea typeface="Carlito" pitchFamily="34" charset="-122"/>
                <a:cs typeface="Carlito" pitchFamily="34" charset="-120"/>
              </a:rPr>
              <a:t> </a:t>
            </a:r>
            <a:r>
              <a:rPr lang="en-US" sz="1268" dirty="0">
                <a:solidFill>
                  <a:srgbClr val="273003"/>
                </a:solidFill>
                <a:latin typeface="Carlito" pitchFamily="34" charset="0"/>
                <a:ea typeface="Carlito" pitchFamily="34" charset="-122"/>
                <a:cs typeface="Carlito" pitchFamily="34" charset="-120"/>
              </a:rPr>
              <a:t>kpsc_k</a:t>
            </a:r>
            <a:r>
              <a:rPr lang="en-US" sz="1268" dirty="0">
                <a:solidFill>
                  <a:srgbClr val="3A322C"/>
                </a:solidFill>
                <a:latin typeface="Carlito" pitchFamily="34" charset="0"/>
                <a:ea typeface="Carlito" pitchFamily="34" charset="-122"/>
                <a:cs typeface="Carlito" pitchFamily="34" charset="-120"/>
              </a:rPr>
              <a:t> and </a:t>
            </a:r>
            <a:r>
              <a:rPr lang="en-US" sz="1268" dirty="0">
                <a:solidFill>
                  <a:srgbClr val="273003"/>
                </a:solidFill>
                <a:latin typeface="Carlito" pitchFamily="34" charset="0"/>
                <a:ea typeface="Carlito" pitchFamily="34" charset="-122"/>
                <a:cs typeface="Carlito" pitchFamily="34" charset="-120"/>
              </a:rPr>
              <a:t>kpsc_o</a:t>
            </a:r>
            <a:r>
              <a:rPr lang="en-US" sz="1268" dirty="0">
                <a:solidFill>
                  <a:srgbClr val="3A322C"/>
                </a:solidFill>
                <a:latin typeface="Carlito" pitchFamily="34" charset="0"/>
                <a:ea typeface="Carlito" pitchFamily="34" charset="-122"/>
                <a:cs typeface="Carlito" pitchFamily="34" charset="-120"/>
              </a:rPr>
              <a:t> are separate: the K and O calls come from separate commands and land in separate files. Joining them is your job, in session 2.</a:t>
            </a:r>
            <a:endParaRPr lang="en-US" sz="1268" dirty="0"/>
          </a:p>
        </p:txBody>
      </p:sp>
      <p:pic>
        <p:nvPicPr>
          <p:cNvPr id="16"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17" name="Text 1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7 · Capsule, O antigen and vaccines | Day 8</a:t>
            </a:r>
            <a:endParaRPr lang="en-US" sz="1200" dirty="0"/>
          </a:p>
        </p:txBody>
      </p:sp>
      <p:sp>
        <p:nvSpPr>
          <p:cNvPr id="18" name="Text 1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A lineage can change its coat</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Text 2"/>
          <p:cNvSpPr/>
          <p:nvPr/>
        </p:nvSpPr>
        <p:spPr>
          <a:xfrm>
            <a:off x="812800" y="1645890"/>
            <a:ext cx="5363210"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A322C"/>
                </a:solidFill>
                <a:latin typeface="Carlito" pitchFamily="34" charset="0"/>
                <a:ea typeface="Carlito" pitchFamily="34" charset="-122"/>
                <a:cs typeface="Carlito" pitchFamily="34" charset="-120"/>
              </a:rPr>
              <a:t>The K locus is a </a:t>
            </a:r>
            <a:r>
              <a:rPr lang="en-US" sz="1500" b="1" dirty="0">
                <a:solidFill>
                  <a:srgbClr val="3A322C"/>
                </a:solidFill>
                <a:latin typeface="Carlito" pitchFamily="34" charset="0"/>
                <a:ea typeface="Carlito" pitchFamily="34" charset="-122"/>
                <a:cs typeface="Carlito" pitchFamily="34" charset="-120"/>
              </a:rPr>
              <a:t>recombination hotspot</a:t>
            </a:r>
            <a:r>
              <a:rPr lang="en-US" sz="1500" dirty="0">
                <a:solidFill>
                  <a:srgbClr val="3A322C"/>
                </a:solidFill>
                <a:latin typeface="Carlito" pitchFamily="34" charset="0"/>
                <a:ea typeface="Carlito" pitchFamily="34" charset="-122"/>
                <a:cs typeface="Carlito" pitchFamily="34" charset="-120"/>
              </a:rPr>
              <a:t>. A clone can replace its whole capsule locus with another one and carry on, so capsule type and lineage are not locked together.</a:t>
            </a:r>
            <a:endParaRPr lang="en-US" sz="1500" dirty="0"/>
          </a:p>
        </p:txBody>
      </p:sp>
      <p:sp>
        <p:nvSpPr>
          <p:cNvPr id="5" name="Shape 3"/>
          <p:cNvSpPr/>
          <p:nvPr/>
        </p:nvSpPr>
        <p:spPr>
          <a:xfrm>
            <a:off x="812800" y="2531715"/>
            <a:ext cx="5207000" cy="1187351"/>
          </a:xfrm>
          <a:prstGeom prst="roundRect">
            <a:avLst>
              <a:gd name="adj" fmla="val 4278"/>
            </a:avLst>
          </a:prstGeom>
          <a:solidFill>
            <a:srgbClr val="FFFFFF"/>
          </a:solidFill>
          <a:ln/>
        </p:spPr>
      </p:sp>
      <p:sp>
        <p:nvSpPr>
          <p:cNvPr id="6" name="Shape 4"/>
          <p:cNvSpPr/>
          <p:nvPr/>
        </p:nvSpPr>
        <p:spPr>
          <a:xfrm>
            <a:off x="812800" y="2531715"/>
            <a:ext cx="5207000" cy="1187351"/>
          </a:xfrm>
          <a:custGeom>
            <a:avLst/>
            <a:gdLst/>
            <a:ahLst/>
            <a:cxnLst/>
            <a:rect l="l" t="t" r="r" b="b"/>
            <a:pathLst>
              <a:path w="5207000" h="1187351">
                <a:moveTo>
                  <a:pt x="50800" y="1187351"/>
                </a:moveTo>
                <a:lnTo>
                  <a:pt x="50800" y="1187351"/>
                </a:lnTo>
                <a:arcTo hR="50800" wR="50800" stAng="5400000" swAng="5400000"/>
                <a:lnTo>
                  <a:pt x="0" y="50800"/>
                </a:lnTo>
                <a:arcTo hR="50800" wR="50800" stAng="10800000" swAng="5400000"/>
                <a:lnTo>
                  <a:pt x="50800" y="0"/>
                </a:lnTo>
                <a:lnTo>
                  <a:pt x="50800" y="1187351"/>
                </a:lnTo>
                <a:close/>
              </a:path>
            </a:pathLst>
          </a:custGeom>
          <a:solidFill>
            <a:srgbClr val="891F15"/>
          </a:solidFill>
          <a:ln/>
        </p:spPr>
      </p:sp>
      <p:sp>
        <p:nvSpPr>
          <p:cNvPr id="7" name="Text 5"/>
          <p:cNvSpPr/>
          <p:nvPr/>
        </p:nvSpPr>
        <p:spPr>
          <a:xfrm>
            <a:off x="1054100" y="2671415"/>
            <a:ext cx="491845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In our own ST39 isolates</a:t>
            </a:r>
            <a:endParaRPr lang="en-US" sz="1400" dirty="0"/>
          </a:p>
        </p:txBody>
      </p:sp>
      <p:sp>
        <p:nvSpPr>
          <p:cNvPr id="8" name="Text 6"/>
          <p:cNvSpPr/>
          <p:nvPr/>
        </p:nvSpPr>
        <p:spPr>
          <a:xfrm>
            <a:off x="1054100" y="2935536"/>
            <a:ext cx="4918456"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322C"/>
                </a:solidFill>
                <a:latin typeface="Carlito" pitchFamily="34" charset="0"/>
                <a:ea typeface="Carlito" pitchFamily="34" charset="-122"/>
                <a:cs typeface="Carlito" pitchFamily="34" charset="-120"/>
              </a:rPr>
              <a:t>One sequence type, five capsule loci: </a:t>
            </a:r>
            <a:r>
              <a:rPr lang="en-US" sz="1300" b="1" dirty="0">
                <a:solidFill>
                  <a:srgbClr val="3A322C"/>
                </a:solidFill>
                <a:latin typeface="Carlito" pitchFamily="34" charset="0"/>
                <a:ea typeface="Carlito" pitchFamily="34" charset="-122"/>
                <a:cs typeface="Carlito" pitchFamily="34" charset="-120"/>
              </a:rPr>
              <a:t>KL2, KL23, KL51, KL62, KL149</a:t>
            </a:r>
            <a:r>
              <a:rPr lang="en-US" sz="1300" dirty="0">
                <a:solidFill>
                  <a:srgbClr val="3A322C"/>
                </a:solidFill>
                <a:latin typeface="Carlito" pitchFamily="34" charset="0"/>
                <a:ea typeface="Carlito" pitchFamily="34" charset="-122"/>
                <a:cs typeface="Carlito" pitchFamily="34" charset="-120"/>
              </a:rPr>
              <a:t>. The 2017 outbreak cluster is KL2; the 2016 isolate </a:t>
            </a:r>
            <a:r>
              <a:rPr lang="en-US" sz="1300" dirty="0">
                <a:solidFill>
                  <a:srgbClr val="273003"/>
                </a:solidFill>
                <a:latin typeface="Carlito" pitchFamily="34" charset="0"/>
                <a:ea typeface="Carlito" pitchFamily="34" charset="-122"/>
                <a:cs typeface="Carlito" pitchFamily="34" charset="-120"/>
              </a:rPr>
              <a:t>BKR8JH</a:t>
            </a:r>
            <a:r>
              <a:rPr lang="en-US" sz="1300" dirty="0">
                <a:solidFill>
                  <a:srgbClr val="3A322C"/>
                </a:solidFill>
                <a:latin typeface="Carlito" pitchFamily="34" charset="0"/>
                <a:ea typeface="Carlito" pitchFamily="34" charset="-122"/>
                <a:cs typeface="Carlito" pitchFamily="34" charset="-120"/>
              </a:rPr>
              <a:t> from the same nursery is KL23.</a:t>
            </a:r>
            <a:endParaRPr lang="en-US" sz="1300" dirty="0"/>
          </a:p>
        </p:txBody>
      </p:sp>
      <p:sp>
        <p:nvSpPr>
          <p:cNvPr id="9" name="Shape 7"/>
          <p:cNvSpPr/>
          <p:nvPr/>
        </p:nvSpPr>
        <p:spPr>
          <a:xfrm>
            <a:off x="812800" y="3833366"/>
            <a:ext cx="5207000" cy="1667371"/>
          </a:xfrm>
          <a:prstGeom prst="roundRect">
            <a:avLst>
              <a:gd name="adj" fmla="val 3047"/>
            </a:avLst>
          </a:prstGeom>
          <a:solidFill>
            <a:srgbClr val="273003"/>
          </a:solidFill>
          <a:ln/>
        </p:spPr>
      </p:sp>
      <p:sp>
        <p:nvSpPr>
          <p:cNvPr id="10" name="Text 8"/>
          <p:cNvSpPr/>
          <p:nvPr/>
        </p:nvSpPr>
        <p:spPr>
          <a:xfrm>
            <a:off x="1003300" y="3973066"/>
            <a:ext cx="497078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CE00"/>
                </a:solidFill>
                <a:latin typeface="Carlito" pitchFamily="34" charset="0"/>
                <a:ea typeface="Carlito" pitchFamily="34" charset="-122"/>
                <a:cs typeface="Carlito" pitchFamily="34" charset="-120"/>
              </a:rPr>
              <a:t>Two consequences</a:t>
            </a:r>
            <a:endParaRPr lang="en-US" sz="1400" dirty="0"/>
          </a:p>
        </p:txBody>
      </p:sp>
      <p:sp>
        <p:nvSpPr>
          <p:cNvPr id="11" name="Text 9"/>
          <p:cNvSpPr/>
          <p:nvPr/>
        </p:nvSpPr>
        <p:spPr>
          <a:xfrm>
            <a:off x="1003300" y="4237186"/>
            <a:ext cx="4970780" cy="45462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9F2EA"/>
                </a:solidFill>
                <a:latin typeface="Carlito" pitchFamily="34" charset="0"/>
                <a:ea typeface="Carlito" pitchFamily="34" charset="-122"/>
                <a:cs typeface="Carlito" pitchFamily="34" charset="-120"/>
              </a:rPr>
              <a:t>For the vaccine:</a:t>
            </a:r>
            <a:r>
              <a:rPr lang="en-US" sz="1300" dirty="0">
                <a:solidFill>
                  <a:srgbClr val="F9F2EA"/>
                </a:solidFill>
                <a:latin typeface="Carlito" pitchFamily="34" charset="0"/>
                <a:ea typeface="Carlito" pitchFamily="34" charset="-122"/>
                <a:cs typeface="Carlito" pitchFamily="34" charset="-120"/>
              </a:rPr>
              <a:t> a capsule vaccine targets the capsule, not the lineage, so a lineage can switch out from under it.</a:t>
            </a:r>
            <a:endParaRPr lang="en-US" sz="1300" dirty="0"/>
          </a:p>
        </p:txBody>
      </p:sp>
      <p:sp>
        <p:nvSpPr>
          <p:cNvPr id="12" name="Text 10"/>
          <p:cNvSpPr/>
          <p:nvPr/>
        </p:nvSpPr>
        <p:spPr>
          <a:xfrm>
            <a:off x="1003300" y="4717207"/>
            <a:ext cx="4970780" cy="6692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9F2EA"/>
                </a:solidFill>
                <a:latin typeface="Carlito" pitchFamily="34" charset="0"/>
                <a:ea typeface="Carlito" pitchFamily="34" charset="-122"/>
                <a:cs typeface="Carlito" pitchFamily="34" charset="-120"/>
              </a:rPr>
              <a:t>For the outbreak:</a:t>
            </a:r>
            <a:r>
              <a:rPr lang="en-US" sz="1300" dirty="0">
                <a:solidFill>
                  <a:srgbClr val="F9F2EA"/>
                </a:solidFill>
                <a:latin typeface="Carlito" pitchFamily="34" charset="0"/>
                <a:ea typeface="Carlito" pitchFamily="34" charset="-122"/>
                <a:cs typeface="Carlito" pitchFamily="34" charset="-120"/>
              </a:rPr>
              <a:t> a different K locus is a hint that two isolates are not the same recent strain — but it is a hint, not evidence. Settle it with SNPs.</a:t>
            </a:r>
            <a:endParaRPr lang="en-US" sz="1300" dirty="0"/>
          </a:p>
        </p:txBody>
      </p:sp>
      <p:sp>
        <p:nvSpPr>
          <p:cNvPr id="13" name="Shape 11"/>
          <p:cNvSpPr/>
          <p:nvPr/>
        </p:nvSpPr>
        <p:spPr>
          <a:xfrm>
            <a:off x="6251575" y="1649065"/>
            <a:ext cx="5124450" cy="962620"/>
          </a:xfrm>
          <a:prstGeom prst="roundRect">
            <a:avLst>
              <a:gd name="adj" fmla="val 4947"/>
            </a:avLst>
          </a:prstGeom>
          <a:solidFill>
            <a:srgbClr val="FFFFFF"/>
          </a:solidFill>
          <a:ln w="6350">
            <a:solidFill>
              <a:srgbClr val="D8CFC4"/>
            </a:solidFill>
            <a:prstDash val="solid"/>
          </a:ln>
        </p:spPr>
      </p:sp>
      <p:sp>
        <p:nvSpPr>
          <p:cNvPr id="14" name="Text 12"/>
          <p:cNvSpPr/>
          <p:nvPr/>
        </p:nvSpPr>
        <p:spPr>
          <a:xfrm>
            <a:off x="6432550" y="1791940"/>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6D2637"/>
                </a:solidFill>
                <a:latin typeface="Carlito" pitchFamily="34" charset="0"/>
                <a:ea typeface="Carlito" pitchFamily="34" charset="-122"/>
                <a:cs typeface="Carlito" pitchFamily="34" charset="-120"/>
              </a:rPr>
              <a:t>Do not type by lineage</a:t>
            </a:r>
            <a:endParaRPr lang="en-US" sz="1400" dirty="0"/>
          </a:p>
        </p:txBody>
      </p:sp>
      <p:sp>
        <p:nvSpPr>
          <p:cNvPr id="15" name="Text 13"/>
          <p:cNvSpPr/>
          <p:nvPr/>
        </p:nvSpPr>
        <p:spPr>
          <a:xfrm>
            <a:off x="6432550" y="2056061"/>
            <a:ext cx="4905375" cy="43815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You cannot infer the capsule from the ST, nor the ST from the capsule. Report what you measured.</a:t>
            </a:r>
            <a:endParaRPr lang="en-US" sz="1250" dirty="0"/>
          </a:p>
        </p:txBody>
      </p:sp>
      <p:sp>
        <p:nvSpPr>
          <p:cNvPr id="16" name="Shape 14"/>
          <p:cNvSpPr/>
          <p:nvPr/>
        </p:nvSpPr>
        <p:spPr>
          <a:xfrm>
            <a:off x="6251575" y="2732336"/>
            <a:ext cx="5124450" cy="962620"/>
          </a:xfrm>
          <a:prstGeom prst="roundRect">
            <a:avLst>
              <a:gd name="adj" fmla="val 4947"/>
            </a:avLst>
          </a:prstGeom>
          <a:solidFill>
            <a:srgbClr val="FFFFFF"/>
          </a:solidFill>
          <a:ln w="6350">
            <a:solidFill>
              <a:srgbClr val="D8CFC4"/>
            </a:solidFill>
            <a:prstDash val="solid"/>
          </a:ln>
        </p:spPr>
      </p:sp>
      <p:sp>
        <p:nvSpPr>
          <p:cNvPr id="17" name="Text 15"/>
          <p:cNvSpPr/>
          <p:nvPr/>
        </p:nvSpPr>
        <p:spPr>
          <a:xfrm>
            <a:off x="6432550" y="2875211"/>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6D2637"/>
                </a:solidFill>
                <a:latin typeface="Carlito" pitchFamily="34" charset="0"/>
                <a:ea typeface="Carlito" pitchFamily="34" charset="-122"/>
                <a:cs typeface="Carlito" pitchFamily="34" charset="-120"/>
              </a:rPr>
              <a:t>O is more stable</a:t>
            </a:r>
            <a:endParaRPr lang="en-US" sz="1400" dirty="0"/>
          </a:p>
        </p:txBody>
      </p:sp>
      <p:sp>
        <p:nvSpPr>
          <p:cNvPr id="18" name="Text 16"/>
          <p:cNvSpPr/>
          <p:nvPr/>
        </p:nvSpPr>
        <p:spPr>
          <a:xfrm>
            <a:off x="6432550" y="3139331"/>
            <a:ext cx="4905375" cy="43815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The O locus recombines far less, which is a second argument in its favour as a vaccine target.</a:t>
            </a:r>
            <a:endParaRPr lang="en-US" sz="1250" dirty="0"/>
          </a:p>
        </p:txBody>
      </p:sp>
      <p:sp>
        <p:nvSpPr>
          <p:cNvPr id="19" name="Shape 17"/>
          <p:cNvSpPr/>
          <p:nvPr/>
        </p:nvSpPr>
        <p:spPr>
          <a:xfrm>
            <a:off x="6248400" y="3812431"/>
            <a:ext cx="5130800" cy="956270"/>
          </a:xfrm>
          <a:prstGeom prst="roundRect">
            <a:avLst>
              <a:gd name="adj" fmla="val 5312"/>
            </a:avLst>
          </a:prstGeom>
          <a:solidFill>
            <a:srgbClr val="F1E6DA"/>
          </a:solidFill>
          <a:ln/>
        </p:spPr>
      </p:sp>
      <p:sp>
        <p:nvSpPr>
          <p:cNvPr id="20" name="Shape 18"/>
          <p:cNvSpPr/>
          <p:nvPr/>
        </p:nvSpPr>
        <p:spPr>
          <a:xfrm>
            <a:off x="6248400" y="3812431"/>
            <a:ext cx="5130800" cy="956270"/>
          </a:xfrm>
          <a:custGeom>
            <a:avLst/>
            <a:gdLst/>
            <a:ahLst/>
            <a:cxnLst/>
            <a:rect l="l" t="t" r="r" b="b"/>
            <a:pathLst>
              <a:path w="5130800" h="956270">
                <a:moveTo>
                  <a:pt x="50800" y="956270"/>
                </a:moveTo>
                <a:lnTo>
                  <a:pt x="50800" y="956270"/>
                </a:lnTo>
                <a:arcTo hR="50800" wR="50800" stAng="5400000" swAng="5400000"/>
                <a:lnTo>
                  <a:pt x="0" y="50800"/>
                </a:lnTo>
                <a:arcTo hR="50800" wR="50800" stAng="10800000" swAng="5400000"/>
                <a:lnTo>
                  <a:pt x="50800" y="0"/>
                </a:lnTo>
                <a:lnTo>
                  <a:pt x="50800" y="956270"/>
                </a:lnTo>
                <a:close/>
              </a:path>
            </a:pathLst>
          </a:custGeom>
          <a:solidFill>
            <a:srgbClr val="6D2637"/>
          </a:solidFill>
          <a:ln/>
        </p:spPr>
      </p:sp>
      <p:sp>
        <p:nvSpPr>
          <p:cNvPr id="21" name="Text 19"/>
          <p:cNvSpPr/>
          <p:nvPr/>
        </p:nvSpPr>
        <p:spPr>
          <a:xfrm>
            <a:off x="6477000" y="3952131"/>
            <a:ext cx="486613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6D2637"/>
                </a:solidFill>
                <a:latin typeface="Carlito" pitchFamily="34" charset="0"/>
                <a:ea typeface="Carlito" pitchFamily="34" charset="-122"/>
                <a:cs typeface="Carlito" pitchFamily="34" charset="-120"/>
              </a:rPr>
              <a:t>Think back to Day 7</a:t>
            </a:r>
            <a:endParaRPr lang="en-US" sz="1400" dirty="0"/>
          </a:p>
        </p:txBody>
      </p:sp>
      <p:sp>
        <p:nvSpPr>
          <p:cNvPr id="22" name="Text 20"/>
          <p:cNvSpPr/>
          <p:nvPr/>
        </p:nvSpPr>
        <p:spPr>
          <a:xfrm>
            <a:off x="6477000" y="4216251"/>
            <a:ext cx="4866132" cy="43815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This is why the capsule difference in </a:t>
            </a:r>
            <a:r>
              <a:rPr lang="en-US" sz="1250" dirty="0">
                <a:solidFill>
                  <a:srgbClr val="273003"/>
                </a:solidFill>
                <a:latin typeface="Carlito" pitchFamily="34" charset="0"/>
                <a:ea typeface="Carlito" pitchFamily="34" charset="-122"/>
                <a:cs typeface="Carlito" pitchFamily="34" charset="-120"/>
              </a:rPr>
              <a:t>BKR8JH</a:t>
            </a:r>
            <a:r>
              <a:rPr lang="en-US" sz="1250" dirty="0">
                <a:solidFill>
                  <a:srgbClr val="3A322C"/>
                </a:solidFill>
                <a:latin typeface="Carlito" pitchFamily="34" charset="0"/>
                <a:ea typeface="Carlito" pitchFamily="34" charset="-122"/>
                <a:cs typeface="Carlito" pitchFamily="34" charset="-120"/>
              </a:rPr>
              <a:t> was only a prompt to look harder, and the SNP distance was the answer.</a:t>
            </a:r>
            <a:endParaRPr lang="en-US" sz="1250" dirty="0"/>
          </a:p>
        </p:txBody>
      </p:sp>
      <p:pic>
        <p:nvPicPr>
          <p:cNvPr id="23"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24" name="Text 2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7 · Capsule, O antigen and vaccines | Day 8</a:t>
            </a:r>
            <a:endParaRPr lang="en-US" sz="1200" dirty="0"/>
          </a:p>
        </p:txBody>
      </p:sp>
      <p:sp>
        <p:nvSpPr>
          <p:cNvPr id="25" name="Text 2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CE00"/>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rcRect l="0" r="0" t="0" b="0"/>
          <a:stretch/>
        </p:blipFill>
        <p:spPr>
          <a:xfrm>
            <a:off x="9372600" y="914400"/>
            <a:ext cx="2819400" cy="5219700"/>
          </a:xfrm>
          <a:prstGeom prst="rect">
            <a:avLst/>
          </a:prstGeom>
        </p:spPr>
      </p:pic>
      <p:sp>
        <p:nvSpPr>
          <p:cNvPr id="3" name="Text 0"/>
          <p:cNvSpPr/>
          <p:nvPr/>
        </p:nvSpPr>
        <p:spPr>
          <a:xfrm>
            <a:off x="0" y="2623840"/>
            <a:ext cx="12557760" cy="30986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891F15"/>
                </a:solidFill>
                <a:latin typeface="Carlito" pitchFamily="34" charset="0"/>
                <a:ea typeface="Carlito" pitchFamily="34" charset="-122"/>
                <a:cs typeface="Carlito" pitchFamily="34" charset="-120"/>
              </a:rPr>
              <a:t>SESSION 2 · 11:00–12:30 · MODULE 7</a:t>
            </a:r>
            <a:endParaRPr lang="en-US" sz="1600" dirty="0"/>
          </a:p>
        </p:txBody>
      </p:sp>
      <p:sp>
        <p:nvSpPr>
          <p:cNvPr id="4" name="Text 1"/>
          <p:cNvSpPr/>
          <p:nvPr>
            <p:ph type="title"/>
          </p:nvPr>
        </p:nvSpPr>
        <p:spPr>
          <a:xfrm>
            <a:off x="0" y="3086100"/>
            <a:ext cx="12557760"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6D2637"/>
                </a:solidFill>
                <a:latin typeface="Carlito" pitchFamily="34" charset="0"/>
                <a:ea typeface="Carlito" pitchFamily="34" charset="-122"/>
                <a:cs typeface="Carlito" pitchFamily="34" charset="-120"/>
              </a:rPr>
              <a:t>So what is it good for?</a:t>
            </a:r>
            <a:endParaRPr lang="en-US" sz="4800" dirty="0"/>
          </a:p>
        </p:txBody>
      </p:sp>
      <p:sp>
        <p:nvSpPr>
          <p:cNvPr id="5" name="Text 2"/>
          <p:cNvSpPr/>
          <p:nvPr/>
        </p:nvSpPr>
        <p:spPr>
          <a:xfrm>
            <a:off x="0" y="3903960"/>
            <a:ext cx="1255776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5A1F2E"/>
                </a:solidFill>
                <a:latin typeface="Carlito" pitchFamily="34" charset="0"/>
                <a:ea typeface="Carlito" pitchFamily="34" charset="-122"/>
                <a:cs typeface="Carlito" pitchFamily="34" charset="-120"/>
              </a:rPr>
              <a:t>What serotype does not change, what it does change, and what a vaccine would cover</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D2637"/>
                </a:solidFill>
                <a:latin typeface="Carlito" pitchFamily="34" charset="0"/>
                <a:ea typeface="Carlito" pitchFamily="34" charset="-122"/>
                <a:cs typeface="Carlito" pitchFamily="34" charset="-120"/>
              </a:rPr>
              <a:t>Module 7 · Capsule, O antigen and vaccines | Day 8</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D2637"/>
                </a:solidFill>
                <a:latin typeface="Carlito" pitchFamily="34" charset="0"/>
                <a:ea typeface="Carlito" pitchFamily="34" charset="-122"/>
                <a:cs typeface="Carlito"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891F15"/>
        </a:solidFill>
      </p:bgPr>
    </p:bg>
    <p:spTree>
      <p:nvGrpSpPr>
        <p:cNvPr id="1" name=""/>
        <p:cNvGrpSpPr/>
        <p:nvPr/>
      </p:nvGrpSpPr>
      <p:grpSpPr>
        <a:xfrm>
          <a:off x="0" y="0"/>
          <a:ext cx="0" cy="0"/>
          <a:chOff x="0" y="0"/>
          <a:chExt cx="0" cy="0"/>
        </a:xfrm>
      </p:grpSpPr>
      <p:sp>
        <p:nvSpPr>
          <p:cNvPr id="2" name="Text 0"/>
          <p:cNvSpPr/>
          <p:nvPr/>
        </p:nvSpPr>
        <p:spPr>
          <a:xfrm>
            <a:off x="812800" y="81280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b="1" spc="100" kern="0" dirty="0">
                <a:solidFill>
                  <a:srgbClr val="FFCE00"/>
                </a:solidFill>
                <a:latin typeface="Carlito" pitchFamily="34" charset="0"/>
                <a:ea typeface="Carlito" pitchFamily="34" charset="-122"/>
                <a:cs typeface="Carlito" pitchFamily="34" charset="-120"/>
              </a:rPr>
              <a:t>THE QUESTION TRAINEES ALWAYS ASK</a:t>
            </a:r>
            <a:endParaRPr lang="en-US" sz="1700" dirty="0"/>
          </a:p>
        </p:txBody>
      </p:sp>
      <p:sp>
        <p:nvSpPr>
          <p:cNvPr id="3" name="Text 1"/>
          <p:cNvSpPr/>
          <p:nvPr>
            <p:ph type="title"/>
          </p:nvPr>
        </p:nvSpPr>
        <p:spPr>
          <a:xfrm>
            <a:off x="812800" y="1191220"/>
            <a:ext cx="10883392" cy="491728"/>
          </a:xfrm>
          <a:prstGeom prst="rect">
            <a:avLst/>
          </a:prstGeom>
          <a:noFill/>
          <a:ln/>
        </p:spPr>
        <p:txBody>
          <a:bodyPr wrap="square" lIns="0" tIns="0" rIns="0" bIns="0" rtlCol="0" anchor="t">
            <a:normAutofit/>
          </a:bodyPr>
          <a:lstStyle/>
          <a:p>
            <a:pPr algn="l" indent="0" marL="0">
              <a:lnSpc>
                <a:spcPts val="3672"/>
              </a:lnSpc>
              <a:buNone/>
            </a:pPr>
            <a:r>
              <a:rPr lang="en-US" sz="3400" b="1" i="0" dirty="0">
                <a:solidFill>
                  <a:srgbClr val="F9F2EA"/>
                </a:solidFill>
                <a:latin typeface="Carlito" pitchFamily="34" charset="0"/>
                <a:ea typeface="Carlito" pitchFamily="34" charset="-122"/>
                <a:cs typeface="Carlito" pitchFamily="34" charset="-120"/>
              </a:rPr>
              <a:t>Does the serotype change which antibiotic we give?</a:t>
            </a:r>
            <a:endParaRPr lang="en-US" sz="3400" dirty="0"/>
          </a:p>
        </p:txBody>
      </p:sp>
      <p:sp>
        <p:nvSpPr>
          <p:cNvPr id="4" name="Text 2"/>
          <p:cNvSpPr/>
          <p:nvPr/>
        </p:nvSpPr>
        <p:spPr>
          <a:xfrm>
            <a:off x="812800" y="1835348"/>
            <a:ext cx="1537593" cy="1041400"/>
          </a:xfrm>
          <a:prstGeom prst="rect">
            <a:avLst/>
          </a:prstGeom>
          <a:noFill/>
          <a:ln/>
        </p:spPr>
        <p:txBody>
          <a:bodyPr wrap="none" lIns="0" tIns="0" rIns="0" bIns="0" rtlCol="0" anchor="t">
            <a:normAutofit/>
          </a:bodyPr>
          <a:lstStyle/>
          <a:p>
            <a:pPr algn="l" indent="0" marL="0">
              <a:lnSpc>
                <a:spcPts val="8000"/>
              </a:lnSpc>
              <a:buNone/>
            </a:pPr>
            <a:r>
              <a:rPr lang="en-US" sz="8000" b="1" dirty="0">
                <a:solidFill>
                  <a:srgbClr val="FFCE00"/>
                </a:solidFill>
                <a:latin typeface="Carlito" pitchFamily="34" charset="0"/>
                <a:ea typeface="Carlito" pitchFamily="34" charset="-122"/>
                <a:cs typeface="Carlito" pitchFamily="34" charset="-120"/>
              </a:rPr>
              <a:t>No.</a:t>
            </a:r>
            <a:endParaRPr lang="en-US" sz="8000" dirty="0"/>
          </a:p>
        </p:txBody>
      </p:sp>
      <p:sp>
        <p:nvSpPr>
          <p:cNvPr id="5" name="Text 3"/>
          <p:cNvSpPr/>
          <p:nvPr/>
        </p:nvSpPr>
        <p:spPr>
          <a:xfrm>
            <a:off x="2553593" y="1922363"/>
            <a:ext cx="9090375" cy="86732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9F2EA"/>
                </a:solidFill>
                <a:latin typeface="Carlito" pitchFamily="34" charset="0"/>
                <a:ea typeface="Carlito" pitchFamily="34" charset="-122"/>
                <a:cs typeface="Carlito" pitchFamily="34" charset="-120"/>
              </a:rPr>
              <a:t>The capsule and O antigen are not resistance mechanisms. No K or O type tells you whether an isolate carries </a:t>
            </a:r>
            <a:r>
              <a:rPr lang="en-US" sz="1700" i="1" dirty="0">
                <a:solidFill>
                  <a:srgbClr val="F9F2EA"/>
                </a:solidFill>
                <a:latin typeface="Carlito" pitchFamily="34" charset="0"/>
                <a:ea typeface="Carlito" pitchFamily="34" charset="-122"/>
                <a:cs typeface="Carlito" pitchFamily="34" charset="-120"/>
              </a:rPr>
              <a:t>bla</a:t>
            </a:r>
            <a:r>
              <a:rPr lang="en-US" sz="1700" dirty="0">
                <a:solidFill>
                  <a:srgbClr val="F1D3C9"/>
                </a:solidFill>
                <a:latin typeface="Carlito" pitchFamily="34" charset="0"/>
                <a:ea typeface="Carlito" pitchFamily="34" charset="-122"/>
                <a:cs typeface="Carlito" pitchFamily="34" charset="-120"/>
              </a:rPr>
              <a:t>CTX-M-15</a:t>
            </a:r>
            <a:r>
              <a:rPr lang="en-US" sz="1700" dirty="0">
                <a:solidFill>
                  <a:srgbClr val="F9F2EA"/>
                </a:solidFill>
                <a:latin typeface="Carlito" pitchFamily="34" charset="0"/>
                <a:ea typeface="Carlito" pitchFamily="34" charset="-122"/>
                <a:cs typeface="Carlito" pitchFamily="34" charset="-120"/>
              </a:rPr>
              <a:t>, a carbapenemase or an aminoglycoside-modifying enzyme. </a:t>
            </a:r>
            <a:r>
              <a:rPr lang="en-US" sz="1700" b="1" dirty="0">
                <a:solidFill>
                  <a:srgbClr val="F9F2EA"/>
                </a:solidFill>
                <a:latin typeface="Carlito" pitchFamily="34" charset="0"/>
                <a:ea typeface="Carlito" pitchFamily="34" charset="-122"/>
                <a:cs typeface="Carlito" pitchFamily="34" charset="-120"/>
              </a:rPr>
              <a:t>Susceptibility testing decides therapy.</a:t>
            </a:r>
            <a:endParaRPr lang="en-US" sz="1700" dirty="0"/>
          </a:p>
        </p:txBody>
      </p:sp>
      <p:sp>
        <p:nvSpPr>
          <p:cNvPr id="6" name="Shape 4"/>
          <p:cNvSpPr/>
          <p:nvPr/>
        </p:nvSpPr>
        <p:spPr>
          <a:xfrm>
            <a:off x="812800" y="3029148"/>
            <a:ext cx="3420517" cy="1295251"/>
          </a:xfrm>
          <a:prstGeom prst="roundRect">
            <a:avLst>
              <a:gd name="adj" fmla="val 3922"/>
            </a:avLst>
          </a:prstGeom>
          <a:solidFill>
            <a:srgbClr val="6D2637"/>
          </a:solidFill>
          <a:ln/>
        </p:spPr>
      </p:sp>
      <p:sp>
        <p:nvSpPr>
          <p:cNvPr id="7" name="Text 5"/>
          <p:cNvSpPr/>
          <p:nvPr/>
        </p:nvSpPr>
        <p:spPr>
          <a:xfrm>
            <a:off x="977900" y="3156148"/>
            <a:ext cx="3183026"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FCE00"/>
                </a:solidFill>
                <a:latin typeface="Carlito" pitchFamily="34" charset="0"/>
                <a:ea typeface="Carlito" pitchFamily="34" charset="-122"/>
                <a:cs typeface="Carlito" pitchFamily="34" charset="-120"/>
              </a:rPr>
              <a:t>The classic counter-example</a:t>
            </a:r>
            <a:endParaRPr lang="en-US" sz="1300" dirty="0"/>
          </a:p>
        </p:txBody>
      </p:sp>
      <p:sp>
        <p:nvSpPr>
          <p:cNvPr id="8" name="Text 6"/>
          <p:cNvSpPr/>
          <p:nvPr/>
        </p:nvSpPr>
        <p:spPr>
          <a:xfrm>
            <a:off x="977900" y="3405039"/>
            <a:ext cx="318302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9F2EA"/>
                </a:solidFill>
                <a:latin typeface="Carlito" pitchFamily="34" charset="0"/>
                <a:ea typeface="Carlito" pitchFamily="34" charset="-122"/>
                <a:cs typeface="Carlito" pitchFamily="34" charset="-120"/>
              </a:rPr>
              <a:t>The hypervirulent K1 and K2 strains are typically </a:t>
            </a:r>
            <a:r>
              <a:rPr lang="en-US" sz="1200" b="1" dirty="0">
                <a:solidFill>
                  <a:srgbClr val="F9F2EA"/>
                </a:solidFill>
                <a:latin typeface="Carlito" pitchFamily="34" charset="0"/>
                <a:ea typeface="Carlito" pitchFamily="34" charset="-122"/>
                <a:cs typeface="Carlito" pitchFamily="34" charset="-120"/>
              </a:rPr>
              <a:t>antibiotic-susceptible</a:t>
            </a:r>
            <a:r>
              <a:rPr lang="en-US" sz="1200" dirty="0">
                <a:solidFill>
                  <a:srgbClr val="F9F2EA"/>
                </a:solidFill>
                <a:latin typeface="Carlito" pitchFamily="34" charset="0"/>
                <a:ea typeface="Carlito" pitchFamily="34" charset="-122"/>
                <a:cs typeface="Carlito" pitchFamily="34" charset="-120"/>
              </a:rPr>
              <a:t>. The multidrug-resistant lineages carry quite different capsule types.</a:t>
            </a:r>
            <a:endParaRPr lang="en-US" sz="1200" dirty="0"/>
          </a:p>
        </p:txBody>
      </p:sp>
      <p:sp>
        <p:nvSpPr>
          <p:cNvPr id="9" name="Shape 7"/>
          <p:cNvSpPr/>
          <p:nvPr/>
        </p:nvSpPr>
        <p:spPr>
          <a:xfrm>
            <a:off x="4385717" y="3029148"/>
            <a:ext cx="3420517" cy="1295251"/>
          </a:xfrm>
          <a:prstGeom prst="roundRect">
            <a:avLst>
              <a:gd name="adj" fmla="val 3922"/>
            </a:avLst>
          </a:prstGeom>
          <a:solidFill>
            <a:srgbClr val="6D2637"/>
          </a:solidFill>
          <a:ln/>
        </p:spPr>
      </p:sp>
      <p:sp>
        <p:nvSpPr>
          <p:cNvPr id="10" name="Text 8"/>
          <p:cNvSpPr/>
          <p:nvPr/>
        </p:nvSpPr>
        <p:spPr>
          <a:xfrm>
            <a:off x="4550817" y="3156148"/>
            <a:ext cx="3183026"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FCE00"/>
                </a:solidFill>
                <a:latin typeface="Carlito" pitchFamily="34" charset="0"/>
                <a:ea typeface="Carlito" pitchFamily="34" charset="-122"/>
                <a:cs typeface="Carlito" pitchFamily="34" charset="-120"/>
              </a:rPr>
              <a:t>Associations are not rules</a:t>
            </a:r>
            <a:endParaRPr lang="en-US" sz="1300" dirty="0"/>
          </a:p>
        </p:txBody>
      </p:sp>
      <p:sp>
        <p:nvSpPr>
          <p:cNvPr id="11" name="Text 9"/>
          <p:cNvSpPr/>
          <p:nvPr/>
        </p:nvSpPr>
        <p:spPr>
          <a:xfrm>
            <a:off x="4550817" y="3405039"/>
            <a:ext cx="3183026" cy="81776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9F2EA"/>
                </a:solidFill>
                <a:latin typeface="Carlito" pitchFamily="34" charset="0"/>
                <a:ea typeface="Carlito" pitchFamily="34" charset="-122"/>
                <a:cs typeface="Carlito" pitchFamily="34" charset="-120"/>
              </a:rPr>
              <a:t>Some capsule types do travel with resistant clones, because they travel with the </a:t>
            </a:r>
            <a:r>
              <a:rPr lang="en-US" sz="1200" b="1" dirty="0">
                <a:solidFill>
                  <a:srgbClr val="F9F2EA"/>
                </a:solidFill>
                <a:latin typeface="Carlito" pitchFamily="34" charset="0"/>
                <a:ea typeface="Carlito" pitchFamily="34" charset="-122"/>
                <a:cs typeface="Carlito" pitchFamily="34" charset="-120"/>
              </a:rPr>
              <a:t>lineage</a:t>
            </a:r>
            <a:r>
              <a:rPr lang="en-US" sz="1200" dirty="0">
                <a:solidFill>
                  <a:srgbClr val="F9F2EA"/>
                </a:solidFill>
                <a:latin typeface="Carlito" pitchFamily="34" charset="0"/>
                <a:ea typeface="Carlito" pitchFamily="34" charset="-122"/>
                <a:cs typeface="Carlito" pitchFamily="34" charset="-120"/>
              </a:rPr>
              <a:t>. That is epidemiology, and it is far too loose to treat a baby on.</a:t>
            </a:r>
            <a:endParaRPr lang="en-US" sz="1200" dirty="0"/>
          </a:p>
        </p:txBody>
      </p:sp>
      <p:sp>
        <p:nvSpPr>
          <p:cNvPr id="12" name="Shape 10"/>
          <p:cNvSpPr/>
          <p:nvPr/>
        </p:nvSpPr>
        <p:spPr>
          <a:xfrm>
            <a:off x="7958634" y="3029148"/>
            <a:ext cx="3420566" cy="1295251"/>
          </a:xfrm>
          <a:prstGeom prst="roundRect">
            <a:avLst>
              <a:gd name="adj" fmla="val 3922"/>
            </a:avLst>
          </a:prstGeom>
          <a:solidFill>
            <a:srgbClr val="6D2637"/>
          </a:solidFill>
          <a:ln/>
        </p:spPr>
      </p:sp>
      <p:sp>
        <p:nvSpPr>
          <p:cNvPr id="13" name="Text 11"/>
          <p:cNvSpPr/>
          <p:nvPr/>
        </p:nvSpPr>
        <p:spPr>
          <a:xfrm>
            <a:off x="8123734" y="3156148"/>
            <a:ext cx="3183077"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FCE00"/>
                </a:solidFill>
                <a:latin typeface="Carlito" pitchFamily="34" charset="0"/>
                <a:ea typeface="Carlito" pitchFamily="34" charset="-122"/>
                <a:cs typeface="Carlito" pitchFamily="34" charset="-120"/>
              </a:rPr>
              <a:t>What does decide</a:t>
            </a:r>
            <a:endParaRPr lang="en-US" sz="1300" dirty="0"/>
          </a:p>
        </p:txBody>
      </p:sp>
      <p:sp>
        <p:nvSpPr>
          <p:cNvPr id="14" name="Text 12"/>
          <p:cNvSpPr/>
          <p:nvPr/>
        </p:nvSpPr>
        <p:spPr>
          <a:xfrm>
            <a:off x="8123734" y="3405039"/>
            <a:ext cx="3183077"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9F2EA"/>
                </a:solidFill>
                <a:latin typeface="Carlito" pitchFamily="34" charset="0"/>
                <a:ea typeface="Carlito" pitchFamily="34" charset="-122"/>
                <a:cs typeface="Carlito" pitchFamily="34" charset="-120"/>
              </a:rPr>
              <a:t>AST first, and the resistance genes from Day 4 as a check on it. Never report a K or O type as a treatment recommendation.</a:t>
            </a:r>
            <a:endParaRPr lang="en-US" sz="1200" dirty="0"/>
          </a:p>
        </p:txBody>
      </p:sp>
      <p:pic>
        <p:nvPicPr>
          <p:cNvPr id="15" name="Image 0" descr="ILRI and CGIAR logos">    </p:cNvPr>
          <p:cNvPicPr>
            <a:picLocks noChangeAspect="1"/>
          </p:cNvPicPr>
          <p:nvPr/>
        </p:nvPicPr>
        <p:blipFill>
          <a:blip r:embed="rId1"/>
          <a:srcRect l="0" r="0" t="-2332" b="-2332"/>
          <a:stretch/>
        </p:blipFill>
        <p:spPr>
          <a:xfrm>
            <a:off x="10033000" y="254000"/>
            <a:ext cx="1346200" cy="381000"/>
          </a:xfrm>
          <a:prstGeom prst="rect">
            <a:avLst/>
          </a:prstGeom>
        </p:spPr>
      </p:pic>
      <p:sp>
        <p:nvSpPr>
          <p:cNvPr id="16" name="Text 1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B5A8"/>
                </a:solidFill>
                <a:latin typeface="Carlito" pitchFamily="34" charset="0"/>
                <a:ea typeface="Carlito" pitchFamily="34" charset="-122"/>
                <a:cs typeface="Carlito" pitchFamily="34" charset="-120"/>
              </a:rPr>
              <a:t>Module 7 · Capsule, O antigen and vaccines | Day 8</a:t>
            </a:r>
            <a:endParaRPr lang="en-US" sz="1200" dirty="0"/>
          </a:p>
        </p:txBody>
      </p:sp>
      <p:sp>
        <p:nvSpPr>
          <p:cNvPr id="17" name="Text 1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3B5A8"/>
                </a:solidFill>
                <a:latin typeface="Carlito" pitchFamily="34" charset="0"/>
                <a:ea typeface="Carlito" pitchFamily="34" charset="-122"/>
                <a:cs typeface="Carlito"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Where serotype </a:t>
            </a:r>
            <a:r>
              <a:rPr lang="en-US" sz="3600" b="1" i="1" dirty="0">
                <a:solidFill>
                  <a:srgbClr val="6D2637"/>
                </a:solidFill>
                <a:latin typeface="Carlito" pitchFamily="34" charset="0"/>
                <a:ea typeface="Carlito" pitchFamily="34" charset="-122"/>
                <a:cs typeface="Carlito" pitchFamily="34" charset="-120"/>
              </a:rPr>
              <a:t>does</a:t>
            </a:r>
            <a:r>
              <a:rPr lang="en-US" sz="3600" b="1" i="0" dirty="0">
                <a:solidFill>
                  <a:srgbClr val="6D2637"/>
                </a:solidFill>
                <a:latin typeface="Carlito" pitchFamily="34" charset="0"/>
                <a:ea typeface="Carlito" pitchFamily="34" charset="-122"/>
                <a:cs typeface="Carlito" pitchFamily="34" charset="-120"/>
              </a:rPr>
              <a:t> change things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645890"/>
            <a:ext cx="5194300" cy="1177925"/>
          </a:xfrm>
          <a:prstGeom prst="roundRect">
            <a:avLst>
              <a:gd name="adj" fmla="val 4313"/>
            </a:avLst>
          </a:prstGeom>
          <a:solidFill>
            <a:srgbClr val="FFFFFF"/>
          </a:solidFill>
          <a:ln/>
        </p:spPr>
      </p:sp>
      <p:sp>
        <p:nvSpPr>
          <p:cNvPr id="5" name="Shape 3"/>
          <p:cNvSpPr/>
          <p:nvPr/>
        </p:nvSpPr>
        <p:spPr>
          <a:xfrm>
            <a:off x="812800" y="1645890"/>
            <a:ext cx="5194300" cy="1177925"/>
          </a:xfrm>
          <a:custGeom>
            <a:avLst/>
            <a:gdLst/>
            <a:ahLst/>
            <a:cxnLst/>
            <a:rect l="l" t="t" r="r" b="b"/>
            <a:pathLst>
              <a:path w="5194300" h="1177925">
                <a:moveTo>
                  <a:pt x="50800" y="1177925"/>
                </a:moveTo>
                <a:lnTo>
                  <a:pt x="50800" y="1177925"/>
                </a:lnTo>
                <a:arcTo hR="50800" wR="50800" stAng="5400000" swAng="5400000"/>
                <a:lnTo>
                  <a:pt x="0" y="50800"/>
                </a:lnTo>
                <a:arcTo hR="50800" wR="50800" stAng="10800000" swAng="5400000"/>
                <a:lnTo>
                  <a:pt x="50800" y="0"/>
                </a:lnTo>
                <a:lnTo>
                  <a:pt x="50800" y="1177925"/>
                </a:lnTo>
                <a:close/>
              </a:path>
            </a:pathLst>
          </a:custGeom>
          <a:solidFill>
            <a:srgbClr val="273003"/>
          </a:solidFill>
          <a:ln/>
        </p:spPr>
      </p:sp>
      <p:sp>
        <p:nvSpPr>
          <p:cNvPr id="6" name="Text 4"/>
          <p:cNvSpPr/>
          <p:nvPr/>
        </p:nvSpPr>
        <p:spPr>
          <a:xfrm>
            <a:off x="1054100" y="1785590"/>
            <a:ext cx="49053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73003"/>
                </a:solidFill>
                <a:latin typeface="Carlito" pitchFamily="34" charset="0"/>
                <a:ea typeface="Carlito" pitchFamily="34" charset="-122"/>
                <a:cs typeface="Carlito" pitchFamily="34" charset="-120"/>
              </a:rPr>
              <a:t>Vaccines — the main reason we type</a:t>
            </a:r>
            <a:endParaRPr lang="en-US" sz="1500" dirty="0"/>
          </a:p>
        </p:txBody>
      </p:sp>
      <p:sp>
        <p:nvSpPr>
          <p:cNvPr id="7" name="Text 5"/>
          <p:cNvSpPr/>
          <p:nvPr/>
        </p:nvSpPr>
        <p:spPr>
          <a:xfrm>
            <a:off x="1054100" y="2064990"/>
            <a:ext cx="4905375" cy="64452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A maternal vaccine has to match the antigens circulating where the mothers are. Serotype distributions </a:t>
            </a:r>
            <a:r>
              <a:rPr lang="en-US" sz="1250" b="1" dirty="0">
                <a:solidFill>
                  <a:srgbClr val="3A322C"/>
                </a:solidFill>
                <a:latin typeface="Carlito" pitchFamily="34" charset="0"/>
                <a:ea typeface="Carlito" pitchFamily="34" charset="-122"/>
                <a:cs typeface="Carlito" pitchFamily="34" charset="-120"/>
              </a:rPr>
              <a:t>are</a:t>
            </a:r>
            <a:r>
              <a:rPr lang="en-US" sz="1250" dirty="0">
                <a:solidFill>
                  <a:srgbClr val="3A322C"/>
                </a:solidFill>
                <a:latin typeface="Carlito" pitchFamily="34" charset="0"/>
                <a:ea typeface="Carlito" pitchFamily="34" charset="-122"/>
                <a:cs typeface="Carlito" pitchFamily="34" charset="-120"/>
              </a:rPr>
              <a:t> the design input, and they are what your surveillance contributes.</a:t>
            </a:r>
            <a:endParaRPr lang="en-US" sz="1250" dirty="0"/>
          </a:p>
        </p:txBody>
      </p:sp>
      <p:sp>
        <p:nvSpPr>
          <p:cNvPr id="8" name="Shape 6"/>
          <p:cNvSpPr/>
          <p:nvPr/>
        </p:nvSpPr>
        <p:spPr>
          <a:xfrm>
            <a:off x="6184900" y="1645890"/>
            <a:ext cx="5194300" cy="1177925"/>
          </a:xfrm>
          <a:prstGeom prst="roundRect">
            <a:avLst>
              <a:gd name="adj" fmla="val 4313"/>
            </a:avLst>
          </a:prstGeom>
          <a:solidFill>
            <a:srgbClr val="FFFFFF"/>
          </a:solidFill>
          <a:ln/>
        </p:spPr>
      </p:sp>
      <p:sp>
        <p:nvSpPr>
          <p:cNvPr id="9" name="Shape 7"/>
          <p:cNvSpPr/>
          <p:nvPr/>
        </p:nvSpPr>
        <p:spPr>
          <a:xfrm>
            <a:off x="6184900" y="1645890"/>
            <a:ext cx="5194300" cy="1177925"/>
          </a:xfrm>
          <a:custGeom>
            <a:avLst/>
            <a:gdLst/>
            <a:ahLst/>
            <a:cxnLst/>
            <a:rect l="l" t="t" r="r" b="b"/>
            <a:pathLst>
              <a:path w="5194300" h="1177925">
                <a:moveTo>
                  <a:pt x="50800" y="1177925"/>
                </a:moveTo>
                <a:lnTo>
                  <a:pt x="50800" y="1177925"/>
                </a:lnTo>
                <a:arcTo hR="50800" wR="50800" stAng="5400000" swAng="5400000"/>
                <a:lnTo>
                  <a:pt x="0" y="50800"/>
                </a:lnTo>
                <a:arcTo hR="50800" wR="50800" stAng="10800000" swAng="5400000"/>
                <a:lnTo>
                  <a:pt x="50800" y="0"/>
                </a:lnTo>
                <a:lnTo>
                  <a:pt x="50800" y="1177925"/>
                </a:lnTo>
                <a:close/>
              </a:path>
            </a:pathLst>
          </a:custGeom>
          <a:solidFill>
            <a:srgbClr val="273003"/>
          </a:solidFill>
          <a:ln/>
        </p:spPr>
      </p:sp>
      <p:sp>
        <p:nvSpPr>
          <p:cNvPr id="10" name="Text 8"/>
          <p:cNvSpPr/>
          <p:nvPr/>
        </p:nvSpPr>
        <p:spPr>
          <a:xfrm>
            <a:off x="6426200" y="1785590"/>
            <a:ext cx="49053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73003"/>
                </a:solidFill>
                <a:latin typeface="Carlito" pitchFamily="34" charset="0"/>
                <a:ea typeface="Carlito" pitchFamily="34" charset="-122"/>
                <a:cs typeface="Carlito" pitchFamily="34" charset="-120"/>
              </a:rPr>
              <a:t>Monoclonal antibodies</a:t>
            </a:r>
            <a:endParaRPr lang="en-US" sz="1500" dirty="0"/>
          </a:p>
        </p:txBody>
      </p:sp>
      <p:sp>
        <p:nvSpPr>
          <p:cNvPr id="11" name="Text 9"/>
          <p:cNvSpPr/>
          <p:nvPr/>
        </p:nvSpPr>
        <p:spPr>
          <a:xfrm>
            <a:off x="6426200" y="2064990"/>
            <a:ext cx="4905375" cy="64452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Antibody-based prophylaxis and therapy is antigen-specific in exactly the same way. Knowing the local O distribution says whether a given mAb could ever be relevant here.</a:t>
            </a:r>
            <a:endParaRPr lang="en-US" sz="1250" dirty="0"/>
          </a:p>
        </p:txBody>
      </p:sp>
      <p:sp>
        <p:nvSpPr>
          <p:cNvPr id="12" name="Shape 10"/>
          <p:cNvSpPr/>
          <p:nvPr/>
        </p:nvSpPr>
        <p:spPr>
          <a:xfrm>
            <a:off x="812800" y="3001615"/>
            <a:ext cx="5194300" cy="1177925"/>
          </a:xfrm>
          <a:prstGeom prst="roundRect">
            <a:avLst>
              <a:gd name="adj" fmla="val 4313"/>
            </a:avLst>
          </a:prstGeom>
          <a:solidFill>
            <a:srgbClr val="FFFFFF"/>
          </a:solidFill>
          <a:ln/>
        </p:spPr>
      </p:sp>
      <p:sp>
        <p:nvSpPr>
          <p:cNvPr id="13" name="Shape 11"/>
          <p:cNvSpPr/>
          <p:nvPr/>
        </p:nvSpPr>
        <p:spPr>
          <a:xfrm>
            <a:off x="812800" y="3001615"/>
            <a:ext cx="5194300" cy="1177925"/>
          </a:xfrm>
          <a:custGeom>
            <a:avLst/>
            <a:gdLst/>
            <a:ahLst/>
            <a:cxnLst/>
            <a:rect l="l" t="t" r="r" b="b"/>
            <a:pathLst>
              <a:path w="5194300" h="1177925">
                <a:moveTo>
                  <a:pt x="50800" y="1177925"/>
                </a:moveTo>
                <a:lnTo>
                  <a:pt x="50800" y="1177925"/>
                </a:lnTo>
                <a:arcTo hR="50800" wR="50800" stAng="5400000" swAng="5400000"/>
                <a:lnTo>
                  <a:pt x="0" y="50800"/>
                </a:lnTo>
                <a:arcTo hR="50800" wR="50800" stAng="10800000" swAng="5400000"/>
                <a:lnTo>
                  <a:pt x="50800" y="0"/>
                </a:lnTo>
                <a:lnTo>
                  <a:pt x="50800" y="1177925"/>
                </a:lnTo>
                <a:close/>
              </a:path>
            </a:pathLst>
          </a:custGeom>
          <a:solidFill>
            <a:srgbClr val="273003"/>
          </a:solidFill>
          <a:ln/>
        </p:spPr>
      </p:sp>
      <p:sp>
        <p:nvSpPr>
          <p:cNvPr id="14" name="Text 12"/>
          <p:cNvSpPr/>
          <p:nvPr/>
        </p:nvSpPr>
        <p:spPr>
          <a:xfrm>
            <a:off x="1054100" y="3141315"/>
            <a:ext cx="49053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73003"/>
                </a:solidFill>
                <a:latin typeface="Carlito" pitchFamily="34" charset="0"/>
                <a:ea typeface="Carlito" pitchFamily="34" charset="-122"/>
                <a:cs typeface="Carlito" pitchFamily="34" charset="-120"/>
              </a:rPr>
              <a:t>Phage therapy</a:t>
            </a:r>
            <a:endParaRPr lang="en-US" sz="1500" dirty="0"/>
          </a:p>
        </p:txBody>
      </p:sp>
      <p:sp>
        <p:nvSpPr>
          <p:cNvPr id="15" name="Text 13"/>
          <p:cNvSpPr/>
          <p:nvPr/>
        </p:nvSpPr>
        <p:spPr>
          <a:xfrm>
            <a:off x="1054100" y="3420715"/>
            <a:ext cx="4905375" cy="64452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Most </a:t>
            </a:r>
            <a:r>
              <a:rPr lang="en-US" sz="1250" i="1" dirty="0">
                <a:solidFill>
                  <a:srgbClr val="3A322C"/>
                </a:solidFill>
                <a:latin typeface="Carlito" pitchFamily="34" charset="0"/>
                <a:ea typeface="Carlito" pitchFamily="34" charset="-122"/>
                <a:cs typeface="Carlito" pitchFamily="34" charset="-120"/>
              </a:rPr>
              <a:t>Klebsiella</a:t>
            </a:r>
            <a:r>
              <a:rPr lang="en-US" sz="1250" dirty="0">
                <a:solidFill>
                  <a:srgbClr val="3A322C"/>
                </a:solidFill>
                <a:latin typeface="Carlito" pitchFamily="34" charset="0"/>
                <a:ea typeface="Carlito" pitchFamily="34" charset="-122"/>
                <a:cs typeface="Carlito" pitchFamily="34" charset="-120"/>
              </a:rPr>
              <a:t> phages bind the capsule, and their depolymerases are </a:t>
            </a:r>
            <a:r>
              <a:rPr lang="en-US" sz="1250" b="1" dirty="0">
                <a:solidFill>
                  <a:srgbClr val="3A322C"/>
                </a:solidFill>
                <a:latin typeface="Carlito" pitchFamily="34" charset="0"/>
                <a:ea typeface="Carlito" pitchFamily="34" charset="-122"/>
                <a:cs typeface="Carlito" pitchFamily="34" charset="-120"/>
              </a:rPr>
              <a:t>K-type specific</a:t>
            </a:r>
            <a:r>
              <a:rPr lang="en-US" sz="1250" dirty="0">
                <a:solidFill>
                  <a:srgbClr val="3A322C"/>
                </a:solidFill>
                <a:latin typeface="Carlito" pitchFamily="34" charset="0"/>
                <a:ea typeface="Carlito" pitchFamily="34" charset="-122"/>
                <a:cs typeface="Carlito" pitchFamily="34" charset="-120"/>
              </a:rPr>
              <a:t>. So the K type genuinely predicts which phages could work — a live question for untreatable isolates.</a:t>
            </a:r>
            <a:endParaRPr lang="en-US" sz="1250" dirty="0"/>
          </a:p>
        </p:txBody>
      </p:sp>
      <p:sp>
        <p:nvSpPr>
          <p:cNvPr id="16" name="Shape 14"/>
          <p:cNvSpPr/>
          <p:nvPr/>
        </p:nvSpPr>
        <p:spPr>
          <a:xfrm>
            <a:off x="6184900" y="3001615"/>
            <a:ext cx="5194300" cy="1177925"/>
          </a:xfrm>
          <a:prstGeom prst="roundRect">
            <a:avLst>
              <a:gd name="adj" fmla="val 4313"/>
            </a:avLst>
          </a:prstGeom>
          <a:solidFill>
            <a:srgbClr val="FFFFFF"/>
          </a:solidFill>
          <a:ln/>
        </p:spPr>
      </p:sp>
      <p:sp>
        <p:nvSpPr>
          <p:cNvPr id="17" name="Shape 15"/>
          <p:cNvSpPr/>
          <p:nvPr/>
        </p:nvSpPr>
        <p:spPr>
          <a:xfrm>
            <a:off x="6184900" y="3001615"/>
            <a:ext cx="5194300" cy="1177925"/>
          </a:xfrm>
          <a:custGeom>
            <a:avLst/>
            <a:gdLst/>
            <a:ahLst/>
            <a:cxnLst/>
            <a:rect l="l" t="t" r="r" b="b"/>
            <a:pathLst>
              <a:path w="5194300" h="1177925">
                <a:moveTo>
                  <a:pt x="50800" y="1177925"/>
                </a:moveTo>
                <a:lnTo>
                  <a:pt x="50800" y="1177925"/>
                </a:lnTo>
                <a:arcTo hR="50800" wR="50800" stAng="5400000" swAng="5400000"/>
                <a:lnTo>
                  <a:pt x="0" y="50800"/>
                </a:lnTo>
                <a:arcTo hR="50800" wR="50800" stAng="10800000" swAng="5400000"/>
                <a:lnTo>
                  <a:pt x="50800" y="0"/>
                </a:lnTo>
                <a:lnTo>
                  <a:pt x="50800" y="1177925"/>
                </a:lnTo>
                <a:close/>
              </a:path>
            </a:pathLst>
          </a:custGeom>
          <a:solidFill>
            <a:srgbClr val="273003"/>
          </a:solidFill>
          <a:ln/>
        </p:spPr>
      </p:sp>
      <p:sp>
        <p:nvSpPr>
          <p:cNvPr id="18" name="Text 16"/>
          <p:cNvSpPr/>
          <p:nvPr/>
        </p:nvSpPr>
        <p:spPr>
          <a:xfrm>
            <a:off x="6426200" y="3141315"/>
            <a:ext cx="49053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73003"/>
                </a:solidFill>
                <a:latin typeface="Carlito" pitchFamily="34" charset="0"/>
                <a:ea typeface="Carlito" pitchFamily="34" charset="-122"/>
                <a:cs typeface="Carlito" pitchFamily="34" charset="-120"/>
              </a:rPr>
              <a:t>Surveillance and outbreaks</a:t>
            </a:r>
            <a:endParaRPr lang="en-US" sz="1500" dirty="0"/>
          </a:p>
        </p:txBody>
      </p:sp>
      <p:sp>
        <p:nvSpPr>
          <p:cNvPr id="19" name="Text 17"/>
          <p:cNvSpPr/>
          <p:nvPr/>
        </p:nvSpPr>
        <p:spPr>
          <a:xfrm>
            <a:off x="6426200" y="3420715"/>
            <a:ext cx="4905375" cy="64452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A cheap extra marker that is independent of the ST: useful for describing a collection and for raising questions, as it did yesterday. Never for confirming transmission.</a:t>
            </a:r>
            <a:endParaRPr lang="en-US" sz="1250" dirty="0"/>
          </a:p>
        </p:txBody>
      </p:sp>
      <p:sp>
        <p:nvSpPr>
          <p:cNvPr id="20" name="Shape 18"/>
          <p:cNvSpPr/>
          <p:nvPr/>
        </p:nvSpPr>
        <p:spPr>
          <a:xfrm>
            <a:off x="812800" y="4370040"/>
            <a:ext cx="10566400" cy="767655"/>
          </a:xfrm>
          <a:prstGeom prst="roundRect">
            <a:avLst>
              <a:gd name="adj" fmla="val 9926"/>
            </a:avLst>
          </a:prstGeom>
          <a:solidFill>
            <a:srgbClr val="273003"/>
          </a:solidFill>
          <a:ln/>
        </p:spPr>
      </p:sp>
      <p:sp>
        <p:nvSpPr>
          <p:cNvPr id="21" name="Text 19"/>
          <p:cNvSpPr/>
          <p:nvPr/>
        </p:nvSpPr>
        <p:spPr>
          <a:xfrm>
            <a:off x="1041400" y="4620518"/>
            <a:ext cx="1196677" cy="292100"/>
          </a:xfrm>
          <a:prstGeom prst="rect">
            <a:avLst/>
          </a:prstGeom>
          <a:noFill/>
          <a:ln/>
        </p:spPr>
        <p:txBody>
          <a:bodyPr wrap="none" lIns="0" tIns="0" rIns="0" bIns="0" rtlCol="0" anchor="t">
            <a:normAutofit/>
          </a:bodyPr>
          <a:lstStyle/>
          <a:p>
            <a:pPr algn="l" indent="0" marL="0">
              <a:lnSpc>
                <a:spcPts val="2100"/>
              </a:lnSpc>
              <a:buNone/>
            </a:pPr>
            <a:r>
              <a:rPr lang="en-US" sz="1500" b="1" dirty="0">
                <a:solidFill>
                  <a:srgbClr val="FFCE00"/>
                </a:solidFill>
                <a:latin typeface="Carlito" pitchFamily="34" charset="0"/>
                <a:ea typeface="Carlito" pitchFamily="34" charset="-122"/>
                <a:cs typeface="Carlito" pitchFamily="34" charset="-120"/>
              </a:rPr>
              <a:t>The honest summary</a:t>
            </a:r>
            <a:endParaRPr lang="en-US" sz="1500" dirty="0"/>
          </a:p>
        </p:txBody>
      </p:sp>
      <p:sp>
        <p:nvSpPr>
          <p:cNvPr id="22" name="Text 20"/>
          <p:cNvSpPr/>
          <p:nvPr/>
        </p:nvSpPr>
        <p:spPr>
          <a:xfrm>
            <a:off x="2339677" y="4522440"/>
            <a:ext cx="9075250" cy="488255"/>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F9F2EA"/>
                </a:solidFill>
                <a:latin typeface="Carlito" pitchFamily="34" charset="0"/>
                <a:ea typeface="Carlito" pitchFamily="34" charset="-122"/>
                <a:cs typeface="Carlito" pitchFamily="34" charset="-120"/>
              </a:rPr>
              <a:t>Serotyping is a </a:t>
            </a:r>
            <a:r>
              <a:rPr lang="en-US" sz="1350" b="1" dirty="0">
                <a:solidFill>
                  <a:srgbClr val="F9F2EA"/>
                </a:solidFill>
                <a:latin typeface="Carlito" pitchFamily="34" charset="0"/>
                <a:ea typeface="Carlito" pitchFamily="34" charset="-122"/>
                <a:cs typeface="Carlito" pitchFamily="34" charset="-120"/>
              </a:rPr>
              <a:t>population-level</a:t>
            </a:r>
            <a:r>
              <a:rPr lang="en-US" sz="1350" dirty="0">
                <a:solidFill>
                  <a:srgbClr val="F9F2EA"/>
                </a:solidFill>
                <a:latin typeface="Carlito" pitchFamily="34" charset="0"/>
                <a:ea typeface="Carlito" pitchFamily="34" charset="-122"/>
                <a:cs typeface="Carlito" pitchFamily="34" charset="-120"/>
              </a:rPr>
              <a:t> tool that informs prevention. It is not a bedside test, and the one place it bears on an individual patient is the hypervirulence question on the next slide.</a:t>
            </a:r>
            <a:endParaRPr lang="en-US" sz="1350" dirty="0"/>
          </a:p>
        </p:txBody>
      </p:sp>
      <p:pic>
        <p:nvPicPr>
          <p:cNvPr id="23"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24" name="Text 2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7 · Capsule, O antigen and vaccines | Day 8</a:t>
            </a:r>
            <a:endParaRPr lang="en-US" sz="1200" dirty="0"/>
          </a:p>
        </p:txBody>
      </p:sp>
      <p:sp>
        <p:nvSpPr>
          <p:cNvPr id="25" name="Text 2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The one clinical signal: hypervirulence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633190"/>
            <a:ext cx="5207000" cy="1137245"/>
          </a:xfrm>
          <a:prstGeom prst="roundRect">
            <a:avLst>
              <a:gd name="adj" fmla="val 4467"/>
            </a:avLst>
          </a:prstGeom>
          <a:solidFill>
            <a:srgbClr val="FFFFFF"/>
          </a:solidFill>
          <a:ln/>
        </p:spPr>
      </p:sp>
      <p:sp>
        <p:nvSpPr>
          <p:cNvPr id="5" name="Shape 3"/>
          <p:cNvSpPr/>
          <p:nvPr/>
        </p:nvSpPr>
        <p:spPr>
          <a:xfrm>
            <a:off x="812800" y="1633190"/>
            <a:ext cx="5207000" cy="1137245"/>
          </a:xfrm>
          <a:custGeom>
            <a:avLst/>
            <a:gdLst/>
            <a:ahLst/>
            <a:cxnLst/>
            <a:rect l="l" t="t" r="r" b="b"/>
            <a:pathLst>
              <a:path w="5207000" h="1137245">
                <a:moveTo>
                  <a:pt x="50800" y="1137245"/>
                </a:moveTo>
                <a:lnTo>
                  <a:pt x="50800" y="1137245"/>
                </a:lnTo>
                <a:arcTo hR="50800" wR="50800" stAng="5400000" swAng="5400000"/>
                <a:lnTo>
                  <a:pt x="0" y="50800"/>
                </a:lnTo>
                <a:arcTo hR="50800" wR="50800" stAng="10800000" swAng="5400000"/>
                <a:lnTo>
                  <a:pt x="50800" y="0"/>
                </a:lnTo>
                <a:lnTo>
                  <a:pt x="50800" y="1137245"/>
                </a:lnTo>
                <a:close/>
              </a:path>
            </a:pathLst>
          </a:custGeom>
          <a:solidFill>
            <a:srgbClr val="891F15"/>
          </a:solidFill>
          <a:ln/>
        </p:spPr>
      </p:sp>
      <p:sp>
        <p:nvSpPr>
          <p:cNvPr id="6" name="Text 4"/>
          <p:cNvSpPr/>
          <p:nvPr/>
        </p:nvSpPr>
        <p:spPr>
          <a:xfrm>
            <a:off x="1041400" y="1760190"/>
            <a:ext cx="494461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K1 and K2 are the classic hypervirulent capsules</a:t>
            </a:r>
            <a:endParaRPr lang="en-US" sz="1400" dirty="0"/>
          </a:p>
        </p:txBody>
      </p:sp>
      <p:sp>
        <p:nvSpPr>
          <p:cNvPr id="7" name="Text 5"/>
          <p:cNvSpPr/>
          <p:nvPr/>
        </p:nvSpPr>
        <p:spPr>
          <a:xfrm>
            <a:off x="1041400" y="2024311"/>
            <a:ext cx="4944618" cy="64452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Usually in ST23, ST86 and a few other lineages. They are associated with liver abscess, endophthalmitis and other metastatic infection in otherwise healthy people.</a:t>
            </a:r>
            <a:endParaRPr lang="en-US" sz="1250" dirty="0"/>
          </a:p>
        </p:txBody>
      </p:sp>
      <p:sp>
        <p:nvSpPr>
          <p:cNvPr id="8" name="Shape 6"/>
          <p:cNvSpPr/>
          <p:nvPr/>
        </p:nvSpPr>
        <p:spPr>
          <a:xfrm>
            <a:off x="812800" y="2884736"/>
            <a:ext cx="5207000" cy="1600795"/>
          </a:xfrm>
          <a:prstGeom prst="roundRect">
            <a:avLst>
              <a:gd name="adj" fmla="val 3173"/>
            </a:avLst>
          </a:prstGeom>
          <a:solidFill>
            <a:srgbClr val="6D2637"/>
          </a:solidFill>
          <a:ln/>
        </p:spPr>
      </p:sp>
      <p:sp>
        <p:nvSpPr>
          <p:cNvPr id="9" name="Text 7"/>
          <p:cNvSpPr/>
          <p:nvPr/>
        </p:nvSpPr>
        <p:spPr>
          <a:xfrm>
            <a:off x="990600" y="3011736"/>
            <a:ext cx="499694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CE00"/>
                </a:solidFill>
                <a:latin typeface="Carlito" pitchFamily="34" charset="0"/>
                <a:ea typeface="Carlito" pitchFamily="34" charset="-122"/>
                <a:cs typeface="Carlito" pitchFamily="34" charset="-120"/>
              </a:rPr>
              <a:t>But the capsule does not define it</a:t>
            </a:r>
            <a:endParaRPr lang="en-US" sz="1400" dirty="0"/>
          </a:p>
        </p:txBody>
      </p:sp>
      <p:sp>
        <p:nvSpPr>
          <p:cNvPr id="10" name="Text 8"/>
          <p:cNvSpPr/>
          <p:nvPr/>
        </p:nvSpPr>
        <p:spPr>
          <a:xfrm>
            <a:off x="990600" y="3275856"/>
            <a:ext cx="4996942" cy="85090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F9F2EA"/>
                </a:solidFill>
                <a:latin typeface="Carlito" pitchFamily="34" charset="0"/>
                <a:ea typeface="Carlito" pitchFamily="34" charset="-122"/>
                <a:cs typeface="Carlito" pitchFamily="34" charset="-120"/>
              </a:rPr>
              <a:t>Hypervirulence is defined by the </a:t>
            </a:r>
            <a:r>
              <a:rPr lang="en-US" sz="1250" b="1" dirty="0">
                <a:solidFill>
                  <a:srgbClr val="F9F2EA"/>
                </a:solidFill>
                <a:latin typeface="Carlito" pitchFamily="34" charset="0"/>
                <a:ea typeface="Carlito" pitchFamily="34" charset="-122"/>
                <a:cs typeface="Carlito" pitchFamily="34" charset="-120"/>
              </a:rPr>
              <a:t>virulence plasmid</a:t>
            </a:r>
            <a:r>
              <a:rPr lang="en-US" sz="1250" dirty="0">
                <a:solidFill>
                  <a:srgbClr val="F9F2EA"/>
                </a:solidFill>
                <a:latin typeface="Carlito" pitchFamily="34" charset="0"/>
                <a:ea typeface="Carlito" pitchFamily="34" charset="-122"/>
                <a:cs typeface="Carlito" pitchFamily="34" charset="-120"/>
              </a:rPr>
              <a:t>: the siderophore loci </a:t>
            </a:r>
            <a:r>
              <a:rPr lang="en-US" sz="1250" i="1" dirty="0">
                <a:solidFill>
                  <a:srgbClr val="F9F2EA"/>
                </a:solidFill>
                <a:latin typeface="Carlito" pitchFamily="34" charset="0"/>
                <a:ea typeface="Carlito" pitchFamily="34" charset="-122"/>
                <a:cs typeface="Carlito" pitchFamily="34" charset="-120"/>
              </a:rPr>
              <a:t>iuc</a:t>
            </a:r>
            <a:r>
              <a:rPr lang="en-US" sz="1250" dirty="0">
                <a:solidFill>
                  <a:srgbClr val="F9F2EA"/>
                </a:solidFill>
                <a:latin typeface="Carlito" pitchFamily="34" charset="0"/>
                <a:ea typeface="Carlito" pitchFamily="34" charset="-122"/>
                <a:cs typeface="Carlito" pitchFamily="34" charset="-120"/>
              </a:rPr>
              <a:t> (aerobactin) and </a:t>
            </a:r>
            <a:r>
              <a:rPr lang="en-US" sz="1250" i="1" dirty="0">
                <a:solidFill>
                  <a:srgbClr val="F9F2EA"/>
                </a:solidFill>
                <a:latin typeface="Carlito" pitchFamily="34" charset="0"/>
                <a:ea typeface="Carlito" pitchFamily="34" charset="-122"/>
                <a:cs typeface="Carlito" pitchFamily="34" charset="-120"/>
              </a:rPr>
              <a:t>iro</a:t>
            </a:r>
            <a:r>
              <a:rPr lang="en-US" sz="1250" dirty="0">
                <a:solidFill>
                  <a:srgbClr val="F9F2EA"/>
                </a:solidFill>
                <a:latin typeface="Carlito" pitchFamily="34" charset="0"/>
                <a:ea typeface="Carlito" pitchFamily="34" charset="-122"/>
                <a:cs typeface="Carlito" pitchFamily="34" charset="-120"/>
              </a:rPr>
              <a:t>, with </a:t>
            </a:r>
            <a:r>
              <a:rPr lang="en-US" sz="1250" i="1" dirty="0">
                <a:solidFill>
                  <a:srgbClr val="F9F2EA"/>
                </a:solidFill>
                <a:latin typeface="Carlito" pitchFamily="34" charset="0"/>
                <a:ea typeface="Carlito" pitchFamily="34" charset="-122"/>
                <a:cs typeface="Carlito" pitchFamily="34" charset="-120"/>
              </a:rPr>
              <a:t>rmpADC</a:t>
            </a:r>
            <a:r>
              <a:rPr lang="en-US" sz="1250" dirty="0">
                <a:solidFill>
                  <a:srgbClr val="F9F2EA"/>
                </a:solidFill>
                <a:latin typeface="Carlito" pitchFamily="34" charset="0"/>
                <a:ea typeface="Carlito" pitchFamily="34" charset="-122"/>
                <a:cs typeface="Carlito" pitchFamily="34" charset="-120"/>
              </a:rPr>
              <a:t> for capsule upregulation. A K1 isolate without them is not hypervirulent, and an isolate with them need not be K1.</a:t>
            </a:r>
            <a:endParaRPr lang="en-US" sz="1250" dirty="0"/>
          </a:p>
        </p:txBody>
      </p:sp>
      <p:sp>
        <p:nvSpPr>
          <p:cNvPr id="11" name="Text 9"/>
          <p:cNvSpPr/>
          <p:nvPr/>
        </p:nvSpPr>
        <p:spPr>
          <a:xfrm>
            <a:off x="990600" y="4152156"/>
            <a:ext cx="4996942" cy="23177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F9F2EA"/>
                </a:solidFill>
                <a:latin typeface="Carlito" pitchFamily="34" charset="0"/>
                <a:ea typeface="Carlito" pitchFamily="34" charset="-122"/>
                <a:cs typeface="Carlito" pitchFamily="34" charset="-120"/>
              </a:rPr>
              <a:t>So read Kleborate’s </a:t>
            </a:r>
            <a:r>
              <a:rPr lang="en-US" sz="1250" b="1" dirty="0">
                <a:solidFill>
                  <a:srgbClr val="F9F2EA"/>
                </a:solidFill>
                <a:latin typeface="Carlito" pitchFamily="34" charset="0"/>
                <a:ea typeface="Carlito" pitchFamily="34" charset="-122"/>
                <a:cs typeface="Carlito" pitchFamily="34" charset="-120"/>
              </a:rPr>
              <a:t>virulence score</a:t>
            </a:r>
            <a:r>
              <a:rPr lang="en-US" sz="1250" dirty="0">
                <a:solidFill>
                  <a:srgbClr val="F9F2EA"/>
                </a:solidFill>
                <a:latin typeface="Carlito" pitchFamily="34" charset="0"/>
                <a:ea typeface="Carlito" pitchFamily="34" charset="-122"/>
                <a:cs typeface="Carlito" pitchFamily="34" charset="-120"/>
              </a:rPr>
              <a:t>, not the K type.</a:t>
            </a:r>
            <a:endParaRPr lang="en-US" sz="1250" dirty="0"/>
          </a:p>
        </p:txBody>
      </p:sp>
      <p:sp>
        <p:nvSpPr>
          <p:cNvPr id="12" name="Shape 10"/>
          <p:cNvSpPr/>
          <p:nvPr/>
        </p:nvSpPr>
        <p:spPr>
          <a:xfrm>
            <a:off x="812800" y="4599831"/>
            <a:ext cx="5207000" cy="1137245"/>
          </a:xfrm>
          <a:prstGeom prst="roundRect">
            <a:avLst>
              <a:gd name="adj" fmla="val 4467"/>
            </a:avLst>
          </a:prstGeom>
          <a:solidFill>
            <a:srgbClr val="FFFFFF"/>
          </a:solidFill>
          <a:ln/>
        </p:spPr>
      </p:sp>
      <p:sp>
        <p:nvSpPr>
          <p:cNvPr id="13" name="Shape 11"/>
          <p:cNvSpPr/>
          <p:nvPr/>
        </p:nvSpPr>
        <p:spPr>
          <a:xfrm>
            <a:off x="812800" y="4599831"/>
            <a:ext cx="5207000" cy="1137245"/>
          </a:xfrm>
          <a:custGeom>
            <a:avLst/>
            <a:gdLst/>
            <a:ahLst/>
            <a:cxnLst/>
            <a:rect l="l" t="t" r="r" b="b"/>
            <a:pathLst>
              <a:path w="5207000" h="1137245">
                <a:moveTo>
                  <a:pt x="50800" y="1137245"/>
                </a:moveTo>
                <a:lnTo>
                  <a:pt x="50800" y="1137245"/>
                </a:lnTo>
                <a:arcTo hR="50800" wR="50800" stAng="5400000" swAng="5400000"/>
                <a:lnTo>
                  <a:pt x="0" y="50800"/>
                </a:lnTo>
                <a:arcTo hR="50800" wR="50800" stAng="10800000" swAng="5400000"/>
                <a:lnTo>
                  <a:pt x="50800" y="0"/>
                </a:lnTo>
                <a:lnTo>
                  <a:pt x="50800" y="1137245"/>
                </a:lnTo>
                <a:close/>
              </a:path>
            </a:pathLst>
          </a:custGeom>
          <a:solidFill>
            <a:srgbClr val="273003"/>
          </a:solidFill>
          <a:ln/>
        </p:spPr>
      </p:sp>
      <p:sp>
        <p:nvSpPr>
          <p:cNvPr id="14" name="Text 12"/>
          <p:cNvSpPr/>
          <p:nvPr/>
        </p:nvSpPr>
        <p:spPr>
          <a:xfrm>
            <a:off x="1041400" y="4726831"/>
            <a:ext cx="494461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73003"/>
                </a:solidFill>
                <a:latin typeface="Carlito" pitchFamily="34" charset="0"/>
                <a:ea typeface="Carlito" pitchFamily="34" charset="-122"/>
                <a:cs typeface="Carlito" pitchFamily="34" charset="-120"/>
              </a:rPr>
              <a:t>What it changes, if it is present</a:t>
            </a:r>
            <a:endParaRPr lang="en-US" sz="1400" dirty="0"/>
          </a:p>
        </p:txBody>
      </p:sp>
      <p:sp>
        <p:nvSpPr>
          <p:cNvPr id="15" name="Text 13"/>
          <p:cNvSpPr/>
          <p:nvPr/>
        </p:nvSpPr>
        <p:spPr>
          <a:xfrm>
            <a:off x="1041400" y="4990951"/>
            <a:ext cx="4944618" cy="64452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Not the antibiotic class — but it should prompt a search for a </a:t>
            </a:r>
            <a:r>
              <a:rPr lang="en-US" sz="1250" b="1" dirty="0">
                <a:solidFill>
                  <a:srgbClr val="3A322C"/>
                </a:solidFill>
                <a:latin typeface="Carlito" pitchFamily="34" charset="0"/>
                <a:ea typeface="Carlito" pitchFamily="34" charset="-122"/>
                <a:cs typeface="Carlito" pitchFamily="34" charset="-120"/>
              </a:rPr>
              <a:t>deep-seated focus</a:t>
            </a:r>
            <a:r>
              <a:rPr lang="en-US" sz="1250" dirty="0">
                <a:solidFill>
                  <a:srgbClr val="3A322C"/>
                </a:solidFill>
                <a:latin typeface="Carlito" pitchFamily="34" charset="0"/>
                <a:ea typeface="Carlito" pitchFamily="34" charset="-122"/>
                <a:cs typeface="Carlito" pitchFamily="34" charset="-120"/>
              </a:rPr>
              <a:t> and a lower threshold for imaging and source control. That is a management change, not a prescribing one.</a:t>
            </a:r>
            <a:endParaRPr lang="en-US" sz="1250" dirty="0"/>
          </a:p>
        </p:txBody>
      </p:sp>
      <p:sp>
        <p:nvSpPr>
          <p:cNvPr id="16" name="Shape 14"/>
          <p:cNvSpPr/>
          <p:nvPr/>
        </p:nvSpPr>
        <p:spPr>
          <a:xfrm>
            <a:off x="6251575" y="1636365"/>
            <a:ext cx="5124450" cy="962620"/>
          </a:xfrm>
          <a:prstGeom prst="roundRect">
            <a:avLst>
              <a:gd name="adj" fmla="val 4947"/>
            </a:avLst>
          </a:prstGeom>
          <a:solidFill>
            <a:srgbClr val="FFFFFF"/>
          </a:solidFill>
          <a:ln w="6350">
            <a:solidFill>
              <a:srgbClr val="D8CFC4"/>
            </a:solidFill>
            <a:prstDash val="solid"/>
          </a:ln>
        </p:spPr>
      </p:sp>
      <p:sp>
        <p:nvSpPr>
          <p:cNvPr id="17" name="Text 15"/>
          <p:cNvSpPr/>
          <p:nvPr/>
        </p:nvSpPr>
        <p:spPr>
          <a:xfrm>
            <a:off x="6432550" y="1779240"/>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6D2637"/>
                </a:solidFill>
                <a:latin typeface="Carlito" pitchFamily="34" charset="0"/>
                <a:ea typeface="Carlito" pitchFamily="34" charset="-122"/>
                <a:cs typeface="Carlito" pitchFamily="34" charset="-120"/>
              </a:rPr>
              <a:t>In a neonatal unit</a:t>
            </a:r>
            <a:endParaRPr lang="en-US" sz="1400" dirty="0"/>
          </a:p>
        </p:txBody>
      </p:sp>
      <p:sp>
        <p:nvSpPr>
          <p:cNvPr id="18" name="Text 16"/>
          <p:cNvSpPr/>
          <p:nvPr/>
        </p:nvSpPr>
        <p:spPr>
          <a:xfrm>
            <a:off x="6432550" y="2043361"/>
            <a:ext cx="4905375" cy="43815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Our isolates are overwhelmingly the </a:t>
            </a:r>
            <a:r>
              <a:rPr lang="en-US" sz="1250" b="1" dirty="0">
                <a:solidFill>
                  <a:srgbClr val="3A322C"/>
                </a:solidFill>
                <a:latin typeface="Carlito" pitchFamily="34" charset="0"/>
                <a:ea typeface="Carlito" pitchFamily="34" charset="-122"/>
                <a:cs typeface="Carlito" pitchFamily="34" charset="-120"/>
              </a:rPr>
              <a:t>other</a:t>
            </a:r>
            <a:r>
              <a:rPr lang="en-US" sz="1250" dirty="0">
                <a:solidFill>
                  <a:srgbClr val="3A322C"/>
                </a:solidFill>
                <a:latin typeface="Carlito" pitchFamily="34" charset="0"/>
                <a:ea typeface="Carlito" pitchFamily="34" charset="-122"/>
                <a:cs typeface="Carlito" pitchFamily="34" charset="-120"/>
              </a:rPr>
              <a:t> problem: ordinary capsules, low virulence scores, heavy resistance. Hypervirulence is rare here.</a:t>
            </a:r>
            <a:endParaRPr lang="en-US" sz="1250" dirty="0"/>
          </a:p>
        </p:txBody>
      </p:sp>
      <p:sp>
        <p:nvSpPr>
          <p:cNvPr id="19" name="Shape 17"/>
          <p:cNvSpPr/>
          <p:nvPr/>
        </p:nvSpPr>
        <p:spPr>
          <a:xfrm>
            <a:off x="6248400" y="2716461"/>
            <a:ext cx="5130800" cy="1162645"/>
          </a:xfrm>
          <a:prstGeom prst="roundRect">
            <a:avLst>
              <a:gd name="adj" fmla="val 4369"/>
            </a:avLst>
          </a:prstGeom>
          <a:solidFill>
            <a:srgbClr val="F1E6DA"/>
          </a:solidFill>
          <a:ln/>
        </p:spPr>
      </p:sp>
      <p:sp>
        <p:nvSpPr>
          <p:cNvPr id="20" name="Shape 18"/>
          <p:cNvSpPr/>
          <p:nvPr/>
        </p:nvSpPr>
        <p:spPr>
          <a:xfrm>
            <a:off x="6248400" y="2716461"/>
            <a:ext cx="5130800" cy="1162645"/>
          </a:xfrm>
          <a:custGeom>
            <a:avLst/>
            <a:gdLst/>
            <a:ahLst/>
            <a:cxnLst/>
            <a:rect l="l" t="t" r="r" b="b"/>
            <a:pathLst>
              <a:path w="5130800" h="1162645">
                <a:moveTo>
                  <a:pt x="50800" y="1162645"/>
                </a:moveTo>
                <a:lnTo>
                  <a:pt x="50800" y="1162645"/>
                </a:lnTo>
                <a:arcTo hR="50800" wR="50800" stAng="5400000" swAng="5400000"/>
                <a:lnTo>
                  <a:pt x="0" y="50800"/>
                </a:lnTo>
                <a:arcTo hR="50800" wR="50800" stAng="10800000" swAng="5400000"/>
                <a:lnTo>
                  <a:pt x="50800" y="0"/>
                </a:lnTo>
                <a:lnTo>
                  <a:pt x="50800" y="1162645"/>
                </a:lnTo>
                <a:close/>
              </a:path>
            </a:pathLst>
          </a:custGeom>
          <a:solidFill>
            <a:srgbClr val="891F15"/>
          </a:solidFill>
          <a:ln/>
        </p:spPr>
      </p:sp>
      <p:sp>
        <p:nvSpPr>
          <p:cNvPr id="21" name="Text 19"/>
          <p:cNvSpPr/>
          <p:nvPr/>
        </p:nvSpPr>
        <p:spPr>
          <a:xfrm>
            <a:off x="6477000" y="2856161"/>
            <a:ext cx="486613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The convergent worry</a:t>
            </a:r>
            <a:endParaRPr lang="en-US" sz="1400" dirty="0"/>
          </a:p>
        </p:txBody>
      </p:sp>
      <p:sp>
        <p:nvSpPr>
          <p:cNvPr id="22" name="Text 20"/>
          <p:cNvSpPr/>
          <p:nvPr/>
        </p:nvSpPr>
        <p:spPr>
          <a:xfrm>
            <a:off x="6477000" y="3120281"/>
            <a:ext cx="4866132" cy="64452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An isolate carrying </a:t>
            </a:r>
            <a:r>
              <a:rPr lang="en-US" sz="1250" b="1" dirty="0">
                <a:solidFill>
                  <a:srgbClr val="3A322C"/>
                </a:solidFill>
                <a:latin typeface="Carlito" pitchFamily="34" charset="0"/>
                <a:ea typeface="Carlito" pitchFamily="34" charset="-122"/>
                <a:cs typeface="Carlito" pitchFamily="34" charset="-120"/>
              </a:rPr>
              <a:t>both</a:t>
            </a:r>
            <a:r>
              <a:rPr lang="en-US" sz="1250" dirty="0">
                <a:solidFill>
                  <a:srgbClr val="3A322C"/>
                </a:solidFill>
                <a:latin typeface="Carlito" pitchFamily="34" charset="0"/>
                <a:ea typeface="Carlito" pitchFamily="34" charset="-122"/>
                <a:cs typeface="Carlito" pitchFamily="34" charset="-120"/>
              </a:rPr>
              <a:t> the virulence plasmid and a carbapenemase. Rare, and worth flagging immediately when the two scores are high together.</a:t>
            </a:r>
            <a:endParaRPr lang="en-US" sz="1250" dirty="0"/>
          </a:p>
        </p:txBody>
      </p:sp>
      <p:sp>
        <p:nvSpPr>
          <p:cNvPr id="23" name="Shape 21"/>
          <p:cNvSpPr/>
          <p:nvPr/>
        </p:nvSpPr>
        <p:spPr>
          <a:xfrm>
            <a:off x="6248400" y="3993406"/>
            <a:ext cx="5130800" cy="956270"/>
          </a:xfrm>
          <a:prstGeom prst="roundRect">
            <a:avLst>
              <a:gd name="adj" fmla="val 5312"/>
            </a:avLst>
          </a:prstGeom>
          <a:solidFill>
            <a:srgbClr val="F1E6DA"/>
          </a:solidFill>
          <a:ln/>
        </p:spPr>
      </p:sp>
      <p:sp>
        <p:nvSpPr>
          <p:cNvPr id="24" name="Shape 22"/>
          <p:cNvSpPr/>
          <p:nvPr/>
        </p:nvSpPr>
        <p:spPr>
          <a:xfrm>
            <a:off x="6248400" y="3993406"/>
            <a:ext cx="5130800" cy="956270"/>
          </a:xfrm>
          <a:custGeom>
            <a:avLst/>
            <a:gdLst/>
            <a:ahLst/>
            <a:cxnLst/>
            <a:rect l="l" t="t" r="r" b="b"/>
            <a:pathLst>
              <a:path w="5130800" h="956270">
                <a:moveTo>
                  <a:pt x="50800" y="956270"/>
                </a:moveTo>
                <a:lnTo>
                  <a:pt x="50800" y="956270"/>
                </a:lnTo>
                <a:arcTo hR="50800" wR="50800" stAng="5400000" swAng="5400000"/>
                <a:lnTo>
                  <a:pt x="0" y="50800"/>
                </a:lnTo>
                <a:arcTo hR="50800" wR="50800" stAng="10800000" swAng="5400000"/>
                <a:lnTo>
                  <a:pt x="50800" y="0"/>
                </a:lnTo>
                <a:lnTo>
                  <a:pt x="50800" y="956270"/>
                </a:lnTo>
                <a:close/>
              </a:path>
            </a:pathLst>
          </a:custGeom>
          <a:solidFill>
            <a:srgbClr val="891F15"/>
          </a:solidFill>
          <a:ln/>
        </p:spPr>
      </p:sp>
      <p:sp>
        <p:nvSpPr>
          <p:cNvPr id="25" name="Text 23"/>
          <p:cNvSpPr/>
          <p:nvPr/>
        </p:nvSpPr>
        <p:spPr>
          <a:xfrm>
            <a:off x="6477000" y="4133106"/>
            <a:ext cx="486613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Check it on your own data</a:t>
            </a:r>
            <a:endParaRPr lang="en-US" sz="1400" dirty="0"/>
          </a:p>
        </p:txBody>
      </p:sp>
      <p:sp>
        <p:nvSpPr>
          <p:cNvPr id="26" name="Text 24"/>
          <p:cNvSpPr/>
          <p:nvPr/>
        </p:nvSpPr>
        <p:spPr>
          <a:xfrm>
            <a:off x="6477000" y="4397226"/>
            <a:ext cx="4866132" cy="43815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You already have the columns: </a:t>
            </a:r>
            <a:r>
              <a:rPr lang="en-US" sz="1250" dirty="0">
                <a:solidFill>
                  <a:srgbClr val="273003"/>
                </a:solidFill>
                <a:latin typeface="Carlito" pitchFamily="34" charset="0"/>
                <a:ea typeface="Carlito" pitchFamily="34" charset="-122"/>
                <a:cs typeface="Carlito" pitchFamily="34" charset="-120"/>
              </a:rPr>
              <a:t>virulence_score</a:t>
            </a:r>
            <a:r>
              <a:rPr lang="en-US" sz="1250" dirty="0">
                <a:solidFill>
                  <a:srgbClr val="3A322C"/>
                </a:solidFill>
                <a:latin typeface="Carlito" pitchFamily="34" charset="0"/>
                <a:ea typeface="Carlito" pitchFamily="34" charset="-122"/>
                <a:cs typeface="Carlito" pitchFamily="34" charset="-120"/>
              </a:rPr>
              <a:t> and </a:t>
            </a:r>
            <a:r>
              <a:rPr lang="en-US" sz="1250" dirty="0">
                <a:solidFill>
                  <a:srgbClr val="273003"/>
                </a:solidFill>
                <a:latin typeface="Carlito" pitchFamily="34" charset="0"/>
                <a:ea typeface="Carlito" pitchFamily="34" charset="-122"/>
                <a:cs typeface="Carlito" pitchFamily="34" charset="-120"/>
              </a:rPr>
              <a:t>resistance_score</a:t>
            </a:r>
            <a:r>
              <a:rPr lang="en-US" sz="1250" dirty="0">
                <a:solidFill>
                  <a:srgbClr val="3A322C"/>
                </a:solidFill>
                <a:latin typeface="Carlito" pitchFamily="34" charset="0"/>
                <a:ea typeface="Carlito" pitchFamily="34" charset="-122"/>
                <a:cs typeface="Carlito" pitchFamily="34" charset="-120"/>
              </a:rPr>
              <a:t> go into the master table this afternoon.</a:t>
            </a:r>
            <a:endParaRPr lang="en-US" sz="1250" dirty="0"/>
          </a:p>
        </p:txBody>
      </p:sp>
      <p:pic>
        <p:nvPicPr>
          <p:cNvPr id="27"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28" name="Text 2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7 · Capsule, O antigen and vaccines | Day 8</a:t>
            </a:r>
            <a:endParaRPr lang="en-US" sz="1200" dirty="0"/>
          </a:p>
        </p:txBody>
      </p:sp>
      <p:sp>
        <p:nvSpPr>
          <p:cNvPr id="29" name="Text 2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What a vaccine has to overcome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633190"/>
            <a:ext cx="5200650" cy="1343620"/>
          </a:xfrm>
          <a:prstGeom prst="roundRect">
            <a:avLst>
              <a:gd name="adj" fmla="val 3781"/>
            </a:avLst>
          </a:prstGeom>
          <a:solidFill>
            <a:srgbClr val="FFFFFF"/>
          </a:solidFill>
          <a:ln/>
        </p:spPr>
      </p:sp>
      <p:sp>
        <p:nvSpPr>
          <p:cNvPr id="5" name="Shape 3"/>
          <p:cNvSpPr/>
          <p:nvPr/>
        </p:nvSpPr>
        <p:spPr>
          <a:xfrm>
            <a:off x="812800" y="1633190"/>
            <a:ext cx="5200650" cy="1343620"/>
          </a:xfrm>
          <a:custGeom>
            <a:avLst/>
            <a:gdLst/>
            <a:ahLst/>
            <a:cxnLst/>
            <a:rect l="l" t="t" r="r" b="b"/>
            <a:pathLst>
              <a:path w="5200650" h="1343620">
                <a:moveTo>
                  <a:pt x="50800" y="1343620"/>
                </a:moveTo>
                <a:lnTo>
                  <a:pt x="50800" y="1343620"/>
                </a:lnTo>
                <a:arcTo hR="50800" wR="50800" stAng="5400000" swAng="5400000"/>
                <a:lnTo>
                  <a:pt x="0" y="50800"/>
                </a:lnTo>
                <a:arcTo hR="50800" wR="50800" stAng="10800000" swAng="5400000"/>
                <a:lnTo>
                  <a:pt x="50800" y="0"/>
                </a:lnTo>
                <a:lnTo>
                  <a:pt x="50800" y="1343620"/>
                </a:lnTo>
                <a:close/>
              </a:path>
            </a:pathLst>
          </a:custGeom>
          <a:solidFill>
            <a:srgbClr val="891F15"/>
          </a:solidFill>
          <a:ln/>
        </p:spPr>
      </p:sp>
      <p:sp>
        <p:nvSpPr>
          <p:cNvPr id="6" name="Text 4"/>
          <p:cNvSpPr/>
          <p:nvPr/>
        </p:nvSpPr>
        <p:spPr>
          <a:xfrm>
            <a:off x="1041400" y="1760190"/>
            <a:ext cx="493807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1 · Immunity is serotype-specific</a:t>
            </a:r>
            <a:endParaRPr lang="en-US" sz="1400" dirty="0"/>
          </a:p>
        </p:txBody>
      </p:sp>
      <p:sp>
        <p:nvSpPr>
          <p:cNvPr id="7" name="Text 5"/>
          <p:cNvSpPr/>
          <p:nvPr/>
        </p:nvSpPr>
        <p:spPr>
          <a:xfrm>
            <a:off x="1041400" y="2024311"/>
            <a:ext cx="4938078" cy="64452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Antibody raised against K1 does </a:t>
            </a:r>
            <a:r>
              <a:rPr lang="en-US" sz="1250" b="1" dirty="0">
                <a:solidFill>
                  <a:srgbClr val="3A322C"/>
                </a:solidFill>
                <a:latin typeface="Carlito" pitchFamily="34" charset="0"/>
                <a:ea typeface="Carlito" pitchFamily="34" charset="-122"/>
                <a:cs typeface="Carlito" pitchFamily="34" charset="-120"/>
              </a:rPr>
              <a:t>nothing</a:t>
            </a:r>
            <a:r>
              <a:rPr lang="en-US" sz="1250" dirty="0">
                <a:solidFill>
                  <a:srgbClr val="3A322C"/>
                </a:solidFill>
                <a:latin typeface="Carlito" pitchFamily="34" charset="0"/>
                <a:ea typeface="Carlito" pitchFamily="34" charset="-122"/>
                <a:cs typeface="Carlito" pitchFamily="34" charset="-120"/>
              </a:rPr>
              <a:t> against K2. There is no cross-protection to fall back on, so a vaccine is only as good as its match to what is circulating. </a:t>
            </a:r>
            <a:r>
              <a:rPr lang="en-US" sz="1250" b="1" dirty="0">
                <a:solidFill>
                  <a:srgbClr val="3A322C"/>
                </a:solidFill>
                <a:latin typeface="Carlito" pitchFamily="34" charset="0"/>
                <a:ea typeface="Carlito" pitchFamily="34" charset="-122"/>
                <a:cs typeface="Carlito" pitchFamily="34" charset="-120"/>
              </a:rPr>
              <a:t>This is the whole valency problem.</a:t>
            </a:r>
            <a:endParaRPr lang="en-US" sz="1250" dirty="0"/>
          </a:p>
        </p:txBody>
      </p:sp>
      <p:sp>
        <p:nvSpPr>
          <p:cNvPr id="8" name="Shape 6"/>
          <p:cNvSpPr/>
          <p:nvPr/>
        </p:nvSpPr>
        <p:spPr>
          <a:xfrm>
            <a:off x="6178550" y="1633190"/>
            <a:ext cx="5200650" cy="1343620"/>
          </a:xfrm>
          <a:prstGeom prst="roundRect">
            <a:avLst>
              <a:gd name="adj" fmla="val 3781"/>
            </a:avLst>
          </a:prstGeom>
          <a:solidFill>
            <a:srgbClr val="FFFFFF"/>
          </a:solidFill>
          <a:ln/>
        </p:spPr>
      </p:sp>
      <p:sp>
        <p:nvSpPr>
          <p:cNvPr id="9" name="Shape 7"/>
          <p:cNvSpPr/>
          <p:nvPr/>
        </p:nvSpPr>
        <p:spPr>
          <a:xfrm>
            <a:off x="6178550" y="1633190"/>
            <a:ext cx="5200650" cy="1343620"/>
          </a:xfrm>
          <a:custGeom>
            <a:avLst/>
            <a:gdLst/>
            <a:ahLst/>
            <a:cxnLst/>
            <a:rect l="l" t="t" r="r" b="b"/>
            <a:pathLst>
              <a:path w="5200650" h="1343620">
                <a:moveTo>
                  <a:pt x="50800" y="1343620"/>
                </a:moveTo>
                <a:lnTo>
                  <a:pt x="50800" y="1343620"/>
                </a:lnTo>
                <a:arcTo hR="50800" wR="50800" stAng="5400000" swAng="5400000"/>
                <a:lnTo>
                  <a:pt x="0" y="50800"/>
                </a:lnTo>
                <a:arcTo hR="50800" wR="50800" stAng="10800000" swAng="5400000"/>
                <a:lnTo>
                  <a:pt x="50800" y="0"/>
                </a:lnTo>
                <a:lnTo>
                  <a:pt x="50800" y="1343620"/>
                </a:lnTo>
                <a:close/>
              </a:path>
            </a:pathLst>
          </a:custGeom>
          <a:solidFill>
            <a:srgbClr val="891F15"/>
          </a:solidFill>
          <a:ln/>
        </p:spPr>
      </p:sp>
      <p:sp>
        <p:nvSpPr>
          <p:cNvPr id="10" name="Text 8"/>
          <p:cNvSpPr/>
          <p:nvPr/>
        </p:nvSpPr>
        <p:spPr>
          <a:xfrm>
            <a:off x="6407150" y="1760190"/>
            <a:ext cx="493807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2 · Plain sugars are poor immunogens</a:t>
            </a:r>
            <a:endParaRPr lang="en-US" sz="1400" dirty="0"/>
          </a:p>
        </p:txBody>
      </p:sp>
      <p:sp>
        <p:nvSpPr>
          <p:cNvPr id="11" name="Text 9"/>
          <p:cNvSpPr/>
          <p:nvPr/>
        </p:nvSpPr>
        <p:spPr>
          <a:xfrm>
            <a:off x="6407150" y="2024311"/>
            <a:ext cx="4938078" cy="85090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Polysaccharides are T-cell independent antigens and provoke a weak, short-lived response, worst of all in infants. Hence a </a:t>
            </a:r>
            <a:r>
              <a:rPr lang="en-US" sz="1250" b="1" dirty="0">
                <a:solidFill>
                  <a:srgbClr val="3A322C"/>
                </a:solidFill>
                <a:latin typeface="Carlito" pitchFamily="34" charset="0"/>
                <a:ea typeface="Carlito" pitchFamily="34" charset="-122"/>
                <a:cs typeface="Carlito" pitchFamily="34" charset="-120"/>
              </a:rPr>
              <a:t>bioconjugate</a:t>
            </a:r>
            <a:r>
              <a:rPr lang="en-US" sz="1250" dirty="0">
                <a:solidFill>
                  <a:srgbClr val="3A322C"/>
                </a:solidFill>
                <a:latin typeface="Carlito" pitchFamily="34" charset="0"/>
                <a:ea typeface="Carlito" pitchFamily="34" charset="-122"/>
                <a:cs typeface="Carlito" pitchFamily="34" charset="-120"/>
              </a:rPr>
              <a:t>: the sugar coupled to a carrier protein to recruit T-cell help and raise durable IgG.</a:t>
            </a:r>
            <a:endParaRPr lang="en-US" sz="1250" dirty="0"/>
          </a:p>
        </p:txBody>
      </p:sp>
      <p:sp>
        <p:nvSpPr>
          <p:cNvPr id="12" name="Shape 10"/>
          <p:cNvSpPr/>
          <p:nvPr/>
        </p:nvSpPr>
        <p:spPr>
          <a:xfrm>
            <a:off x="812800" y="3141911"/>
            <a:ext cx="5200650" cy="1600795"/>
          </a:xfrm>
          <a:prstGeom prst="roundRect">
            <a:avLst>
              <a:gd name="adj" fmla="val 3173"/>
            </a:avLst>
          </a:prstGeom>
          <a:solidFill>
            <a:srgbClr val="273003"/>
          </a:solidFill>
          <a:ln/>
        </p:spPr>
      </p:sp>
      <p:sp>
        <p:nvSpPr>
          <p:cNvPr id="13" name="Text 11"/>
          <p:cNvSpPr/>
          <p:nvPr/>
        </p:nvSpPr>
        <p:spPr>
          <a:xfrm>
            <a:off x="990600" y="3268911"/>
            <a:ext cx="499040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CE00"/>
                </a:solidFill>
                <a:latin typeface="Carlito" pitchFamily="34" charset="0"/>
                <a:ea typeface="Carlito" pitchFamily="34" charset="-122"/>
                <a:cs typeface="Carlito" pitchFamily="34" charset="-120"/>
              </a:rPr>
              <a:t>3 · The neonate cannot be the one vaccinated</a:t>
            </a:r>
            <a:endParaRPr lang="en-US" sz="1400" dirty="0"/>
          </a:p>
        </p:txBody>
      </p:sp>
      <p:sp>
        <p:nvSpPr>
          <p:cNvPr id="14" name="Text 12"/>
          <p:cNvSpPr/>
          <p:nvPr/>
        </p:nvSpPr>
        <p:spPr>
          <a:xfrm>
            <a:off x="990600" y="3533031"/>
            <a:ext cx="4990402" cy="64452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F9F2EA"/>
                </a:solidFill>
                <a:latin typeface="Carlito" pitchFamily="34" charset="0"/>
                <a:ea typeface="Carlito" pitchFamily="34" charset="-122"/>
                <a:cs typeface="Carlito" pitchFamily="34" charset="-120"/>
              </a:rPr>
              <a:t>Sepsis arrives in the first days of life — far too early for the baby’s own response. Protection has to come as </a:t>
            </a:r>
            <a:r>
              <a:rPr lang="en-US" sz="1250" b="1" dirty="0">
                <a:solidFill>
                  <a:srgbClr val="F9F2EA"/>
                </a:solidFill>
                <a:latin typeface="Carlito" pitchFamily="34" charset="0"/>
                <a:ea typeface="Carlito" pitchFamily="34" charset="-122"/>
                <a:cs typeface="Carlito" pitchFamily="34" charset="-120"/>
              </a:rPr>
              <a:t>maternal IgG across the placenta</a:t>
            </a:r>
            <a:r>
              <a:rPr lang="en-US" sz="1250" dirty="0">
                <a:solidFill>
                  <a:srgbClr val="F9F2EA"/>
                </a:solidFill>
                <a:latin typeface="Carlito" pitchFamily="34" charset="0"/>
                <a:ea typeface="Carlito" pitchFamily="34" charset="-122"/>
                <a:cs typeface="Carlito" pitchFamily="34" charset="-120"/>
              </a:rPr>
              <a:t>, so the strategy is to immunise the mother.</a:t>
            </a:r>
            <a:endParaRPr lang="en-US" sz="1250" dirty="0"/>
          </a:p>
        </p:txBody>
      </p:sp>
      <p:sp>
        <p:nvSpPr>
          <p:cNvPr id="15" name="Text 13"/>
          <p:cNvSpPr/>
          <p:nvPr/>
        </p:nvSpPr>
        <p:spPr>
          <a:xfrm>
            <a:off x="990600" y="4202956"/>
            <a:ext cx="4990402" cy="43815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F9F2EA"/>
                </a:solidFill>
                <a:latin typeface="Carlito" pitchFamily="34" charset="0"/>
                <a:ea typeface="Carlito" pitchFamily="34" charset="-122"/>
                <a:cs typeface="Carlito" pitchFamily="34" charset="-120"/>
              </a:rPr>
              <a:t>Which is why the design input is the serotype mix in </a:t>
            </a:r>
            <a:r>
              <a:rPr lang="en-US" sz="1250" b="1" dirty="0">
                <a:solidFill>
                  <a:srgbClr val="F9F2EA"/>
                </a:solidFill>
                <a:latin typeface="Carlito" pitchFamily="34" charset="0"/>
                <a:ea typeface="Carlito" pitchFamily="34" charset="-122"/>
                <a:cs typeface="Carlito" pitchFamily="34" charset="-120"/>
              </a:rPr>
              <a:t>neonatal</a:t>
            </a:r>
            <a:r>
              <a:rPr lang="en-US" sz="1250" dirty="0">
                <a:solidFill>
                  <a:srgbClr val="F9F2EA"/>
                </a:solidFill>
                <a:latin typeface="Carlito" pitchFamily="34" charset="0"/>
                <a:ea typeface="Carlito" pitchFamily="34" charset="-122"/>
                <a:cs typeface="Carlito" pitchFamily="34" charset="-120"/>
              </a:rPr>
              <a:t> isolates — and why your R code filters </a:t>
            </a:r>
            <a:r>
              <a:rPr lang="en-US" sz="1250" dirty="0">
                <a:solidFill>
                  <a:srgbClr val="C2CA6E"/>
                </a:solidFill>
                <a:latin typeface="Carlito" pitchFamily="34" charset="0"/>
                <a:ea typeface="Carlito" pitchFamily="34" charset="-122"/>
                <a:cs typeface="Carlito" pitchFamily="34" charset="-120"/>
              </a:rPr>
              <a:t>neonate == "yes"</a:t>
            </a:r>
            <a:r>
              <a:rPr lang="en-US" sz="1250" dirty="0">
                <a:solidFill>
                  <a:srgbClr val="F9F2EA"/>
                </a:solidFill>
                <a:latin typeface="Carlito" pitchFamily="34" charset="0"/>
                <a:ea typeface="Carlito" pitchFamily="34" charset="-122"/>
                <a:cs typeface="Carlito" pitchFamily="34" charset="-120"/>
              </a:rPr>
              <a:t>.</a:t>
            </a:r>
            <a:endParaRPr lang="en-US" sz="1250" dirty="0"/>
          </a:p>
        </p:txBody>
      </p:sp>
      <p:sp>
        <p:nvSpPr>
          <p:cNvPr id="16" name="Shape 14"/>
          <p:cNvSpPr/>
          <p:nvPr/>
        </p:nvSpPr>
        <p:spPr>
          <a:xfrm>
            <a:off x="6178550" y="3141911"/>
            <a:ext cx="5200650" cy="1600795"/>
          </a:xfrm>
          <a:prstGeom prst="roundRect">
            <a:avLst>
              <a:gd name="adj" fmla="val 3173"/>
            </a:avLst>
          </a:prstGeom>
          <a:solidFill>
            <a:srgbClr val="FFFFFF"/>
          </a:solidFill>
          <a:ln/>
        </p:spPr>
      </p:sp>
      <p:sp>
        <p:nvSpPr>
          <p:cNvPr id="17" name="Shape 15"/>
          <p:cNvSpPr/>
          <p:nvPr/>
        </p:nvSpPr>
        <p:spPr>
          <a:xfrm>
            <a:off x="6178550" y="3141911"/>
            <a:ext cx="5200650" cy="1600795"/>
          </a:xfrm>
          <a:custGeom>
            <a:avLst/>
            <a:gdLst/>
            <a:ahLst/>
            <a:cxnLst/>
            <a:rect l="l" t="t" r="r" b="b"/>
            <a:pathLst>
              <a:path w="5200650" h="1600795">
                <a:moveTo>
                  <a:pt x="50800" y="1600795"/>
                </a:moveTo>
                <a:lnTo>
                  <a:pt x="50800" y="1600795"/>
                </a:lnTo>
                <a:arcTo hR="50800" wR="50800" stAng="5400000" swAng="5400000"/>
                <a:lnTo>
                  <a:pt x="0" y="50800"/>
                </a:lnTo>
                <a:arcTo hR="50800" wR="50800" stAng="10800000" swAng="5400000"/>
                <a:lnTo>
                  <a:pt x="50800" y="0"/>
                </a:lnTo>
                <a:lnTo>
                  <a:pt x="50800" y="1600795"/>
                </a:lnTo>
                <a:close/>
              </a:path>
            </a:pathLst>
          </a:custGeom>
          <a:solidFill>
            <a:srgbClr val="891F15"/>
          </a:solidFill>
          <a:ln/>
        </p:spPr>
      </p:sp>
      <p:sp>
        <p:nvSpPr>
          <p:cNvPr id="18" name="Text 16"/>
          <p:cNvSpPr/>
          <p:nvPr/>
        </p:nvSpPr>
        <p:spPr>
          <a:xfrm>
            <a:off x="6407150" y="3268911"/>
            <a:ext cx="493807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4 · The capsule is in the way</a:t>
            </a:r>
            <a:endParaRPr lang="en-US" sz="1400" dirty="0"/>
          </a:p>
        </p:txBody>
      </p:sp>
      <p:sp>
        <p:nvSpPr>
          <p:cNvPr id="19" name="Text 17"/>
          <p:cNvSpPr/>
          <p:nvPr/>
        </p:nvSpPr>
        <p:spPr>
          <a:xfrm>
            <a:off x="6407150" y="3533031"/>
            <a:ext cx="4938078" cy="64452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If the capsule masks the O antigen, can anti-O antibody reach it? In practice it often can, which is why O-antigen vaccines lead the field — but heavily encapsulated strains are why this is still argued about.</a:t>
            </a:r>
            <a:endParaRPr lang="en-US" sz="1250" dirty="0"/>
          </a:p>
        </p:txBody>
      </p:sp>
      <p:sp>
        <p:nvSpPr>
          <p:cNvPr id="20" name="Shape 18"/>
          <p:cNvSpPr/>
          <p:nvPr/>
        </p:nvSpPr>
        <p:spPr>
          <a:xfrm>
            <a:off x="812800" y="4920506"/>
            <a:ext cx="10566400" cy="537170"/>
          </a:xfrm>
          <a:prstGeom prst="roundRect">
            <a:avLst>
              <a:gd name="adj" fmla="val 9457"/>
            </a:avLst>
          </a:prstGeom>
          <a:solidFill>
            <a:srgbClr val="F1E6DA"/>
          </a:solidFill>
          <a:ln/>
        </p:spPr>
      </p:sp>
      <p:sp>
        <p:nvSpPr>
          <p:cNvPr id="21" name="Shape 19"/>
          <p:cNvSpPr/>
          <p:nvPr/>
        </p:nvSpPr>
        <p:spPr>
          <a:xfrm>
            <a:off x="812800" y="4920506"/>
            <a:ext cx="10566400" cy="537170"/>
          </a:xfrm>
          <a:custGeom>
            <a:avLst/>
            <a:gdLst/>
            <a:ahLst/>
            <a:cxnLst/>
            <a:rect l="l" t="t" r="r" b="b"/>
            <a:pathLst>
              <a:path w="10566400" h="537170">
                <a:moveTo>
                  <a:pt x="50800" y="537170"/>
                </a:moveTo>
                <a:lnTo>
                  <a:pt x="50800" y="537170"/>
                </a:lnTo>
                <a:arcTo hR="50800" wR="50800" stAng="5400000" swAng="5400000"/>
                <a:lnTo>
                  <a:pt x="0" y="50800"/>
                </a:lnTo>
                <a:arcTo hR="50800" wR="50800" stAng="10800000" swAng="5400000"/>
                <a:lnTo>
                  <a:pt x="50800" y="0"/>
                </a:lnTo>
                <a:lnTo>
                  <a:pt x="50800" y="537170"/>
                </a:lnTo>
                <a:close/>
              </a:path>
            </a:pathLst>
          </a:custGeom>
          <a:solidFill>
            <a:srgbClr val="6D2637"/>
          </a:solidFill>
          <a:ln/>
        </p:spPr>
      </p:sp>
      <p:sp>
        <p:nvSpPr>
          <p:cNvPr id="22" name="Text 20"/>
          <p:cNvSpPr/>
          <p:nvPr/>
        </p:nvSpPr>
        <p:spPr>
          <a:xfrm>
            <a:off x="1066800" y="5060206"/>
            <a:ext cx="1973800" cy="283170"/>
          </a:xfrm>
          <a:prstGeom prst="rect">
            <a:avLst/>
          </a:prstGeom>
          <a:noFill/>
          <a:ln/>
        </p:spPr>
        <p:txBody>
          <a:bodyPr wrap="none" lIns="0" tIns="0" rIns="0" bIns="0" rtlCol="0" anchor="t">
            <a:normAutofit/>
          </a:bodyPr>
          <a:lstStyle/>
          <a:p>
            <a:pPr algn="l" indent="0" marL="0">
              <a:lnSpc>
                <a:spcPts val="2030"/>
              </a:lnSpc>
              <a:buNone/>
            </a:pPr>
            <a:r>
              <a:rPr lang="en-US" sz="1450" b="1" dirty="0">
                <a:solidFill>
                  <a:srgbClr val="6D2637"/>
                </a:solidFill>
                <a:latin typeface="Carlito" pitchFamily="34" charset="0"/>
                <a:ea typeface="Carlito" pitchFamily="34" charset="-122"/>
                <a:cs typeface="Carlito" pitchFamily="34" charset="-120"/>
              </a:rPr>
              <a:t>So the question becomes</a:t>
            </a:r>
            <a:endParaRPr lang="en-US" sz="1450" dirty="0"/>
          </a:p>
        </p:txBody>
      </p:sp>
      <p:sp>
        <p:nvSpPr>
          <p:cNvPr id="23" name="Text 21"/>
          <p:cNvSpPr/>
          <p:nvPr/>
        </p:nvSpPr>
        <p:spPr>
          <a:xfrm>
            <a:off x="3135511" y="5073352"/>
            <a:ext cx="8243689" cy="25682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3A322C"/>
                </a:solidFill>
                <a:latin typeface="Carlito" pitchFamily="34" charset="0"/>
                <a:ea typeface="Carlito" pitchFamily="34" charset="-122"/>
                <a:cs typeface="Carlito" pitchFamily="34" charset="-120"/>
              </a:rPr>
              <a:t>how few valencies can cover how much of what is actually circulating? That is arithmetic, and it is the next slide.</a:t>
            </a:r>
            <a:endParaRPr lang="en-US" sz="1350" dirty="0"/>
          </a:p>
        </p:txBody>
      </p:sp>
      <p:pic>
        <p:nvPicPr>
          <p:cNvPr id="24"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25" name="Text 2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7 · Capsule, O antigen and vaccines | Day 8</a:t>
            </a:r>
            <a:endParaRPr lang="en-US" sz="1200" dirty="0"/>
          </a:p>
        </p:txBody>
      </p:sp>
      <p:sp>
        <p:nvSpPr>
          <p:cNvPr id="26" name="Text 2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Why a vaccine would target O, not K</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45890"/>
          <a:ext cx="6337300" cy="2387054"/>
        </p:xfrm>
        <a:graphic>
          <a:graphicData uri="http://schemas.openxmlformats.org/drawingml/2006/table">
            <a:tbl>
              <a:tblPr/>
              <a:tblGrid>
                <a:gridCol w="2154682"/>
                <a:gridCol w="2091309"/>
                <a:gridCol w="2091309"/>
              </a:tblGrid>
              <a:tr h="590451">
                <a:tc>
                  <a:txBody>
                    <a:bodyPr/>
                    <a:lstStyle/>
                    <a:p>
                      <a:pPr indent="0" marL="0">
                        <a:lnSpc>
                          <a:spcPts val="1820"/>
                        </a:lnSpc>
                        <a:buNone/>
                      </a:pPr>
                      <a:r>
                        <a:rPr lang="en-US" sz="1300" b="1" dirty="0">
                          <a:solidFill>
                            <a:srgbClr val="3A322C"/>
                          </a:solidFill>
                          <a:latin typeface="Carlito" pitchFamily="34" charset="0"/>
                          <a:ea typeface="Carlito" pitchFamily="34" charset="-122"/>
                          <a:cs typeface="Carlito" pitchFamily="34" charset="-120"/>
                        </a:rPr>
                        <a:t>O type</a:t>
                      </a:r>
                      <a:endParaRPr lang="en-US" sz="1300" dirty="0">
                        <a:latin typeface="Carlito" charset="0"/>
                        <a:ea typeface="Carlito" charset="0"/>
                        <a:cs typeface="Carlito" charset="0"/>
                      </a:endParaRPr>
                    </a:p>
                  </a:txBody>
                  <a:tcPr marL="57785" marR="57785" marT="57785" marB="57785" anchor="t">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1820"/>
                        </a:lnSpc>
                        <a:buNone/>
                      </a:pPr>
                      <a:r>
                        <a:rPr lang="en-US" sz="1300" b="1" dirty="0">
                          <a:solidFill>
                            <a:srgbClr val="3A322C"/>
                          </a:solidFill>
                          <a:latin typeface="Carlito" pitchFamily="34" charset="0"/>
                          <a:ea typeface="Carlito" pitchFamily="34" charset="-122"/>
                          <a:cs typeface="Carlito" pitchFamily="34" charset="-120"/>
                        </a:rPr>
                        <a:t>Malawi, neonatal</a:t>
                      </a:r>
                      <a:endParaRPr lang="en-US" sz="1300" dirty="0">
                        <a:latin typeface="Carlito" charset="0"/>
                        <a:ea typeface="Carlito" charset="0"/>
                        <a:cs typeface="Carlito" charset="0"/>
                      </a:endParaRPr>
                    </a:p>
                    <a:p>
                      <a:pPr indent="0" marL="0">
                        <a:lnSpc>
                          <a:spcPts val="1820"/>
                        </a:lnSpc>
                        <a:buNone/>
                      </a:pPr>
                      <a:r>
                        <a:rPr lang="en-US" sz="1300" b="1" dirty="0">
                          <a:solidFill>
                            <a:srgbClr val="3A322C"/>
                          </a:solidFill>
                          <a:latin typeface="Carlito" pitchFamily="34" charset="0"/>
                          <a:ea typeface="Carlito" pitchFamily="34" charset="-122"/>
                          <a:cs typeface="Carlito" pitchFamily="34" charset="-120"/>
                        </a:rPr>
                        <a:t>(n = 388)</a:t>
                      </a:r>
                      <a:endParaRPr lang="en-US" sz="1300" dirty="0">
                        <a:latin typeface="Carlito" charset="0"/>
                        <a:ea typeface="Carlito" charset="0"/>
                        <a:cs typeface="Carlito" charset="0"/>
                      </a:endParaRPr>
                    </a:p>
                  </a:txBody>
                  <a:tcPr marL="57785" marR="57785" marT="57785" marB="57785"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indent="0" marL="0">
                        <a:lnSpc>
                          <a:spcPts val="1820"/>
                        </a:lnSpc>
                        <a:buNone/>
                      </a:pPr>
                      <a:r>
                        <a:rPr lang="en-US" sz="1300" b="1" dirty="0">
                          <a:solidFill>
                            <a:srgbClr val="3A322C"/>
                          </a:solidFill>
                          <a:latin typeface="Carlito" pitchFamily="34" charset="0"/>
                          <a:ea typeface="Carlito" pitchFamily="34" charset="-122"/>
                          <a:cs typeface="Carlito" pitchFamily="34" charset="-120"/>
                        </a:rPr>
                        <a:t>13 countries, bloodstream</a:t>
                      </a:r>
                      <a:endParaRPr lang="en-US" sz="1300" dirty="0">
                        <a:latin typeface="Carlito" charset="0"/>
                        <a:ea typeface="Carlito" charset="0"/>
                        <a:cs typeface="Carlito" charset="0"/>
                      </a:endParaRPr>
                    </a:p>
                    <a:p>
                      <a:pPr indent="0" marL="0">
                        <a:lnSpc>
                          <a:spcPts val="1820"/>
                        </a:lnSpc>
                        <a:buNone/>
                      </a:pPr>
                      <a:r>
                        <a:rPr lang="en-US" sz="1300" b="1" dirty="0">
                          <a:solidFill>
                            <a:srgbClr val="3A322C"/>
                          </a:solidFill>
                          <a:latin typeface="Carlito" pitchFamily="34" charset="0"/>
                          <a:ea typeface="Carlito" pitchFamily="34" charset="-122"/>
                          <a:cs typeface="Carlito" pitchFamily="34" charset="-120"/>
                        </a:rPr>
                        <a:t>(n = 645)</a:t>
                      </a:r>
                      <a:endParaRPr lang="en-US" sz="1300" dirty="0">
                        <a:latin typeface="Carlito" charset="0"/>
                        <a:ea typeface="Carlito" charset="0"/>
                        <a:cs typeface="Carlito" charset="0"/>
                      </a:endParaRPr>
                    </a:p>
                  </a:txBody>
                  <a:tcPr marL="57785" marR="57785" marT="57785" marB="57785" anchor="t">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r>
              <a:tr h="359321">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O1</a:t>
                      </a:r>
                      <a:endParaRPr lang="en-US" sz="1300" dirty="0">
                        <a:latin typeface="Carlito" charset="0"/>
                        <a:ea typeface="Carlito" charset="0"/>
                        <a:cs typeface="Carlito" charset="0"/>
                      </a:endParaRPr>
                    </a:p>
                  </a:txBody>
                  <a:tcPr marL="57785" marR="57785" marT="57785" marB="5778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75.3%</a:t>
                      </a:r>
                      <a:endParaRPr lang="en-US" sz="1300" dirty="0">
                        <a:latin typeface="Carlito" charset="0"/>
                        <a:ea typeface="Carlito" charset="0"/>
                        <a:cs typeface="Carlito" charset="0"/>
                      </a:endParaRPr>
                    </a:p>
                  </a:txBody>
                  <a:tcPr marL="57785" marR="57785" marT="57785" marB="5778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44.8%</a:t>
                      </a:r>
                      <a:endParaRPr lang="en-US" sz="1300" dirty="0">
                        <a:latin typeface="Carlito" charset="0"/>
                        <a:ea typeface="Carlito" charset="0"/>
                        <a:cs typeface="Carlito" charset="0"/>
                      </a:endParaRPr>
                    </a:p>
                  </a:txBody>
                  <a:tcPr marL="57785" marR="57785" marT="57785" marB="5778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359321">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O2</a:t>
                      </a:r>
                      <a:endParaRPr lang="en-US" sz="1300" dirty="0">
                        <a:latin typeface="Carlito" charset="0"/>
                        <a:ea typeface="Carlito" charset="0"/>
                        <a:cs typeface="Carlito" charset="0"/>
                      </a:endParaRPr>
                    </a:p>
                  </a:txBody>
                  <a:tcPr marL="57785" marR="57785" marT="57785" marB="57785"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10.8%</a:t>
                      </a:r>
                      <a:endParaRPr lang="en-US" sz="1300" dirty="0">
                        <a:latin typeface="Carlito" charset="0"/>
                        <a:ea typeface="Carlito" charset="0"/>
                        <a:cs typeface="Carlito" charset="0"/>
                      </a:endParaRPr>
                    </a:p>
                  </a:txBody>
                  <a:tcPr marL="57785" marR="57785" marT="57785" marB="57785"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19.5%</a:t>
                      </a:r>
                      <a:endParaRPr lang="en-US" sz="1300" dirty="0">
                        <a:latin typeface="Carlito" charset="0"/>
                        <a:ea typeface="Carlito" charset="0"/>
                        <a:cs typeface="Carlito" charset="0"/>
                      </a:endParaRPr>
                    </a:p>
                  </a:txBody>
                  <a:tcPr marL="57785" marR="57785" marT="57785" marB="57785"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r h="359321">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O3</a:t>
                      </a:r>
                      <a:endParaRPr lang="en-US" sz="1300" dirty="0">
                        <a:latin typeface="Carlito" charset="0"/>
                        <a:ea typeface="Carlito" charset="0"/>
                        <a:cs typeface="Carlito" charset="0"/>
                      </a:endParaRPr>
                    </a:p>
                  </a:txBody>
                  <a:tcPr marL="57785" marR="57785" marT="57785" marB="5778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a:t>
                      </a:r>
                      <a:endParaRPr lang="en-US" sz="1300" dirty="0">
                        <a:latin typeface="Carlito" charset="0"/>
                        <a:ea typeface="Carlito" charset="0"/>
                        <a:cs typeface="Carlito" charset="0"/>
                      </a:endParaRPr>
                    </a:p>
                  </a:txBody>
                  <a:tcPr marL="57785" marR="57785" marT="57785" marB="5778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14.9%</a:t>
                      </a:r>
                      <a:endParaRPr lang="en-US" sz="1300" dirty="0">
                        <a:latin typeface="Carlito" charset="0"/>
                        <a:ea typeface="Carlito" charset="0"/>
                        <a:cs typeface="Carlito" charset="0"/>
                      </a:endParaRPr>
                    </a:p>
                  </a:txBody>
                  <a:tcPr marL="57785" marR="57785" marT="57785" marB="5778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r h="359321">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O5</a:t>
                      </a:r>
                      <a:endParaRPr lang="en-US" sz="1300" dirty="0">
                        <a:latin typeface="Carlito" charset="0"/>
                        <a:ea typeface="Carlito" charset="0"/>
                        <a:cs typeface="Carlito" charset="0"/>
                      </a:endParaRPr>
                    </a:p>
                  </a:txBody>
                  <a:tcPr marL="57785" marR="57785" marT="57785" marB="57785" anchor="t">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a:t>
                      </a:r>
                      <a:endParaRPr lang="en-US" sz="1300" dirty="0">
                        <a:latin typeface="Carlito" charset="0"/>
                        <a:ea typeface="Carlito" charset="0"/>
                        <a:cs typeface="Carlito" charset="0"/>
                      </a:endParaRPr>
                    </a:p>
                  </a:txBody>
                  <a:tcPr marL="57785" marR="57785" marT="57785" marB="57785"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10.9%</a:t>
                      </a:r>
                      <a:endParaRPr lang="en-US" sz="1300" dirty="0">
                        <a:latin typeface="Carlito" charset="0"/>
                        <a:ea typeface="Carlito" charset="0"/>
                        <a:cs typeface="Carlito" charset="0"/>
                      </a:endParaRPr>
                    </a:p>
                  </a:txBody>
                  <a:tcPr marL="57785" marR="57785" marT="57785" marB="57785" anchor="t">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r>
              <a:tr h="359321">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Four-valent total</a:t>
                      </a:r>
                      <a:endParaRPr lang="en-US" sz="1300" dirty="0">
                        <a:latin typeface="Carlito" charset="0"/>
                        <a:ea typeface="Carlito" charset="0"/>
                        <a:cs typeface="Carlito" charset="0"/>
                      </a:endParaRPr>
                    </a:p>
                  </a:txBody>
                  <a:tcPr marL="57785" marR="57785" marT="57785" marB="5778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89.9%</a:t>
                      </a:r>
                      <a:endParaRPr lang="en-US" sz="1300" dirty="0">
                        <a:latin typeface="Carlito" charset="0"/>
                        <a:ea typeface="Carlito" charset="0"/>
                        <a:cs typeface="Carlito" charset="0"/>
                      </a:endParaRPr>
                    </a:p>
                  </a:txBody>
                  <a:tcPr marL="57785" marR="57785" marT="57785" marB="5778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indent="0" marL="0">
                        <a:lnSpc>
                          <a:spcPts val="1820"/>
                        </a:lnSpc>
                        <a:buNone/>
                      </a:pPr>
                      <a:r>
                        <a:rPr lang="en-US" sz="1300" dirty="0">
                          <a:solidFill>
                            <a:srgbClr val="3A322C"/>
                          </a:solidFill>
                          <a:latin typeface="Carlito" pitchFamily="34" charset="0"/>
                          <a:ea typeface="Carlito" pitchFamily="34" charset="-122"/>
                          <a:cs typeface="Carlito" pitchFamily="34" charset="-120"/>
                        </a:rPr>
                        <a:t>90.1%</a:t>
                      </a:r>
                      <a:endParaRPr lang="en-US" sz="1300" dirty="0">
                        <a:latin typeface="Carlito" charset="0"/>
                        <a:ea typeface="Carlito" charset="0"/>
                        <a:cs typeface="Carlito" charset="0"/>
                      </a:endParaRPr>
                    </a:p>
                  </a:txBody>
                  <a:tcPr marL="57785" marR="57785" marT="57785" marB="57785" anchor="t">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r>
            </a:tbl>
          </a:graphicData>
        </a:graphic>
      </p:graphicFrame>
      <p:sp>
        <p:nvSpPr>
          <p:cNvPr id="5" name="Shape 2"/>
          <p:cNvSpPr/>
          <p:nvPr/>
        </p:nvSpPr>
        <p:spPr>
          <a:xfrm>
            <a:off x="812800" y="4147245"/>
            <a:ext cx="6350000" cy="930870"/>
          </a:xfrm>
          <a:prstGeom prst="roundRect">
            <a:avLst>
              <a:gd name="adj" fmla="val 5457"/>
            </a:avLst>
          </a:prstGeom>
          <a:solidFill>
            <a:srgbClr val="FFFFFF"/>
          </a:solidFill>
          <a:ln/>
        </p:spPr>
      </p:sp>
      <p:sp>
        <p:nvSpPr>
          <p:cNvPr id="6" name="Shape 3"/>
          <p:cNvSpPr/>
          <p:nvPr/>
        </p:nvSpPr>
        <p:spPr>
          <a:xfrm>
            <a:off x="812800" y="4147245"/>
            <a:ext cx="6350000" cy="930870"/>
          </a:xfrm>
          <a:custGeom>
            <a:avLst/>
            <a:gdLst/>
            <a:ahLst/>
            <a:cxnLst/>
            <a:rect l="l" t="t" r="r" b="b"/>
            <a:pathLst>
              <a:path w="6350000" h="930870">
                <a:moveTo>
                  <a:pt x="50800" y="930870"/>
                </a:moveTo>
                <a:lnTo>
                  <a:pt x="50800" y="930870"/>
                </a:lnTo>
                <a:arcTo hR="50800" wR="50800" stAng="5400000" swAng="5400000"/>
                <a:lnTo>
                  <a:pt x="0" y="50800"/>
                </a:lnTo>
                <a:arcTo hR="50800" wR="50800" stAng="10800000" swAng="5400000"/>
                <a:lnTo>
                  <a:pt x="50800" y="0"/>
                </a:lnTo>
                <a:lnTo>
                  <a:pt x="50800" y="930870"/>
                </a:lnTo>
                <a:close/>
              </a:path>
            </a:pathLst>
          </a:custGeom>
          <a:solidFill>
            <a:srgbClr val="891F15"/>
          </a:solidFill>
          <a:ln/>
        </p:spPr>
      </p:sp>
      <p:sp>
        <p:nvSpPr>
          <p:cNvPr id="7" name="Text 4"/>
          <p:cNvSpPr/>
          <p:nvPr/>
        </p:nvSpPr>
        <p:spPr>
          <a:xfrm>
            <a:off x="1041400" y="4274245"/>
            <a:ext cx="612190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Same total, different composition</a:t>
            </a:r>
            <a:endParaRPr lang="en-US" sz="1400" dirty="0"/>
          </a:p>
        </p:txBody>
      </p:sp>
      <p:sp>
        <p:nvSpPr>
          <p:cNvPr id="8" name="Text 5"/>
          <p:cNvSpPr/>
          <p:nvPr/>
        </p:nvSpPr>
        <p:spPr>
          <a:xfrm>
            <a:off x="1041400" y="4538365"/>
            <a:ext cx="6121908" cy="43815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Both collections reach about 90% with four O types — but O1 is three quarters of the Malawi neonatal isolates and under half globally. </a:t>
            </a:r>
            <a:r>
              <a:rPr lang="en-US" sz="1250" b="1" dirty="0">
                <a:solidFill>
                  <a:srgbClr val="3A322C"/>
                </a:solidFill>
                <a:latin typeface="Carlito" pitchFamily="34" charset="0"/>
                <a:ea typeface="Carlito" pitchFamily="34" charset="-122"/>
                <a:cs typeface="Carlito" pitchFamily="34" charset="-120"/>
              </a:rPr>
              <a:t>The total travels; the mix does not.</a:t>
            </a:r>
            <a:endParaRPr lang="en-US" sz="1250" dirty="0"/>
          </a:p>
        </p:txBody>
      </p:sp>
      <p:sp>
        <p:nvSpPr>
          <p:cNvPr id="9" name="Shape 6"/>
          <p:cNvSpPr/>
          <p:nvPr/>
        </p:nvSpPr>
        <p:spPr>
          <a:xfrm>
            <a:off x="7391400" y="1633190"/>
            <a:ext cx="3987800" cy="1301750"/>
          </a:xfrm>
          <a:prstGeom prst="roundRect">
            <a:avLst>
              <a:gd name="adj" fmla="val 5854"/>
            </a:avLst>
          </a:prstGeom>
          <a:solidFill>
            <a:srgbClr val="273003"/>
          </a:solidFill>
          <a:ln/>
        </p:spPr>
      </p:sp>
      <p:sp>
        <p:nvSpPr>
          <p:cNvPr id="10" name="Text 7"/>
          <p:cNvSpPr/>
          <p:nvPr/>
        </p:nvSpPr>
        <p:spPr>
          <a:xfrm>
            <a:off x="7581900" y="1785590"/>
            <a:ext cx="371500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FCE00"/>
                </a:solidFill>
                <a:latin typeface="Carlito" pitchFamily="34" charset="0"/>
                <a:ea typeface="Carlito" pitchFamily="34" charset="-122"/>
                <a:cs typeface="Carlito" pitchFamily="34" charset="-120"/>
              </a:rPr>
              <a:t>4 vs 24</a:t>
            </a:r>
            <a:endParaRPr lang="en-US" sz="4400" dirty="0"/>
          </a:p>
        </p:txBody>
      </p:sp>
      <p:sp>
        <p:nvSpPr>
          <p:cNvPr id="11" name="Text 8"/>
          <p:cNvSpPr/>
          <p:nvPr/>
        </p:nvSpPr>
        <p:spPr>
          <a:xfrm>
            <a:off x="7581900" y="2369790"/>
            <a:ext cx="3715004" cy="43815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F9F2EA"/>
                </a:solidFill>
                <a:latin typeface="Carlito" pitchFamily="34" charset="0"/>
                <a:ea typeface="Carlito" pitchFamily="34" charset="-122"/>
                <a:cs typeface="Carlito" pitchFamily="34" charset="-120"/>
              </a:rPr>
              <a:t>O types needed for ~90% coverage, versus </a:t>
            </a:r>
            <a:r>
              <a:rPr lang="en-US" sz="1250" b="1" dirty="0">
                <a:solidFill>
                  <a:srgbClr val="F9F2EA"/>
                </a:solidFill>
                <a:latin typeface="Carlito" pitchFamily="34" charset="0"/>
                <a:ea typeface="Carlito" pitchFamily="34" charset="-122"/>
                <a:cs typeface="Carlito" pitchFamily="34" charset="-120"/>
              </a:rPr>
              <a:t>24 K antigens</a:t>
            </a:r>
            <a:r>
              <a:rPr lang="en-US" sz="1250" dirty="0">
                <a:solidFill>
                  <a:srgbClr val="F9F2EA"/>
                </a:solidFill>
                <a:latin typeface="Carlito" pitchFamily="34" charset="0"/>
                <a:ea typeface="Carlito" pitchFamily="34" charset="-122"/>
                <a:cs typeface="Carlito" pitchFamily="34" charset="-120"/>
              </a:rPr>
              <a:t> for the same, in the multi-country collection.</a:t>
            </a:r>
            <a:endParaRPr lang="en-US" sz="1250" dirty="0"/>
          </a:p>
        </p:txBody>
      </p:sp>
      <p:sp>
        <p:nvSpPr>
          <p:cNvPr id="12" name="Shape 9"/>
          <p:cNvSpPr/>
          <p:nvPr/>
        </p:nvSpPr>
        <p:spPr>
          <a:xfrm>
            <a:off x="7394575" y="3065115"/>
            <a:ext cx="3981450" cy="905421"/>
          </a:xfrm>
          <a:prstGeom prst="roundRect">
            <a:avLst>
              <a:gd name="adj" fmla="val 5260"/>
            </a:avLst>
          </a:prstGeom>
          <a:solidFill>
            <a:srgbClr val="FFFFFF"/>
          </a:solidFill>
          <a:ln w="6350">
            <a:solidFill>
              <a:srgbClr val="D8CFC4"/>
            </a:solidFill>
            <a:prstDash val="solid"/>
          </a:ln>
        </p:spPr>
      </p:sp>
      <p:sp>
        <p:nvSpPr>
          <p:cNvPr id="13" name="Text 10"/>
          <p:cNvSpPr/>
          <p:nvPr/>
        </p:nvSpPr>
        <p:spPr>
          <a:xfrm>
            <a:off x="7562850" y="3195290"/>
            <a:ext cx="3754247"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6D2637"/>
                </a:solidFill>
                <a:latin typeface="Carlito" pitchFamily="34" charset="0"/>
                <a:ea typeface="Carlito" pitchFamily="34" charset="-122"/>
                <a:cs typeface="Carlito" pitchFamily="34" charset="-120"/>
              </a:rPr>
              <a:t>In our own data</a:t>
            </a:r>
            <a:endParaRPr lang="en-US" sz="1300" dirty="0"/>
          </a:p>
        </p:txBody>
      </p:sp>
      <p:sp>
        <p:nvSpPr>
          <p:cNvPr id="14" name="Text 11"/>
          <p:cNvSpPr/>
          <p:nvPr/>
        </p:nvSpPr>
        <p:spPr>
          <a:xfrm>
            <a:off x="7562850" y="3444180"/>
            <a:ext cx="375424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43 distinct K loci among the neonatal isolates. </a:t>
            </a:r>
            <a:r>
              <a:rPr lang="en-US" sz="1200" b="1" dirty="0">
                <a:solidFill>
                  <a:srgbClr val="3A322C"/>
                </a:solidFill>
                <a:latin typeface="Carlito" pitchFamily="34" charset="0"/>
                <a:ea typeface="Carlito" pitchFamily="34" charset="-122"/>
                <a:cs typeface="Carlito" pitchFamily="34" charset="-120"/>
              </a:rPr>
              <a:t>3</a:t>
            </a:r>
            <a:r>
              <a:rPr lang="en-US" sz="1200" dirty="0">
                <a:solidFill>
                  <a:srgbClr val="3A322C"/>
                </a:solidFill>
                <a:latin typeface="Carlito" pitchFamily="34" charset="0"/>
                <a:ea typeface="Carlito" pitchFamily="34" charset="-122"/>
                <a:cs typeface="Carlito" pitchFamily="34" charset="-120"/>
              </a:rPr>
              <a:t> loci reach 50% (KL2 alone is 39.7%), </a:t>
            </a:r>
            <a:r>
              <a:rPr lang="en-US" sz="1200" b="1" dirty="0">
                <a:solidFill>
                  <a:srgbClr val="3A322C"/>
                </a:solidFill>
                <a:latin typeface="Carlito" pitchFamily="34" charset="0"/>
                <a:ea typeface="Carlito" pitchFamily="34" charset="-122"/>
                <a:cs typeface="Carlito" pitchFamily="34" charset="-120"/>
              </a:rPr>
              <a:t>8</a:t>
            </a:r>
            <a:r>
              <a:rPr lang="en-US" sz="1200" dirty="0">
                <a:solidFill>
                  <a:srgbClr val="3A322C"/>
                </a:solidFill>
                <a:latin typeface="Carlito" pitchFamily="34" charset="0"/>
                <a:ea typeface="Carlito" pitchFamily="34" charset="-122"/>
                <a:cs typeface="Carlito" pitchFamily="34" charset="-120"/>
              </a:rPr>
              <a:t> reach 70%.</a:t>
            </a:r>
            <a:endParaRPr lang="en-US" sz="1200" dirty="0"/>
          </a:p>
        </p:txBody>
      </p:sp>
      <p:sp>
        <p:nvSpPr>
          <p:cNvPr id="15" name="Shape 12"/>
          <p:cNvSpPr/>
          <p:nvPr/>
        </p:nvSpPr>
        <p:spPr>
          <a:xfrm>
            <a:off x="7391400" y="4100711"/>
            <a:ext cx="3987800" cy="1295251"/>
          </a:xfrm>
          <a:prstGeom prst="roundRect">
            <a:avLst>
              <a:gd name="adj" fmla="val 3922"/>
            </a:avLst>
          </a:prstGeom>
          <a:solidFill>
            <a:srgbClr val="F1E6DA"/>
          </a:solidFill>
          <a:ln/>
        </p:spPr>
      </p:sp>
      <p:sp>
        <p:nvSpPr>
          <p:cNvPr id="16" name="Shape 13"/>
          <p:cNvSpPr/>
          <p:nvPr/>
        </p:nvSpPr>
        <p:spPr>
          <a:xfrm>
            <a:off x="7391400" y="4100711"/>
            <a:ext cx="3987800" cy="1295251"/>
          </a:xfrm>
          <a:custGeom>
            <a:avLst/>
            <a:gdLst/>
            <a:ahLst/>
            <a:cxnLst/>
            <a:rect l="l" t="t" r="r" b="b"/>
            <a:pathLst>
              <a:path w="3987800" h="1295251">
                <a:moveTo>
                  <a:pt x="50800" y="1295251"/>
                </a:moveTo>
                <a:lnTo>
                  <a:pt x="50800" y="1295251"/>
                </a:lnTo>
                <a:arcTo hR="50800" wR="50800" stAng="5400000" swAng="5400000"/>
                <a:lnTo>
                  <a:pt x="0" y="50800"/>
                </a:lnTo>
                <a:arcTo hR="50800" wR="50800" stAng="10800000" swAng="5400000"/>
                <a:lnTo>
                  <a:pt x="50800" y="0"/>
                </a:lnTo>
                <a:lnTo>
                  <a:pt x="50800" y="1295251"/>
                </a:lnTo>
                <a:close/>
              </a:path>
            </a:pathLst>
          </a:custGeom>
          <a:solidFill>
            <a:srgbClr val="891F15"/>
          </a:solidFill>
          <a:ln/>
        </p:spPr>
      </p:sp>
      <p:sp>
        <p:nvSpPr>
          <p:cNvPr id="17" name="Text 14"/>
          <p:cNvSpPr/>
          <p:nvPr/>
        </p:nvSpPr>
        <p:spPr>
          <a:xfrm>
            <a:off x="7607300" y="4227711"/>
            <a:ext cx="3715004"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891F15"/>
                </a:solidFill>
                <a:latin typeface="Carlito" pitchFamily="34" charset="0"/>
                <a:ea typeface="Carlito" pitchFamily="34" charset="-122"/>
                <a:cs typeface="Carlito" pitchFamily="34" charset="-120"/>
              </a:rPr>
              <a:t>A real candidate</a:t>
            </a:r>
            <a:endParaRPr lang="en-US" sz="1300" dirty="0"/>
          </a:p>
        </p:txBody>
      </p:sp>
      <p:sp>
        <p:nvSpPr>
          <p:cNvPr id="18" name="Text 15"/>
          <p:cNvSpPr/>
          <p:nvPr/>
        </p:nvSpPr>
        <p:spPr>
          <a:xfrm>
            <a:off x="7607300" y="4476601"/>
            <a:ext cx="3715004" cy="81776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3A322C"/>
                </a:solidFill>
                <a:latin typeface="Carlito" pitchFamily="34" charset="0"/>
                <a:ea typeface="Carlito" pitchFamily="34" charset="-122"/>
                <a:cs typeface="Carlito" pitchFamily="34" charset="-120"/>
              </a:rPr>
              <a:t>Kleb4V</a:t>
            </a:r>
            <a:r>
              <a:rPr lang="en-US" sz="1200" dirty="0">
                <a:solidFill>
                  <a:srgbClr val="3A322C"/>
                </a:solidFill>
                <a:latin typeface="Carlito" pitchFamily="34" charset="0"/>
                <a:ea typeface="Carlito" pitchFamily="34" charset="-122"/>
                <a:cs typeface="Carlito" pitchFamily="34" charset="-120"/>
              </a:rPr>
              <a:t> (LimmaTech), in phase I/II in healthy adults, is a four-valent O bioconjugate — but </a:t>
            </a:r>
            <a:r>
              <a:rPr lang="en-US" sz="1200" b="1" dirty="0">
                <a:solidFill>
                  <a:srgbClr val="3A322C"/>
                </a:solidFill>
                <a:latin typeface="Carlito" pitchFamily="34" charset="0"/>
                <a:ea typeface="Carlito" pitchFamily="34" charset="-122"/>
                <a:cs typeface="Carlito" pitchFamily="34" charset="-120"/>
              </a:rPr>
              <a:t>O1v1, O2a, O2afg, O3b</a:t>
            </a:r>
            <a:r>
              <a:rPr lang="en-US" sz="1200" dirty="0">
                <a:solidFill>
                  <a:srgbClr val="3A322C"/>
                </a:solidFill>
                <a:latin typeface="Carlito" pitchFamily="34" charset="0"/>
                <a:ea typeface="Carlito" pitchFamily="34" charset="-122"/>
                <a:cs typeface="Carlito" pitchFamily="34" charset="-120"/>
              </a:rPr>
              <a:t>, projected at ~70% worldwide. Note it splits O1/O2 variants rather than adding O5.</a:t>
            </a:r>
            <a:endParaRPr lang="en-US" sz="1200" dirty="0"/>
          </a:p>
        </p:txBody>
      </p:sp>
      <p:pic>
        <p:nvPicPr>
          <p:cNvPr id="19"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20" name="Text 1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7 · Capsule, O antigen and vaccines | Day 8</a:t>
            </a:r>
            <a:endParaRPr lang="en-US" sz="1200" dirty="0"/>
          </a:p>
        </p:txBody>
      </p:sp>
      <p:sp>
        <p:nvSpPr>
          <p:cNvPr id="21" name="Text 1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1034"/>
          </a:xfrm>
          <a:prstGeom prst="rect">
            <a:avLst/>
          </a:prstGeom>
          <a:noFill/>
          <a:ln/>
        </p:spPr>
        <p:txBody>
          <a:bodyPr wrap="square" lIns="0" tIns="0" rIns="0" bIns="0" rtlCol="0" anchor="t">
            <a:normAutofit/>
          </a:bodyPr>
          <a:lstStyle/>
          <a:p>
            <a:pPr algn="l" indent="0" marL="0">
              <a:lnSpc>
                <a:spcPts val="3663"/>
              </a:lnSpc>
              <a:buNone/>
            </a:pPr>
            <a:r>
              <a:rPr lang="en-US" sz="3330" b="1" i="0" dirty="0">
                <a:solidFill>
                  <a:srgbClr val="6D2637"/>
                </a:solidFill>
                <a:latin typeface="Carlito" pitchFamily="34" charset="0"/>
                <a:ea typeface="Carlito" pitchFamily="34" charset="-122"/>
                <a:cs typeface="Carlito" pitchFamily="34" charset="-120"/>
              </a:rPr>
              <a:t>Hands-on: compute the coverage</a:t>
            </a:r>
            <a:endParaRPr lang="en-US" sz="3330" dirty="0"/>
          </a:p>
        </p:txBody>
      </p:sp>
      <p:sp>
        <p:nvSpPr>
          <p:cNvPr id="3" name="Shape 1"/>
          <p:cNvSpPr/>
          <p:nvPr/>
        </p:nvSpPr>
        <p:spPr>
          <a:xfrm>
            <a:off x="812800" y="1380034"/>
            <a:ext cx="1524000" cy="38100"/>
          </a:xfrm>
          <a:prstGeom prst="roundRect">
            <a:avLst>
              <a:gd name="adj" fmla="val 50000"/>
            </a:avLst>
          </a:prstGeom>
          <a:solidFill>
            <a:srgbClr val="6D2637"/>
          </a:solidFill>
          <a:ln/>
        </p:spPr>
      </p:sp>
      <p:sp>
        <p:nvSpPr>
          <p:cNvPr id="4" name="Text 2"/>
          <p:cNvSpPr/>
          <p:nvPr/>
        </p:nvSpPr>
        <p:spPr>
          <a:xfrm>
            <a:off x="812800" y="1583234"/>
            <a:ext cx="10883392" cy="243384"/>
          </a:xfrm>
          <a:prstGeom prst="rect">
            <a:avLst/>
          </a:prstGeom>
          <a:noFill/>
          <a:ln/>
        </p:spPr>
        <p:txBody>
          <a:bodyPr wrap="square" lIns="0" tIns="0" rIns="0" bIns="0" rtlCol="0" anchor="t">
            <a:normAutofit/>
          </a:bodyPr>
          <a:lstStyle/>
          <a:p>
            <a:pPr algn="l" indent="0" marL="0">
              <a:lnSpc>
                <a:spcPts val="1720"/>
              </a:lnSpc>
              <a:buNone/>
            </a:pPr>
            <a:r>
              <a:rPr lang="en-US" sz="1274" dirty="0">
                <a:solidFill>
                  <a:srgbClr val="3A322C"/>
                </a:solidFill>
                <a:latin typeface="Carlito" pitchFamily="34" charset="0"/>
                <a:ea typeface="Carlito" pitchFamily="34" charset="-122"/>
                <a:cs typeface="Carlito" pitchFamily="34" charset="-120"/>
              </a:rPr>
              <a:t>29 hand-picked isolates would tell you nothing. Use the published K and O types for all </a:t>
            </a:r>
            <a:r>
              <a:rPr lang="en-US" sz="1274" b="1" dirty="0">
                <a:solidFill>
                  <a:srgbClr val="3A322C"/>
                </a:solidFill>
                <a:latin typeface="Carlito" pitchFamily="34" charset="0"/>
                <a:ea typeface="Carlito" pitchFamily="34" charset="-122"/>
                <a:cs typeface="Carlito" pitchFamily="34" charset="-120"/>
              </a:rPr>
              <a:t>1,373</a:t>
            </a:r>
            <a:r>
              <a:rPr lang="en-US" sz="1274" dirty="0">
                <a:solidFill>
                  <a:srgbClr val="3A322C"/>
                </a:solidFill>
                <a:latin typeface="Carlito" pitchFamily="34" charset="0"/>
                <a:ea typeface="Carlito" pitchFamily="34" charset="-122"/>
                <a:cs typeface="Carlito" pitchFamily="34" charset="-120"/>
              </a:rPr>
              <a:t> isolates: </a:t>
            </a:r>
            <a:r>
              <a:rPr lang="en-US" sz="1274" dirty="0">
                <a:solidFill>
                  <a:srgbClr val="273003"/>
                </a:solidFill>
                <a:latin typeface="Carlito" pitchFamily="34" charset="0"/>
                <a:ea typeface="Carlito" pitchFamily="34" charset="-122"/>
                <a:cs typeface="Carlito" pitchFamily="34" charset="-120"/>
              </a:rPr>
              <a:t>training_data/published_K_O_all.tsv</a:t>
            </a:r>
            <a:r>
              <a:rPr lang="en-US" sz="1274" dirty="0">
                <a:solidFill>
                  <a:srgbClr val="3A322C"/>
                </a:solidFill>
                <a:latin typeface="Carlito" pitchFamily="34" charset="0"/>
                <a:ea typeface="Carlito" pitchFamily="34" charset="-122"/>
                <a:cs typeface="Carlito" pitchFamily="34" charset="-120"/>
              </a:rPr>
              <a:t>.</a:t>
            </a:r>
            <a:endParaRPr lang="en-US" sz="1274" dirty="0"/>
          </a:p>
        </p:txBody>
      </p:sp>
      <p:sp>
        <p:nvSpPr>
          <p:cNvPr id="5" name="Text 3"/>
          <p:cNvSpPr/>
          <p:nvPr/>
        </p:nvSpPr>
        <p:spPr>
          <a:xfrm>
            <a:off x="812800" y="1966317"/>
            <a:ext cx="10566400" cy="2693789"/>
          </a:xfrm>
          <a:prstGeom prst="roundRect">
            <a:avLst>
              <a:gd name="adj" fmla="val 2829"/>
            </a:avLst>
          </a:prstGeom>
          <a:solidFill>
            <a:srgbClr val="273003"/>
          </a:solidFill>
          <a:ln/>
        </p:spPr>
        <p:txBody>
          <a:bodyPr wrap="square" lIns="193582" tIns="117382" rIns="0" bIns="91982" rtlCol="0" anchor="t">
            <a:normAutofit/>
          </a:bodyPr>
          <a:lstStyle/>
          <a:p>
            <a:pPr algn="l" indent="0" marL="0">
              <a:lnSpc>
                <a:spcPts val="1460"/>
              </a:lnSpc>
              <a:buNone/>
            </a:pPr>
            <a:r>
              <a:rPr lang="en-US" sz="1082" dirty="0">
                <a:solidFill>
                  <a:srgbClr val="F3EEDF"/>
                </a:solidFill>
                <a:latin typeface="JetBrains Mono" pitchFamily="49" charset="0"/>
                <a:ea typeface="JetBrains Mono" pitchFamily="49" charset="-122"/>
                <a:cs typeface="JetBrains Mono" pitchFamily="49" charset="-120"/>
              </a:rPr>
              <a:t>ko &lt;- read_tsv("training_data/published_K_O_all.tsv")</a:t>
            </a:r>
            <a:endParaRPr lang="en-US" sz="1082" dirty="0"/>
          </a:p>
          <a:p>
            <a:pPr algn="l" indent="0" marL="0">
              <a:lnSpc>
                <a:spcPts val="1460"/>
              </a:lnSpc>
              <a:buNone/>
            </a:pPr>
            <a:endParaRPr lang="en-US" sz="1082" dirty="0"/>
          </a:p>
          <a:p>
            <a:pPr algn="l" indent="0" marL="0">
              <a:lnSpc>
                <a:spcPts val="1460"/>
              </a:lnSpc>
              <a:buNone/>
            </a:pPr>
            <a:r>
              <a:rPr lang="en-US" sz="1082" dirty="0">
                <a:solidFill>
                  <a:srgbClr val="C2CA6E"/>
                </a:solidFill>
                <a:latin typeface="JetBrains Mono" pitchFamily="49" charset="0"/>
                <a:ea typeface="JetBrains Mono" pitchFamily="49" charset="-122"/>
                <a:cs typeface="JetBrains Mono" pitchFamily="49" charset="-120"/>
              </a:rPr>
              <a:t># group O types — "O12" starts with "O1" but is a different type</a:t>
            </a:r>
            <a:endParaRPr lang="en-US" sz="1082" dirty="0"/>
          </a:p>
          <a:p>
            <a:pPr algn="l" indent="0" marL="0">
              <a:lnSpc>
                <a:spcPts val="1460"/>
              </a:lnSpc>
              <a:buNone/>
            </a:pPr>
            <a:r>
              <a:rPr lang="en-US" sz="1082" dirty="0">
                <a:solidFill>
                  <a:srgbClr val="F3EEDF"/>
                </a:solidFill>
                <a:latin typeface="JetBrains Mono" pitchFamily="49" charset="0"/>
                <a:ea typeface="JetBrains Mono" pitchFamily="49" charset="-122"/>
                <a:cs typeface="JetBrains Mono" pitchFamily="49" charset="-120"/>
              </a:rPr>
              <a:t>ko &lt;- ko |&gt; mutate(O_group = case_when(</a:t>
            </a:r>
            <a:endParaRPr lang="en-US" sz="1082" dirty="0"/>
          </a:p>
          <a:p>
            <a:pPr algn="l" indent="0" marL="0">
              <a:lnSpc>
                <a:spcPts val="1460"/>
              </a:lnSpc>
              <a:buNone/>
            </a:pPr>
            <a:r>
              <a:rPr lang="en-US" sz="1082" dirty="0">
                <a:solidFill>
                  <a:srgbClr val="F3EEDF"/>
                </a:solidFill>
                <a:latin typeface="JetBrains Mono" pitchFamily="49" charset="0"/>
                <a:ea typeface="JetBrains Mono" pitchFamily="49" charset="-122"/>
                <a:cs typeface="JetBrains Mono" pitchFamily="49" charset="-120"/>
              </a:rPr>
              <a:t>  str_starts(O_type, "unknown")     ~ "unknown",</a:t>
            </a:r>
            <a:endParaRPr lang="en-US" sz="1082" dirty="0"/>
          </a:p>
          <a:p>
            <a:pPr algn="l" indent="0" marL="0">
              <a:lnSpc>
                <a:spcPts val="1460"/>
              </a:lnSpc>
              <a:buNone/>
            </a:pPr>
            <a:r>
              <a:rPr lang="en-US" sz="1082" dirty="0">
                <a:solidFill>
                  <a:srgbClr val="F3EEDF"/>
                </a:solidFill>
                <a:latin typeface="JetBrains Mono" pitchFamily="49" charset="0"/>
                <a:ea typeface="JetBrains Mono" pitchFamily="49" charset="-122"/>
                <a:cs typeface="JetBrains Mono" pitchFamily="49" charset="-120"/>
              </a:rPr>
              <a:t>  O_type %in% c("O1a", "O1b", "O1") ~ "O1",</a:t>
            </a:r>
            <a:endParaRPr lang="en-US" sz="1082" dirty="0"/>
          </a:p>
          <a:p>
            <a:pPr algn="l" indent="0" marL="0">
              <a:lnSpc>
                <a:spcPts val="1460"/>
              </a:lnSpc>
              <a:buNone/>
            </a:pPr>
            <a:r>
              <a:rPr lang="en-US" sz="1082" dirty="0">
                <a:solidFill>
                  <a:srgbClr val="F3EEDF"/>
                </a:solidFill>
                <a:latin typeface="JetBrains Mono" pitchFamily="49" charset="0"/>
                <a:ea typeface="JetBrains Mono" pitchFamily="49" charset="-122"/>
                <a:cs typeface="JetBrains Mono" pitchFamily="49" charset="-120"/>
              </a:rPr>
              <a:t>  str_starts(O_type, "O2")          ~ "O2",</a:t>
            </a:r>
            <a:endParaRPr lang="en-US" sz="1082" dirty="0"/>
          </a:p>
          <a:p>
            <a:pPr algn="l" indent="0" marL="0">
              <a:lnSpc>
                <a:spcPts val="1460"/>
              </a:lnSpc>
              <a:buNone/>
            </a:pPr>
            <a:r>
              <a:rPr lang="en-US" sz="1082" dirty="0">
                <a:solidFill>
                  <a:srgbClr val="F3EEDF"/>
                </a:solidFill>
                <a:latin typeface="JetBrains Mono" pitchFamily="49" charset="0"/>
                <a:ea typeface="JetBrains Mono" pitchFamily="49" charset="-122"/>
                <a:cs typeface="JetBrains Mono" pitchFamily="49" charset="-120"/>
              </a:rPr>
              <a:t>  TRUE                                ~ O_type))</a:t>
            </a:r>
            <a:endParaRPr lang="en-US" sz="1082" dirty="0"/>
          </a:p>
          <a:p>
            <a:pPr algn="l" indent="0" marL="0">
              <a:lnSpc>
                <a:spcPts val="1460"/>
              </a:lnSpc>
              <a:buNone/>
            </a:pPr>
            <a:endParaRPr lang="en-US" sz="1082" dirty="0"/>
          </a:p>
          <a:p>
            <a:pPr algn="l" indent="0" marL="0">
              <a:lnSpc>
                <a:spcPts val="1460"/>
              </a:lnSpc>
              <a:buNone/>
            </a:pPr>
            <a:r>
              <a:rPr lang="en-US" sz="1082" dirty="0">
                <a:solidFill>
                  <a:srgbClr val="F3EEDF"/>
                </a:solidFill>
                <a:latin typeface="JetBrains Mono" pitchFamily="49" charset="0"/>
                <a:ea typeface="JetBrains Mono" pitchFamily="49" charset="-122"/>
                <a:cs typeface="JetBrains Mono" pitchFamily="49" charset="-120"/>
              </a:rPr>
              <a:t>neo &lt;- ko |&gt; filter(neonate == "yes")</a:t>
            </a:r>
            <a:endParaRPr lang="en-US" sz="1082" dirty="0"/>
          </a:p>
          <a:p>
            <a:pPr algn="l" indent="0" marL="0">
              <a:lnSpc>
                <a:spcPts val="1460"/>
              </a:lnSpc>
              <a:buNone/>
            </a:pPr>
            <a:r>
              <a:rPr lang="en-US" sz="1082" dirty="0">
                <a:solidFill>
                  <a:srgbClr val="F3EEDF"/>
                </a:solidFill>
                <a:latin typeface="JetBrains Mono" pitchFamily="49" charset="0"/>
                <a:ea typeface="JetBrains Mono" pitchFamily="49" charset="-122"/>
                <a:cs typeface="JetBrains Mono" pitchFamily="49" charset="-120"/>
              </a:rPr>
              <a:t>valencies &lt;- c("O1", "O2", "O3b", "O5")</a:t>
            </a:r>
            <a:endParaRPr lang="en-US" sz="1082" dirty="0"/>
          </a:p>
          <a:p>
            <a:pPr algn="l" indent="0" marL="0">
              <a:lnSpc>
                <a:spcPts val="1460"/>
              </a:lnSpc>
              <a:buNone/>
            </a:pPr>
            <a:r>
              <a:rPr lang="en-US" sz="1082" dirty="0">
                <a:solidFill>
                  <a:srgbClr val="F3EEDF"/>
                </a:solidFill>
                <a:latin typeface="JetBrains Mono" pitchFamily="49" charset="0"/>
                <a:ea typeface="JetBrains Mono" pitchFamily="49" charset="-122"/>
                <a:cs typeface="JetBrains Mono" pitchFamily="49" charset="-120"/>
              </a:rPr>
              <a:t>neo |&gt; summarise(n = n(), covered = sum(O_group %in% valencies),</a:t>
            </a:r>
            <a:endParaRPr lang="en-US" sz="1082" dirty="0"/>
          </a:p>
          <a:p>
            <a:pPr algn="l" indent="0" marL="0">
              <a:lnSpc>
                <a:spcPts val="1460"/>
              </a:lnSpc>
              <a:buNone/>
            </a:pPr>
            <a:r>
              <a:rPr lang="en-US" sz="1082" dirty="0">
                <a:solidFill>
                  <a:srgbClr val="F3EEDF"/>
                </a:solidFill>
                <a:latin typeface="JetBrains Mono" pitchFamily="49" charset="0"/>
                <a:ea typeface="JetBrains Mono" pitchFamily="49" charset="-122"/>
                <a:cs typeface="JetBrains Mono" pitchFamily="49" charset="-120"/>
              </a:rPr>
              <a:t>                  percent = round(100 * covered / n, 1))</a:t>
            </a:r>
            <a:endParaRPr lang="en-US" sz="1082" dirty="0"/>
          </a:p>
        </p:txBody>
      </p:sp>
      <p:sp>
        <p:nvSpPr>
          <p:cNvPr id="6" name="Shape 4"/>
          <p:cNvSpPr/>
          <p:nvPr/>
        </p:nvSpPr>
        <p:spPr>
          <a:xfrm>
            <a:off x="812800" y="4825206"/>
            <a:ext cx="3403600" cy="1016794"/>
          </a:xfrm>
          <a:prstGeom prst="roundRect">
            <a:avLst>
              <a:gd name="adj" fmla="val 4996"/>
            </a:avLst>
          </a:prstGeom>
          <a:solidFill>
            <a:srgbClr val="FFFFFF"/>
          </a:solidFill>
          <a:ln/>
        </p:spPr>
      </p:sp>
      <p:sp>
        <p:nvSpPr>
          <p:cNvPr id="7" name="Shape 5"/>
          <p:cNvSpPr/>
          <p:nvPr/>
        </p:nvSpPr>
        <p:spPr>
          <a:xfrm>
            <a:off x="812800" y="4825206"/>
            <a:ext cx="3403600" cy="1016794"/>
          </a:xfrm>
          <a:custGeom>
            <a:avLst/>
            <a:gdLst/>
            <a:ahLst/>
            <a:cxnLst/>
            <a:rect l="l" t="t" r="r" b="b"/>
            <a:pathLst>
              <a:path w="3403600" h="1016794">
                <a:moveTo>
                  <a:pt x="50800" y="1016794"/>
                </a:moveTo>
                <a:lnTo>
                  <a:pt x="50800" y="1016794"/>
                </a:lnTo>
                <a:arcTo hR="50800" wR="50800" stAng="5400000" swAng="5400000"/>
                <a:lnTo>
                  <a:pt x="0" y="50800"/>
                </a:lnTo>
                <a:arcTo hR="50800" wR="50800" stAng="10800000" swAng="5400000"/>
                <a:lnTo>
                  <a:pt x="50800" y="0"/>
                </a:lnTo>
                <a:lnTo>
                  <a:pt x="50800" y="1016794"/>
                </a:lnTo>
                <a:close/>
              </a:path>
            </a:pathLst>
          </a:custGeom>
          <a:solidFill>
            <a:srgbClr val="891F15"/>
          </a:solidFill>
          <a:ln/>
        </p:spPr>
      </p:sp>
      <p:sp>
        <p:nvSpPr>
          <p:cNvPr id="8" name="Text 6"/>
          <p:cNvSpPr/>
          <p:nvPr/>
        </p:nvSpPr>
        <p:spPr>
          <a:xfrm>
            <a:off x="1028700" y="4939506"/>
            <a:ext cx="3113278" cy="215007"/>
          </a:xfrm>
          <a:prstGeom prst="rect">
            <a:avLst/>
          </a:prstGeom>
          <a:noFill/>
          <a:ln/>
        </p:spPr>
        <p:txBody>
          <a:bodyPr wrap="square" lIns="0" tIns="0" rIns="0" bIns="0" rtlCol="0" anchor="t">
            <a:normAutofit/>
          </a:bodyPr>
          <a:lstStyle/>
          <a:p>
            <a:pPr algn="l" indent="0" marL="0">
              <a:lnSpc>
                <a:spcPts val="1524"/>
              </a:lnSpc>
              <a:buNone/>
            </a:pPr>
            <a:r>
              <a:rPr lang="en-US" sz="1270" b="1" dirty="0">
                <a:solidFill>
                  <a:srgbClr val="891F15"/>
                </a:solidFill>
                <a:latin typeface="Carlito" pitchFamily="34" charset="0"/>
                <a:ea typeface="Carlito" pitchFamily="34" charset="-122"/>
                <a:cs typeface="Carlito" pitchFamily="34" charset="-120"/>
              </a:rPr>
              <a:t>Then the K curve</a:t>
            </a:r>
            <a:endParaRPr lang="en-US" sz="1270" dirty="0"/>
          </a:p>
        </p:txBody>
      </p:sp>
      <p:sp>
        <p:nvSpPr>
          <p:cNvPr id="9" name="Text 7"/>
          <p:cNvSpPr/>
          <p:nvPr/>
        </p:nvSpPr>
        <p:spPr>
          <a:xfrm>
            <a:off x="1028700" y="5179913"/>
            <a:ext cx="3113278" cy="573187"/>
          </a:xfrm>
          <a:prstGeom prst="rect">
            <a:avLst/>
          </a:prstGeom>
          <a:noFill/>
          <a:ln/>
        </p:spPr>
        <p:txBody>
          <a:bodyPr wrap="square" lIns="0" tIns="0" rIns="0" bIns="0" rtlCol="0" anchor="t">
            <a:normAutofit/>
          </a:bodyPr>
          <a:lstStyle/>
          <a:p>
            <a:pPr algn="l" indent="0" marL="0">
              <a:lnSpc>
                <a:spcPts val="1438"/>
              </a:lnSpc>
              <a:buNone/>
            </a:pPr>
            <a:r>
              <a:rPr lang="en-US" sz="1106" dirty="0">
                <a:solidFill>
                  <a:srgbClr val="3A322C"/>
                </a:solidFill>
                <a:latin typeface="Carlito" pitchFamily="34" charset="0"/>
                <a:ea typeface="Carlito" pitchFamily="34" charset="-122"/>
                <a:cs typeface="Carlito" pitchFamily="34" charset="-120"/>
              </a:rPr>
              <a:t>Rank K loci by frequency, take the cumulative percentage, and find how many are needed for 50% and 70%.</a:t>
            </a:r>
            <a:endParaRPr lang="en-US" sz="1106" dirty="0"/>
          </a:p>
        </p:txBody>
      </p:sp>
      <p:sp>
        <p:nvSpPr>
          <p:cNvPr id="10" name="Shape 8"/>
          <p:cNvSpPr/>
          <p:nvPr/>
        </p:nvSpPr>
        <p:spPr>
          <a:xfrm>
            <a:off x="4394200" y="4825206"/>
            <a:ext cx="3403600" cy="1016794"/>
          </a:xfrm>
          <a:prstGeom prst="roundRect">
            <a:avLst>
              <a:gd name="adj" fmla="val 4996"/>
            </a:avLst>
          </a:prstGeom>
          <a:solidFill>
            <a:srgbClr val="FFFFFF"/>
          </a:solidFill>
          <a:ln/>
        </p:spPr>
      </p:sp>
      <p:sp>
        <p:nvSpPr>
          <p:cNvPr id="11" name="Shape 9"/>
          <p:cNvSpPr/>
          <p:nvPr/>
        </p:nvSpPr>
        <p:spPr>
          <a:xfrm>
            <a:off x="4394200" y="4825206"/>
            <a:ext cx="3403600" cy="1016794"/>
          </a:xfrm>
          <a:custGeom>
            <a:avLst/>
            <a:gdLst/>
            <a:ahLst/>
            <a:cxnLst/>
            <a:rect l="l" t="t" r="r" b="b"/>
            <a:pathLst>
              <a:path w="3403600" h="1016794">
                <a:moveTo>
                  <a:pt x="50800" y="1016794"/>
                </a:moveTo>
                <a:lnTo>
                  <a:pt x="50800" y="1016794"/>
                </a:lnTo>
                <a:arcTo hR="50800" wR="50800" stAng="5400000" swAng="5400000"/>
                <a:lnTo>
                  <a:pt x="0" y="50800"/>
                </a:lnTo>
                <a:arcTo hR="50800" wR="50800" stAng="10800000" swAng="5400000"/>
                <a:lnTo>
                  <a:pt x="50800" y="0"/>
                </a:lnTo>
                <a:lnTo>
                  <a:pt x="50800" y="1016794"/>
                </a:lnTo>
                <a:close/>
              </a:path>
            </a:pathLst>
          </a:custGeom>
          <a:solidFill>
            <a:srgbClr val="891F15"/>
          </a:solidFill>
          <a:ln/>
        </p:spPr>
      </p:sp>
      <p:sp>
        <p:nvSpPr>
          <p:cNvPr id="12" name="Text 10"/>
          <p:cNvSpPr/>
          <p:nvPr/>
        </p:nvSpPr>
        <p:spPr>
          <a:xfrm>
            <a:off x="4610100" y="4939506"/>
            <a:ext cx="3113278" cy="231130"/>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891F15"/>
                </a:solidFill>
                <a:latin typeface="Carlito" pitchFamily="34" charset="0"/>
                <a:ea typeface="Carlito" pitchFamily="34" charset="-122"/>
                <a:cs typeface="Carlito" pitchFamily="34" charset="-120"/>
              </a:rPr>
              <a:t>And split by period</a:t>
            </a:r>
            <a:endParaRPr lang="en-US" sz="1350" dirty="0"/>
          </a:p>
        </p:txBody>
      </p:sp>
      <p:sp>
        <p:nvSpPr>
          <p:cNvPr id="13" name="Text 11"/>
          <p:cNvSpPr/>
          <p:nvPr/>
        </p:nvSpPr>
        <p:spPr>
          <a:xfrm>
            <a:off x="4610100" y="5196036"/>
            <a:ext cx="3113278"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1996–2009, 2010–2015, 2016–2020. Does the four-valent figure hold steady over 20 years?</a:t>
            </a:r>
            <a:endParaRPr lang="en-US" sz="1200" dirty="0"/>
          </a:p>
        </p:txBody>
      </p:sp>
      <p:sp>
        <p:nvSpPr>
          <p:cNvPr id="14" name="Shape 12"/>
          <p:cNvSpPr/>
          <p:nvPr/>
        </p:nvSpPr>
        <p:spPr>
          <a:xfrm>
            <a:off x="7975600" y="4825206"/>
            <a:ext cx="3403600" cy="1016794"/>
          </a:xfrm>
          <a:prstGeom prst="roundRect">
            <a:avLst>
              <a:gd name="adj" fmla="val 4996"/>
            </a:avLst>
          </a:prstGeom>
          <a:solidFill>
            <a:srgbClr val="F1E6DA"/>
          </a:solidFill>
          <a:ln/>
        </p:spPr>
      </p:sp>
      <p:sp>
        <p:nvSpPr>
          <p:cNvPr id="15" name="Shape 13"/>
          <p:cNvSpPr/>
          <p:nvPr/>
        </p:nvSpPr>
        <p:spPr>
          <a:xfrm>
            <a:off x="7975600" y="4825206"/>
            <a:ext cx="3403600" cy="1016794"/>
          </a:xfrm>
          <a:custGeom>
            <a:avLst/>
            <a:gdLst/>
            <a:ahLst/>
            <a:cxnLst/>
            <a:rect l="l" t="t" r="r" b="b"/>
            <a:pathLst>
              <a:path w="3403600" h="1016794">
                <a:moveTo>
                  <a:pt x="50800" y="1016794"/>
                </a:moveTo>
                <a:lnTo>
                  <a:pt x="50800" y="1016794"/>
                </a:lnTo>
                <a:arcTo hR="50800" wR="50800" stAng="5400000" swAng="5400000"/>
                <a:lnTo>
                  <a:pt x="0" y="50800"/>
                </a:lnTo>
                <a:arcTo hR="50800" wR="50800" stAng="10800000" swAng="5400000"/>
                <a:lnTo>
                  <a:pt x="50800" y="0"/>
                </a:lnTo>
                <a:lnTo>
                  <a:pt x="50800" y="1016794"/>
                </a:lnTo>
                <a:close/>
              </a:path>
            </a:pathLst>
          </a:custGeom>
          <a:solidFill>
            <a:srgbClr val="6D2637"/>
          </a:solidFill>
          <a:ln/>
        </p:spPr>
      </p:sp>
      <p:sp>
        <p:nvSpPr>
          <p:cNvPr id="16" name="Text 14"/>
          <p:cNvSpPr/>
          <p:nvPr/>
        </p:nvSpPr>
        <p:spPr>
          <a:xfrm>
            <a:off x="8191500" y="4939506"/>
            <a:ext cx="3113278" cy="215007"/>
          </a:xfrm>
          <a:prstGeom prst="rect">
            <a:avLst/>
          </a:prstGeom>
          <a:noFill/>
          <a:ln/>
        </p:spPr>
        <p:txBody>
          <a:bodyPr wrap="square" lIns="0" tIns="0" rIns="0" bIns="0" rtlCol="0" anchor="t">
            <a:normAutofit/>
          </a:bodyPr>
          <a:lstStyle/>
          <a:p>
            <a:pPr algn="l" indent="0" marL="0">
              <a:lnSpc>
                <a:spcPts val="1524"/>
              </a:lnSpc>
              <a:buNone/>
            </a:pPr>
            <a:r>
              <a:rPr lang="en-US" sz="1270" b="1" dirty="0">
                <a:solidFill>
                  <a:srgbClr val="6D2637"/>
                </a:solidFill>
                <a:latin typeface="Carlito" pitchFamily="34" charset="0"/>
                <a:ea typeface="Carlito" pitchFamily="34" charset="-122"/>
                <a:cs typeface="Carlito" pitchFamily="34" charset="-120"/>
              </a:rPr>
              <a:t>One rule</a:t>
            </a:r>
            <a:endParaRPr lang="en-US" sz="1270" dirty="0"/>
          </a:p>
        </p:txBody>
      </p:sp>
      <p:sp>
        <p:nvSpPr>
          <p:cNvPr id="17" name="Text 15"/>
          <p:cNvSpPr/>
          <p:nvPr/>
        </p:nvSpPr>
        <p:spPr>
          <a:xfrm>
            <a:off x="8191500" y="5179913"/>
            <a:ext cx="3113278" cy="573187"/>
          </a:xfrm>
          <a:prstGeom prst="rect">
            <a:avLst/>
          </a:prstGeom>
          <a:noFill/>
          <a:ln/>
        </p:spPr>
        <p:txBody>
          <a:bodyPr wrap="square" lIns="0" tIns="0" rIns="0" bIns="0" rtlCol="0" anchor="t">
            <a:normAutofit/>
          </a:bodyPr>
          <a:lstStyle/>
          <a:p>
            <a:pPr algn="l" indent="0" marL="0">
              <a:lnSpc>
                <a:spcPts val="1541"/>
              </a:lnSpc>
              <a:buNone/>
            </a:pPr>
            <a:r>
              <a:rPr lang="en-US" sz="1185" dirty="0">
                <a:solidFill>
                  <a:srgbClr val="3A322C"/>
                </a:solidFill>
                <a:latin typeface="Carlito" pitchFamily="34" charset="0"/>
                <a:ea typeface="Carlito" pitchFamily="34" charset="-122"/>
                <a:cs typeface="Carlito" pitchFamily="34" charset="-120"/>
              </a:rPr>
              <a:t>An </a:t>
            </a:r>
            <a:r>
              <a:rPr lang="en-US" sz="1185" b="1" dirty="0">
                <a:solidFill>
                  <a:srgbClr val="3A322C"/>
                </a:solidFill>
                <a:latin typeface="Carlito" pitchFamily="34" charset="0"/>
                <a:ea typeface="Carlito" pitchFamily="34" charset="-122"/>
                <a:cs typeface="Carlito" pitchFamily="34" charset="-120"/>
              </a:rPr>
              <a:t>unknown</a:t>
            </a:r>
            <a:r>
              <a:rPr lang="en-US" sz="1185" dirty="0">
                <a:solidFill>
                  <a:srgbClr val="3A322C"/>
                </a:solidFill>
                <a:latin typeface="Carlito" pitchFamily="34" charset="0"/>
                <a:ea typeface="Carlito" pitchFamily="34" charset="-122"/>
                <a:cs typeface="Carlito" pitchFamily="34" charset="-120"/>
              </a:rPr>
              <a:t> O type counts as </a:t>
            </a:r>
            <a:r>
              <a:rPr lang="en-US" sz="1185" b="1" dirty="0">
                <a:solidFill>
                  <a:srgbClr val="3A322C"/>
                </a:solidFill>
                <a:latin typeface="Carlito" pitchFamily="34" charset="0"/>
                <a:ea typeface="Carlito" pitchFamily="34" charset="-122"/>
                <a:cs typeface="Carlito" pitchFamily="34" charset="-120"/>
              </a:rPr>
              <a:t>not covered</a:t>
            </a:r>
            <a:r>
              <a:rPr lang="en-US" sz="1185" dirty="0">
                <a:solidFill>
                  <a:srgbClr val="3A322C"/>
                </a:solidFill>
                <a:latin typeface="Carlito" pitchFamily="34" charset="0"/>
                <a:ea typeface="Carlito" pitchFamily="34" charset="-122"/>
                <a:cs typeface="Carlito" pitchFamily="34" charset="-120"/>
              </a:rPr>
              <a:t>. Dropping those rows quietly inflates your answer.</a:t>
            </a:r>
            <a:endParaRPr lang="en-US" sz="1185" dirty="0"/>
          </a:p>
        </p:txBody>
      </p:sp>
      <p:pic>
        <p:nvPicPr>
          <p:cNvPr id="18"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19" name="Text 1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7 · Capsule, O antigen and vaccines | Day 8</a:t>
            </a:r>
            <a:endParaRPr lang="en-US" sz="1200" dirty="0"/>
          </a:p>
        </p:txBody>
      </p:sp>
      <p:sp>
        <p:nvSpPr>
          <p:cNvPr id="20" name="Text 1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How much should you trust 89.9%?</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633190"/>
            <a:ext cx="6350000" cy="892770"/>
          </a:xfrm>
          <a:prstGeom prst="roundRect">
            <a:avLst>
              <a:gd name="adj" fmla="val 5690"/>
            </a:avLst>
          </a:prstGeom>
          <a:solidFill>
            <a:srgbClr val="FFFFFF"/>
          </a:solidFill>
          <a:ln/>
        </p:spPr>
      </p:sp>
      <p:sp>
        <p:nvSpPr>
          <p:cNvPr id="5" name="Shape 3"/>
          <p:cNvSpPr/>
          <p:nvPr/>
        </p:nvSpPr>
        <p:spPr>
          <a:xfrm>
            <a:off x="812800" y="1633190"/>
            <a:ext cx="6350000" cy="892770"/>
          </a:xfrm>
          <a:custGeom>
            <a:avLst/>
            <a:gdLst/>
            <a:ahLst/>
            <a:cxnLst/>
            <a:rect l="l" t="t" r="r" b="b"/>
            <a:pathLst>
              <a:path w="6350000" h="892770">
                <a:moveTo>
                  <a:pt x="50800" y="892770"/>
                </a:moveTo>
                <a:lnTo>
                  <a:pt x="50800" y="892770"/>
                </a:lnTo>
                <a:arcTo hR="50800" wR="50800" stAng="5400000" swAng="5400000"/>
                <a:lnTo>
                  <a:pt x="0" y="50800"/>
                </a:lnTo>
                <a:arcTo hR="50800" wR="50800" stAng="10800000" swAng="5400000"/>
                <a:lnTo>
                  <a:pt x="50800" y="0"/>
                </a:lnTo>
                <a:lnTo>
                  <a:pt x="50800" y="892770"/>
                </a:lnTo>
                <a:close/>
              </a:path>
            </a:pathLst>
          </a:custGeom>
          <a:solidFill>
            <a:srgbClr val="891F15"/>
          </a:solidFill>
          <a:ln/>
        </p:spPr>
      </p:sp>
      <p:sp>
        <p:nvSpPr>
          <p:cNvPr id="6" name="Text 4"/>
          <p:cNvSpPr/>
          <p:nvPr/>
        </p:nvSpPr>
        <p:spPr>
          <a:xfrm>
            <a:off x="1028700" y="1747490"/>
            <a:ext cx="61480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One hospital</a:t>
            </a:r>
            <a:endParaRPr lang="en-US" sz="1400" dirty="0"/>
          </a:p>
        </p:txBody>
      </p:sp>
      <p:sp>
        <p:nvSpPr>
          <p:cNvPr id="7" name="Text 5"/>
          <p:cNvSpPr/>
          <p:nvPr/>
        </p:nvSpPr>
        <p:spPr>
          <a:xfrm>
            <a:off x="1028700" y="1998911"/>
            <a:ext cx="6148070" cy="43815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Antigen distributions differ between wards, hospitals and countries. This number describes Blantyre, not Africa.</a:t>
            </a:r>
            <a:endParaRPr lang="en-US" sz="1250" dirty="0"/>
          </a:p>
        </p:txBody>
      </p:sp>
      <p:sp>
        <p:nvSpPr>
          <p:cNvPr id="8" name="Shape 6"/>
          <p:cNvSpPr/>
          <p:nvPr/>
        </p:nvSpPr>
        <p:spPr>
          <a:xfrm>
            <a:off x="812800" y="2627561"/>
            <a:ext cx="6350000" cy="1099145"/>
          </a:xfrm>
          <a:prstGeom prst="roundRect">
            <a:avLst>
              <a:gd name="adj" fmla="val 4622"/>
            </a:avLst>
          </a:prstGeom>
          <a:solidFill>
            <a:srgbClr val="FFFFFF"/>
          </a:solidFill>
          <a:ln/>
        </p:spPr>
      </p:sp>
      <p:sp>
        <p:nvSpPr>
          <p:cNvPr id="9" name="Shape 7"/>
          <p:cNvSpPr/>
          <p:nvPr/>
        </p:nvSpPr>
        <p:spPr>
          <a:xfrm>
            <a:off x="812800" y="2627561"/>
            <a:ext cx="6350000" cy="1099145"/>
          </a:xfrm>
          <a:custGeom>
            <a:avLst/>
            <a:gdLst/>
            <a:ahLst/>
            <a:cxnLst/>
            <a:rect l="l" t="t" r="r" b="b"/>
            <a:pathLst>
              <a:path w="6350000" h="1099145">
                <a:moveTo>
                  <a:pt x="50800" y="1099145"/>
                </a:moveTo>
                <a:lnTo>
                  <a:pt x="50800" y="1099145"/>
                </a:lnTo>
                <a:arcTo hR="50800" wR="50800" stAng="5400000" swAng="5400000"/>
                <a:lnTo>
                  <a:pt x="0" y="50800"/>
                </a:lnTo>
                <a:arcTo hR="50800" wR="50800" stAng="10800000" swAng="5400000"/>
                <a:lnTo>
                  <a:pt x="50800" y="0"/>
                </a:lnTo>
                <a:lnTo>
                  <a:pt x="50800" y="1099145"/>
                </a:lnTo>
                <a:close/>
              </a:path>
            </a:pathLst>
          </a:custGeom>
          <a:solidFill>
            <a:srgbClr val="891F15"/>
          </a:solidFill>
          <a:ln/>
        </p:spPr>
      </p:sp>
      <p:sp>
        <p:nvSpPr>
          <p:cNvPr id="10" name="Text 8"/>
          <p:cNvSpPr/>
          <p:nvPr/>
        </p:nvSpPr>
        <p:spPr>
          <a:xfrm>
            <a:off x="1028700" y="2741861"/>
            <a:ext cx="61480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Unbalanced in time</a:t>
            </a:r>
            <a:endParaRPr lang="en-US" sz="1400" dirty="0"/>
          </a:p>
        </p:txBody>
      </p:sp>
      <p:sp>
        <p:nvSpPr>
          <p:cNvPr id="11" name="Text 9"/>
          <p:cNvSpPr/>
          <p:nvPr/>
        </p:nvSpPr>
        <p:spPr>
          <a:xfrm>
            <a:off x="1028700" y="2993281"/>
            <a:ext cx="6148070" cy="64452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321 of the 388 neonatal isolates are from 2016–2020; the earlier periods have about 30 each. The four-valent figure ranges from </a:t>
            </a:r>
            <a:r>
              <a:rPr lang="en-US" sz="1250" b="1" dirty="0">
                <a:solidFill>
                  <a:srgbClr val="3A322C"/>
                </a:solidFill>
                <a:latin typeface="Carlito" pitchFamily="34" charset="0"/>
                <a:ea typeface="Carlito" pitchFamily="34" charset="-122"/>
                <a:cs typeface="Carlito" pitchFamily="34" charset="-120"/>
              </a:rPr>
              <a:t>73.3%</a:t>
            </a:r>
            <a:r>
              <a:rPr lang="en-US" sz="1250" dirty="0">
                <a:solidFill>
                  <a:srgbClr val="3A322C"/>
                </a:solidFill>
                <a:latin typeface="Carlito" pitchFamily="34" charset="0"/>
                <a:ea typeface="Carlito" pitchFamily="34" charset="-122"/>
                <a:cs typeface="Carlito" pitchFamily="34" charset="-120"/>
              </a:rPr>
              <a:t> to </a:t>
            </a:r>
            <a:r>
              <a:rPr lang="en-US" sz="1250" b="1" dirty="0">
                <a:solidFill>
                  <a:srgbClr val="3A322C"/>
                </a:solidFill>
                <a:latin typeface="Carlito" pitchFamily="34" charset="0"/>
                <a:ea typeface="Carlito" pitchFamily="34" charset="-122"/>
                <a:cs typeface="Carlito" pitchFamily="34" charset="-120"/>
              </a:rPr>
              <a:t>94.3%</a:t>
            </a:r>
            <a:r>
              <a:rPr lang="en-US" sz="1250" dirty="0">
                <a:solidFill>
                  <a:srgbClr val="3A322C"/>
                </a:solidFill>
                <a:latin typeface="Carlito" pitchFamily="34" charset="0"/>
                <a:ea typeface="Carlito" pitchFamily="34" charset="-122"/>
                <a:cs typeface="Carlito" pitchFamily="34" charset="-120"/>
              </a:rPr>
              <a:t> across the three periods — and the study documents repeated replacement of dominant clones.</a:t>
            </a:r>
            <a:endParaRPr lang="en-US" sz="1250" dirty="0"/>
          </a:p>
        </p:txBody>
      </p:sp>
      <p:sp>
        <p:nvSpPr>
          <p:cNvPr id="12" name="Shape 10"/>
          <p:cNvSpPr/>
          <p:nvPr/>
        </p:nvSpPr>
        <p:spPr>
          <a:xfrm>
            <a:off x="812800" y="3828306"/>
            <a:ext cx="6350000" cy="892770"/>
          </a:xfrm>
          <a:prstGeom prst="roundRect">
            <a:avLst>
              <a:gd name="adj" fmla="val 5690"/>
            </a:avLst>
          </a:prstGeom>
          <a:solidFill>
            <a:srgbClr val="FFFFFF"/>
          </a:solidFill>
          <a:ln/>
        </p:spPr>
      </p:sp>
      <p:sp>
        <p:nvSpPr>
          <p:cNvPr id="13" name="Shape 11"/>
          <p:cNvSpPr/>
          <p:nvPr/>
        </p:nvSpPr>
        <p:spPr>
          <a:xfrm>
            <a:off x="812800" y="3828306"/>
            <a:ext cx="6350000" cy="892770"/>
          </a:xfrm>
          <a:custGeom>
            <a:avLst/>
            <a:gdLst/>
            <a:ahLst/>
            <a:cxnLst/>
            <a:rect l="l" t="t" r="r" b="b"/>
            <a:pathLst>
              <a:path w="6350000" h="892770">
                <a:moveTo>
                  <a:pt x="50800" y="892770"/>
                </a:moveTo>
                <a:lnTo>
                  <a:pt x="50800" y="892770"/>
                </a:lnTo>
                <a:arcTo hR="50800" wR="50800" stAng="5400000" swAng="5400000"/>
                <a:lnTo>
                  <a:pt x="0" y="50800"/>
                </a:lnTo>
                <a:arcTo hR="50800" wR="50800" stAng="10800000" swAng="5400000"/>
                <a:lnTo>
                  <a:pt x="50800" y="0"/>
                </a:lnTo>
                <a:lnTo>
                  <a:pt x="50800" y="892770"/>
                </a:lnTo>
                <a:close/>
              </a:path>
            </a:pathLst>
          </a:custGeom>
          <a:solidFill>
            <a:srgbClr val="891F15"/>
          </a:solidFill>
          <a:ln/>
        </p:spPr>
      </p:sp>
      <p:sp>
        <p:nvSpPr>
          <p:cNvPr id="14" name="Text 12"/>
          <p:cNvSpPr/>
          <p:nvPr/>
        </p:nvSpPr>
        <p:spPr>
          <a:xfrm>
            <a:off x="1028700" y="3942606"/>
            <a:ext cx="61480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Clusters inflate the common types</a:t>
            </a:r>
            <a:endParaRPr lang="en-US" sz="1400" dirty="0"/>
          </a:p>
        </p:txBody>
      </p:sp>
      <p:sp>
        <p:nvSpPr>
          <p:cNvPr id="15" name="Text 13"/>
          <p:cNvSpPr/>
          <p:nvPr/>
        </p:nvSpPr>
        <p:spPr>
          <a:xfrm>
            <a:off x="1028700" y="4194026"/>
            <a:ext cx="6148070" cy="43815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If one KL2 clone caused an outbreak, KL2 looks commoner than it is among independent infections. Counting each cluster once is one way to check.</a:t>
            </a:r>
            <a:endParaRPr lang="en-US" sz="1250" dirty="0"/>
          </a:p>
        </p:txBody>
      </p:sp>
      <p:sp>
        <p:nvSpPr>
          <p:cNvPr id="16" name="Shape 14"/>
          <p:cNvSpPr/>
          <p:nvPr/>
        </p:nvSpPr>
        <p:spPr>
          <a:xfrm>
            <a:off x="812800" y="4822676"/>
            <a:ext cx="6350000" cy="892770"/>
          </a:xfrm>
          <a:prstGeom prst="roundRect">
            <a:avLst>
              <a:gd name="adj" fmla="val 5690"/>
            </a:avLst>
          </a:prstGeom>
          <a:solidFill>
            <a:srgbClr val="FFFFFF"/>
          </a:solidFill>
          <a:ln/>
        </p:spPr>
      </p:sp>
      <p:sp>
        <p:nvSpPr>
          <p:cNvPr id="17" name="Shape 15"/>
          <p:cNvSpPr/>
          <p:nvPr/>
        </p:nvSpPr>
        <p:spPr>
          <a:xfrm>
            <a:off x="812800" y="4822676"/>
            <a:ext cx="6350000" cy="892770"/>
          </a:xfrm>
          <a:custGeom>
            <a:avLst/>
            <a:gdLst/>
            <a:ahLst/>
            <a:cxnLst/>
            <a:rect l="l" t="t" r="r" b="b"/>
            <a:pathLst>
              <a:path w="6350000" h="892770">
                <a:moveTo>
                  <a:pt x="50800" y="892770"/>
                </a:moveTo>
                <a:lnTo>
                  <a:pt x="50800" y="892770"/>
                </a:lnTo>
                <a:arcTo hR="50800" wR="50800" stAng="5400000" swAng="5400000"/>
                <a:lnTo>
                  <a:pt x="0" y="50800"/>
                </a:lnTo>
                <a:arcTo hR="50800" wR="50800" stAng="10800000" swAng="5400000"/>
                <a:lnTo>
                  <a:pt x="50800" y="0"/>
                </a:lnTo>
                <a:lnTo>
                  <a:pt x="50800" y="892770"/>
                </a:lnTo>
                <a:close/>
              </a:path>
            </a:pathLst>
          </a:custGeom>
          <a:solidFill>
            <a:srgbClr val="891F15"/>
          </a:solidFill>
          <a:ln/>
        </p:spPr>
      </p:sp>
      <p:sp>
        <p:nvSpPr>
          <p:cNvPr id="18" name="Text 16"/>
          <p:cNvSpPr/>
          <p:nvPr/>
        </p:nvSpPr>
        <p:spPr>
          <a:xfrm>
            <a:off x="1028700" y="4936976"/>
            <a:ext cx="614807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91F15"/>
                </a:solidFill>
                <a:latin typeface="Carlito" pitchFamily="34" charset="0"/>
                <a:ea typeface="Carlito" pitchFamily="34" charset="-122"/>
                <a:cs typeface="Carlito" pitchFamily="34" charset="-120"/>
              </a:rPr>
              <a:t>Only what was cultured and sequenced</a:t>
            </a:r>
            <a:endParaRPr lang="en-US" sz="1400" dirty="0"/>
          </a:p>
        </p:txBody>
      </p:sp>
      <p:sp>
        <p:nvSpPr>
          <p:cNvPr id="19" name="Text 17"/>
          <p:cNvSpPr/>
          <p:nvPr/>
        </p:nvSpPr>
        <p:spPr>
          <a:xfrm>
            <a:off x="1028700" y="5188396"/>
            <a:ext cx="6148070" cy="43815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Blood cultures taken, positive, kept and sequenced. Every step filters, and none of them filter at random.</a:t>
            </a:r>
            <a:endParaRPr lang="en-US" sz="1250" dirty="0"/>
          </a:p>
        </p:txBody>
      </p:sp>
      <p:sp>
        <p:nvSpPr>
          <p:cNvPr id="20" name="Shape 18"/>
          <p:cNvSpPr/>
          <p:nvPr/>
        </p:nvSpPr>
        <p:spPr>
          <a:xfrm>
            <a:off x="7391400" y="1633190"/>
            <a:ext cx="3987800" cy="1203325"/>
          </a:xfrm>
          <a:prstGeom prst="roundRect">
            <a:avLst>
              <a:gd name="adj" fmla="val 6332"/>
            </a:avLst>
          </a:prstGeom>
          <a:solidFill>
            <a:srgbClr val="273003"/>
          </a:solidFill>
          <a:ln/>
        </p:spPr>
      </p:sp>
      <p:sp>
        <p:nvSpPr>
          <p:cNvPr id="21" name="Text 19"/>
          <p:cNvSpPr/>
          <p:nvPr/>
        </p:nvSpPr>
        <p:spPr>
          <a:xfrm>
            <a:off x="7581900" y="1785590"/>
            <a:ext cx="371500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CE00"/>
                </a:solidFill>
                <a:latin typeface="Carlito" pitchFamily="34" charset="0"/>
                <a:ea typeface="Carlito" pitchFamily="34" charset="-122"/>
                <a:cs typeface="Carlito" pitchFamily="34" charset="-120"/>
              </a:rPr>
              <a:t>Report it as a range</a:t>
            </a:r>
            <a:endParaRPr lang="en-US" sz="1500" dirty="0"/>
          </a:p>
        </p:txBody>
      </p:sp>
      <p:sp>
        <p:nvSpPr>
          <p:cNvPr id="22" name="Text 20"/>
          <p:cNvSpPr/>
          <p:nvPr/>
        </p:nvSpPr>
        <p:spPr>
          <a:xfrm>
            <a:off x="7581900" y="2064990"/>
            <a:ext cx="3715004" cy="64452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F9F2EA"/>
                </a:solidFill>
                <a:latin typeface="Carlito" pitchFamily="34" charset="0"/>
                <a:ea typeface="Carlito" pitchFamily="34" charset="-122"/>
                <a:cs typeface="Carlito" pitchFamily="34" charset="-120"/>
              </a:rPr>
              <a:t>“Around 90% in this collection, with the caveat that it moved by twenty points between periods” is a defensible sentence. A single decimal place is not.</a:t>
            </a:r>
            <a:endParaRPr lang="en-US" sz="1250" dirty="0"/>
          </a:p>
        </p:txBody>
      </p:sp>
      <p:sp>
        <p:nvSpPr>
          <p:cNvPr id="23" name="Shape 21"/>
          <p:cNvSpPr/>
          <p:nvPr/>
        </p:nvSpPr>
        <p:spPr>
          <a:xfrm>
            <a:off x="7391400" y="2963515"/>
            <a:ext cx="3987800" cy="1369020"/>
          </a:xfrm>
          <a:prstGeom prst="roundRect">
            <a:avLst>
              <a:gd name="adj" fmla="val 3711"/>
            </a:avLst>
          </a:prstGeom>
          <a:solidFill>
            <a:srgbClr val="F1E6DA"/>
          </a:solidFill>
          <a:ln/>
        </p:spPr>
      </p:sp>
      <p:sp>
        <p:nvSpPr>
          <p:cNvPr id="24" name="Shape 22"/>
          <p:cNvSpPr/>
          <p:nvPr/>
        </p:nvSpPr>
        <p:spPr>
          <a:xfrm>
            <a:off x="7391400" y="2963515"/>
            <a:ext cx="3987800" cy="1369020"/>
          </a:xfrm>
          <a:custGeom>
            <a:avLst/>
            <a:gdLst/>
            <a:ahLst/>
            <a:cxnLst/>
            <a:rect l="l" t="t" r="r" b="b"/>
            <a:pathLst>
              <a:path w="3987800" h="1369020">
                <a:moveTo>
                  <a:pt x="50800" y="1369020"/>
                </a:moveTo>
                <a:lnTo>
                  <a:pt x="50800" y="1369020"/>
                </a:lnTo>
                <a:arcTo hR="50800" wR="50800" stAng="5400000" swAng="5400000"/>
                <a:lnTo>
                  <a:pt x="0" y="50800"/>
                </a:lnTo>
                <a:arcTo hR="50800" wR="50800" stAng="10800000" swAng="5400000"/>
                <a:lnTo>
                  <a:pt x="50800" y="0"/>
                </a:lnTo>
                <a:lnTo>
                  <a:pt x="50800" y="1369020"/>
                </a:lnTo>
                <a:close/>
              </a:path>
            </a:pathLst>
          </a:custGeom>
          <a:solidFill>
            <a:srgbClr val="6D2637"/>
          </a:solidFill>
          <a:ln/>
        </p:spPr>
      </p:sp>
      <p:sp>
        <p:nvSpPr>
          <p:cNvPr id="25" name="Text 23"/>
          <p:cNvSpPr/>
          <p:nvPr/>
        </p:nvSpPr>
        <p:spPr>
          <a:xfrm>
            <a:off x="7620000" y="3103215"/>
            <a:ext cx="368884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6D2637"/>
                </a:solidFill>
                <a:latin typeface="Carlito" pitchFamily="34" charset="0"/>
                <a:ea typeface="Carlito" pitchFamily="34" charset="-122"/>
                <a:cs typeface="Carlito" pitchFamily="34" charset="-120"/>
              </a:rPr>
              <a:t>Which is the argument for doing it</a:t>
            </a:r>
            <a:endParaRPr lang="en-US" sz="1400" dirty="0"/>
          </a:p>
        </p:txBody>
      </p:sp>
      <p:sp>
        <p:nvSpPr>
          <p:cNvPr id="26" name="Text 24"/>
          <p:cNvSpPr/>
          <p:nvPr/>
        </p:nvSpPr>
        <p:spPr>
          <a:xfrm>
            <a:off x="7620000" y="3367336"/>
            <a:ext cx="3688842" cy="850900"/>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3A322C"/>
                </a:solidFill>
                <a:latin typeface="Carlito" pitchFamily="34" charset="0"/>
                <a:ea typeface="Carlito" pitchFamily="34" charset="-122"/>
                <a:cs typeface="Carlito" pitchFamily="34" charset="-120"/>
              </a:rPr>
              <a:t>Nobody can tell you what a vaccine would cover in </a:t>
            </a:r>
            <a:r>
              <a:rPr lang="en-US" sz="1250" b="1" dirty="0">
                <a:solidFill>
                  <a:srgbClr val="3A322C"/>
                </a:solidFill>
                <a:latin typeface="Carlito" pitchFamily="34" charset="0"/>
                <a:ea typeface="Carlito" pitchFamily="34" charset="-122"/>
                <a:cs typeface="Carlito" pitchFamily="34" charset="-120"/>
              </a:rPr>
              <a:t>your</a:t>
            </a:r>
            <a:r>
              <a:rPr lang="en-US" sz="1250" dirty="0">
                <a:solidFill>
                  <a:srgbClr val="3A322C"/>
                </a:solidFill>
                <a:latin typeface="Carlito" pitchFamily="34" charset="0"/>
                <a:ea typeface="Carlito" pitchFamily="34" charset="-122"/>
                <a:cs typeface="Carlito" pitchFamily="34" charset="-120"/>
              </a:rPr>
              <a:t> country from someone else’s data. That is precisely why the typing belongs in national surveillance.</a:t>
            </a:r>
            <a:endParaRPr lang="en-US" sz="1250" dirty="0"/>
          </a:p>
        </p:txBody>
      </p:sp>
      <p:pic>
        <p:nvPicPr>
          <p:cNvPr id="27"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28" name="Text 2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7 · Capsule, O antigen and vaccines | Day 8</a:t>
            </a:r>
            <a:endParaRPr lang="en-US" sz="1200" dirty="0"/>
          </a:p>
        </p:txBody>
      </p:sp>
      <p:sp>
        <p:nvSpPr>
          <p:cNvPr id="29" name="Text 2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Check your understanding</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658590"/>
            <a:ext cx="5194300" cy="972741"/>
          </a:xfrm>
          <a:prstGeom prst="roundRect">
            <a:avLst>
              <a:gd name="adj" fmla="val 5222"/>
            </a:avLst>
          </a:prstGeom>
          <a:solidFill>
            <a:srgbClr val="FFFFFF"/>
          </a:solidFill>
          <a:ln/>
        </p:spPr>
      </p:sp>
      <p:sp>
        <p:nvSpPr>
          <p:cNvPr id="5" name="Shape 3"/>
          <p:cNvSpPr/>
          <p:nvPr/>
        </p:nvSpPr>
        <p:spPr>
          <a:xfrm>
            <a:off x="812800" y="1658590"/>
            <a:ext cx="5194300" cy="972741"/>
          </a:xfrm>
          <a:custGeom>
            <a:avLst/>
            <a:gdLst/>
            <a:ahLst/>
            <a:cxnLst/>
            <a:rect l="l" t="t" r="r" b="b"/>
            <a:pathLst>
              <a:path w="5194300" h="972741">
                <a:moveTo>
                  <a:pt x="50800" y="972741"/>
                </a:moveTo>
                <a:lnTo>
                  <a:pt x="50800" y="972741"/>
                </a:lnTo>
                <a:arcTo hR="50800" wR="50800" stAng="5400000" swAng="5400000"/>
                <a:lnTo>
                  <a:pt x="0" y="50800"/>
                </a:lnTo>
                <a:arcTo hR="50800" wR="50800" stAng="10800000" swAng="5400000"/>
                <a:lnTo>
                  <a:pt x="50800" y="0"/>
                </a:lnTo>
                <a:lnTo>
                  <a:pt x="50800" y="972741"/>
                </a:lnTo>
                <a:close/>
              </a:path>
            </a:pathLst>
          </a:custGeom>
          <a:solidFill>
            <a:srgbClr val="273003"/>
          </a:solidFill>
          <a:ln/>
        </p:spPr>
      </p:sp>
      <p:sp>
        <p:nvSpPr>
          <p:cNvPr id="6" name="Text 4"/>
          <p:cNvSpPr/>
          <p:nvPr/>
        </p:nvSpPr>
        <p:spPr>
          <a:xfrm>
            <a:off x="1054100" y="1798290"/>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73003"/>
                </a:solidFill>
                <a:latin typeface="Carlito" pitchFamily="34" charset="0"/>
                <a:ea typeface="Carlito" pitchFamily="34" charset="-122"/>
                <a:cs typeface="Carlito" pitchFamily="34" charset="-120"/>
              </a:rPr>
              <a:t>1</a:t>
            </a:r>
            <a:endParaRPr lang="en-US" sz="1400" dirty="0"/>
          </a:p>
        </p:txBody>
      </p:sp>
      <p:sp>
        <p:nvSpPr>
          <p:cNvPr id="7" name="Text 5"/>
          <p:cNvSpPr/>
          <p:nvPr/>
        </p:nvSpPr>
        <p:spPr>
          <a:xfrm>
            <a:off x="1054100" y="2062411"/>
            <a:ext cx="4905375"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322C"/>
                </a:solidFill>
                <a:latin typeface="Carlito" pitchFamily="34" charset="0"/>
                <a:ea typeface="Carlito" pitchFamily="34" charset="-122"/>
                <a:cs typeface="Carlito" pitchFamily="34" charset="-120"/>
              </a:rPr>
              <a:t>Kaptive reports </a:t>
            </a:r>
            <a:r>
              <a:rPr lang="en-US" sz="1300" b="1" dirty="0">
                <a:solidFill>
                  <a:srgbClr val="3A322C"/>
                </a:solidFill>
                <a:latin typeface="Carlito" pitchFamily="34" charset="0"/>
                <a:ea typeface="Carlito" pitchFamily="34" charset="-122"/>
                <a:cs typeface="Carlito" pitchFamily="34" charset="-120"/>
              </a:rPr>
              <a:t>KL107</a:t>
            </a:r>
            <a:r>
              <a:rPr lang="en-US" sz="1300" dirty="0">
                <a:solidFill>
                  <a:srgbClr val="3A322C"/>
                </a:solidFill>
                <a:latin typeface="Carlito" pitchFamily="34" charset="0"/>
                <a:ea typeface="Carlito" pitchFamily="34" charset="-122"/>
                <a:cs typeface="Carlito" pitchFamily="34" charset="-120"/>
              </a:rPr>
              <a:t>, confidence </a:t>
            </a:r>
            <a:r>
              <a:rPr lang="en-US" sz="1300" b="1" dirty="0">
                <a:solidFill>
                  <a:srgbClr val="3A322C"/>
                </a:solidFill>
                <a:latin typeface="Carlito" pitchFamily="34" charset="0"/>
                <a:ea typeface="Carlito" pitchFamily="34" charset="-122"/>
                <a:cs typeface="Carlito" pitchFamily="34" charset="-120"/>
              </a:rPr>
              <a:t>Typeable</a:t>
            </a:r>
            <a:r>
              <a:rPr lang="en-US" sz="1300" dirty="0">
                <a:solidFill>
                  <a:srgbClr val="3A322C"/>
                </a:solidFill>
                <a:latin typeface="Carlito" pitchFamily="34" charset="0"/>
                <a:ea typeface="Carlito" pitchFamily="34" charset="-122"/>
                <a:cs typeface="Carlito" pitchFamily="34" charset="-120"/>
              </a:rPr>
              <a:t>, predicted type </a:t>
            </a:r>
            <a:r>
              <a:rPr lang="en-US" sz="1300" b="1" dirty="0">
                <a:solidFill>
                  <a:srgbClr val="3A322C"/>
                </a:solidFill>
                <a:latin typeface="Carlito" pitchFamily="34" charset="0"/>
                <a:ea typeface="Carlito" pitchFamily="34" charset="-122"/>
                <a:cs typeface="Carlito" pitchFamily="34" charset="-120"/>
              </a:rPr>
              <a:t>unknown</a:t>
            </a:r>
            <a:r>
              <a:rPr lang="en-US" sz="1300" dirty="0">
                <a:solidFill>
                  <a:srgbClr val="3A322C"/>
                </a:solidFill>
                <a:latin typeface="Carlito" pitchFamily="34" charset="0"/>
                <a:ea typeface="Carlito" pitchFamily="34" charset="-122"/>
                <a:cs typeface="Carlito" pitchFamily="34" charset="-120"/>
              </a:rPr>
              <a:t>. What do you write in your report, and is this a problem?</a:t>
            </a:r>
            <a:endParaRPr lang="en-US" sz="1300" dirty="0"/>
          </a:p>
        </p:txBody>
      </p:sp>
      <p:sp>
        <p:nvSpPr>
          <p:cNvPr id="8" name="Shape 6"/>
          <p:cNvSpPr/>
          <p:nvPr/>
        </p:nvSpPr>
        <p:spPr>
          <a:xfrm>
            <a:off x="6184900" y="1658590"/>
            <a:ext cx="5194300" cy="972741"/>
          </a:xfrm>
          <a:prstGeom prst="roundRect">
            <a:avLst>
              <a:gd name="adj" fmla="val 5222"/>
            </a:avLst>
          </a:prstGeom>
          <a:solidFill>
            <a:srgbClr val="FFFFFF"/>
          </a:solidFill>
          <a:ln/>
        </p:spPr>
      </p:sp>
      <p:sp>
        <p:nvSpPr>
          <p:cNvPr id="9" name="Shape 7"/>
          <p:cNvSpPr/>
          <p:nvPr/>
        </p:nvSpPr>
        <p:spPr>
          <a:xfrm>
            <a:off x="6184900" y="1658590"/>
            <a:ext cx="5194300" cy="972741"/>
          </a:xfrm>
          <a:custGeom>
            <a:avLst/>
            <a:gdLst/>
            <a:ahLst/>
            <a:cxnLst/>
            <a:rect l="l" t="t" r="r" b="b"/>
            <a:pathLst>
              <a:path w="5194300" h="972741">
                <a:moveTo>
                  <a:pt x="50800" y="972741"/>
                </a:moveTo>
                <a:lnTo>
                  <a:pt x="50800" y="972741"/>
                </a:lnTo>
                <a:arcTo hR="50800" wR="50800" stAng="5400000" swAng="5400000"/>
                <a:lnTo>
                  <a:pt x="0" y="50800"/>
                </a:lnTo>
                <a:arcTo hR="50800" wR="50800" stAng="10800000" swAng="5400000"/>
                <a:lnTo>
                  <a:pt x="50800" y="0"/>
                </a:lnTo>
                <a:lnTo>
                  <a:pt x="50800" y="972741"/>
                </a:lnTo>
                <a:close/>
              </a:path>
            </a:pathLst>
          </a:custGeom>
          <a:solidFill>
            <a:srgbClr val="273003"/>
          </a:solidFill>
          <a:ln/>
        </p:spPr>
      </p:sp>
      <p:sp>
        <p:nvSpPr>
          <p:cNvPr id="10" name="Text 8"/>
          <p:cNvSpPr/>
          <p:nvPr/>
        </p:nvSpPr>
        <p:spPr>
          <a:xfrm>
            <a:off x="6426200" y="1798290"/>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73003"/>
                </a:solidFill>
                <a:latin typeface="Carlito" pitchFamily="34" charset="0"/>
                <a:ea typeface="Carlito" pitchFamily="34" charset="-122"/>
                <a:cs typeface="Carlito" pitchFamily="34" charset="-120"/>
              </a:rPr>
              <a:t>2</a:t>
            </a:r>
            <a:endParaRPr lang="en-US" sz="1400" dirty="0"/>
          </a:p>
        </p:txBody>
      </p:sp>
      <p:sp>
        <p:nvSpPr>
          <p:cNvPr id="11" name="Text 9"/>
          <p:cNvSpPr/>
          <p:nvPr/>
        </p:nvSpPr>
        <p:spPr>
          <a:xfrm>
            <a:off x="6426200" y="2062411"/>
            <a:ext cx="4905375"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322C"/>
                </a:solidFill>
                <a:latin typeface="Carlito" pitchFamily="34" charset="0"/>
                <a:ea typeface="Carlito" pitchFamily="34" charset="-122"/>
                <a:cs typeface="Carlito" pitchFamily="34" charset="-120"/>
              </a:rPr>
              <a:t>A clinician asks you which antibiotic to start, given that the isolate is </a:t>
            </a:r>
            <a:r>
              <a:rPr lang="en-US" sz="1300" b="1" dirty="0">
                <a:solidFill>
                  <a:srgbClr val="3A322C"/>
                </a:solidFill>
                <a:latin typeface="Carlito" pitchFamily="34" charset="0"/>
                <a:ea typeface="Carlito" pitchFamily="34" charset="-122"/>
                <a:cs typeface="Carlito" pitchFamily="34" charset="-120"/>
              </a:rPr>
              <a:t>K2</a:t>
            </a:r>
            <a:r>
              <a:rPr lang="en-US" sz="1300" dirty="0">
                <a:solidFill>
                  <a:srgbClr val="3A322C"/>
                </a:solidFill>
                <a:latin typeface="Carlito" pitchFamily="34" charset="0"/>
                <a:ea typeface="Carlito" pitchFamily="34" charset="-122"/>
                <a:cs typeface="Carlito" pitchFamily="34" charset="-120"/>
              </a:rPr>
              <a:t>. Answer them in two sentences.</a:t>
            </a:r>
            <a:endParaRPr lang="en-US" sz="1300" dirty="0"/>
          </a:p>
        </p:txBody>
      </p:sp>
      <p:sp>
        <p:nvSpPr>
          <p:cNvPr id="12" name="Shape 10"/>
          <p:cNvSpPr/>
          <p:nvPr/>
        </p:nvSpPr>
        <p:spPr>
          <a:xfrm>
            <a:off x="812800" y="2809131"/>
            <a:ext cx="5194300" cy="1187351"/>
          </a:xfrm>
          <a:prstGeom prst="roundRect">
            <a:avLst>
              <a:gd name="adj" fmla="val 4278"/>
            </a:avLst>
          </a:prstGeom>
          <a:solidFill>
            <a:srgbClr val="FFFFFF"/>
          </a:solidFill>
          <a:ln/>
        </p:spPr>
      </p:sp>
      <p:sp>
        <p:nvSpPr>
          <p:cNvPr id="13" name="Shape 11"/>
          <p:cNvSpPr/>
          <p:nvPr/>
        </p:nvSpPr>
        <p:spPr>
          <a:xfrm>
            <a:off x="812800" y="2809131"/>
            <a:ext cx="5194300" cy="1187351"/>
          </a:xfrm>
          <a:custGeom>
            <a:avLst/>
            <a:gdLst/>
            <a:ahLst/>
            <a:cxnLst/>
            <a:rect l="l" t="t" r="r" b="b"/>
            <a:pathLst>
              <a:path w="5194300" h="1187351">
                <a:moveTo>
                  <a:pt x="50800" y="1187351"/>
                </a:moveTo>
                <a:lnTo>
                  <a:pt x="50800" y="1187351"/>
                </a:lnTo>
                <a:arcTo hR="50800" wR="50800" stAng="5400000" swAng="5400000"/>
                <a:lnTo>
                  <a:pt x="0" y="50800"/>
                </a:lnTo>
                <a:arcTo hR="50800" wR="50800" stAng="10800000" swAng="5400000"/>
                <a:lnTo>
                  <a:pt x="50800" y="0"/>
                </a:lnTo>
                <a:lnTo>
                  <a:pt x="50800" y="1187351"/>
                </a:lnTo>
                <a:close/>
              </a:path>
            </a:pathLst>
          </a:custGeom>
          <a:solidFill>
            <a:srgbClr val="273003"/>
          </a:solidFill>
          <a:ln/>
        </p:spPr>
      </p:sp>
      <p:sp>
        <p:nvSpPr>
          <p:cNvPr id="14" name="Text 12"/>
          <p:cNvSpPr/>
          <p:nvPr/>
        </p:nvSpPr>
        <p:spPr>
          <a:xfrm>
            <a:off x="1054100" y="2948831"/>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73003"/>
                </a:solidFill>
                <a:latin typeface="Carlito" pitchFamily="34" charset="0"/>
                <a:ea typeface="Carlito" pitchFamily="34" charset="-122"/>
                <a:cs typeface="Carlito" pitchFamily="34" charset="-120"/>
              </a:rPr>
              <a:t>3</a:t>
            </a:r>
            <a:endParaRPr lang="en-US" sz="1400" dirty="0"/>
          </a:p>
        </p:txBody>
      </p:sp>
      <p:sp>
        <p:nvSpPr>
          <p:cNvPr id="15" name="Text 13"/>
          <p:cNvSpPr/>
          <p:nvPr/>
        </p:nvSpPr>
        <p:spPr>
          <a:xfrm>
            <a:off x="1054100" y="3212951"/>
            <a:ext cx="4905375"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322C"/>
                </a:solidFill>
                <a:latin typeface="Carlito" pitchFamily="34" charset="0"/>
                <a:ea typeface="Carlito" pitchFamily="34" charset="-122"/>
                <a:cs typeface="Carlito" pitchFamily="34" charset="-120"/>
              </a:rPr>
              <a:t>Two isolates share an ST but have different K loci. Does that rule out transmission? What would settle it?</a:t>
            </a:r>
            <a:endParaRPr lang="en-US" sz="1300" dirty="0"/>
          </a:p>
        </p:txBody>
      </p:sp>
      <p:sp>
        <p:nvSpPr>
          <p:cNvPr id="16" name="Shape 14"/>
          <p:cNvSpPr/>
          <p:nvPr/>
        </p:nvSpPr>
        <p:spPr>
          <a:xfrm>
            <a:off x="6184900" y="2809131"/>
            <a:ext cx="5194300" cy="1187351"/>
          </a:xfrm>
          <a:prstGeom prst="roundRect">
            <a:avLst>
              <a:gd name="adj" fmla="val 4278"/>
            </a:avLst>
          </a:prstGeom>
          <a:solidFill>
            <a:srgbClr val="FFFFFF"/>
          </a:solidFill>
          <a:ln/>
        </p:spPr>
      </p:sp>
      <p:sp>
        <p:nvSpPr>
          <p:cNvPr id="17" name="Shape 15"/>
          <p:cNvSpPr/>
          <p:nvPr/>
        </p:nvSpPr>
        <p:spPr>
          <a:xfrm>
            <a:off x="6184900" y="2809131"/>
            <a:ext cx="5194300" cy="1187351"/>
          </a:xfrm>
          <a:custGeom>
            <a:avLst/>
            <a:gdLst/>
            <a:ahLst/>
            <a:cxnLst/>
            <a:rect l="l" t="t" r="r" b="b"/>
            <a:pathLst>
              <a:path w="5194300" h="1187351">
                <a:moveTo>
                  <a:pt x="50800" y="1187351"/>
                </a:moveTo>
                <a:lnTo>
                  <a:pt x="50800" y="1187351"/>
                </a:lnTo>
                <a:arcTo hR="50800" wR="50800" stAng="5400000" swAng="5400000"/>
                <a:lnTo>
                  <a:pt x="0" y="50800"/>
                </a:lnTo>
                <a:arcTo hR="50800" wR="50800" stAng="10800000" swAng="5400000"/>
                <a:lnTo>
                  <a:pt x="50800" y="0"/>
                </a:lnTo>
                <a:lnTo>
                  <a:pt x="50800" y="1187351"/>
                </a:lnTo>
                <a:close/>
              </a:path>
            </a:pathLst>
          </a:custGeom>
          <a:solidFill>
            <a:srgbClr val="273003"/>
          </a:solidFill>
          <a:ln/>
        </p:spPr>
      </p:sp>
      <p:sp>
        <p:nvSpPr>
          <p:cNvPr id="18" name="Text 16"/>
          <p:cNvSpPr/>
          <p:nvPr/>
        </p:nvSpPr>
        <p:spPr>
          <a:xfrm>
            <a:off x="6426200" y="2948831"/>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73003"/>
                </a:solidFill>
                <a:latin typeface="Carlito" pitchFamily="34" charset="0"/>
                <a:ea typeface="Carlito" pitchFamily="34" charset="-122"/>
                <a:cs typeface="Carlito" pitchFamily="34" charset="-120"/>
              </a:rPr>
              <a:t>4</a:t>
            </a:r>
            <a:endParaRPr lang="en-US" sz="1400" dirty="0"/>
          </a:p>
        </p:txBody>
      </p:sp>
      <p:sp>
        <p:nvSpPr>
          <p:cNvPr id="19" name="Text 17"/>
          <p:cNvSpPr/>
          <p:nvPr/>
        </p:nvSpPr>
        <p:spPr>
          <a:xfrm>
            <a:off x="6426200" y="3212951"/>
            <a:ext cx="4905375"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322C"/>
                </a:solidFill>
                <a:latin typeface="Carlito" pitchFamily="34" charset="0"/>
                <a:ea typeface="Carlito" pitchFamily="34" charset="-122"/>
                <a:cs typeface="Carlito" pitchFamily="34" charset="-120"/>
              </a:rPr>
              <a:t>Your country’s collection gives four-valent O coverage of 62%, against 90% published elsewhere. Give three explanations before you conclude the vaccine is a poor fit.</a:t>
            </a:r>
            <a:endParaRPr lang="en-US" sz="1300" dirty="0"/>
          </a:p>
        </p:txBody>
      </p:sp>
      <p:sp>
        <p:nvSpPr>
          <p:cNvPr id="20" name="Shape 18"/>
          <p:cNvSpPr/>
          <p:nvPr/>
        </p:nvSpPr>
        <p:spPr>
          <a:xfrm>
            <a:off x="812800" y="4199682"/>
            <a:ext cx="10566400" cy="767655"/>
          </a:xfrm>
          <a:prstGeom prst="roundRect">
            <a:avLst>
              <a:gd name="adj" fmla="val 9926"/>
            </a:avLst>
          </a:prstGeom>
          <a:solidFill>
            <a:srgbClr val="273003"/>
          </a:solidFill>
          <a:ln/>
        </p:spPr>
      </p:sp>
      <p:sp>
        <p:nvSpPr>
          <p:cNvPr id="21" name="Text 19"/>
          <p:cNvSpPr/>
          <p:nvPr/>
        </p:nvSpPr>
        <p:spPr>
          <a:xfrm>
            <a:off x="1041400" y="4450159"/>
            <a:ext cx="1143695" cy="292100"/>
          </a:xfrm>
          <a:prstGeom prst="rect">
            <a:avLst/>
          </a:prstGeom>
          <a:noFill/>
          <a:ln/>
        </p:spPr>
        <p:txBody>
          <a:bodyPr wrap="none" lIns="0" tIns="0" rIns="0" bIns="0" rtlCol="0" anchor="t">
            <a:normAutofit/>
          </a:bodyPr>
          <a:lstStyle/>
          <a:p>
            <a:pPr algn="l" indent="0" marL="0">
              <a:lnSpc>
                <a:spcPts val="2100"/>
              </a:lnSpc>
              <a:buNone/>
            </a:pPr>
            <a:r>
              <a:rPr lang="en-US" sz="1500" b="1" dirty="0">
                <a:solidFill>
                  <a:srgbClr val="FFCE00"/>
                </a:solidFill>
                <a:latin typeface="Carlito" pitchFamily="34" charset="0"/>
                <a:ea typeface="Carlito" pitchFamily="34" charset="-122"/>
                <a:cs typeface="Carlito" pitchFamily="34" charset="-120"/>
              </a:rPr>
              <a:t>This afternoon</a:t>
            </a:r>
            <a:endParaRPr lang="en-US" sz="1500" dirty="0"/>
          </a:p>
        </p:txBody>
      </p:sp>
      <p:sp>
        <p:nvSpPr>
          <p:cNvPr id="22" name="Text 20"/>
          <p:cNvSpPr/>
          <p:nvPr/>
        </p:nvSpPr>
        <p:spPr>
          <a:xfrm>
            <a:off x="2286695" y="4352082"/>
            <a:ext cx="9129823" cy="488255"/>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F9F2EA"/>
                </a:solidFill>
                <a:latin typeface="Carlito" pitchFamily="34" charset="0"/>
                <a:ea typeface="Carlito" pitchFamily="34" charset="-122"/>
                <a:cs typeface="Carlito" pitchFamily="34" charset="-120"/>
              </a:rPr>
              <a:t>Module 8: every table you have made since Monday joined into one row per isolate — typing, AMR, plasmids, antigens and metadata.</a:t>
            </a:r>
            <a:endParaRPr lang="en-US" sz="1350" dirty="0"/>
          </a:p>
        </p:txBody>
      </p:sp>
      <p:pic>
        <p:nvPicPr>
          <p:cNvPr id="23" name="Image 0" descr="ILRI and CGIAR logos">    </p:cNvPr>
          <p:cNvPicPr>
            <a:picLocks noChangeAspect="1"/>
          </p:cNvPicPr>
          <p:nvPr/>
        </p:nvPicPr>
        <p:blipFill>
          <a:blip r:embed="rId1"/>
          <a:srcRect l="-56" r="-56" t="0" b="0"/>
          <a:stretch/>
        </p:blipFill>
        <p:spPr>
          <a:xfrm>
            <a:off x="10033000" y="254000"/>
            <a:ext cx="1346200" cy="381000"/>
          </a:xfrm>
          <a:prstGeom prst="rect">
            <a:avLst/>
          </a:prstGeom>
        </p:spPr>
      </p:pic>
      <p:sp>
        <p:nvSpPr>
          <p:cNvPr id="24" name="Text 2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7 · Capsule, O antigen and vaccines | Day 8</a:t>
            </a:r>
            <a:endParaRPr lang="en-US" sz="1200" dirty="0"/>
          </a:p>
        </p:txBody>
      </p:sp>
      <p:sp>
        <p:nvSpPr>
          <p:cNvPr id="25" name="Text 2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Before the break</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Shape 2"/>
          <p:cNvSpPr/>
          <p:nvPr/>
        </p:nvSpPr>
        <p:spPr>
          <a:xfrm>
            <a:off x="812800" y="1683990"/>
            <a:ext cx="10566400" cy="558800"/>
          </a:xfrm>
          <a:prstGeom prst="roundRect">
            <a:avLst>
              <a:gd name="adj" fmla="val 9091"/>
            </a:avLst>
          </a:prstGeom>
          <a:solidFill>
            <a:srgbClr val="FFFFFF"/>
          </a:solidFill>
          <a:ln/>
        </p:spPr>
      </p:sp>
      <p:sp>
        <p:nvSpPr>
          <p:cNvPr id="5" name="Shape 3"/>
          <p:cNvSpPr/>
          <p:nvPr/>
        </p:nvSpPr>
        <p:spPr>
          <a:xfrm>
            <a:off x="812800" y="1683990"/>
            <a:ext cx="10566400" cy="558800"/>
          </a:xfrm>
          <a:custGeom>
            <a:avLst/>
            <a:gdLst/>
            <a:ahLst/>
            <a:cxnLst/>
            <a:rect l="l" t="t" r="r" b="b"/>
            <a:pathLst>
              <a:path w="10566400" h="558800">
                <a:moveTo>
                  <a:pt x="50800" y="558800"/>
                </a:moveTo>
                <a:lnTo>
                  <a:pt x="50800" y="558800"/>
                </a:lnTo>
                <a:arcTo hR="50800" wR="50800" stAng="5400000" swAng="5400000"/>
                <a:lnTo>
                  <a:pt x="0" y="50800"/>
                </a:lnTo>
                <a:arcTo hR="50800" wR="50800" stAng="10800000" swAng="5400000"/>
                <a:lnTo>
                  <a:pt x="50800" y="0"/>
                </a:lnTo>
                <a:lnTo>
                  <a:pt x="50800" y="558800"/>
                </a:lnTo>
                <a:close/>
              </a:path>
            </a:pathLst>
          </a:custGeom>
          <a:solidFill>
            <a:srgbClr val="273003"/>
          </a:solidFill>
          <a:ln/>
        </p:spPr>
      </p:sp>
      <p:pic>
        <p:nvPicPr>
          <p:cNvPr id="6" name="Image 0" descr="CheckCircle">    </p:cNvPr>
          <p:cNvPicPr>
            <a:picLocks noChangeAspect="1"/>
          </p:cNvPicPr>
          <p:nvPr/>
        </p:nvPicPr>
        <p:blipFill>
          <a:blip r:embed="rId1"/>
          <a:srcRect l="0" r="0" t="0" b="0"/>
          <a:stretch/>
        </p:blipFill>
        <p:spPr>
          <a:xfrm>
            <a:off x="1054100" y="1823690"/>
            <a:ext cx="279400" cy="279400"/>
          </a:xfrm>
          <a:prstGeom prst="rect">
            <a:avLst/>
          </a:prstGeom>
        </p:spPr>
      </p:pic>
      <p:sp>
        <p:nvSpPr>
          <p:cNvPr id="7" name="Text 4"/>
          <p:cNvSpPr/>
          <p:nvPr/>
        </p:nvSpPr>
        <p:spPr>
          <a:xfrm>
            <a:off x="1473200" y="1847800"/>
            <a:ext cx="10006965"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A322C"/>
                </a:solidFill>
                <a:latin typeface="Carlito" pitchFamily="34" charset="0"/>
                <a:ea typeface="Carlito" pitchFamily="34" charset="-122"/>
                <a:cs typeface="Carlito" pitchFamily="34" charset="-120"/>
              </a:rPr>
              <a:t>Kaptive K and O results for your practice isolates, and the trainers’ tables for all 29 loaded — done</a:t>
            </a:r>
            <a:endParaRPr lang="en-US" sz="1400" dirty="0"/>
          </a:p>
        </p:txBody>
      </p:sp>
      <p:sp>
        <p:nvSpPr>
          <p:cNvPr id="8" name="Shape 5"/>
          <p:cNvSpPr/>
          <p:nvPr/>
        </p:nvSpPr>
        <p:spPr>
          <a:xfrm>
            <a:off x="812800" y="2369790"/>
            <a:ext cx="10566400" cy="558800"/>
          </a:xfrm>
          <a:prstGeom prst="roundRect">
            <a:avLst>
              <a:gd name="adj" fmla="val 9091"/>
            </a:avLst>
          </a:prstGeom>
          <a:solidFill>
            <a:srgbClr val="FFFFFF"/>
          </a:solidFill>
          <a:ln/>
        </p:spPr>
      </p:sp>
      <p:sp>
        <p:nvSpPr>
          <p:cNvPr id="9" name="Shape 6"/>
          <p:cNvSpPr/>
          <p:nvPr/>
        </p:nvSpPr>
        <p:spPr>
          <a:xfrm>
            <a:off x="812800" y="2369790"/>
            <a:ext cx="10566400" cy="558800"/>
          </a:xfrm>
          <a:custGeom>
            <a:avLst/>
            <a:gdLst/>
            <a:ahLst/>
            <a:cxnLst/>
            <a:rect l="l" t="t" r="r" b="b"/>
            <a:pathLst>
              <a:path w="10566400" h="558800">
                <a:moveTo>
                  <a:pt x="50800" y="558800"/>
                </a:moveTo>
                <a:lnTo>
                  <a:pt x="50800" y="558800"/>
                </a:lnTo>
                <a:arcTo hR="50800" wR="50800" stAng="5400000" swAng="5400000"/>
                <a:lnTo>
                  <a:pt x="0" y="50800"/>
                </a:lnTo>
                <a:arcTo hR="50800" wR="50800" stAng="10800000" swAng="5400000"/>
                <a:lnTo>
                  <a:pt x="50800" y="0"/>
                </a:lnTo>
                <a:lnTo>
                  <a:pt x="50800" y="558800"/>
                </a:lnTo>
                <a:close/>
              </a:path>
            </a:pathLst>
          </a:custGeom>
          <a:solidFill>
            <a:srgbClr val="273003"/>
          </a:solidFill>
          <a:ln/>
        </p:spPr>
      </p:sp>
      <p:pic>
        <p:nvPicPr>
          <p:cNvPr id="10" name="Image 1" descr="CheckCircle">    </p:cNvPr>
          <p:cNvPicPr>
            <a:picLocks noChangeAspect="1"/>
          </p:cNvPicPr>
          <p:nvPr/>
        </p:nvPicPr>
        <p:blipFill>
          <a:blip r:embed="rId2"/>
          <a:srcRect l="0" r="0" t="0" b="0"/>
          <a:stretch/>
        </p:blipFill>
        <p:spPr>
          <a:xfrm>
            <a:off x="1054100" y="2509490"/>
            <a:ext cx="279400" cy="279400"/>
          </a:xfrm>
          <a:prstGeom prst="rect">
            <a:avLst/>
          </a:prstGeom>
        </p:spPr>
      </p:pic>
      <p:sp>
        <p:nvSpPr>
          <p:cNvPr id="11" name="Text 7"/>
          <p:cNvSpPr/>
          <p:nvPr/>
        </p:nvSpPr>
        <p:spPr>
          <a:xfrm>
            <a:off x="1473200" y="2533600"/>
            <a:ext cx="10006965"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A322C"/>
                </a:solidFill>
                <a:latin typeface="Carlito" pitchFamily="34" charset="0"/>
                <a:ea typeface="Carlito" pitchFamily="34" charset="-122"/>
                <a:cs typeface="Carlito" pitchFamily="34" charset="-120"/>
              </a:rPr>
              <a:t>Every call compared with the published typing, and each disagreement explained — done</a:t>
            </a:r>
            <a:endParaRPr lang="en-US" sz="1400" dirty="0"/>
          </a:p>
        </p:txBody>
      </p:sp>
      <p:sp>
        <p:nvSpPr>
          <p:cNvPr id="12" name="Shape 8"/>
          <p:cNvSpPr/>
          <p:nvPr/>
        </p:nvSpPr>
        <p:spPr>
          <a:xfrm>
            <a:off x="812800" y="3055590"/>
            <a:ext cx="10566400" cy="558800"/>
          </a:xfrm>
          <a:prstGeom prst="roundRect">
            <a:avLst>
              <a:gd name="adj" fmla="val 9091"/>
            </a:avLst>
          </a:prstGeom>
          <a:solidFill>
            <a:srgbClr val="FFFFFF"/>
          </a:solidFill>
          <a:ln/>
        </p:spPr>
      </p:sp>
      <p:sp>
        <p:nvSpPr>
          <p:cNvPr id="13" name="Shape 9"/>
          <p:cNvSpPr/>
          <p:nvPr/>
        </p:nvSpPr>
        <p:spPr>
          <a:xfrm>
            <a:off x="812800" y="3055590"/>
            <a:ext cx="10566400" cy="558800"/>
          </a:xfrm>
          <a:custGeom>
            <a:avLst/>
            <a:gdLst/>
            <a:ahLst/>
            <a:cxnLst/>
            <a:rect l="l" t="t" r="r" b="b"/>
            <a:pathLst>
              <a:path w="10566400" h="558800">
                <a:moveTo>
                  <a:pt x="50800" y="558800"/>
                </a:moveTo>
                <a:lnTo>
                  <a:pt x="50800" y="558800"/>
                </a:lnTo>
                <a:arcTo hR="50800" wR="50800" stAng="5400000" swAng="5400000"/>
                <a:lnTo>
                  <a:pt x="0" y="50800"/>
                </a:lnTo>
                <a:arcTo hR="50800" wR="50800" stAng="10800000" swAng="5400000"/>
                <a:lnTo>
                  <a:pt x="50800" y="0"/>
                </a:lnTo>
                <a:lnTo>
                  <a:pt x="50800" y="558800"/>
                </a:lnTo>
                <a:close/>
              </a:path>
            </a:pathLst>
          </a:custGeom>
          <a:solidFill>
            <a:srgbClr val="273003"/>
          </a:solidFill>
          <a:ln/>
        </p:spPr>
      </p:sp>
      <p:pic>
        <p:nvPicPr>
          <p:cNvPr id="14" name="Image 2" descr="CheckCircle">    </p:cNvPr>
          <p:cNvPicPr>
            <a:picLocks noChangeAspect="1"/>
          </p:cNvPicPr>
          <p:nvPr/>
        </p:nvPicPr>
        <p:blipFill>
          <a:blip r:embed="rId3"/>
          <a:srcRect l="0" r="0" t="0" b="0"/>
          <a:stretch/>
        </p:blipFill>
        <p:spPr>
          <a:xfrm>
            <a:off x="1054100" y="3195290"/>
            <a:ext cx="279400" cy="279400"/>
          </a:xfrm>
          <a:prstGeom prst="rect">
            <a:avLst/>
          </a:prstGeom>
        </p:spPr>
      </p:pic>
      <p:sp>
        <p:nvSpPr>
          <p:cNvPr id="15" name="Text 10"/>
          <p:cNvSpPr/>
          <p:nvPr/>
        </p:nvSpPr>
        <p:spPr>
          <a:xfrm>
            <a:off x="1473200" y="3219400"/>
            <a:ext cx="10006965"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A322C"/>
                </a:solidFill>
                <a:latin typeface="Carlito" pitchFamily="34" charset="0"/>
                <a:ea typeface="Carlito" pitchFamily="34" charset="-122"/>
                <a:cs typeface="Carlito" pitchFamily="34" charset="-120"/>
              </a:rPr>
              <a:t>The three hybrid isolates typed on both assemblies, with what changed written down — done</a:t>
            </a:r>
            <a:endParaRPr lang="en-US" sz="1400" dirty="0"/>
          </a:p>
        </p:txBody>
      </p:sp>
      <p:sp>
        <p:nvSpPr>
          <p:cNvPr id="16" name="Shape 11"/>
          <p:cNvSpPr/>
          <p:nvPr/>
        </p:nvSpPr>
        <p:spPr>
          <a:xfrm>
            <a:off x="812800" y="3741390"/>
            <a:ext cx="10566400" cy="558800"/>
          </a:xfrm>
          <a:prstGeom prst="roundRect">
            <a:avLst>
              <a:gd name="adj" fmla="val 9091"/>
            </a:avLst>
          </a:prstGeom>
          <a:solidFill>
            <a:srgbClr val="FFFFFF"/>
          </a:solidFill>
          <a:ln/>
        </p:spPr>
      </p:sp>
      <p:sp>
        <p:nvSpPr>
          <p:cNvPr id="17" name="Shape 12"/>
          <p:cNvSpPr/>
          <p:nvPr/>
        </p:nvSpPr>
        <p:spPr>
          <a:xfrm>
            <a:off x="812800" y="3741390"/>
            <a:ext cx="10566400" cy="558800"/>
          </a:xfrm>
          <a:custGeom>
            <a:avLst/>
            <a:gdLst/>
            <a:ahLst/>
            <a:cxnLst/>
            <a:rect l="l" t="t" r="r" b="b"/>
            <a:pathLst>
              <a:path w="10566400" h="558800">
                <a:moveTo>
                  <a:pt x="50800" y="558800"/>
                </a:moveTo>
                <a:lnTo>
                  <a:pt x="50800" y="558800"/>
                </a:lnTo>
                <a:arcTo hR="50800" wR="50800" stAng="5400000" swAng="5400000"/>
                <a:lnTo>
                  <a:pt x="0" y="50800"/>
                </a:lnTo>
                <a:arcTo hR="50800" wR="50800" stAng="10800000" swAng="5400000"/>
                <a:lnTo>
                  <a:pt x="50800" y="0"/>
                </a:lnTo>
                <a:lnTo>
                  <a:pt x="50800" y="558800"/>
                </a:lnTo>
                <a:close/>
              </a:path>
            </a:pathLst>
          </a:custGeom>
          <a:solidFill>
            <a:srgbClr val="273003"/>
          </a:solidFill>
          <a:ln/>
        </p:spPr>
      </p:sp>
      <p:pic>
        <p:nvPicPr>
          <p:cNvPr id="18" name="Image 3" descr="CheckCircle">    </p:cNvPr>
          <p:cNvPicPr>
            <a:picLocks noChangeAspect="1"/>
          </p:cNvPicPr>
          <p:nvPr/>
        </p:nvPicPr>
        <p:blipFill>
          <a:blip r:embed="rId4"/>
          <a:srcRect l="0" r="0" t="0" b="0"/>
          <a:stretch/>
        </p:blipFill>
        <p:spPr>
          <a:xfrm>
            <a:off x="1054100" y="3881090"/>
            <a:ext cx="279400" cy="279400"/>
          </a:xfrm>
          <a:prstGeom prst="rect">
            <a:avLst/>
          </a:prstGeom>
        </p:spPr>
      </p:pic>
      <p:sp>
        <p:nvSpPr>
          <p:cNvPr id="19" name="Text 13"/>
          <p:cNvSpPr/>
          <p:nvPr/>
        </p:nvSpPr>
        <p:spPr>
          <a:xfrm>
            <a:off x="1473200" y="3905200"/>
            <a:ext cx="10006965"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A322C"/>
                </a:solidFill>
                <a:latin typeface="Carlito" pitchFamily="34" charset="0"/>
                <a:ea typeface="Carlito" pitchFamily="34" charset="-122"/>
                <a:cs typeface="Carlito" pitchFamily="34" charset="-120"/>
              </a:rPr>
              <a:t>Vaccine-coverage figures computed, plus the K coverage curve saved to </a:t>
            </a:r>
            <a:r>
              <a:rPr lang="en-US" sz="1400" dirty="0">
                <a:solidFill>
                  <a:srgbClr val="273003"/>
                </a:solidFill>
                <a:latin typeface="Carlito" pitchFamily="34" charset="0"/>
                <a:ea typeface="Carlito" pitchFamily="34" charset="-122"/>
                <a:cs typeface="Carlito" pitchFamily="34" charset="-120"/>
              </a:rPr>
              <a:t>results/07_antigens/k_coverage_curve.png</a:t>
            </a:r>
            <a:r>
              <a:rPr lang="en-US" sz="1400" dirty="0">
                <a:solidFill>
                  <a:srgbClr val="3A322C"/>
                </a:solidFill>
                <a:latin typeface="Carlito" pitchFamily="34" charset="0"/>
                <a:ea typeface="Carlito" pitchFamily="34" charset="-122"/>
                <a:cs typeface="Carlito" pitchFamily="34" charset="-120"/>
              </a:rPr>
              <a:t> — done</a:t>
            </a:r>
            <a:endParaRPr lang="en-US" sz="1400" dirty="0"/>
          </a:p>
        </p:txBody>
      </p:sp>
      <p:sp>
        <p:nvSpPr>
          <p:cNvPr id="20" name="Shape 14"/>
          <p:cNvSpPr/>
          <p:nvPr/>
        </p:nvSpPr>
        <p:spPr>
          <a:xfrm>
            <a:off x="812800" y="4427190"/>
            <a:ext cx="10566400" cy="558800"/>
          </a:xfrm>
          <a:prstGeom prst="roundRect">
            <a:avLst>
              <a:gd name="adj" fmla="val 9091"/>
            </a:avLst>
          </a:prstGeom>
          <a:solidFill>
            <a:srgbClr val="273003"/>
          </a:solidFill>
          <a:ln/>
        </p:spPr>
      </p:sp>
      <p:pic>
        <p:nvPicPr>
          <p:cNvPr id="21" name="Image 4" descr="Lightbulb">    </p:cNvPr>
          <p:cNvPicPr>
            <a:picLocks noChangeAspect="1"/>
          </p:cNvPicPr>
          <p:nvPr/>
        </p:nvPicPr>
        <p:blipFill>
          <a:blip r:embed="rId5"/>
          <a:srcRect l="0" r="0" t="0" b="0"/>
          <a:stretch/>
        </p:blipFill>
        <p:spPr>
          <a:xfrm>
            <a:off x="1003300" y="4566890"/>
            <a:ext cx="279400" cy="279400"/>
          </a:xfrm>
          <a:prstGeom prst="rect">
            <a:avLst/>
          </a:prstGeom>
        </p:spPr>
      </p:pic>
      <p:sp>
        <p:nvSpPr>
          <p:cNvPr id="22" name="Text 15"/>
          <p:cNvSpPr/>
          <p:nvPr/>
        </p:nvSpPr>
        <p:spPr>
          <a:xfrm>
            <a:off x="1422400" y="4591000"/>
            <a:ext cx="10059289"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9F2EA"/>
                </a:solidFill>
                <a:latin typeface="Carlito" pitchFamily="34" charset="0"/>
                <a:ea typeface="Carlito" pitchFamily="34" charset="-122"/>
                <a:cs typeface="Carlito" pitchFamily="34" charset="-120"/>
              </a:rPr>
              <a:t>And one sentence you could say to a clinician about what a serotype does </a:t>
            </a:r>
            <a:r>
              <a:rPr lang="en-US" sz="1400" b="1" dirty="0">
                <a:solidFill>
                  <a:srgbClr val="F9F2EA"/>
                </a:solidFill>
                <a:latin typeface="Carlito" pitchFamily="34" charset="0"/>
                <a:ea typeface="Carlito" pitchFamily="34" charset="-122"/>
                <a:cs typeface="Carlito" pitchFamily="34" charset="-120"/>
              </a:rPr>
              <a:t>not</a:t>
            </a:r>
            <a:r>
              <a:rPr lang="en-US" sz="1400" dirty="0">
                <a:solidFill>
                  <a:srgbClr val="F9F2EA"/>
                </a:solidFill>
                <a:latin typeface="Carlito" pitchFamily="34" charset="0"/>
                <a:ea typeface="Carlito" pitchFamily="34" charset="-122"/>
                <a:cs typeface="Carlito" pitchFamily="34" charset="-120"/>
              </a:rPr>
              <a:t> tell them</a:t>
            </a:r>
            <a:endParaRPr lang="en-US" sz="1400" dirty="0"/>
          </a:p>
        </p:txBody>
      </p:sp>
      <p:pic>
        <p:nvPicPr>
          <p:cNvPr id="23" name="Image 5" descr="ILRI and CGIAR logos">    </p:cNvPr>
          <p:cNvPicPr>
            <a:picLocks noChangeAspect="1"/>
          </p:cNvPicPr>
          <p:nvPr/>
        </p:nvPicPr>
        <p:blipFill>
          <a:blip r:embed="rId6"/>
          <a:srcRect l="-56" r="-56" t="0" b="0"/>
          <a:stretch/>
        </p:blipFill>
        <p:spPr>
          <a:xfrm>
            <a:off x="10033000" y="254000"/>
            <a:ext cx="1346200" cy="381000"/>
          </a:xfrm>
          <a:prstGeom prst="rect">
            <a:avLst/>
          </a:prstGeom>
        </p:spPr>
      </p:pic>
      <p:sp>
        <p:nvSpPr>
          <p:cNvPr id="24" name="Text 1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7 · Capsule, O antigen and vaccines | Day 8</a:t>
            </a:r>
            <a:endParaRPr lang="en-US" sz="1200" dirty="0"/>
          </a:p>
        </p:txBody>
      </p:sp>
      <p:sp>
        <p:nvSpPr>
          <p:cNvPr id="25" name="Text 1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9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6D2637"/>
                </a:solidFill>
                <a:latin typeface="Carlito" pitchFamily="34" charset="0"/>
                <a:ea typeface="Carlito" pitchFamily="34" charset="-122"/>
                <a:cs typeface="Carlito" pitchFamily="34" charset="-120"/>
              </a:rPr>
              <a:t>Further reading</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sp>
      <p:sp>
        <p:nvSpPr>
          <p:cNvPr id="4" name="Text 2"/>
          <p:cNvSpPr/>
          <p:nvPr/>
        </p:nvSpPr>
        <p:spPr>
          <a:xfrm>
            <a:off x="812800" y="1709390"/>
            <a:ext cx="640969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73003"/>
                </a:solidFill>
                <a:latin typeface="Carlito" pitchFamily="34" charset="0"/>
                <a:ea typeface="Carlito" pitchFamily="34" charset="-122"/>
                <a:cs typeface="Carlito" pitchFamily="34" charset="-120"/>
              </a:rPr>
              <a:t>Papers</a:t>
            </a:r>
            <a:endParaRPr lang="en-US" sz="1600" dirty="0"/>
          </a:p>
        </p:txBody>
      </p:sp>
      <p:sp>
        <p:nvSpPr>
          <p:cNvPr id="5" name="Text 3"/>
          <p:cNvSpPr/>
          <p:nvPr/>
        </p:nvSpPr>
        <p:spPr>
          <a:xfrm>
            <a:off x="917956" y="2054820"/>
            <a:ext cx="6296914" cy="2494161"/>
          </a:xfrm>
          <a:prstGeom prst="rect">
            <a:avLst/>
          </a:prstGeom>
          <a:noFill/>
          <a:ln/>
        </p:spPr>
        <p:txBody>
          <a:bodyPr wrap="square" lIns="0" tIns="0" rIns="0" bIns="0" rtlCol="0" anchor="t">
            <a:normAutofit/>
          </a:bodyPr>
          <a:lstStyle/>
          <a:p>
            <a:pPr algn="l" marL="148844" indent="-148844">
              <a:lnSpc>
                <a:spcPts val="1620"/>
              </a:lnSpc>
              <a:buSzPct val="100000"/>
              <a:buChar char="•"/>
            </a:pPr>
            <a:r>
              <a:rPr lang="en-US" sz="1200" dirty="0">
                <a:solidFill>
                  <a:srgbClr val="3A322C"/>
                </a:solidFill>
                <a:latin typeface="Carlito" pitchFamily="34" charset="0"/>
                <a:ea typeface="Carlito" pitchFamily="34" charset="-122"/>
                <a:cs typeface="Carlito" pitchFamily="34" charset="-120"/>
              </a:rPr>
              <a:t>Stanton TD, et al. Fast and accurate </a:t>
            </a:r>
            <a:r>
              <a:rPr lang="en-US" sz="1200" i="1" dirty="0">
                <a:solidFill>
                  <a:srgbClr val="3A322C"/>
                </a:solidFill>
                <a:latin typeface="Carlito" pitchFamily="34" charset="0"/>
                <a:ea typeface="Carlito" pitchFamily="34" charset="-122"/>
                <a:cs typeface="Carlito" pitchFamily="34" charset="-120"/>
              </a:rPr>
              <a:t>in silico</a:t>
            </a:r>
            <a:r>
              <a:rPr lang="en-US" sz="1200" dirty="0">
                <a:solidFill>
                  <a:srgbClr val="3A322C"/>
                </a:solidFill>
                <a:latin typeface="Carlito" pitchFamily="34" charset="0"/>
                <a:ea typeface="Carlito" pitchFamily="34" charset="-122"/>
                <a:cs typeface="Carlito" pitchFamily="34" charset="-120"/>
              </a:rPr>
              <a:t> antigen typing with Kaptive 3. 2025. </a:t>
            </a:r>
            <a:r>
              <a:rPr lang="en-US" sz="1200" u="sng" dirty="0">
                <a:solidFill>
                  <a:srgbClr val="3A322C"/>
                </a:solidFill>
                <a:latin typeface="Carlito" pitchFamily="34" charset="0"/>
                <a:ea typeface="Carlito" pitchFamily="34" charset="-122"/>
                <a:cs typeface="Carli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doi:10.1101/2025.02.05.636613</a:t>
            </a:r>
            <a:endParaRPr lang="en-US" sz="1200" dirty="0"/>
          </a:p>
          <a:p>
            <a:pPr algn="l" marL="148844" indent="-148844">
              <a:lnSpc>
                <a:spcPts val="1620"/>
              </a:lnSpc>
              <a:buSzPct val="100000"/>
              <a:buChar char="•"/>
            </a:pPr>
            <a:r>
              <a:rPr lang="en-US" sz="1200" dirty="0">
                <a:solidFill>
                  <a:srgbClr val="3A322C"/>
                </a:solidFill>
                <a:latin typeface="Carlito" pitchFamily="34" charset="0"/>
                <a:ea typeface="Carlito" pitchFamily="34" charset="-122"/>
                <a:cs typeface="Carlito" pitchFamily="34" charset="-120"/>
              </a:rPr>
              <a:t>Heinz E, et al. Longitudinal analysis within one hospital in sub-Saharan Africa over 20 years reveals repeated replacements of dominant clones of </a:t>
            </a:r>
            <a:r>
              <a:rPr lang="en-US" sz="1200" i="1" dirty="0">
                <a:solidFill>
                  <a:srgbClr val="3A322C"/>
                </a:solidFill>
                <a:latin typeface="Carlito" pitchFamily="34" charset="0"/>
                <a:ea typeface="Carlito" pitchFamily="34" charset="-122"/>
                <a:cs typeface="Carlito" pitchFamily="34" charset="-120"/>
              </a:rPr>
              <a:t>K. pneumoniae</a:t>
            </a:r>
            <a:r>
              <a:rPr lang="en-US" sz="1200" dirty="0">
                <a:solidFill>
                  <a:srgbClr val="3A322C"/>
                </a:solidFill>
                <a:latin typeface="Carlito" pitchFamily="34" charset="0"/>
                <a:ea typeface="Carlito" pitchFamily="34" charset="-122"/>
                <a:cs typeface="Carlito" pitchFamily="34" charset="-120"/>
              </a:rPr>
              <a:t>. </a:t>
            </a:r>
            <a:r>
              <a:rPr lang="en-US" sz="1200" i="1" dirty="0">
                <a:solidFill>
                  <a:srgbClr val="3A322C"/>
                </a:solidFill>
                <a:latin typeface="Carlito" pitchFamily="34" charset="0"/>
                <a:ea typeface="Carlito" pitchFamily="34" charset="-122"/>
                <a:cs typeface="Carlito" pitchFamily="34" charset="-120"/>
              </a:rPr>
              <a:t>Genome Med</a:t>
            </a:r>
            <a:r>
              <a:rPr lang="en-US" sz="1200" dirty="0">
                <a:solidFill>
                  <a:srgbClr val="3A322C"/>
                </a:solidFill>
                <a:latin typeface="Carlito" pitchFamily="34" charset="0"/>
                <a:ea typeface="Carlito" pitchFamily="34" charset="-122"/>
                <a:cs typeface="Carlito" pitchFamily="34" charset="-120"/>
              </a:rPr>
              <a:t> 2024. </a:t>
            </a:r>
            <a:r>
              <a:rPr lang="en-US" sz="1200" u="sng" dirty="0">
                <a:solidFill>
                  <a:srgbClr val="3A322C"/>
                </a:solidFill>
                <a:latin typeface="Carlito" pitchFamily="34" charset="0"/>
                <a:ea typeface="Carlito" pitchFamily="34" charset="-122"/>
                <a:cs typeface="Carli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doi:10.1186/s13073-024-01342-3</a:t>
            </a:r>
            <a:endParaRPr lang="en-US" sz="1200" dirty="0"/>
          </a:p>
          <a:p>
            <a:pPr algn="l" marL="148844" indent="-148844">
              <a:lnSpc>
                <a:spcPts val="1620"/>
              </a:lnSpc>
              <a:buSzPct val="100000"/>
              <a:buChar char="•"/>
            </a:pPr>
            <a:r>
              <a:rPr lang="en-US" sz="1200" dirty="0">
                <a:solidFill>
                  <a:srgbClr val="3A322C"/>
                </a:solidFill>
                <a:latin typeface="Carlito" pitchFamily="34" charset="0"/>
                <a:ea typeface="Carlito" pitchFamily="34" charset="-122"/>
                <a:cs typeface="Carlito" pitchFamily="34" charset="-120"/>
              </a:rPr>
              <a:t>Choi M, et al. The diversity of lipopolysaccharide (O) and capsular polysaccharide (K) antigens of invasive </a:t>
            </a:r>
            <a:r>
              <a:rPr lang="en-US" sz="1200" i="1" dirty="0">
                <a:solidFill>
                  <a:srgbClr val="3A322C"/>
                </a:solidFill>
                <a:latin typeface="Carlito" pitchFamily="34" charset="0"/>
                <a:ea typeface="Carlito" pitchFamily="34" charset="-122"/>
                <a:cs typeface="Carlito" pitchFamily="34" charset="-120"/>
              </a:rPr>
              <a:t>K. pneumoniae</a:t>
            </a:r>
            <a:r>
              <a:rPr lang="en-US" sz="1200" dirty="0">
                <a:solidFill>
                  <a:srgbClr val="3A322C"/>
                </a:solidFill>
                <a:latin typeface="Carlito" pitchFamily="34" charset="0"/>
                <a:ea typeface="Carlito" pitchFamily="34" charset="-122"/>
                <a:cs typeface="Carlito" pitchFamily="34" charset="-120"/>
              </a:rPr>
              <a:t> in a multi-country collection. </a:t>
            </a:r>
            <a:r>
              <a:rPr lang="en-US" sz="1200" i="1" dirty="0">
                <a:solidFill>
                  <a:srgbClr val="3A322C"/>
                </a:solidFill>
                <a:latin typeface="Carlito" pitchFamily="34" charset="0"/>
                <a:ea typeface="Carlito" pitchFamily="34" charset="-122"/>
                <a:cs typeface="Carlito" pitchFamily="34" charset="-120"/>
              </a:rPr>
              <a:t>Front Microbiol</a:t>
            </a:r>
            <a:r>
              <a:rPr lang="en-US" sz="1200" dirty="0">
                <a:solidFill>
                  <a:srgbClr val="3A322C"/>
                </a:solidFill>
                <a:latin typeface="Carlito" pitchFamily="34" charset="0"/>
                <a:ea typeface="Carlito" pitchFamily="34" charset="-122"/>
                <a:cs typeface="Carlito" pitchFamily="34" charset="-120"/>
              </a:rPr>
              <a:t> 2020. </a:t>
            </a:r>
            <a:r>
              <a:rPr lang="en-US" sz="1200" u="sng" dirty="0">
                <a:solidFill>
                  <a:srgbClr val="3A322C"/>
                </a:solidFill>
                <a:latin typeface="Carlito" pitchFamily="34" charset="0"/>
                <a:ea typeface="Carlito" pitchFamily="34" charset="-122"/>
                <a:cs typeface="Carlito"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doi:10.3389/fmicb.2020.01249</a:t>
            </a:r>
            <a:endParaRPr lang="en-US" sz="1200" dirty="0"/>
          </a:p>
          <a:p>
            <a:pPr algn="l" marL="148844" indent="-148844">
              <a:lnSpc>
                <a:spcPts val="1620"/>
              </a:lnSpc>
              <a:buSzPct val="100000"/>
              <a:buChar char="•"/>
            </a:pPr>
            <a:r>
              <a:rPr lang="en-US" sz="1200" dirty="0">
                <a:solidFill>
                  <a:srgbClr val="3A322C"/>
                </a:solidFill>
                <a:latin typeface="Carlito" pitchFamily="34" charset="0"/>
                <a:ea typeface="Carlito" pitchFamily="34" charset="-122"/>
                <a:cs typeface="Carlito" pitchFamily="34" charset="-120"/>
              </a:rPr>
              <a:t>Wyres KL, et al. Identification of </a:t>
            </a:r>
            <a:r>
              <a:rPr lang="en-US" sz="1200" i="1" dirty="0">
                <a:solidFill>
                  <a:srgbClr val="3A322C"/>
                </a:solidFill>
                <a:latin typeface="Carlito" pitchFamily="34" charset="0"/>
                <a:ea typeface="Carlito" pitchFamily="34" charset="-122"/>
                <a:cs typeface="Carlito" pitchFamily="34" charset="-120"/>
              </a:rPr>
              <a:t>Klebsiella</a:t>
            </a:r>
            <a:r>
              <a:rPr lang="en-US" sz="1200" dirty="0">
                <a:solidFill>
                  <a:srgbClr val="3A322C"/>
                </a:solidFill>
                <a:latin typeface="Carlito" pitchFamily="34" charset="0"/>
                <a:ea typeface="Carlito" pitchFamily="34" charset="-122"/>
                <a:cs typeface="Carlito" pitchFamily="34" charset="-120"/>
              </a:rPr>
              <a:t> capsule synthesis loci from whole genome data. </a:t>
            </a:r>
            <a:r>
              <a:rPr lang="en-US" sz="1200" i="1" dirty="0">
                <a:solidFill>
                  <a:srgbClr val="3A322C"/>
                </a:solidFill>
                <a:latin typeface="Carlito" pitchFamily="34" charset="0"/>
                <a:ea typeface="Carlito" pitchFamily="34" charset="-122"/>
                <a:cs typeface="Carlito" pitchFamily="34" charset="-120"/>
              </a:rPr>
              <a:t>Microb Genom</a:t>
            </a:r>
            <a:r>
              <a:rPr lang="en-US" sz="1200" dirty="0">
                <a:solidFill>
                  <a:srgbClr val="3A322C"/>
                </a:solidFill>
                <a:latin typeface="Carlito" pitchFamily="34" charset="0"/>
                <a:ea typeface="Carlito" pitchFamily="34" charset="-122"/>
                <a:cs typeface="Carlito" pitchFamily="34" charset="-120"/>
              </a:rPr>
              <a:t> 2016.</a:t>
            </a:r>
            <a:endParaRPr lang="en-US" sz="1200" dirty="0"/>
          </a:p>
          <a:p>
            <a:pPr algn="l" marL="148844" indent="-148844">
              <a:lnSpc>
                <a:spcPts val="1620"/>
              </a:lnSpc>
              <a:buSzPct val="100000"/>
              <a:buChar char="•"/>
            </a:pPr>
            <a:r>
              <a:rPr lang="en-US" sz="1200" dirty="0">
                <a:solidFill>
                  <a:srgbClr val="3A322C"/>
                </a:solidFill>
                <a:latin typeface="Carlito" pitchFamily="34" charset="0"/>
                <a:ea typeface="Carlito" pitchFamily="34" charset="-122"/>
                <a:cs typeface="Carlito" pitchFamily="34" charset="-120"/>
              </a:rPr>
              <a:t>Follador R, et al. The diversity of </a:t>
            </a:r>
            <a:r>
              <a:rPr lang="en-US" sz="1200" i="1" dirty="0">
                <a:solidFill>
                  <a:srgbClr val="3A322C"/>
                </a:solidFill>
                <a:latin typeface="Carlito" pitchFamily="34" charset="0"/>
                <a:ea typeface="Carlito" pitchFamily="34" charset="-122"/>
                <a:cs typeface="Carlito" pitchFamily="34" charset="-120"/>
              </a:rPr>
              <a:t>Klebsiella pneumoniae</a:t>
            </a:r>
            <a:r>
              <a:rPr lang="en-US" sz="1200" dirty="0">
                <a:solidFill>
                  <a:srgbClr val="3A322C"/>
                </a:solidFill>
                <a:latin typeface="Carlito" pitchFamily="34" charset="0"/>
                <a:ea typeface="Carlito" pitchFamily="34" charset="-122"/>
                <a:cs typeface="Carlito" pitchFamily="34" charset="-120"/>
              </a:rPr>
              <a:t> surface polysaccharides. </a:t>
            </a:r>
            <a:r>
              <a:rPr lang="en-US" sz="1200" i="1" dirty="0">
                <a:solidFill>
                  <a:srgbClr val="3A322C"/>
                </a:solidFill>
                <a:latin typeface="Carlito" pitchFamily="34" charset="0"/>
                <a:ea typeface="Carlito" pitchFamily="34" charset="-122"/>
                <a:cs typeface="Carlito" pitchFamily="34" charset="-120"/>
              </a:rPr>
              <a:t>Microb Genom</a:t>
            </a:r>
            <a:r>
              <a:rPr lang="en-US" sz="1200" dirty="0">
                <a:solidFill>
                  <a:srgbClr val="3A322C"/>
                </a:solidFill>
                <a:latin typeface="Carlito" pitchFamily="34" charset="0"/>
                <a:ea typeface="Carlito" pitchFamily="34" charset="-122"/>
                <a:cs typeface="Carlito" pitchFamily="34" charset="-120"/>
              </a:rPr>
              <a:t> 2016.</a:t>
            </a:r>
            <a:endParaRPr lang="en-US" sz="1200" dirty="0"/>
          </a:p>
        </p:txBody>
      </p:sp>
      <p:sp>
        <p:nvSpPr>
          <p:cNvPr id="6" name="Text 4"/>
          <p:cNvSpPr/>
          <p:nvPr/>
        </p:nvSpPr>
        <p:spPr>
          <a:xfrm>
            <a:off x="7442200" y="1709390"/>
            <a:ext cx="40551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73003"/>
                </a:solidFill>
                <a:latin typeface="Carlito" pitchFamily="34" charset="0"/>
                <a:ea typeface="Carlito" pitchFamily="34" charset="-122"/>
                <a:cs typeface="Carlito" pitchFamily="34" charset="-120"/>
              </a:rPr>
              <a:t>Tools and trials</a:t>
            </a:r>
            <a:endParaRPr lang="en-US" sz="1600" dirty="0"/>
          </a:p>
        </p:txBody>
      </p:sp>
      <p:sp>
        <p:nvSpPr>
          <p:cNvPr id="7" name="Text 5"/>
          <p:cNvSpPr/>
          <p:nvPr/>
        </p:nvSpPr>
        <p:spPr>
          <a:xfrm>
            <a:off x="7540625" y="2054820"/>
            <a:ext cx="3949065" cy="1581150"/>
          </a:xfrm>
          <a:prstGeom prst="rect">
            <a:avLst/>
          </a:prstGeom>
          <a:noFill/>
          <a:ln/>
        </p:spPr>
        <p:txBody>
          <a:bodyPr wrap="square" lIns="0" tIns="0" rIns="0" bIns="0" rtlCol="0" anchor="t">
            <a:normAutofit/>
          </a:bodyPr>
          <a:lstStyle/>
          <a:p>
            <a:pPr algn="l" marL="155575" indent="-155575">
              <a:lnSpc>
                <a:spcPts val="1750"/>
              </a:lnSpc>
              <a:buSzPct val="100000"/>
              <a:buChar char="•"/>
            </a:pPr>
            <a:r>
              <a:rPr lang="en-US" sz="1250" u="sng" dirty="0">
                <a:solidFill>
                  <a:srgbClr val="3A322C"/>
                </a:solidFill>
                <a:latin typeface="Carlito" pitchFamily="34" charset="0"/>
                <a:ea typeface="Carlito" pitchFamily="34" charset="-122"/>
                <a:cs typeface="Carlito" pitchFamily="34" charset="-120"/>
                <a:hlinkClick r:id="rId4" invalidUrl="" action="" tgtFrame="" tooltip="" history="1" highlightClick="0" endSnd="0">
                  <a:extLst>
                    <a:ext uri="{A12FA001-AC4F-418D-AE19-62706E023703}">
                      <ahyp:hlinkClr xmlns:ahyp="http://schemas.microsoft.com/office/drawing/2018/hyperlinkcolor" val="tx"/>
                    </a:ext>
                  </a:extLst>
                </a:hlinkClick>
              </a:rPr>
              <a:t>Kaptive documentation</a:t>
            </a:r>
            <a:r>
              <a:rPr lang="en-US" sz="1250" dirty="0">
                <a:solidFill>
                  <a:srgbClr val="3A322C"/>
                </a:solidFill>
                <a:latin typeface="Carlito" pitchFamily="34" charset="0"/>
                <a:ea typeface="Carlito" pitchFamily="34" charset="-122"/>
                <a:cs typeface="Carlito" pitchFamily="34" charset="-120"/>
              </a:rPr>
              <a:t> — and its “Interpreting the results” page for the confidence criteria</a:t>
            </a:r>
            <a:endParaRPr lang="en-US" sz="1250" dirty="0"/>
          </a:p>
          <a:p>
            <a:pPr algn="l" marL="155575" indent="-155575">
              <a:lnSpc>
                <a:spcPts val="1750"/>
              </a:lnSpc>
              <a:buSzPct val="100000"/>
              <a:buChar char="•"/>
            </a:pPr>
            <a:r>
              <a:rPr lang="en-US" sz="1250" u="sng" dirty="0">
                <a:solidFill>
                  <a:srgbClr val="3A322C"/>
                </a:solidFill>
                <a:latin typeface="Carlito" pitchFamily="34" charset="0"/>
                <a:ea typeface="Carlito" pitchFamily="34" charset="-122"/>
                <a:cs typeface="Carlito" pitchFamily="34" charset="-120"/>
                <a:hlinkClick r:id="rId5" invalidUrl="" action="" tgtFrame="" tooltip="" history="1" highlightClick="0" endSnd="0">
                  <a:extLst>
                    <a:ext uri="{A12FA001-AC4F-418D-AE19-62706E023703}">
                      <ahyp:hlinkClr xmlns:ahyp="http://schemas.microsoft.com/office/drawing/2018/hyperlinkcolor" val="tx"/>
                    </a:ext>
                  </a:extLst>
                </a:hlinkClick>
              </a:rPr>
              <a:t>Kaptive-Web</a:t>
            </a:r>
            <a:r>
              <a:rPr lang="en-US" sz="1250" dirty="0">
                <a:solidFill>
                  <a:srgbClr val="3A322C"/>
                </a:solidFill>
                <a:latin typeface="Carlito" pitchFamily="34" charset="0"/>
                <a:ea typeface="Carlito" pitchFamily="34" charset="-122"/>
                <a:cs typeface="Carlito" pitchFamily="34" charset="-120"/>
              </a:rPr>
              <a:t> for one-off assemblies</a:t>
            </a:r>
            <a:endParaRPr lang="en-US" sz="1250" dirty="0"/>
          </a:p>
          <a:p>
            <a:pPr algn="l" marL="155575" indent="-155575">
              <a:lnSpc>
                <a:spcPts val="1750"/>
              </a:lnSpc>
              <a:buSzPct val="100000"/>
              <a:buChar char="•"/>
            </a:pPr>
            <a:r>
              <a:rPr lang="en-US" sz="1250" u="sng" dirty="0">
                <a:solidFill>
                  <a:srgbClr val="3A322C"/>
                </a:solidFill>
                <a:latin typeface="Carlito" pitchFamily="34" charset="0"/>
                <a:ea typeface="Carlito" pitchFamily="34" charset="-122"/>
                <a:cs typeface="Carlito" pitchFamily="34" charset="-120"/>
                <a:hlinkClick r:id="rId6" invalidUrl="" action="" tgtFrame="" tooltip="" history="1" highlightClick="0" endSnd="0">
                  <a:extLst>
                    <a:ext uri="{A12FA001-AC4F-418D-AE19-62706E023703}">
                      <ahyp:hlinkClr xmlns:ahyp="http://schemas.microsoft.com/office/drawing/2018/hyperlinkcolor" val="tx"/>
                    </a:ext>
                  </a:extLst>
                </a:hlinkClick>
              </a:rPr>
              <a:t>Kleborate</a:t>
            </a:r>
            <a:r>
              <a:rPr lang="en-US" sz="1250" dirty="0">
                <a:solidFill>
                  <a:srgbClr val="3A322C"/>
                </a:solidFill>
                <a:latin typeface="Carlito" pitchFamily="34" charset="0"/>
                <a:ea typeface="Carlito" pitchFamily="34" charset="-122"/>
                <a:cs typeface="Carlito" pitchFamily="34" charset="-120"/>
              </a:rPr>
              <a:t> — reports K and O alongside the virulence score</a:t>
            </a:r>
            <a:endParaRPr lang="en-US" sz="1250" dirty="0"/>
          </a:p>
          <a:p>
            <a:pPr algn="l" marL="155575" indent="-155575">
              <a:lnSpc>
                <a:spcPts val="1750"/>
              </a:lnSpc>
              <a:buSzPct val="100000"/>
              <a:buChar char="•"/>
            </a:pPr>
            <a:r>
              <a:rPr lang="en-US" sz="1250" u="sng" dirty="0">
                <a:solidFill>
                  <a:srgbClr val="3A322C"/>
                </a:solidFill>
                <a:latin typeface="Carlito" pitchFamily="34" charset="0"/>
                <a:ea typeface="Carlito" pitchFamily="34" charset="-122"/>
                <a:cs typeface="Carlito" pitchFamily="34" charset="-120"/>
                <a:hlinkClick r:id="rId7" invalidUrl="" action="" tgtFrame="" tooltip="" history="1" highlightClick="0" endSnd="0">
                  <a:extLst>
                    <a:ext uri="{A12FA001-AC4F-418D-AE19-62706E023703}">
                      <ahyp:hlinkClr xmlns:ahyp="http://schemas.microsoft.com/office/drawing/2018/hyperlinkcolor" val="tx"/>
                    </a:ext>
                  </a:extLst>
                </a:hlinkClick>
              </a:rPr>
              <a:t>NCT04959344</a:t>
            </a:r>
            <a:r>
              <a:rPr lang="en-US" sz="1250" dirty="0">
                <a:solidFill>
                  <a:srgbClr val="3A322C"/>
                </a:solidFill>
                <a:latin typeface="Carlito" pitchFamily="34" charset="0"/>
                <a:ea typeface="Carlito" pitchFamily="34" charset="-122"/>
                <a:cs typeface="Carlito" pitchFamily="34" charset="-120"/>
              </a:rPr>
              <a:t> — Kleb4V tetravalent O bioconjugate, phase I/II</a:t>
            </a:r>
            <a:endParaRPr lang="en-US" sz="1250" dirty="0"/>
          </a:p>
        </p:txBody>
      </p:sp>
      <p:sp>
        <p:nvSpPr>
          <p:cNvPr id="8" name="Text 6"/>
          <p:cNvSpPr/>
          <p:nvPr/>
        </p:nvSpPr>
        <p:spPr>
          <a:xfrm>
            <a:off x="7442200" y="3712170"/>
            <a:ext cx="3937000" cy="1020961"/>
          </a:xfrm>
          <a:prstGeom prst="roundRect">
            <a:avLst>
              <a:gd name="adj" fmla="val 4976"/>
            </a:avLst>
          </a:prstGeom>
          <a:solidFill>
            <a:srgbClr val="F1E6DA"/>
          </a:solidFill>
          <a:ln/>
        </p:spPr>
        <p:txBody>
          <a:bodyPr wrap="square" lIns="188321" tIns="99421" rIns="30079" bIns="74021" rtlCol="0" anchor="t">
            <a:normAutofit/>
          </a:bodyPr>
          <a:lstStyle/>
          <a:p>
            <a:pPr algn="l" indent="0" marL="0">
              <a:lnSpc>
                <a:spcPts val="1560"/>
              </a:lnSpc>
              <a:buNone/>
            </a:pPr>
            <a:r>
              <a:rPr lang="en-US" sz="1200" dirty="0">
                <a:solidFill>
                  <a:srgbClr val="3A322C"/>
                </a:solidFill>
                <a:latin typeface="Carlito" pitchFamily="34" charset="0"/>
                <a:ea typeface="Carlito" pitchFamily="34" charset="-122"/>
                <a:cs typeface="Carlito" pitchFamily="34" charset="-120"/>
              </a:rPr>
              <a:t>The two 2016 </a:t>
            </a:r>
            <a:r>
              <a:rPr lang="en-US" sz="1200" i="1" dirty="0">
                <a:solidFill>
                  <a:srgbClr val="3A322C"/>
                </a:solidFill>
                <a:latin typeface="Carlito" pitchFamily="34" charset="0"/>
                <a:ea typeface="Carlito" pitchFamily="34" charset="-122"/>
                <a:cs typeface="Carlito" pitchFamily="34" charset="-120"/>
              </a:rPr>
              <a:t>Microbial Genomics</a:t>
            </a:r>
            <a:r>
              <a:rPr lang="en-US" sz="1200" dirty="0">
                <a:solidFill>
                  <a:srgbClr val="3A322C"/>
                </a:solidFill>
                <a:latin typeface="Carlito" pitchFamily="34" charset="0"/>
                <a:ea typeface="Carlito" pitchFamily="34" charset="-122"/>
                <a:cs typeface="Carlito" pitchFamily="34" charset="-120"/>
              </a:rPr>
              <a:t> papers are the ones that defined the K and O loci we type against. Worth reading if you want to know where the reference database came from.</a:t>
            </a:r>
            <a:endParaRPr lang="en-US" sz="1200" dirty="0"/>
          </a:p>
        </p:txBody>
      </p:sp>
      <p:sp>
        <p:nvSpPr>
          <p:cNvPr id="9" name="Shape 7"/>
          <p:cNvSpPr/>
          <p:nvPr/>
        </p:nvSpPr>
        <p:spPr>
          <a:xfrm>
            <a:off x="7442200" y="3712170"/>
            <a:ext cx="3937000" cy="1020961"/>
          </a:xfrm>
          <a:custGeom>
            <a:avLst/>
            <a:gdLst/>
            <a:ahLst/>
            <a:cxnLst/>
            <a:rect l="l" t="t" r="r" b="b"/>
            <a:pathLst>
              <a:path w="3937000" h="1020961">
                <a:moveTo>
                  <a:pt x="50800" y="1020961"/>
                </a:moveTo>
                <a:lnTo>
                  <a:pt x="50800" y="1020961"/>
                </a:lnTo>
                <a:arcTo hR="50800" wR="50800" stAng="5400000" swAng="5400000"/>
                <a:lnTo>
                  <a:pt x="0" y="50800"/>
                </a:lnTo>
                <a:arcTo hR="50800" wR="50800" stAng="10800000" swAng="5400000"/>
                <a:lnTo>
                  <a:pt x="50800" y="0"/>
                </a:lnTo>
                <a:lnTo>
                  <a:pt x="50800" y="1020961"/>
                </a:lnTo>
                <a:close/>
              </a:path>
            </a:pathLst>
          </a:custGeom>
          <a:solidFill>
            <a:srgbClr val="6D2637"/>
          </a:solidFill>
          <a:ln/>
        </p:spPr>
      </p:sp>
      <p:pic>
        <p:nvPicPr>
          <p:cNvPr id="10" name="Image 0" descr="ILRI and CGIAR logos">    </p:cNvPr>
          <p:cNvPicPr>
            <a:picLocks noChangeAspect="1"/>
          </p:cNvPicPr>
          <p:nvPr/>
        </p:nvPicPr>
        <p:blipFill>
          <a:blip r:embed="rId8"/>
          <a:srcRect l="-56" r="-56" t="0" b="0"/>
          <a:stretch/>
        </p:blipFill>
        <p:spPr>
          <a:xfrm>
            <a:off x="10033000" y="254000"/>
            <a:ext cx="1346200" cy="381000"/>
          </a:xfrm>
          <a:prstGeom prst="rect">
            <a:avLst/>
          </a:prstGeom>
        </p:spPr>
      </p:pic>
      <p:sp>
        <p:nvSpPr>
          <p:cNvPr id="11" name="Text 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7 · Capsule, O antigen and vaccines | Day 8</a:t>
            </a:r>
            <a:endParaRPr lang="en-US" sz="1200" dirty="0"/>
          </a:p>
        </p:txBody>
      </p:sp>
      <p:sp>
        <p:nvSpPr>
          <p:cNvPr id="12" name="Text 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9F2EA"/>
        </a:solidFill>
      </p:bgPr>
    </p:bg>
    <p:spTree>
      <p:nvGrpSpPr>
        <p:cNvPr id="1" name=""/>
        <p:cNvGrpSpPr/>
        <p:nvPr/>
      </p:nvGrpSpPr>
      <p:grpSpPr>
        <a:xfrm>
          <a:off x="0" y="0"/>
          <a:ext cx="0" cy="0"/>
          <a:chOff x="0" y="0"/>
          <a:chExt cx="0" cy="0"/>
        </a:xfrm>
      </p:grpSpPr>
      <p:pic>
        <p:nvPicPr>
          <p:cNvPr id="2" name="Image 0" descr="ILRI and CGIAR logos">    </p:cNvPr>
          <p:cNvPicPr>
            <a:picLocks noChangeAspect="1"/>
          </p:cNvPicPr>
          <p:nvPr/>
        </p:nvPicPr>
        <p:blipFill>
          <a:blip r:embed="rId1"/>
          <a:srcRect l="0" r="0" t="-63" b="-63"/>
          <a:stretch/>
        </p:blipFill>
        <p:spPr>
          <a:xfrm>
            <a:off x="425450" y="393700"/>
            <a:ext cx="1790700" cy="508000"/>
          </a:xfrm>
          <a:prstGeom prst="rect">
            <a:avLst/>
          </a:prstGeom>
        </p:spPr>
      </p:pic>
      <p:sp>
        <p:nvSpPr>
          <p:cNvPr id="3" name="Text 0"/>
          <p:cNvSpPr/>
          <p:nvPr>
            <p:ph type="title"/>
          </p:nvPr>
        </p:nvSpPr>
        <p:spPr>
          <a:xfrm>
            <a:off x="812800" y="254000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6D2637"/>
                </a:solidFill>
                <a:latin typeface="Carlito" pitchFamily="34" charset="0"/>
                <a:ea typeface="Carlito" pitchFamily="34" charset="-122"/>
                <a:cs typeface="Carlito" pitchFamily="34" charset="-120"/>
              </a:rPr>
              <a:t>Questions?</a:t>
            </a:r>
            <a:endParaRPr lang="en-US" sz="6000" dirty="0"/>
          </a:p>
        </p:txBody>
      </p:sp>
      <p:sp>
        <p:nvSpPr>
          <p:cNvPr id="4" name="Shape 1"/>
          <p:cNvSpPr/>
          <p:nvPr/>
        </p:nvSpPr>
        <p:spPr>
          <a:xfrm>
            <a:off x="812800" y="3543300"/>
            <a:ext cx="1524000" cy="38100"/>
          </a:xfrm>
          <a:prstGeom prst="roundRect">
            <a:avLst>
              <a:gd name="adj" fmla="val 50000"/>
            </a:avLst>
          </a:prstGeom>
          <a:solidFill>
            <a:srgbClr val="6D2637"/>
          </a:solidFill>
          <a:ln/>
        </p:spPr>
      </p:sp>
      <p:sp>
        <p:nvSpPr>
          <p:cNvPr id="5" name="Text 2"/>
          <p:cNvSpPr/>
          <p:nvPr/>
        </p:nvSpPr>
        <p:spPr>
          <a:xfrm>
            <a:off x="812800" y="378460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3A322C"/>
                </a:solidFill>
                <a:latin typeface="Carlito" pitchFamily="34" charset="0"/>
                <a:ea typeface="Carlito" pitchFamily="34" charset="-122"/>
                <a:cs typeface="Carlito" pitchFamily="34" charset="-120"/>
              </a:rPr>
              <a:t>Next: </a:t>
            </a:r>
            <a:r>
              <a:rPr lang="en-US" sz="2000" b="1" dirty="0">
                <a:solidFill>
                  <a:srgbClr val="3A322C"/>
                </a:solidFill>
                <a:latin typeface="Carlito" pitchFamily="34" charset="0"/>
                <a:ea typeface="Carlito" pitchFamily="34" charset="-122"/>
                <a:cs typeface="Carlito" pitchFamily="34" charset="-120"/>
              </a:rPr>
              <a:t>Day 8 afternoon</a:t>
            </a:r>
            <a:r>
              <a:rPr lang="en-US" sz="2000" dirty="0">
                <a:solidFill>
                  <a:srgbClr val="3A322C"/>
                </a:solidFill>
                <a:latin typeface="Carlito" pitchFamily="34" charset="0"/>
                <a:ea typeface="Carlito" pitchFamily="34" charset="-122"/>
                <a:cs typeface="Carlito" pitchFamily="34" charset="-120"/>
              </a:rPr>
              <a:t> · Module 8 — one table for everything</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60"/>
                </a:solidFill>
                <a:latin typeface="Carlito" pitchFamily="34" charset="0"/>
                <a:ea typeface="Carlito" pitchFamily="34" charset="-122"/>
                <a:cs typeface="Carlito" pitchFamily="34" charset="-120"/>
              </a:rPr>
              <a:t>Module 7 · Capsule, O antigen and vaccines | Day 8</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460"/>
                </a:solidFill>
                <a:latin typeface="Carlito" pitchFamily="34" charset="0"/>
                <a:ea typeface="Carlito" pitchFamily="34" charset="-122"/>
                <a:cs typeface="Carlito" pitchFamily="34" charset="-120"/>
              </a:rPr>
              <a:t>24</a:t>
            </a:r>
            <a:endParaRPr lang="en-US" sz="1200" dirty="0"/>
          </a:p>
        </p:txBody>
      </p:sp>
    </p:spTree>
  </p:cSld>
  <p:clrMapOvr>
    <a:masterClrMapping/>
  </p:clrMapOvr>
</p:sld>
</file>

<file path=ppt/theme/theme1.xml><?xml version="1.0" encoding="utf-8"?>
<a:theme xmlns:a="http://schemas.openxmlformats.org/drawingml/2006/main" name="Module 7: Capsule, O antigen and vaccines">
  <a:themeElements>
    <a:clrScheme name="Module 7: Capsule, O antigen and vaccines">
      <a:dk1>
        <a:srgbClr val="6D2637"/>
      </a:dk1>
      <a:lt1>
        <a:srgbClr val="F9F2EA"/>
      </a:lt1>
      <a:dk2>
        <a:srgbClr val="905964"/>
      </a:dk2>
      <a:lt2>
        <a:srgbClr val="EBDED8"/>
      </a:lt2>
      <a:accent1>
        <a:srgbClr val="891F15"/>
      </a:accent1>
      <a:accent2>
        <a:srgbClr val="273003"/>
      </a:accent2>
      <a:accent3>
        <a:srgbClr val="FFCE00"/>
      </a:accent3>
      <a:accent4>
        <a:srgbClr val="E3B5A8"/>
      </a:accent4>
      <a:accent5>
        <a:srgbClr val="C2CA6E"/>
      </a:accent5>
      <a:accent6>
        <a:srgbClr val="F1D3C9"/>
      </a:accent6>
      <a:hlink>
        <a:srgbClr val="0563C1"/>
      </a:hlink>
      <a:folHlink>
        <a:srgbClr val="954F72"/>
      </a:folHlink>
    </a:clrScheme>
    <a:fontScheme name="Module 7: Capsule, O antigen and vaccines">
      <a:majorFont>
        <a:latin typeface="Carl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rl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7: Capsule, O antigen and vaccines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2026-10-28T12:05:19Z</dcterms:created>
  <dcterms:modified xsi:type="dcterms:W3CDTF">2026-10-28T12:05:19Z</dcterms:modified>
</cp:coreProperties>
</file>