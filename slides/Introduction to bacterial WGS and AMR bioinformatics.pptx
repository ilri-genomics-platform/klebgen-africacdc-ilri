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overview talk for the start of the course. It walks through what whole-genome sequencing can tell us about a bacterial isolate, and the core steps of the pipeline we use all course: read QC, assembly, typing, resistance genes, plasmids, phylogeny and reports. Each step is a module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one part of the pipeline: species and lineage (typing), resistance (AMR genes), mobility (plasmids), relatedness (phylogeny). The last card is the surveillance argument: when every country runs the same pipeline with the same databases, results can be compared and pooled across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Resistance genes circulate between humans, animals, agriculture and the environment, the One Health picture on the left. Metagenomics sequences all the DNA in a sample at once: it shows which resistance genes are present, but not which organism carries them. Isolate genomics starts from a pure culture, so every gene can be tied to one bacterium, its lineage and its plasmids. That is what an outbreak investigation in a neonatal unit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surveillance genomes are Illumina only, and that is enough for species, typing, resistance genes and SNP distances. Long reads matter when the question is where a gene sits: resistance genes are often flanked by insertion sequences, exactly where short-read assemblies break. The pipeline does a hybrid assembly automatically for any isolate that also has Nanopore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way, the answer is only as good as the reference database: a curated collection of resistance genes and mutations linked to the drugs they affect. The pipeline uses AMRFinderPlus, NCBI's database and tool, on assemblies; Kleborate adds Klebsiella-specific interpretation. Read mapping is used by tools such as SRST2 and ARIBA, and is common for metagenomes.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talk follows the pipeline used throughout the course. Each step on the next slides is a course module; trainees run each step by hand first, then the whole pipeline in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figure from the pipeline README, laid out left to right. Each box is one step on the following slides. Optional extras not shown: Prokka or Bakta annotation, and running both Snippy and SKA2 to compare their SNP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depends on this step: a contaminated or low-coverage sample gives a fragmented assembly, false gene calls and wrong SNP distances. Kraken2 classifies each read against a reference database; Bracken turns those counts into species abundances. Day 1 covers this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 pneumoniae genome is around 5.5 Mb. A good short-read assembly has tens to a few hundred contigs; a good hybrid has one circular chromosome plus one contig per plasmid. A total length far from the expected size, or thousands of tiny contigs, points back to a QC problem. Day 2 covers both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methods often report K. variicola and K. quasipneumoniae as K. pneumoniae; the genome tells them apart. MLST uses seven housekeeping genes: good for naming lineages, too coarse for outbreaks, which is why we also build trees. Capsule and O types matter for future vaccines (Day 8). Kleborate's species and ST also decide the phylogeny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 first-line regimen for neonatal sepsis is ampicillin plus gentamicin. K. pneumoniae is intrinsically resistant to ampicillin (chromosomal SHV), so the regimen relies on gentamicin, and an acquired aac(3) gene removes it. Genotype and phenotype agree well overall, but not perfectly: Day 4 measures the agreement against the lab's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 resistance genes that matter most, ESBLs and carbapenemases, travel on plasmids. A plasmid can move between lineages and even species, so a plasmid outbreak can be invisible to typing by ST. Days 4 and 5 reconstruct plasmids, compare hybrid with short-read results, and look for plasmids shared between lineages.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Trees are built within one ST: between distant lineages, recombination dominates and SNP counts say nothing about transmission. Recombination imports many SNPs in one event, which would make linked isolates look unrelated, so Gubbins removes it first. The pipeline can run both Snippy and SKA2 and compare them: a conclusion should hold with either. Days 6 and 7 cover this, ending with an outbreak summary for an infection prevention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folder matches a step, and a day of the course. MultiQC is the first thing to open after a run: QC and assembly statistics for every isolate side by side. pipeline_info records exactly which software versions produced the results, which belongs in any report. R scripts then turn these folders into figures and transmission tables (Days 8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Surveillance is about patterns across many isolates: which genes, lineages and plasmids are common, and whether they cluster in place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every isolate has a gene list, the collection can be compared: which isolates share a resistance profile, which genes travel together, how profiles group by source. The resistance profile on the right, a gene-by-isolate matrix next to a tree, is the figure we build on Days 8 and 9, with ward and year alongside.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built with Nextflow and follows nf-core conventions: community modules where they exist, local modules for the rest. The paths in the command are placeholders; on the course server the shared images and databases are set by the site configuration. On Day 5 each country runs it on its own assemblies.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that run through the whole course. If participants remember only these, the details of each tool can be looked up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Day 1 sessions, which start with the computing environment and then the first pipeline step, read quality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doi.org/10.1038/s41576-019-0108-4" TargetMode="External"/><Relationship Id="rId1"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1038/s41576-019-0108-4" TargetMode="Externa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1038/s41576-019-0108-4" TargetMode="Externa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p:bgPr>
    </p:bg>
    <p:spTree>
      <p:nvGrpSpPr>
        <p:cNvPr id="1" name=""/>
        <p:cNvGrpSpPr/>
        <p:nvPr/>
      </p:nvGrpSpPr>
      <p:grpSpPr>
        <a:xfrm>
          <a:off x="0" y="0"/>
          <a:ext cx="0" cy="0"/>
          <a:chOff x="0" y="0"/>
          <a:chExt cx="0" cy="0"/>
        </a:xfrm>
      </p:grpSpPr>
      <p:pic>
        <p:nvPicPr>
          <p:cNvPr id="2" name="Image 0" descr="Pastoralists walking with their cattle at dawn">    </p:cNvPr>
          <p:cNvPicPr>
            <a:picLocks noChangeAspect="1"/>
          </p:cNvPicPr>
          <p:nvPr/>
        </p:nvPicPr>
        <p:blipFill>
          <a:blip r:embed="rId1"/>
          <a:srcRect l="0" r="0" t="0" b="0"/>
          <a:stretch/>
        </p:blipFill>
        <p:spPr>
          <a:xfrm>
            <a:off x="6096000" y="0"/>
            <a:ext cx="6096000" cy="6858000"/>
          </a:xfrm>
          <a:prstGeom prst="rect">
            <a:avLst/>
          </a:prstGeom>
        </p:spPr>
      </p:pic>
      <p:pic>
        <p:nvPicPr>
          <p:cNvPr id="3" name="Image 1" descr="ILRI and CGIAR logos">    </p:cNvPr>
          <p:cNvPicPr>
            <a:picLocks noChangeAspect="1"/>
          </p:cNvPicPr>
          <p:nvPr/>
        </p:nvPicPr>
        <p:blipFill>
          <a:blip r:embed="rId2"/>
          <a:srcRect l="-36" r="-36" t="0" b="0"/>
          <a:stretch/>
        </p:blipFill>
        <p:spPr>
          <a:xfrm>
            <a:off x="368300" y="336550"/>
            <a:ext cx="2984500" cy="806450"/>
          </a:xfrm>
          <a:prstGeom prst="rect">
            <a:avLst/>
          </a:prstGeom>
        </p:spPr>
      </p:pic>
      <p:sp>
        <p:nvSpPr>
          <p:cNvPr id="4" name="Text 0"/>
          <p:cNvSpPr/>
          <p:nvPr/>
        </p:nvSpPr>
        <p:spPr>
          <a:xfrm>
            <a:off x="0" y="2024459"/>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KLEBGEN TRAINING · INTRODUCTION</a:t>
            </a:r>
            <a:endParaRPr lang="en-US" sz="1600" dirty="0"/>
          </a:p>
        </p:txBody>
      </p:sp>
      <p:sp>
        <p:nvSpPr>
          <p:cNvPr id="5" name="Text 1"/>
          <p:cNvSpPr/>
          <p:nvPr>
            <p:ph type="title"/>
          </p:nvPr>
        </p:nvSpPr>
        <p:spPr>
          <a:xfrm>
            <a:off x="0" y="2512120"/>
            <a:ext cx="12557760" cy="1145480"/>
          </a:xfrm>
          <a:prstGeom prst="rect">
            <a:avLst/>
          </a:prstGeom>
          <a:noFill/>
          <a:ln/>
        </p:spPr>
        <p:txBody>
          <a:bodyPr wrap="square" lIns="0" tIns="0" rIns="0" bIns="0" rtlCol="0" anchor="t">
            <a:normAutofit/>
          </a:bodyPr>
          <a:lstStyle/>
          <a:p>
            <a:pPr algn="l" indent="0" marL="0">
              <a:lnSpc>
                <a:spcPts val="4410"/>
              </a:lnSpc>
              <a:buNone/>
            </a:pPr>
            <a:r>
              <a:rPr lang="en-US" sz="4200" b="1" i="0" dirty="0">
                <a:solidFill>
                  <a:srgbClr val="F9F2EA"/>
                </a:solidFill>
                <a:latin typeface="Carlito" pitchFamily="34" charset="0"/>
                <a:ea typeface="Carlito" pitchFamily="34" charset="-122"/>
                <a:cs typeface="Carlito" pitchFamily="34" charset="-120"/>
              </a:rPr>
              <a:t>Introduction to bacterial whole-genome sequencing and AMR bioinformatics</a:t>
            </a:r>
            <a:endParaRPr lang="en-US" sz="4200" dirty="0"/>
          </a:p>
        </p:txBody>
      </p:sp>
      <p:sp>
        <p:nvSpPr>
          <p:cNvPr id="6" name="Text 2"/>
          <p:cNvSpPr/>
          <p:nvPr/>
        </p:nvSpPr>
        <p:spPr>
          <a:xfrm>
            <a:off x="0" y="3835400"/>
            <a:ext cx="12557760"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9F2EA"/>
                </a:solidFill>
                <a:latin typeface="Carlito" pitchFamily="34" charset="0"/>
                <a:ea typeface="Carlito" pitchFamily="34" charset="-122"/>
                <a:cs typeface="Carlito" pitchFamily="34" charset="-120"/>
              </a:rPr>
              <a:t>From an isolate to resistance genes, lineages and outbreaks: the core steps of the training pipeline</a:t>
            </a:r>
            <a:endParaRPr lang="en-US" sz="1800" dirty="0"/>
          </a:p>
        </p:txBody>
      </p:sp>
      <p:sp>
        <p:nvSpPr>
          <p:cNvPr id="7" name="Text 3"/>
          <p:cNvSpPr/>
          <p:nvPr/>
        </p:nvSpPr>
        <p:spPr>
          <a:xfrm>
            <a:off x="0" y="4335760"/>
            <a:ext cx="125577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Introduction to bacterial WGS and AMR bioinformatics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What one genome tells us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34790"/>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A322C"/>
                </a:solidFill>
                <a:latin typeface="Carlito" pitchFamily="34" charset="0"/>
                <a:ea typeface="Carlito" pitchFamily="34" charset="-122"/>
                <a:cs typeface="Carlito" pitchFamily="34" charset="-120"/>
              </a:rPr>
              <a:t>One sequencing run per isolate answers the questions that used to need many separate lab tests.</a:t>
            </a:r>
            <a:endParaRPr lang="en-US" sz="1600" dirty="0"/>
          </a:p>
        </p:txBody>
      </p:sp>
      <p:sp>
        <p:nvSpPr>
          <p:cNvPr id="5" name="Shape 3"/>
          <p:cNvSpPr/>
          <p:nvPr/>
        </p:nvSpPr>
        <p:spPr>
          <a:xfrm>
            <a:off x="812800" y="2288480"/>
            <a:ext cx="3420517" cy="1134021"/>
          </a:xfrm>
          <a:prstGeom prst="roundRect">
            <a:avLst>
              <a:gd name="adj" fmla="val 4480"/>
            </a:avLst>
          </a:prstGeom>
          <a:solidFill>
            <a:srgbClr val="FFFFFF"/>
          </a:solidFill>
          <a:ln/>
        </p:spPr>
      </p:sp>
      <p:sp>
        <p:nvSpPr>
          <p:cNvPr id="6" name="Shape 4"/>
          <p:cNvSpPr/>
          <p:nvPr/>
        </p:nvSpPr>
        <p:spPr>
          <a:xfrm>
            <a:off x="812800" y="2288480"/>
            <a:ext cx="3420517" cy="1134021"/>
          </a:xfrm>
          <a:custGeom>
            <a:avLst/>
            <a:gdLst/>
            <a:ahLst/>
            <a:cxnLst/>
            <a:rect l="l" t="t" r="r" b="b"/>
            <a:pathLst>
              <a:path w="3420517" h="1134021">
                <a:moveTo>
                  <a:pt x="0" y="50800"/>
                </a:moveTo>
                <a:lnTo>
                  <a:pt x="0" y="50800"/>
                </a:lnTo>
                <a:arcTo hR="50800" wR="50800" stAng="10800000" swAng="5400000"/>
                <a:lnTo>
                  <a:pt x="3369717" y="0"/>
                </a:lnTo>
                <a:arcTo hR="50800" wR="50800" stAng="16200000" swAng="5400000"/>
                <a:lnTo>
                  <a:pt x="3420517" y="50800"/>
                </a:lnTo>
                <a:lnTo>
                  <a:pt x="0" y="50800"/>
                </a:lnTo>
                <a:close/>
              </a:path>
            </a:pathLst>
          </a:custGeom>
          <a:solidFill>
            <a:srgbClr val="273003"/>
          </a:solidFill>
          <a:ln/>
        </p:spPr>
      </p:sp>
      <p:sp>
        <p:nvSpPr>
          <p:cNvPr id="7" name="Text 5"/>
          <p:cNvSpPr/>
          <p:nvPr/>
        </p:nvSpPr>
        <p:spPr>
          <a:xfrm>
            <a:off x="1003300" y="2504380"/>
            <a:ext cx="313070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Species</a:t>
            </a:r>
            <a:endParaRPr lang="en-US" sz="1600" dirty="0"/>
          </a:p>
        </p:txBody>
      </p:sp>
      <p:sp>
        <p:nvSpPr>
          <p:cNvPr id="8" name="Text 6"/>
          <p:cNvSpPr/>
          <p:nvPr/>
        </p:nvSpPr>
        <p:spPr>
          <a:xfrm>
            <a:off x="1003300" y="2811711"/>
            <a:ext cx="31307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Which organism, including close relatives labs often miss</a:t>
            </a:r>
            <a:endParaRPr lang="en-US" sz="1300" dirty="0"/>
          </a:p>
        </p:txBody>
      </p:sp>
      <p:sp>
        <p:nvSpPr>
          <p:cNvPr id="9" name="Shape 7"/>
          <p:cNvSpPr/>
          <p:nvPr/>
        </p:nvSpPr>
        <p:spPr>
          <a:xfrm>
            <a:off x="4385717" y="2288480"/>
            <a:ext cx="3420517" cy="1134021"/>
          </a:xfrm>
          <a:prstGeom prst="roundRect">
            <a:avLst>
              <a:gd name="adj" fmla="val 4480"/>
            </a:avLst>
          </a:prstGeom>
          <a:solidFill>
            <a:srgbClr val="FFFFFF"/>
          </a:solidFill>
          <a:ln/>
        </p:spPr>
      </p:sp>
      <p:sp>
        <p:nvSpPr>
          <p:cNvPr id="10" name="Shape 8"/>
          <p:cNvSpPr/>
          <p:nvPr/>
        </p:nvSpPr>
        <p:spPr>
          <a:xfrm>
            <a:off x="4385717" y="2288480"/>
            <a:ext cx="3420517" cy="1134021"/>
          </a:xfrm>
          <a:custGeom>
            <a:avLst/>
            <a:gdLst/>
            <a:ahLst/>
            <a:cxnLst/>
            <a:rect l="l" t="t" r="r" b="b"/>
            <a:pathLst>
              <a:path w="3420517" h="1134021">
                <a:moveTo>
                  <a:pt x="0" y="50800"/>
                </a:moveTo>
                <a:lnTo>
                  <a:pt x="0" y="50800"/>
                </a:lnTo>
                <a:arcTo hR="50800" wR="50800" stAng="10800000" swAng="5400000"/>
                <a:lnTo>
                  <a:pt x="3369717" y="0"/>
                </a:lnTo>
                <a:arcTo hR="50800" wR="50800" stAng="16200000" swAng="5400000"/>
                <a:lnTo>
                  <a:pt x="3420517" y="50800"/>
                </a:lnTo>
                <a:lnTo>
                  <a:pt x="0" y="50800"/>
                </a:lnTo>
                <a:close/>
              </a:path>
            </a:pathLst>
          </a:custGeom>
          <a:solidFill>
            <a:srgbClr val="273003"/>
          </a:solidFill>
          <a:ln/>
        </p:spPr>
      </p:sp>
      <p:sp>
        <p:nvSpPr>
          <p:cNvPr id="11" name="Text 9"/>
          <p:cNvSpPr/>
          <p:nvPr/>
        </p:nvSpPr>
        <p:spPr>
          <a:xfrm>
            <a:off x="4576217" y="2504380"/>
            <a:ext cx="313070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Lineage</a:t>
            </a:r>
            <a:endParaRPr lang="en-US" sz="1600" dirty="0"/>
          </a:p>
        </p:txBody>
      </p:sp>
      <p:sp>
        <p:nvSpPr>
          <p:cNvPr id="12" name="Text 10"/>
          <p:cNvSpPr/>
          <p:nvPr/>
        </p:nvSpPr>
        <p:spPr>
          <a:xfrm>
            <a:off x="4576217" y="2811711"/>
            <a:ext cx="31307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Sequence type, high-risk clones, capsule and O types</a:t>
            </a:r>
            <a:endParaRPr lang="en-US" sz="1300" dirty="0"/>
          </a:p>
        </p:txBody>
      </p:sp>
      <p:sp>
        <p:nvSpPr>
          <p:cNvPr id="13" name="Shape 11"/>
          <p:cNvSpPr/>
          <p:nvPr/>
        </p:nvSpPr>
        <p:spPr>
          <a:xfrm>
            <a:off x="7958634" y="2288480"/>
            <a:ext cx="3420566" cy="1134021"/>
          </a:xfrm>
          <a:prstGeom prst="roundRect">
            <a:avLst>
              <a:gd name="adj" fmla="val 4480"/>
            </a:avLst>
          </a:prstGeom>
          <a:solidFill>
            <a:srgbClr val="FFFFFF"/>
          </a:solidFill>
          <a:ln/>
        </p:spPr>
      </p:sp>
      <p:sp>
        <p:nvSpPr>
          <p:cNvPr id="14" name="Shape 12"/>
          <p:cNvSpPr/>
          <p:nvPr/>
        </p:nvSpPr>
        <p:spPr>
          <a:xfrm>
            <a:off x="7958634" y="2288480"/>
            <a:ext cx="3420566" cy="1134021"/>
          </a:xfrm>
          <a:custGeom>
            <a:avLst/>
            <a:gdLst/>
            <a:ahLst/>
            <a:cxnLst/>
            <a:rect l="l" t="t" r="r" b="b"/>
            <a:pathLst>
              <a:path w="3420566" h="1134021">
                <a:moveTo>
                  <a:pt x="0" y="50800"/>
                </a:moveTo>
                <a:lnTo>
                  <a:pt x="0" y="50800"/>
                </a:lnTo>
                <a:arcTo hR="50800" wR="50800" stAng="10800000" swAng="5400000"/>
                <a:lnTo>
                  <a:pt x="3369766" y="0"/>
                </a:lnTo>
                <a:arcTo hR="50800" wR="50800" stAng="16200000" swAng="5400000"/>
                <a:lnTo>
                  <a:pt x="3420566" y="50800"/>
                </a:lnTo>
                <a:lnTo>
                  <a:pt x="0" y="50800"/>
                </a:lnTo>
                <a:close/>
              </a:path>
            </a:pathLst>
          </a:custGeom>
          <a:solidFill>
            <a:srgbClr val="891F15"/>
          </a:solidFill>
          <a:ln/>
        </p:spPr>
      </p:sp>
      <p:sp>
        <p:nvSpPr>
          <p:cNvPr id="15" name="Text 13"/>
          <p:cNvSpPr/>
          <p:nvPr/>
        </p:nvSpPr>
        <p:spPr>
          <a:xfrm>
            <a:off x="8149134" y="2504380"/>
            <a:ext cx="313075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91F15"/>
                </a:solidFill>
                <a:latin typeface="Carlito" pitchFamily="34" charset="0"/>
                <a:ea typeface="Carlito" pitchFamily="34" charset="-122"/>
                <a:cs typeface="Carlito" pitchFamily="34" charset="-120"/>
              </a:rPr>
              <a:t>Resistance</a:t>
            </a:r>
            <a:endParaRPr lang="en-US" sz="1600" dirty="0"/>
          </a:p>
        </p:txBody>
      </p:sp>
      <p:sp>
        <p:nvSpPr>
          <p:cNvPr id="16" name="Text 14"/>
          <p:cNvSpPr/>
          <p:nvPr/>
        </p:nvSpPr>
        <p:spPr>
          <a:xfrm>
            <a:off x="8149134" y="2811711"/>
            <a:ext cx="3130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Acquired genes and mutations behind treatment failure</a:t>
            </a:r>
            <a:endParaRPr lang="en-US" sz="1300" dirty="0"/>
          </a:p>
        </p:txBody>
      </p:sp>
      <p:sp>
        <p:nvSpPr>
          <p:cNvPr id="17" name="Shape 15"/>
          <p:cNvSpPr/>
          <p:nvPr/>
        </p:nvSpPr>
        <p:spPr>
          <a:xfrm>
            <a:off x="812800" y="3574901"/>
            <a:ext cx="3420517" cy="1134021"/>
          </a:xfrm>
          <a:prstGeom prst="roundRect">
            <a:avLst>
              <a:gd name="adj" fmla="val 4480"/>
            </a:avLst>
          </a:prstGeom>
          <a:solidFill>
            <a:srgbClr val="FFFFFF"/>
          </a:solidFill>
          <a:ln/>
        </p:spPr>
      </p:sp>
      <p:sp>
        <p:nvSpPr>
          <p:cNvPr id="18" name="Shape 16"/>
          <p:cNvSpPr/>
          <p:nvPr/>
        </p:nvSpPr>
        <p:spPr>
          <a:xfrm>
            <a:off x="812800" y="3574901"/>
            <a:ext cx="3420517" cy="1134021"/>
          </a:xfrm>
          <a:custGeom>
            <a:avLst/>
            <a:gdLst/>
            <a:ahLst/>
            <a:cxnLst/>
            <a:rect l="l" t="t" r="r" b="b"/>
            <a:pathLst>
              <a:path w="3420517" h="1134021">
                <a:moveTo>
                  <a:pt x="0" y="50800"/>
                </a:moveTo>
                <a:lnTo>
                  <a:pt x="0" y="50800"/>
                </a:lnTo>
                <a:arcTo hR="50800" wR="50800" stAng="10800000" swAng="5400000"/>
                <a:lnTo>
                  <a:pt x="3369717" y="0"/>
                </a:lnTo>
                <a:arcTo hR="50800" wR="50800" stAng="16200000" swAng="5400000"/>
                <a:lnTo>
                  <a:pt x="3420517" y="50800"/>
                </a:lnTo>
                <a:lnTo>
                  <a:pt x="0" y="50800"/>
                </a:lnTo>
                <a:close/>
              </a:path>
            </a:pathLst>
          </a:custGeom>
          <a:solidFill>
            <a:srgbClr val="891F15"/>
          </a:solidFill>
          <a:ln/>
        </p:spPr>
      </p:sp>
      <p:sp>
        <p:nvSpPr>
          <p:cNvPr id="19" name="Text 17"/>
          <p:cNvSpPr/>
          <p:nvPr/>
        </p:nvSpPr>
        <p:spPr>
          <a:xfrm>
            <a:off x="1003300" y="3790801"/>
            <a:ext cx="313070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91F15"/>
                </a:solidFill>
                <a:latin typeface="Carlito" pitchFamily="34" charset="0"/>
                <a:ea typeface="Carlito" pitchFamily="34" charset="-122"/>
                <a:cs typeface="Carlito" pitchFamily="34" charset="-120"/>
              </a:rPr>
              <a:t>Mobility</a:t>
            </a:r>
            <a:endParaRPr lang="en-US" sz="1600" dirty="0"/>
          </a:p>
        </p:txBody>
      </p:sp>
      <p:sp>
        <p:nvSpPr>
          <p:cNvPr id="20" name="Text 18"/>
          <p:cNvSpPr/>
          <p:nvPr/>
        </p:nvSpPr>
        <p:spPr>
          <a:xfrm>
            <a:off x="1003300" y="4098131"/>
            <a:ext cx="31307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Which plasmid carries a gene, and whether it can spread</a:t>
            </a:r>
            <a:endParaRPr lang="en-US" sz="1300" dirty="0"/>
          </a:p>
        </p:txBody>
      </p:sp>
      <p:sp>
        <p:nvSpPr>
          <p:cNvPr id="21" name="Shape 19"/>
          <p:cNvSpPr/>
          <p:nvPr/>
        </p:nvSpPr>
        <p:spPr>
          <a:xfrm>
            <a:off x="4385717" y="3574901"/>
            <a:ext cx="3420517" cy="1134021"/>
          </a:xfrm>
          <a:prstGeom prst="roundRect">
            <a:avLst>
              <a:gd name="adj" fmla="val 4480"/>
            </a:avLst>
          </a:prstGeom>
          <a:solidFill>
            <a:srgbClr val="FFFFFF"/>
          </a:solidFill>
          <a:ln/>
        </p:spPr>
      </p:sp>
      <p:sp>
        <p:nvSpPr>
          <p:cNvPr id="22" name="Shape 20"/>
          <p:cNvSpPr/>
          <p:nvPr/>
        </p:nvSpPr>
        <p:spPr>
          <a:xfrm>
            <a:off x="4385717" y="3574901"/>
            <a:ext cx="3420517" cy="1134021"/>
          </a:xfrm>
          <a:custGeom>
            <a:avLst/>
            <a:gdLst/>
            <a:ahLst/>
            <a:cxnLst/>
            <a:rect l="l" t="t" r="r" b="b"/>
            <a:pathLst>
              <a:path w="3420517" h="1134021">
                <a:moveTo>
                  <a:pt x="0" y="50800"/>
                </a:moveTo>
                <a:lnTo>
                  <a:pt x="0" y="50800"/>
                </a:lnTo>
                <a:arcTo hR="50800" wR="50800" stAng="10800000" swAng="5400000"/>
                <a:lnTo>
                  <a:pt x="3369717" y="0"/>
                </a:lnTo>
                <a:arcTo hR="50800" wR="50800" stAng="16200000" swAng="5400000"/>
                <a:lnTo>
                  <a:pt x="3420517" y="50800"/>
                </a:lnTo>
                <a:lnTo>
                  <a:pt x="0" y="50800"/>
                </a:lnTo>
                <a:close/>
              </a:path>
            </a:pathLst>
          </a:custGeom>
          <a:solidFill>
            <a:srgbClr val="6D2637"/>
          </a:solidFill>
          <a:ln/>
        </p:spPr>
      </p:sp>
      <p:sp>
        <p:nvSpPr>
          <p:cNvPr id="23" name="Text 21"/>
          <p:cNvSpPr/>
          <p:nvPr/>
        </p:nvSpPr>
        <p:spPr>
          <a:xfrm>
            <a:off x="4576217" y="3790801"/>
            <a:ext cx="313070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D2637"/>
                </a:solidFill>
                <a:latin typeface="Carlito" pitchFamily="34" charset="0"/>
                <a:ea typeface="Carlito" pitchFamily="34" charset="-122"/>
                <a:cs typeface="Carlito" pitchFamily="34" charset="-120"/>
              </a:rPr>
              <a:t>Relatedness</a:t>
            </a:r>
            <a:endParaRPr lang="en-US" sz="1600" dirty="0"/>
          </a:p>
        </p:txBody>
      </p:sp>
      <p:sp>
        <p:nvSpPr>
          <p:cNvPr id="24" name="Text 22"/>
          <p:cNvSpPr/>
          <p:nvPr/>
        </p:nvSpPr>
        <p:spPr>
          <a:xfrm>
            <a:off x="4576217" y="4098131"/>
            <a:ext cx="313070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Whether infections are linked: outbreak or coincidence</a:t>
            </a:r>
            <a:endParaRPr lang="en-US" sz="1300" dirty="0"/>
          </a:p>
        </p:txBody>
      </p:sp>
      <p:sp>
        <p:nvSpPr>
          <p:cNvPr id="25" name="Shape 23"/>
          <p:cNvSpPr/>
          <p:nvPr/>
        </p:nvSpPr>
        <p:spPr>
          <a:xfrm>
            <a:off x="7958634" y="3574901"/>
            <a:ext cx="3420566" cy="1134021"/>
          </a:xfrm>
          <a:prstGeom prst="roundRect">
            <a:avLst>
              <a:gd name="adj" fmla="val 4480"/>
            </a:avLst>
          </a:prstGeom>
          <a:solidFill>
            <a:srgbClr val="273003"/>
          </a:solidFill>
          <a:ln/>
        </p:spPr>
      </p:sp>
      <p:sp>
        <p:nvSpPr>
          <p:cNvPr id="26" name="Text 24"/>
          <p:cNvSpPr/>
          <p:nvPr/>
        </p:nvSpPr>
        <p:spPr>
          <a:xfrm>
            <a:off x="8149134" y="3740001"/>
            <a:ext cx="313075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E00"/>
                </a:solidFill>
                <a:latin typeface="Carlito" pitchFamily="34" charset="0"/>
                <a:ea typeface="Carlito" pitchFamily="34" charset="-122"/>
                <a:cs typeface="Carlito" pitchFamily="34" charset="-120"/>
              </a:rPr>
              <a:t>Comparable</a:t>
            </a:r>
            <a:endParaRPr lang="en-US" sz="1600" dirty="0"/>
          </a:p>
        </p:txBody>
      </p:sp>
      <p:sp>
        <p:nvSpPr>
          <p:cNvPr id="27" name="Text 25"/>
          <p:cNvSpPr/>
          <p:nvPr/>
        </p:nvSpPr>
        <p:spPr>
          <a:xfrm>
            <a:off x="8149134" y="4047331"/>
            <a:ext cx="313075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9F2EA"/>
                </a:solidFill>
                <a:latin typeface="Carlito" pitchFamily="34" charset="0"/>
                <a:ea typeface="Carlito" pitchFamily="34" charset="-122"/>
                <a:cs typeface="Carlito" pitchFamily="34" charset="-120"/>
              </a:rPr>
              <a:t>Same methods in every country: results can be pooled</a:t>
            </a:r>
            <a:endParaRPr lang="en-US" sz="1300" dirty="0"/>
          </a:p>
        </p:txBody>
      </p:sp>
      <p:pic>
        <p:nvPicPr>
          <p:cNvPr id="2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9"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30" name="Text 2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Two ways to sequence for AMR</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58590"/>
            <a:ext cx="10566400" cy="3302000"/>
          </a:xfrm>
          <a:prstGeom prst="roundRect">
            <a:avLst>
              <a:gd name="adj" fmla="val 2308"/>
            </a:avLst>
          </a:prstGeom>
          <a:solidFill>
            <a:srgbClr val="FFFFFF"/>
          </a:solidFill>
          <a:ln/>
        </p:spPr>
      </p:sp>
      <p:pic>
        <p:nvPicPr>
          <p:cNvPr id="5" name="Image 0" descr="AMR sources (humans, animals, industrial waste, agriculture, health-care facilities) and two workflows: culture-independent metagenomics, and culture-dependent isolate genomics, each from DNA extraction through library preparation and sequencing to clean reads">    </p:cNvPr>
          <p:cNvPicPr>
            <a:picLocks noChangeAspect="1"/>
          </p:cNvPicPr>
          <p:nvPr/>
        </p:nvPicPr>
        <p:blipFill>
          <a:blip r:embed="rId1"/>
          <a:stretch>
            <a:fillRect/>
          </a:stretch>
        </p:blipFill>
        <p:spPr>
          <a:xfrm>
            <a:off x="1790910" y="1658590"/>
            <a:ext cx="8610180" cy="3302000"/>
          </a:xfrm>
          <a:prstGeom prst="rect">
            <a:avLst/>
          </a:prstGeom>
        </p:spPr>
      </p:pic>
      <p:sp>
        <p:nvSpPr>
          <p:cNvPr id="6" name="Text 3"/>
          <p:cNvSpPr/>
          <p:nvPr/>
        </p:nvSpPr>
        <p:spPr>
          <a:xfrm>
            <a:off x="812800" y="50240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Boolchandani M, et al. </a:t>
            </a:r>
            <a:r>
              <a:rPr lang="en-US" sz="1200" i="1" dirty="0">
                <a:solidFill>
                  <a:srgbClr val="6B6460"/>
                </a:solidFill>
                <a:latin typeface="Carlito" pitchFamily="34" charset="0"/>
                <a:ea typeface="Carlito" pitchFamily="34" charset="-122"/>
                <a:cs typeface="Carlito" pitchFamily="34" charset="-120"/>
              </a:rPr>
              <a:t>Nat Rev Genet</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doi:10.1038/s41576-019-0108-4</a:t>
            </a:r>
            <a:endParaRPr lang="en-US" sz="1200" dirty="0"/>
          </a:p>
        </p:txBody>
      </p:sp>
      <p:sp>
        <p:nvSpPr>
          <p:cNvPr id="7" name="Shape 4"/>
          <p:cNvSpPr/>
          <p:nvPr/>
        </p:nvSpPr>
        <p:spPr>
          <a:xfrm>
            <a:off x="838200" y="5440611"/>
            <a:ext cx="0" cy="307975"/>
          </a:xfrm>
          <a:prstGeom prst="line">
            <a:avLst/>
          </a:prstGeom>
          <a:noFill/>
          <a:ln w="50800">
            <a:solidFill>
              <a:srgbClr val="891F15"/>
            </a:solidFill>
            <a:prstDash val="solid"/>
          </a:ln>
        </p:spPr>
      </p:sp>
      <p:sp>
        <p:nvSpPr>
          <p:cNvPr id="8" name="Text 5"/>
          <p:cNvSpPr/>
          <p:nvPr/>
        </p:nvSpPr>
        <p:spPr>
          <a:xfrm>
            <a:off x="1041400" y="5466011"/>
            <a:ext cx="870566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This course: </a:t>
            </a:r>
            <a:r>
              <a:rPr lang="en-US" sz="1500" b="1" dirty="0">
                <a:solidFill>
                  <a:srgbClr val="3A322C"/>
                </a:solidFill>
                <a:latin typeface="Carlito" pitchFamily="34" charset="0"/>
                <a:ea typeface="Carlito" pitchFamily="34" charset="-122"/>
                <a:cs typeface="Carlito" pitchFamily="34" charset="-120"/>
              </a:rPr>
              <a:t>isolate genomics</a:t>
            </a:r>
            <a:r>
              <a:rPr lang="en-US" sz="1500" dirty="0">
                <a:solidFill>
                  <a:srgbClr val="3A322C"/>
                </a:solidFill>
                <a:latin typeface="Carlito" pitchFamily="34" charset="0"/>
                <a:ea typeface="Carlito" pitchFamily="34" charset="-122"/>
                <a:cs typeface="Carlito" pitchFamily="34" charset="-120"/>
              </a:rPr>
              <a:t>. One pure culture per patient isolate → one genome → species, genes, lineage.</a:t>
            </a:r>
            <a:endParaRPr lang="en-US" sz="1500" dirty="0"/>
          </a:p>
        </p:txBody>
      </p:sp>
      <p:pic>
        <p:nvPicPr>
          <p:cNvPr id="9" name="Image 1"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0"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11"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Short reads and long reads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063750"/>
        </p:xfrm>
        <a:graphic>
          <a:graphicData uri="http://schemas.openxmlformats.org/drawingml/2006/table">
            <a:tbl>
              <a:tblPr/>
              <a:tblGrid>
                <a:gridCol w="2532888"/>
                <a:gridCol w="4010406"/>
                <a:gridCol w="4010406"/>
              </a:tblGrid>
              <a:tr h="412750">
                <a:tc>
                  <a:txBody>
                    <a:bodyPr/>
                    <a:lstStyle/>
                    <a:p>
                      <a:pPr indent="0" marL="0">
                        <a:lnSpc>
                          <a:spcPts val="2100"/>
                        </a:lnSpc>
                        <a:buNone/>
                      </a:pP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Illumina (short reads)</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2100"/>
                        </a:lnSpc>
                        <a:buNone/>
                      </a:pPr>
                      <a:r>
                        <a:rPr lang="en-US" sz="1500" b="1" dirty="0">
                          <a:solidFill>
                            <a:srgbClr val="3A322C"/>
                          </a:solidFill>
                          <a:latin typeface="Carlito" pitchFamily="34" charset="0"/>
                          <a:ea typeface="Carlito" pitchFamily="34" charset="-122"/>
                          <a:cs typeface="Carlito" pitchFamily="34" charset="-120"/>
                        </a:rPr>
                        <a:t>Oxford Nanopore (long reads)</a:t>
                      </a:r>
                      <a:endParaRPr lang="en-US" sz="1500" dirty="0">
                        <a:latin typeface="Carlito" charset="0"/>
                        <a:ea typeface="Carlito" charset="0"/>
                        <a:cs typeface="Carlito" charset="0"/>
                      </a:endParaRPr>
                    </a:p>
                  </a:txBody>
                  <a:tcPr marL="66675" marR="66675" marT="66675" marB="6667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Read length</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~150 bp, paired</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Thousands to 100,000+ bp</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Base accuracy</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Very high</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Lower, but improving</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Assembly</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Many contigs: breaks at repeats</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Often complete chromosome and plasmids</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412750">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Good for</a:t>
                      </a:r>
                      <a:endParaRPr lang="en-US" sz="1500" dirty="0">
                        <a:latin typeface="Carlito" charset="0"/>
                        <a:ea typeface="Carlito" charset="0"/>
                        <a:cs typeface="Carlito" charset="0"/>
                      </a:endParaRPr>
                    </a:p>
                  </a:txBody>
                  <a:tcPr marL="66675" marR="66675" marT="66675" marB="6667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SNPs, gene detection, typing</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2100"/>
                        </a:lnSpc>
                        <a:buNone/>
                      </a:pPr>
                      <a:r>
                        <a:rPr lang="en-US" sz="1500" dirty="0">
                          <a:solidFill>
                            <a:srgbClr val="3A322C"/>
                          </a:solidFill>
                          <a:latin typeface="Carlito" pitchFamily="34" charset="0"/>
                          <a:ea typeface="Carlito" pitchFamily="34" charset="-122"/>
                          <a:cs typeface="Carlito" pitchFamily="34" charset="-120"/>
                        </a:rPr>
                        <a:t>Plasmids, gene context</a:t>
                      </a:r>
                      <a:endParaRPr lang="en-US" sz="1500" dirty="0">
                        <a:latin typeface="Carlito" charset="0"/>
                        <a:ea typeface="Carlito" charset="0"/>
                        <a:cs typeface="Carlito" charset="0"/>
                      </a:endParaRPr>
                    </a:p>
                  </a:txBody>
                  <a:tcPr marL="66675" marR="66675" marT="66675" marB="6667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5" name="Shape 2"/>
          <p:cNvSpPr/>
          <p:nvPr/>
        </p:nvSpPr>
        <p:spPr>
          <a:xfrm>
            <a:off x="812800" y="4039840"/>
            <a:ext cx="10566400" cy="660400"/>
          </a:xfrm>
          <a:prstGeom prst="roundRect">
            <a:avLst>
              <a:gd name="adj" fmla="val 11538"/>
            </a:avLst>
          </a:prstGeom>
          <a:solidFill>
            <a:srgbClr val="273003"/>
          </a:solidFill>
          <a:ln/>
        </p:spPr>
      </p:sp>
      <p:pic>
        <p:nvPicPr>
          <p:cNvPr id="6" name="Image 0" descr="Lightbulb">    </p:cNvPr>
          <p:cNvPicPr>
            <a:picLocks noChangeAspect="1"/>
          </p:cNvPicPr>
          <p:nvPr/>
        </p:nvPicPr>
        <p:blipFill>
          <a:blip r:embed="rId1"/>
          <a:srcRect l="0" r="0" t="0" b="0"/>
          <a:stretch/>
        </p:blipFill>
        <p:spPr>
          <a:xfrm>
            <a:off x="1066800" y="4217640"/>
            <a:ext cx="304800" cy="304800"/>
          </a:xfrm>
          <a:prstGeom prst="rect">
            <a:avLst/>
          </a:prstGeom>
        </p:spPr>
      </p:pic>
      <p:sp>
        <p:nvSpPr>
          <p:cNvPr id="7" name="Text 3"/>
          <p:cNvSpPr/>
          <p:nvPr/>
        </p:nvSpPr>
        <p:spPr>
          <a:xfrm>
            <a:off x="1524000" y="4241453"/>
            <a:ext cx="759160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9F2EA"/>
                </a:solidFill>
                <a:latin typeface="Carlito" pitchFamily="34" charset="0"/>
                <a:ea typeface="Carlito" pitchFamily="34" charset="-122"/>
                <a:cs typeface="Carlito" pitchFamily="34" charset="-120"/>
              </a:rPr>
              <a:t>Hybrid assembly</a:t>
            </a:r>
            <a:r>
              <a:rPr lang="en-US" sz="1500" dirty="0">
                <a:solidFill>
                  <a:srgbClr val="F9F2EA"/>
                </a:solidFill>
                <a:latin typeface="Carlito" pitchFamily="34" charset="0"/>
                <a:ea typeface="Carlito" pitchFamily="34" charset="-122"/>
                <a:cs typeface="Carlito" pitchFamily="34" charset="-120"/>
              </a:rPr>
              <a:t> uses both: long reads for structure, short reads to correct errors.</a:t>
            </a:r>
            <a:endParaRPr lang="en-US" sz="1500" dirty="0"/>
          </a:p>
        </p:txBody>
      </p:sp>
      <p:pic>
        <p:nvPicPr>
          <p:cNvPr id="8" name="Image 1" descr="ILRI and CGIAR logos">    </p:cNvPr>
          <p:cNvPicPr>
            <a:picLocks noChangeAspect="1"/>
          </p:cNvPicPr>
          <p:nvPr/>
        </p:nvPicPr>
        <p:blipFill>
          <a:blip r:embed="rId2"/>
          <a:srcRect l="-56" r="-56" t="0" b="0"/>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Finding resistance genes: two approaches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83990"/>
            <a:ext cx="10566400" cy="2235200"/>
          </a:xfrm>
          <a:prstGeom prst="roundRect">
            <a:avLst>
              <a:gd name="adj" fmla="val 3409"/>
            </a:avLst>
          </a:prstGeom>
          <a:solidFill>
            <a:srgbClr val="FFFFFF"/>
          </a:solidFill>
          <a:ln/>
        </p:spPr>
      </p:sp>
      <p:pic>
        <p:nvPicPr>
          <p:cNvPr id="5" name="Image 0" descr="Left: clean reads are assembled into contigs and searched against a reference database (CARD, ResFinder, Resfams) with BLAST or hmmscan. Right: clean reads are mapped to reference alleles with Bowtie or BWA, then coverage and variants are estimated">    </p:cNvPr>
          <p:cNvPicPr>
            <a:picLocks noChangeAspect="1"/>
          </p:cNvPicPr>
          <p:nvPr/>
        </p:nvPicPr>
        <p:blipFill>
          <a:blip r:embed="rId1"/>
          <a:srcRect l="0" r="0" t="-138" b="-138"/>
          <a:stretch/>
        </p:blipFill>
        <p:spPr>
          <a:xfrm>
            <a:off x="812800" y="1683990"/>
            <a:ext cx="10566400" cy="2235200"/>
          </a:xfrm>
          <a:prstGeom prst="roundRect">
            <a:avLst>
              <a:gd name="adj" fmla="val 3409"/>
            </a:avLst>
          </a:prstGeom>
        </p:spPr>
      </p:pic>
      <p:sp>
        <p:nvSpPr>
          <p:cNvPr id="6" name="Text 3"/>
          <p:cNvSpPr/>
          <p:nvPr/>
        </p:nvSpPr>
        <p:spPr>
          <a:xfrm>
            <a:off x="812800" y="39826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Boolchandani M, et al. </a:t>
            </a:r>
            <a:r>
              <a:rPr lang="en-US" sz="1200" i="1" dirty="0">
                <a:solidFill>
                  <a:srgbClr val="6B6460"/>
                </a:solidFill>
                <a:latin typeface="Carlito" pitchFamily="34" charset="0"/>
                <a:ea typeface="Carlito" pitchFamily="34" charset="-122"/>
                <a:cs typeface="Carlito" pitchFamily="34" charset="-120"/>
              </a:rPr>
              <a:t>Nat Rev Genet</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doi:10.1038/s41576-019-0108-4</a:t>
            </a:r>
            <a:endParaRPr lang="en-US" sz="1200" dirty="0"/>
          </a:p>
        </p:txBody>
      </p:sp>
      <p:sp>
        <p:nvSpPr>
          <p:cNvPr id="7" name="Shape 4"/>
          <p:cNvSpPr/>
          <p:nvPr/>
        </p:nvSpPr>
        <p:spPr>
          <a:xfrm>
            <a:off x="838200" y="4424611"/>
            <a:ext cx="0" cy="759420"/>
          </a:xfrm>
          <a:prstGeom prst="line">
            <a:avLst/>
          </a:prstGeom>
          <a:noFill/>
          <a:ln w="50800">
            <a:solidFill>
              <a:srgbClr val="891F15"/>
            </a:solidFill>
            <a:prstDash val="solid"/>
          </a:ln>
        </p:spPr>
      </p:sp>
      <p:sp>
        <p:nvSpPr>
          <p:cNvPr id="8" name="Text 5"/>
          <p:cNvSpPr/>
          <p:nvPr/>
        </p:nvSpPr>
        <p:spPr>
          <a:xfrm>
            <a:off x="1016000" y="4424611"/>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Assembly-based (this pipeline)</a:t>
            </a:r>
            <a:endParaRPr lang="en-US" sz="1500" dirty="0"/>
          </a:p>
        </p:txBody>
      </p:sp>
      <p:sp>
        <p:nvSpPr>
          <p:cNvPr id="9" name="Text 6"/>
          <p:cNvSpPr/>
          <p:nvPr/>
        </p:nvSpPr>
        <p:spPr>
          <a:xfrm>
            <a:off x="1016000" y="4704011"/>
            <a:ext cx="510159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Genes found on contigs, with their neighbours and the plasmid they sit on.</a:t>
            </a:r>
            <a:endParaRPr lang="en-US" sz="1400" dirty="0"/>
          </a:p>
        </p:txBody>
      </p:sp>
      <p:sp>
        <p:nvSpPr>
          <p:cNvPr id="10" name="Shape 7"/>
          <p:cNvSpPr/>
          <p:nvPr/>
        </p:nvSpPr>
        <p:spPr>
          <a:xfrm>
            <a:off x="6248400" y="4424611"/>
            <a:ext cx="0" cy="759420"/>
          </a:xfrm>
          <a:prstGeom prst="line">
            <a:avLst/>
          </a:prstGeom>
          <a:noFill/>
          <a:ln w="50800">
            <a:solidFill>
              <a:srgbClr val="273003"/>
            </a:solidFill>
            <a:prstDash val="solid"/>
          </a:ln>
        </p:spPr>
      </p:sp>
      <p:sp>
        <p:nvSpPr>
          <p:cNvPr id="11" name="Text 8"/>
          <p:cNvSpPr/>
          <p:nvPr/>
        </p:nvSpPr>
        <p:spPr>
          <a:xfrm>
            <a:off x="6426200" y="4424611"/>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Read mapping</a:t>
            </a:r>
            <a:endParaRPr lang="en-US" sz="1500" dirty="0"/>
          </a:p>
        </p:txBody>
      </p:sp>
      <p:sp>
        <p:nvSpPr>
          <p:cNvPr id="12" name="Text 9"/>
          <p:cNvSpPr/>
          <p:nvPr/>
        </p:nvSpPr>
        <p:spPr>
          <a:xfrm>
            <a:off x="6426200" y="4704011"/>
            <a:ext cx="510159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Fast and sensitive at low coverage, but loses the genetic context.</a:t>
            </a:r>
            <a:endParaRPr lang="en-US" sz="1400" dirty="0"/>
          </a:p>
        </p:txBody>
      </p:sp>
      <p:pic>
        <p:nvPicPr>
          <p:cNvPr id="13" name="Image 1"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4"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15"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91F15"/>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THE TRAINING PIPELINE</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From reads to results, step by step</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D3C9"/>
                </a:solidFill>
                <a:latin typeface="Carlito" pitchFamily="34" charset="0"/>
                <a:ea typeface="Carlito" pitchFamily="34" charset="-122"/>
                <a:cs typeface="Carlito" pitchFamily="34" charset="-120"/>
              </a:rPr>
              <a:t>neonatal-amr-nf: one Nextflow pipeline for every step of the course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3B5A8"/>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The pipeline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07790"/>
            <a:ext cx="10566400" cy="408930"/>
          </a:xfrm>
          <a:prstGeom prst="roundRect">
            <a:avLst>
              <a:gd name="adj" fmla="val 12423"/>
            </a:avLst>
          </a:prstGeom>
          <a:solidFill>
            <a:srgbClr val="273003"/>
          </a:solidFill>
          <a:ln/>
        </p:spPr>
      </p:sp>
      <p:sp>
        <p:nvSpPr>
          <p:cNvPr id="5" name="Text 3"/>
          <p:cNvSpPr/>
          <p:nvPr/>
        </p:nvSpPr>
        <p:spPr>
          <a:xfrm>
            <a:off x="990600" y="1705570"/>
            <a:ext cx="55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INPUT</a:t>
            </a:r>
            <a:endParaRPr lang="en-US" sz="1200" dirty="0"/>
          </a:p>
        </p:txBody>
      </p:sp>
      <p:sp>
        <p:nvSpPr>
          <p:cNvPr id="6" name="Text 4"/>
          <p:cNvSpPr/>
          <p:nvPr/>
        </p:nvSpPr>
        <p:spPr>
          <a:xfrm>
            <a:off x="1578173" y="1696690"/>
            <a:ext cx="671036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9F2EA"/>
                </a:solidFill>
                <a:latin typeface="Carlito" pitchFamily="34" charset="0"/>
                <a:ea typeface="Carlito" pitchFamily="34" charset="-122"/>
                <a:cs typeface="Carlito" pitchFamily="34" charset="-120"/>
              </a:rPr>
              <a:t>Illumina reads, ONT reads (optional) </a:t>
            </a:r>
            <a:r>
              <a:rPr lang="en-US" sz="1300" b="1" dirty="0">
                <a:solidFill>
                  <a:srgbClr val="F9F2EA"/>
                </a:solidFill>
                <a:latin typeface="Carlito" pitchFamily="34" charset="0"/>
                <a:ea typeface="Carlito" pitchFamily="34" charset="-122"/>
                <a:cs typeface="Carlito" pitchFamily="34" charset="-120"/>
              </a:rPr>
              <a:t>or</a:t>
            </a:r>
            <a:r>
              <a:rPr lang="en-US" sz="1300" dirty="0">
                <a:solidFill>
                  <a:srgbClr val="F9F2EA"/>
                </a:solidFill>
                <a:latin typeface="Carlito" pitchFamily="34" charset="0"/>
                <a:ea typeface="Carlito" pitchFamily="34" charset="-122"/>
                <a:cs typeface="Carlito" pitchFamily="34" charset="-120"/>
              </a:rPr>
              <a:t> assemblies (contigs), listed in a samplesheet</a:t>
            </a:r>
            <a:endParaRPr lang="en-US" sz="1300" dirty="0"/>
          </a:p>
        </p:txBody>
      </p:sp>
      <p:sp>
        <p:nvSpPr>
          <p:cNvPr id="7" name="Shape 5"/>
          <p:cNvSpPr/>
          <p:nvPr/>
        </p:nvSpPr>
        <p:spPr>
          <a:xfrm>
            <a:off x="812800" y="2169120"/>
            <a:ext cx="1270000" cy="1899692"/>
          </a:xfrm>
          <a:prstGeom prst="roundRect">
            <a:avLst>
              <a:gd name="adj" fmla="val 4000"/>
            </a:avLst>
          </a:prstGeom>
          <a:solidFill>
            <a:srgbClr val="FFFFFF"/>
          </a:solidFill>
          <a:ln/>
        </p:spPr>
      </p:sp>
      <p:sp>
        <p:nvSpPr>
          <p:cNvPr id="8" name="Shape 6"/>
          <p:cNvSpPr/>
          <p:nvPr/>
        </p:nvSpPr>
        <p:spPr>
          <a:xfrm>
            <a:off x="8128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273003"/>
          </a:solidFill>
          <a:ln/>
        </p:spPr>
      </p:sp>
      <p:sp>
        <p:nvSpPr>
          <p:cNvPr id="9" name="Text 7"/>
          <p:cNvSpPr/>
          <p:nvPr/>
        </p:nvSpPr>
        <p:spPr>
          <a:xfrm>
            <a:off x="9271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1</a:t>
            </a:r>
            <a:endParaRPr lang="en-US" sz="1200" dirty="0"/>
          </a:p>
        </p:txBody>
      </p:sp>
      <p:sp>
        <p:nvSpPr>
          <p:cNvPr id="10" name="Text 8"/>
          <p:cNvSpPr/>
          <p:nvPr/>
        </p:nvSpPr>
        <p:spPr>
          <a:xfrm>
            <a:off x="9271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73003"/>
                </a:solidFill>
                <a:latin typeface="Carlito" pitchFamily="34" charset="0"/>
                <a:ea typeface="Carlito" pitchFamily="34" charset="-122"/>
                <a:cs typeface="Carlito" pitchFamily="34" charset="-120"/>
              </a:rPr>
              <a:t>READ QC</a:t>
            </a:r>
            <a:endParaRPr lang="en-US" sz="1200" dirty="0"/>
          </a:p>
        </p:txBody>
      </p:sp>
      <p:sp>
        <p:nvSpPr>
          <p:cNvPr id="11" name="Text 9"/>
          <p:cNvSpPr/>
          <p:nvPr/>
        </p:nvSpPr>
        <p:spPr>
          <a:xfrm>
            <a:off x="9271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fastp</a:t>
            </a:r>
            <a:endParaRPr lang="en-US" sz="1200" dirty="0"/>
          </a:p>
        </p:txBody>
      </p:sp>
      <p:sp>
        <p:nvSpPr>
          <p:cNvPr id="12" name="Text 10"/>
          <p:cNvSpPr/>
          <p:nvPr/>
        </p:nvSpPr>
        <p:spPr>
          <a:xfrm>
            <a:off x="927100" y="3111351"/>
            <a:ext cx="1092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Kraken2, Bracken</a:t>
            </a:r>
            <a:endParaRPr lang="en-US" sz="1200" dirty="0"/>
          </a:p>
        </p:txBody>
      </p:sp>
      <p:sp>
        <p:nvSpPr>
          <p:cNvPr id="13" name="Text 11"/>
          <p:cNvSpPr/>
          <p:nvPr/>
        </p:nvSpPr>
        <p:spPr>
          <a:xfrm>
            <a:off x="927100" y="3558332"/>
            <a:ext cx="1092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Filtlong, NanoPlot</a:t>
            </a:r>
            <a:endParaRPr lang="en-US" sz="1200" dirty="0"/>
          </a:p>
        </p:txBody>
      </p:sp>
      <p:pic>
        <p:nvPicPr>
          <p:cNvPr id="14" name="Image 0" descr="arrow-right">    </p:cNvPr>
          <p:cNvPicPr>
            <a:picLocks noChangeAspect="1"/>
          </p:cNvPicPr>
          <p:nvPr/>
        </p:nvPicPr>
        <p:blipFill>
          <a:blip r:embed="rId1"/>
          <a:srcRect l="0" r="0" t="0" b="0"/>
          <a:stretch/>
        </p:blipFill>
        <p:spPr>
          <a:xfrm>
            <a:off x="2133600" y="3061791"/>
            <a:ext cx="177800" cy="114300"/>
          </a:xfrm>
          <a:prstGeom prst="rect">
            <a:avLst/>
          </a:prstGeom>
        </p:spPr>
      </p:pic>
      <p:sp>
        <p:nvSpPr>
          <p:cNvPr id="15" name="Shape 12"/>
          <p:cNvSpPr/>
          <p:nvPr/>
        </p:nvSpPr>
        <p:spPr>
          <a:xfrm>
            <a:off x="2362200" y="2169120"/>
            <a:ext cx="1270000" cy="1899692"/>
          </a:xfrm>
          <a:prstGeom prst="roundRect">
            <a:avLst>
              <a:gd name="adj" fmla="val 4000"/>
            </a:avLst>
          </a:prstGeom>
          <a:solidFill>
            <a:srgbClr val="FFFFFF"/>
          </a:solidFill>
          <a:ln/>
        </p:spPr>
      </p:sp>
      <p:sp>
        <p:nvSpPr>
          <p:cNvPr id="16" name="Shape 13"/>
          <p:cNvSpPr/>
          <p:nvPr/>
        </p:nvSpPr>
        <p:spPr>
          <a:xfrm>
            <a:off x="23622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273003"/>
          </a:solidFill>
          <a:ln/>
        </p:spPr>
      </p:sp>
      <p:sp>
        <p:nvSpPr>
          <p:cNvPr id="17" name="Text 14"/>
          <p:cNvSpPr/>
          <p:nvPr/>
        </p:nvSpPr>
        <p:spPr>
          <a:xfrm>
            <a:off x="24765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2</a:t>
            </a:r>
            <a:endParaRPr lang="en-US" sz="1200" dirty="0"/>
          </a:p>
        </p:txBody>
      </p:sp>
      <p:sp>
        <p:nvSpPr>
          <p:cNvPr id="18" name="Text 15"/>
          <p:cNvSpPr/>
          <p:nvPr/>
        </p:nvSpPr>
        <p:spPr>
          <a:xfrm>
            <a:off x="24765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73003"/>
                </a:solidFill>
                <a:latin typeface="Carlito" pitchFamily="34" charset="0"/>
                <a:ea typeface="Carlito" pitchFamily="34" charset="-122"/>
                <a:cs typeface="Carlito" pitchFamily="34" charset="-120"/>
              </a:rPr>
              <a:t>ASSEMBLY</a:t>
            </a:r>
            <a:endParaRPr lang="en-US" sz="1200" dirty="0"/>
          </a:p>
        </p:txBody>
      </p:sp>
      <p:sp>
        <p:nvSpPr>
          <p:cNvPr id="19" name="Text 16"/>
          <p:cNvSpPr/>
          <p:nvPr/>
        </p:nvSpPr>
        <p:spPr>
          <a:xfrm>
            <a:off x="24765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Shovill</a:t>
            </a:r>
            <a:endParaRPr lang="en-US" sz="1200" dirty="0"/>
          </a:p>
        </p:txBody>
      </p:sp>
      <p:sp>
        <p:nvSpPr>
          <p:cNvPr id="20" name="Text 17"/>
          <p:cNvSpPr/>
          <p:nvPr/>
        </p:nvSpPr>
        <p:spPr>
          <a:xfrm>
            <a:off x="2476500" y="3111351"/>
            <a:ext cx="109220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Autocycler, Medaka, polishing</a:t>
            </a:r>
            <a:endParaRPr lang="en-US" sz="1200" dirty="0"/>
          </a:p>
        </p:txBody>
      </p:sp>
      <p:sp>
        <p:nvSpPr>
          <p:cNvPr id="21" name="Text 18"/>
          <p:cNvSpPr/>
          <p:nvPr/>
        </p:nvSpPr>
        <p:spPr>
          <a:xfrm>
            <a:off x="2476500" y="3756422"/>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QUAST</a:t>
            </a:r>
            <a:endParaRPr lang="en-US" sz="1200" dirty="0"/>
          </a:p>
        </p:txBody>
      </p:sp>
      <p:pic>
        <p:nvPicPr>
          <p:cNvPr id="22" name="Image 1" descr="arrow-right">    </p:cNvPr>
          <p:cNvPicPr>
            <a:picLocks noChangeAspect="1"/>
          </p:cNvPicPr>
          <p:nvPr/>
        </p:nvPicPr>
        <p:blipFill>
          <a:blip r:embed="rId2"/>
          <a:srcRect l="0" r="0" t="0" b="0"/>
          <a:stretch/>
        </p:blipFill>
        <p:spPr>
          <a:xfrm>
            <a:off x="3683000" y="3061791"/>
            <a:ext cx="177800" cy="114300"/>
          </a:xfrm>
          <a:prstGeom prst="rect">
            <a:avLst/>
          </a:prstGeom>
        </p:spPr>
      </p:pic>
      <p:sp>
        <p:nvSpPr>
          <p:cNvPr id="23" name="Shape 19"/>
          <p:cNvSpPr/>
          <p:nvPr/>
        </p:nvSpPr>
        <p:spPr>
          <a:xfrm>
            <a:off x="3911600" y="2169120"/>
            <a:ext cx="1270000" cy="1899692"/>
          </a:xfrm>
          <a:prstGeom prst="roundRect">
            <a:avLst>
              <a:gd name="adj" fmla="val 4000"/>
            </a:avLst>
          </a:prstGeom>
          <a:solidFill>
            <a:srgbClr val="FFFFFF"/>
          </a:solidFill>
          <a:ln/>
        </p:spPr>
      </p:sp>
      <p:sp>
        <p:nvSpPr>
          <p:cNvPr id="24" name="Shape 20"/>
          <p:cNvSpPr/>
          <p:nvPr/>
        </p:nvSpPr>
        <p:spPr>
          <a:xfrm>
            <a:off x="39116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891F15"/>
          </a:solidFill>
          <a:ln/>
        </p:spPr>
      </p:sp>
      <p:sp>
        <p:nvSpPr>
          <p:cNvPr id="25" name="Text 21"/>
          <p:cNvSpPr/>
          <p:nvPr/>
        </p:nvSpPr>
        <p:spPr>
          <a:xfrm>
            <a:off x="40259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3</a:t>
            </a:r>
            <a:endParaRPr lang="en-US" sz="1200" dirty="0"/>
          </a:p>
        </p:txBody>
      </p:sp>
      <p:sp>
        <p:nvSpPr>
          <p:cNvPr id="26" name="Text 22"/>
          <p:cNvSpPr/>
          <p:nvPr/>
        </p:nvSpPr>
        <p:spPr>
          <a:xfrm>
            <a:off x="40259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91F15"/>
                </a:solidFill>
                <a:latin typeface="Carlito" pitchFamily="34" charset="0"/>
                <a:ea typeface="Carlito" pitchFamily="34" charset="-122"/>
                <a:cs typeface="Carlito" pitchFamily="34" charset="-120"/>
              </a:rPr>
              <a:t>TYPING</a:t>
            </a:r>
            <a:endParaRPr lang="en-US" sz="1200" dirty="0"/>
          </a:p>
        </p:txBody>
      </p:sp>
      <p:sp>
        <p:nvSpPr>
          <p:cNvPr id="27" name="Text 23"/>
          <p:cNvSpPr/>
          <p:nvPr/>
        </p:nvSpPr>
        <p:spPr>
          <a:xfrm>
            <a:off x="4025900" y="2862461"/>
            <a:ext cx="1092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Kleborate, Kaptive</a:t>
            </a:r>
            <a:endParaRPr lang="en-US" sz="1200" dirty="0"/>
          </a:p>
        </p:txBody>
      </p:sp>
      <p:sp>
        <p:nvSpPr>
          <p:cNvPr id="28" name="Text 24"/>
          <p:cNvSpPr/>
          <p:nvPr/>
        </p:nvSpPr>
        <p:spPr>
          <a:xfrm>
            <a:off x="4025900" y="3309441"/>
            <a:ext cx="1092200" cy="421580"/>
          </a:xfrm>
          <a:prstGeom prst="rect">
            <a:avLst/>
          </a:prstGeom>
          <a:noFill/>
          <a:ln/>
        </p:spPr>
        <p:txBody>
          <a:bodyPr wrap="square" lIns="0" tIns="0" rIns="0" bIns="0" rtlCol="0" anchor="t">
            <a:normAutofit/>
          </a:bodyPr>
          <a:lstStyle/>
          <a:p>
            <a:pPr algn="l" indent="0" marL="0">
              <a:lnSpc>
                <a:spcPts val="1560"/>
              </a:lnSpc>
              <a:buNone/>
            </a:pPr>
            <a:r>
              <a:rPr lang="en-US" sz="1200" i="1" dirty="0">
                <a:solidFill>
                  <a:srgbClr val="3A322C"/>
                </a:solidFill>
                <a:latin typeface="Carlito" pitchFamily="34" charset="0"/>
                <a:ea typeface="Carlito" pitchFamily="34" charset="-122"/>
                <a:cs typeface="Carlito" pitchFamily="34" charset="-120"/>
              </a:rPr>
              <a:t>E. coli</a:t>
            </a:r>
            <a:r>
              <a:rPr lang="en-US" sz="1200" dirty="0">
                <a:solidFill>
                  <a:srgbClr val="3A322C"/>
                </a:solidFill>
                <a:latin typeface="Carlito" pitchFamily="34" charset="0"/>
                <a:ea typeface="Carlito" pitchFamily="34" charset="-122"/>
                <a:cs typeface="Carlito" pitchFamily="34" charset="-120"/>
              </a:rPr>
              <a:t>: ECTyper, EzClermont</a:t>
            </a:r>
            <a:endParaRPr lang="en-US" sz="1200" dirty="0"/>
          </a:p>
        </p:txBody>
      </p:sp>
      <p:pic>
        <p:nvPicPr>
          <p:cNvPr id="29" name="Image 2" descr="arrow-right">    </p:cNvPr>
          <p:cNvPicPr>
            <a:picLocks noChangeAspect="1"/>
          </p:cNvPicPr>
          <p:nvPr/>
        </p:nvPicPr>
        <p:blipFill>
          <a:blip r:embed="rId3"/>
          <a:srcRect l="0" r="0" t="0" b="0"/>
          <a:stretch/>
        </p:blipFill>
        <p:spPr>
          <a:xfrm>
            <a:off x="5232400" y="3061791"/>
            <a:ext cx="177800" cy="114300"/>
          </a:xfrm>
          <a:prstGeom prst="rect">
            <a:avLst/>
          </a:prstGeom>
        </p:spPr>
      </p:pic>
      <p:sp>
        <p:nvSpPr>
          <p:cNvPr id="30" name="Shape 25"/>
          <p:cNvSpPr/>
          <p:nvPr/>
        </p:nvSpPr>
        <p:spPr>
          <a:xfrm>
            <a:off x="5461000" y="2169120"/>
            <a:ext cx="1270000" cy="1899692"/>
          </a:xfrm>
          <a:prstGeom prst="roundRect">
            <a:avLst>
              <a:gd name="adj" fmla="val 4000"/>
            </a:avLst>
          </a:prstGeom>
          <a:solidFill>
            <a:srgbClr val="FFFFFF"/>
          </a:solidFill>
          <a:ln/>
        </p:spPr>
      </p:sp>
      <p:sp>
        <p:nvSpPr>
          <p:cNvPr id="31" name="Shape 26"/>
          <p:cNvSpPr/>
          <p:nvPr/>
        </p:nvSpPr>
        <p:spPr>
          <a:xfrm>
            <a:off x="54610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891F15"/>
          </a:solidFill>
          <a:ln/>
        </p:spPr>
      </p:sp>
      <p:sp>
        <p:nvSpPr>
          <p:cNvPr id="32" name="Text 27"/>
          <p:cNvSpPr/>
          <p:nvPr/>
        </p:nvSpPr>
        <p:spPr>
          <a:xfrm>
            <a:off x="55753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4</a:t>
            </a:r>
            <a:endParaRPr lang="en-US" sz="1200" dirty="0"/>
          </a:p>
        </p:txBody>
      </p:sp>
      <p:sp>
        <p:nvSpPr>
          <p:cNvPr id="33" name="Text 28"/>
          <p:cNvSpPr/>
          <p:nvPr/>
        </p:nvSpPr>
        <p:spPr>
          <a:xfrm>
            <a:off x="55753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91F15"/>
                </a:solidFill>
                <a:latin typeface="Carlito" pitchFamily="34" charset="0"/>
                <a:ea typeface="Carlito" pitchFamily="34" charset="-122"/>
                <a:cs typeface="Carlito" pitchFamily="34" charset="-120"/>
              </a:rPr>
              <a:t>AMR</a:t>
            </a:r>
            <a:endParaRPr lang="en-US" sz="1200" dirty="0"/>
          </a:p>
        </p:txBody>
      </p:sp>
      <p:sp>
        <p:nvSpPr>
          <p:cNvPr id="34" name="Text 29"/>
          <p:cNvSpPr/>
          <p:nvPr/>
        </p:nvSpPr>
        <p:spPr>
          <a:xfrm>
            <a:off x="55753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AMRFinderPlus</a:t>
            </a:r>
            <a:endParaRPr lang="en-US" sz="1200" dirty="0"/>
          </a:p>
        </p:txBody>
      </p:sp>
      <p:pic>
        <p:nvPicPr>
          <p:cNvPr id="35" name="Image 3" descr="arrow-right">    </p:cNvPr>
          <p:cNvPicPr>
            <a:picLocks noChangeAspect="1"/>
          </p:cNvPicPr>
          <p:nvPr/>
        </p:nvPicPr>
        <p:blipFill>
          <a:blip r:embed="rId4"/>
          <a:srcRect l="0" r="0" t="0" b="0"/>
          <a:stretch/>
        </p:blipFill>
        <p:spPr>
          <a:xfrm>
            <a:off x="6781800" y="3061791"/>
            <a:ext cx="177800" cy="114300"/>
          </a:xfrm>
          <a:prstGeom prst="rect">
            <a:avLst/>
          </a:prstGeom>
        </p:spPr>
      </p:pic>
      <p:sp>
        <p:nvSpPr>
          <p:cNvPr id="36" name="Shape 30"/>
          <p:cNvSpPr/>
          <p:nvPr/>
        </p:nvSpPr>
        <p:spPr>
          <a:xfrm>
            <a:off x="7010400" y="2169120"/>
            <a:ext cx="1270000" cy="1899692"/>
          </a:xfrm>
          <a:prstGeom prst="roundRect">
            <a:avLst>
              <a:gd name="adj" fmla="val 4000"/>
            </a:avLst>
          </a:prstGeom>
          <a:solidFill>
            <a:srgbClr val="FFFFFF"/>
          </a:solidFill>
          <a:ln/>
        </p:spPr>
      </p:sp>
      <p:sp>
        <p:nvSpPr>
          <p:cNvPr id="37" name="Shape 31"/>
          <p:cNvSpPr/>
          <p:nvPr/>
        </p:nvSpPr>
        <p:spPr>
          <a:xfrm>
            <a:off x="70104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891F15"/>
          </a:solidFill>
          <a:ln/>
        </p:spPr>
      </p:sp>
      <p:sp>
        <p:nvSpPr>
          <p:cNvPr id="38" name="Text 32"/>
          <p:cNvSpPr/>
          <p:nvPr/>
        </p:nvSpPr>
        <p:spPr>
          <a:xfrm>
            <a:off x="71247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5</a:t>
            </a:r>
            <a:endParaRPr lang="en-US" sz="1200" dirty="0"/>
          </a:p>
        </p:txBody>
      </p:sp>
      <p:sp>
        <p:nvSpPr>
          <p:cNvPr id="39" name="Text 33"/>
          <p:cNvSpPr/>
          <p:nvPr/>
        </p:nvSpPr>
        <p:spPr>
          <a:xfrm>
            <a:off x="71247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91F15"/>
                </a:solidFill>
                <a:latin typeface="Carlito" pitchFamily="34" charset="0"/>
                <a:ea typeface="Carlito" pitchFamily="34" charset="-122"/>
                <a:cs typeface="Carlito" pitchFamily="34" charset="-120"/>
              </a:rPr>
              <a:t>PLASMIDS</a:t>
            </a:r>
            <a:endParaRPr lang="en-US" sz="1200" dirty="0"/>
          </a:p>
        </p:txBody>
      </p:sp>
      <p:sp>
        <p:nvSpPr>
          <p:cNvPr id="40" name="Text 34"/>
          <p:cNvSpPr/>
          <p:nvPr/>
        </p:nvSpPr>
        <p:spPr>
          <a:xfrm>
            <a:off x="71247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MOB-suite</a:t>
            </a:r>
            <a:endParaRPr lang="en-US" sz="1200" dirty="0"/>
          </a:p>
        </p:txBody>
      </p:sp>
      <p:pic>
        <p:nvPicPr>
          <p:cNvPr id="41" name="Image 4" descr="arrow-right">    </p:cNvPr>
          <p:cNvPicPr>
            <a:picLocks noChangeAspect="1"/>
          </p:cNvPicPr>
          <p:nvPr/>
        </p:nvPicPr>
        <p:blipFill>
          <a:blip r:embed="rId5"/>
          <a:srcRect l="0" r="0" t="0" b="0"/>
          <a:stretch/>
        </p:blipFill>
        <p:spPr>
          <a:xfrm>
            <a:off x="8331200" y="3061791"/>
            <a:ext cx="177800" cy="114300"/>
          </a:xfrm>
          <a:prstGeom prst="rect">
            <a:avLst/>
          </a:prstGeom>
        </p:spPr>
      </p:pic>
      <p:sp>
        <p:nvSpPr>
          <p:cNvPr id="42" name="Shape 35"/>
          <p:cNvSpPr/>
          <p:nvPr/>
        </p:nvSpPr>
        <p:spPr>
          <a:xfrm>
            <a:off x="8559800" y="2169120"/>
            <a:ext cx="1270000" cy="1899692"/>
          </a:xfrm>
          <a:prstGeom prst="roundRect">
            <a:avLst>
              <a:gd name="adj" fmla="val 4000"/>
            </a:avLst>
          </a:prstGeom>
          <a:solidFill>
            <a:srgbClr val="FFFFFF"/>
          </a:solidFill>
          <a:ln/>
        </p:spPr>
      </p:sp>
      <p:sp>
        <p:nvSpPr>
          <p:cNvPr id="43" name="Shape 36"/>
          <p:cNvSpPr/>
          <p:nvPr/>
        </p:nvSpPr>
        <p:spPr>
          <a:xfrm>
            <a:off x="85598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6D2637"/>
          </a:solidFill>
          <a:ln/>
        </p:spPr>
      </p:sp>
      <p:sp>
        <p:nvSpPr>
          <p:cNvPr id="44" name="Text 37"/>
          <p:cNvSpPr/>
          <p:nvPr/>
        </p:nvSpPr>
        <p:spPr>
          <a:xfrm>
            <a:off x="86741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6</a:t>
            </a:r>
            <a:endParaRPr lang="en-US" sz="1200" dirty="0"/>
          </a:p>
        </p:txBody>
      </p:sp>
      <p:sp>
        <p:nvSpPr>
          <p:cNvPr id="45" name="Text 38"/>
          <p:cNvSpPr/>
          <p:nvPr/>
        </p:nvSpPr>
        <p:spPr>
          <a:xfrm>
            <a:off x="86741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D2637"/>
                </a:solidFill>
                <a:latin typeface="Carlito" pitchFamily="34" charset="0"/>
                <a:ea typeface="Carlito" pitchFamily="34" charset="-122"/>
                <a:cs typeface="Carlito" pitchFamily="34" charset="-120"/>
              </a:rPr>
              <a:t>PHYLOGENY</a:t>
            </a:r>
            <a:endParaRPr lang="en-US" sz="1200" dirty="0"/>
          </a:p>
        </p:txBody>
      </p:sp>
      <p:sp>
        <p:nvSpPr>
          <p:cNvPr id="46" name="Text 39"/>
          <p:cNvSpPr/>
          <p:nvPr/>
        </p:nvSpPr>
        <p:spPr>
          <a:xfrm>
            <a:off x="86741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Snippy or SKA2</a:t>
            </a:r>
            <a:endParaRPr lang="en-US" sz="1200" dirty="0"/>
          </a:p>
        </p:txBody>
      </p:sp>
      <p:sp>
        <p:nvSpPr>
          <p:cNvPr id="47" name="Text 40"/>
          <p:cNvSpPr/>
          <p:nvPr/>
        </p:nvSpPr>
        <p:spPr>
          <a:xfrm>
            <a:off x="8674100" y="3111351"/>
            <a:ext cx="1092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Gubbins, IQ-TREE</a:t>
            </a:r>
            <a:endParaRPr lang="en-US" sz="1200" dirty="0"/>
          </a:p>
        </p:txBody>
      </p:sp>
      <p:sp>
        <p:nvSpPr>
          <p:cNvPr id="48" name="Text 41"/>
          <p:cNvSpPr/>
          <p:nvPr/>
        </p:nvSpPr>
        <p:spPr>
          <a:xfrm>
            <a:off x="8674100" y="3558332"/>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snp-dists</a:t>
            </a:r>
            <a:endParaRPr lang="en-US" sz="1200" dirty="0"/>
          </a:p>
        </p:txBody>
      </p:sp>
      <p:pic>
        <p:nvPicPr>
          <p:cNvPr id="49" name="Image 5" descr="arrow-right">    </p:cNvPr>
          <p:cNvPicPr>
            <a:picLocks noChangeAspect="1"/>
          </p:cNvPicPr>
          <p:nvPr/>
        </p:nvPicPr>
        <p:blipFill>
          <a:blip r:embed="rId6"/>
          <a:srcRect l="0" r="0" t="0" b="0"/>
          <a:stretch/>
        </p:blipFill>
        <p:spPr>
          <a:xfrm>
            <a:off x="9880600" y="3061791"/>
            <a:ext cx="177800" cy="114300"/>
          </a:xfrm>
          <a:prstGeom prst="rect">
            <a:avLst/>
          </a:prstGeom>
        </p:spPr>
      </p:pic>
      <p:sp>
        <p:nvSpPr>
          <p:cNvPr id="50" name="Shape 42"/>
          <p:cNvSpPr/>
          <p:nvPr/>
        </p:nvSpPr>
        <p:spPr>
          <a:xfrm>
            <a:off x="10109200" y="2169120"/>
            <a:ext cx="1270000" cy="1899692"/>
          </a:xfrm>
          <a:prstGeom prst="roundRect">
            <a:avLst>
              <a:gd name="adj" fmla="val 4000"/>
            </a:avLst>
          </a:prstGeom>
          <a:solidFill>
            <a:srgbClr val="FFFFFF"/>
          </a:solidFill>
          <a:ln/>
        </p:spPr>
      </p:sp>
      <p:sp>
        <p:nvSpPr>
          <p:cNvPr id="51" name="Shape 43"/>
          <p:cNvSpPr/>
          <p:nvPr/>
        </p:nvSpPr>
        <p:spPr>
          <a:xfrm>
            <a:off x="10109200" y="2169120"/>
            <a:ext cx="1270000" cy="1899692"/>
          </a:xfrm>
          <a:custGeom>
            <a:avLst/>
            <a:gdLst/>
            <a:ahLst/>
            <a:cxnLst/>
            <a:rect l="l" t="t" r="r" b="b"/>
            <a:pathLst>
              <a:path w="1270000" h="1899692">
                <a:moveTo>
                  <a:pt x="0" y="50800"/>
                </a:moveTo>
                <a:lnTo>
                  <a:pt x="0" y="50800"/>
                </a:lnTo>
                <a:arcTo hR="50800" wR="50800" stAng="10800000" swAng="5400000"/>
                <a:lnTo>
                  <a:pt x="1219200" y="0"/>
                </a:lnTo>
                <a:arcTo hR="50800" wR="50800" stAng="16200000" swAng="5400000"/>
                <a:lnTo>
                  <a:pt x="1270000" y="50800"/>
                </a:lnTo>
                <a:lnTo>
                  <a:pt x="0" y="50800"/>
                </a:lnTo>
                <a:close/>
              </a:path>
            </a:pathLst>
          </a:custGeom>
          <a:solidFill>
            <a:srgbClr val="6D2637"/>
          </a:solidFill>
          <a:ln/>
        </p:spPr>
      </p:sp>
      <p:sp>
        <p:nvSpPr>
          <p:cNvPr id="52" name="Text 44"/>
          <p:cNvSpPr/>
          <p:nvPr/>
        </p:nvSpPr>
        <p:spPr>
          <a:xfrm>
            <a:off x="10223500" y="2334220"/>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Step 7</a:t>
            </a:r>
            <a:endParaRPr lang="en-US" sz="1200" dirty="0"/>
          </a:p>
        </p:txBody>
      </p:sp>
      <p:sp>
        <p:nvSpPr>
          <p:cNvPr id="53" name="Text 45"/>
          <p:cNvSpPr/>
          <p:nvPr/>
        </p:nvSpPr>
        <p:spPr>
          <a:xfrm>
            <a:off x="10223500" y="2598341"/>
            <a:ext cx="1092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D2637"/>
                </a:solidFill>
                <a:latin typeface="Carlito" pitchFamily="34" charset="0"/>
                <a:ea typeface="Carlito" pitchFamily="34" charset="-122"/>
                <a:cs typeface="Carlito" pitchFamily="34" charset="-120"/>
              </a:rPr>
              <a:t>REPORTS</a:t>
            </a:r>
            <a:endParaRPr lang="en-US" sz="1200" dirty="0"/>
          </a:p>
        </p:txBody>
      </p:sp>
      <p:sp>
        <p:nvSpPr>
          <p:cNvPr id="54" name="Text 46"/>
          <p:cNvSpPr/>
          <p:nvPr/>
        </p:nvSpPr>
        <p:spPr>
          <a:xfrm>
            <a:off x="10223500" y="2862461"/>
            <a:ext cx="1092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MultiQC</a:t>
            </a:r>
            <a:endParaRPr lang="en-US" sz="1200" dirty="0"/>
          </a:p>
        </p:txBody>
      </p:sp>
      <p:sp>
        <p:nvSpPr>
          <p:cNvPr id="55" name="Text 47"/>
          <p:cNvSpPr/>
          <p:nvPr/>
        </p:nvSpPr>
        <p:spPr>
          <a:xfrm>
            <a:off x="10223500" y="3111351"/>
            <a:ext cx="1092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Versions, run times</a:t>
            </a:r>
            <a:endParaRPr lang="en-US" sz="1200" dirty="0"/>
          </a:p>
        </p:txBody>
      </p:sp>
      <p:sp>
        <p:nvSpPr>
          <p:cNvPr id="56" name="Text 48"/>
          <p:cNvSpPr/>
          <p:nvPr/>
        </p:nvSpPr>
        <p:spPr>
          <a:xfrm>
            <a:off x="819150" y="4227562"/>
            <a:ext cx="5194300" cy="586680"/>
          </a:xfrm>
          <a:prstGeom prst="roundRect">
            <a:avLst>
              <a:gd name="adj" fmla="val 7577"/>
            </a:avLst>
          </a:prstGeom>
          <a:noFill/>
          <a:ln w="12700">
            <a:solidFill>
              <a:srgbClr val="6B6460"/>
            </a:solidFill>
            <a:prstDash val="dash"/>
          </a:ln>
        </p:spPr>
        <p:txBody>
          <a:bodyPr wrap="square" lIns="120331" tIns="82231" rIns="0" bIns="56831" rtlCol="0" anchor="t">
            <a:normAutofit/>
          </a:bodyPr>
          <a:lstStyle/>
          <a:p>
            <a:pPr algn="l" indent="0" marL="0">
              <a:lnSpc>
                <a:spcPts val="1560"/>
              </a:lnSpc>
              <a:buNone/>
            </a:pPr>
            <a:r>
              <a:rPr lang="en-US" sz="1200" b="1" dirty="0">
                <a:solidFill>
                  <a:srgbClr val="3A322C"/>
                </a:solidFill>
                <a:latin typeface="Carlito" pitchFamily="34" charset="0"/>
                <a:ea typeface="Carlito" pitchFamily="34" charset="-122"/>
                <a:cs typeface="Carlito" pitchFamily="34" charset="-120"/>
              </a:rPr>
              <a:t>Starting from contigs?</a:t>
            </a:r>
            <a:r>
              <a:rPr lang="en-US" sz="1200" dirty="0">
                <a:solidFill>
                  <a:srgbClr val="3A322C"/>
                </a:solidFill>
                <a:latin typeface="Carlito" pitchFamily="34" charset="0"/>
                <a:ea typeface="Carlito" pitchFamily="34" charset="-122"/>
                <a:cs typeface="Carlito" pitchFamily="34" charset="-120"/>
              </a:rPr>
              <a:t> Steps 1 and 2 are skipped; QUAST still checks the assemblies.</a:t>
            </a:r>
            <a:endParaRPr lang="en-US" sz="1200" dirty="0"/>
          </a:p>
        </p:txBody>
      </p:sp>
      <p:sp>
        <p:nvSpPr>
          <p:cNvPr id="57" name="Text 49"/>
          <p:cNvSpPr/>
          <p:nvPr/>
        </p:nvSpPr>
        <p:spPr>
          <a:xfrm>
            <a:off x="6178550" y="4227562"/>
            <a:ext cx="5194300" cy="586680"/>
          </a:xfrm>
          <a:prstGeom prst="roundRect">
            <a:avLst>
              <a:gd name="adj" fmla="val 7577"/>
            </a:avLst>
          </a:prstGeom>
          <a:noFill/>
          <a:ln w="12700">
            <a:solidFill>
              <a:srgbClr val="6B6460"/>
            </a:solidFill>
            <a:prstDash val="dash"/>
          </a:ln>
        </p:spPr>
        <p:txBody>
          <a:bodyPr wrap="square" lIns="120331" tIns="82231" rIns="0" bIns="56831" rtlCol="0" anchor="t">
            <a:normAutofit/>
          </a:bodyPr>
          <a:lstStyle/>
          <a:p>
            <a:pPr algn="l" indent="0" marL="0">
              <a:lnSpc>
                <a:spcPts val="1560"/>
              </a:lnSpc>
              <a:buNone/>
            </a:pPr>
            <a:r>
              <a:rPr lang="en-US" sz="1200" b="1" dirty="0">
                <a:solidFill>
                  <a:srgbClr val="3A322C"/>
                </a:solidFill>
                <a:latin typeface="Carlito" pitchFamily="34" charset="0"/>
                <a:ea typeface="Carlito" pitchFamily="34" charset="-122"/>
                <a:cs typeface="Carlito" pitchFamily="34" charset="-120"/>
              </a:rPr>
              <a:t>Phylogeny groups</a:t>
            </a:r>
            <a:r>
              <a:rPr lang="en-US" sz="1200" dirty="0">
                <a:solidFill>
                  <a:srgbClr val="3A322C"/>
                </a:solidFill>
                <a:latin typeface="Carlito" pitchFamily="34" charset="0"/>
                <a:ea typeface="Carlito" pitchFamily="34" charset="-122"/>
                <a:cs typeface="Carlito" pitchFamily="34" charset="-120"/>
              </a:rPr>
              <a:t> come from Kleborate: one tree per species and ST.</a:t>
            </a:r>
            <a:endParaRPr lang="en-US" sz="1200" dirty="0"/>
          </a:p>
        </p:txBody>
      </p:sp>
      <p:pic>
        <p:nvPicPr>
          <p:cNvPr id="58" name="Image 6" descr="ILRI and CGIAR logos">    </p:cNvPr>
          <p:cNvPicPr>
            <a:picLocks noChangeAspect="1"/>
          </p:cNvPicPr>
          <p:nvPr/>
        </p:nvPicPr>
        <p:blipFill>
          <a:blip r:embed="rId7"/>
          <a:srcRect l="-56" r="-56" t="0" b="0"/>
          <a:stretch/>
        </p:blipFill>
        <p:spPr>
          <a:xfrm>
            <a:off x="10033000" y="254000"/>
            <a:ext cx="1346200" cy="381000"/>
          </a:xfrm>
          <a:prstGeom prst="rect">
            <a:avLst/>
          </a:prstGeom>
        </p:spPr>
      </p:pic>
      <p:sp>
        <p:nvSpPr>
          <p:cNvPr id="59" name="Text 5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60" name="Text 5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1 · Read quality control</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302000" cy="2191643"/>
          </a:xfrm>
          <a:prstGeom prst="roundRect">
            <a:avLst>
              <a:gd name="adj" fmla="val 3477"/>
            </a:avLst>
          </a:prstGeom>
          <a:solidFill>
            <a:srgbClr val="273003"/>
          </a:solidFill>
          <a:ln/>
        </p:spPr>
      </p:sp>
      <p:sp>
        <p:nvSpPr>
          <p:cNvPr id="5" name="Text 3"/>
          <p:cNvSpPr/>
          <p:nvPr/>
        </p:nvSpPr>
        <p:spPr>
          <a:xfrm>
            <a:off x="1041400" y="191259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QUESTION</a:t>
            </a:r>
            <a:endParaRPr lang="en-US" sz="1200" dirty="0"/>
          </a:p>
        </p:txBody>
      </p:sp>
      <p:sp>
        <p:nvSpPr>
          <p:cNvPr id="6" name="Text 4"/>
          <p:cNvSpPr/>
          <p:nvPr/>
        </p:nvSpPr>
        <p:spPr>
          <a:xfrm>
            <a:off x="1041400" y="2214811"/>
            <a:ext cx="293014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9F2EA"/>
                </a:solidFill>
                <a:latin typeface="Carlito" pitchFamily="34" charset="0"/>
                <a:ea typeface="Carlito" pitchFamily="34" charset="-122"/>
                <a:cs typeface="Carlito" pitchFamily="34" charset="-120"/>
              </a:rPr>
              <a:t>Are the reads good enough, and from one organism?</a:t>
            </a:r>
            <a:endParaRPr lang="en-US" sz="1600" dirty="0"/>
          </a:p>
        </p:txBody>
      </p:sp>
      <p:sp>
        <p:nvSpPr>
          <p:cNvPr id="7" name="Text 5"/>
          <p:cNvSpPr/>
          <p:nvPr/>
        </p:nvSpPr>
        <p:spPr>
          <a:xfrm>
            <a:off x="1041400" y="283195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RESULTS</a:t>
            </a:r>
            <a:endParaRPr lang="en-US" sz="1200" dirty="0"/>
          </a:p>
        </p:txBody>
      </p:sp>
      <p:sp>
        <p:nvSpPr>
          <p:cNvPr id="8" name="Text 6"/>
          <p:cNvSpPr/>
          <p:nvPr/>
        </p:nvSpPr>
        <p:spPr>
          <a:xfrm>
            <a:off x="1041400" y="3134171"/>
            <a:ext cx="29301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EDF"/>
                </a:solidFill>
                <a:latin typeface="JetBrains Mono" pitchFamily="49" charset="0"/>
                <a:ea typeface="JetBrains Mono" pitchFamily="49" charset="-122"/>
                <a:cs typeface="JetBrains Mono" pitchFamily="49" charset="-120"/>
              </a:rPr>
              <a:t>01_qc/</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381500" y="1722090"/>
          <a:ext cx="6997700" cy="2178943"/>
        </p:xfrm>
        <a:graphic>
          <a:graphicData uri="http://schemas.openxmlformats.org/drawingml/2006/table">
            <a:tbl>
              <a:tblPr/>
              <a:tblGrid>
                <a:gridCol w="2239264"/>
                <a:gridCol w="4758436"/>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Tool</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What it does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63490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fastp</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Trims adapters and low-quality bases; reports quality and length</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Kraken2, Bracken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Which species the reads come from: contamination check</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Filtlong</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Keeps the longest, best long reads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NanoPlot</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Long-read length and quality plots</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10" name="Shape 7"/>
          <p:cNvSpPr/>
          <p:nvPr/>
        </p:nvSpPr>
        <p:spPr>
          <a:xfrm>
            <a:off x="838200" y="4155033"/>
            <a:ext cx="0" cy="358775"/>
          </a:xfrm>
          <a:prstGeom prst="line">
            <a:avLst/>
          </a:prstGeom>
          <a:noFill/>
          <a:ln w="50800">
            <a:solidFill>
              <a:srgbClr val="891F15"/>
            </a:solidFill>
            <a:prstDash val="solid"/>
          </a:ln>
        </p:spPr>
      </p:sp>
      <p:sp>
        <p:nvSpPr>
          <p:cNvPr id="11" name="Text 8"/>
          <p:cNvSpPr/>
          <p:nvPr/>
        </p:nvSpPr>
        <p:spPr>
          <a:xfrm>
            <a:off x="1041400" y="4205833"/>
            <a:ext cx="7948036"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A322C"/>
                </a:solidFill>
                <a:latin typeface="Carlito" pitchFamily="34" charset="0"/>
                <a:ea typeface="Carlito" pitchFamily="34" charset="-122"/>
                <a:cs typeface="Carlito" pitchFamily="34" charset="-120"/>
              </a:rPr>
              <a:t>Watch for:</a:t>
            </a:r>
            <a:r>
              <a:rPr lang="en-US" sz="1500" dirty="0">
                <a:solidFill>
                  <a:srgbClr val="3A322C"/>
                </a:solidFill>
                <a:latin typeface="Carlito" pitchFamily="34" charset="0"/>
                <a:ea typeface="Carlito" pitchFamily="34" charset="-122"/>
                <a:cs typeface="Carlito" pitchFamily="34" charset="-120"/>
              </a:rPr>
              <a:t> low coverage, a second species (mixed culture), or a species that does not match the lab.</a:t>
            </a:r>
            <a:endParaRPr lang="en-US" sz="1500" dirty="0"/>
          </a:p>
        </p:txBody>
      </p:sp>
      <p:pic>
        <p:nvPicPr>
          <p:cNvPr id="12"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3"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1</a:t>
            </a:r>
            <a:endParaRPr lang="en-US" sz="1200" dirty="0"/>
          </a:p>
        </p:txBody>
      </p:sp>
      <p:sp>
        <p:nvSpPr>
          <p:cNvPr id="14"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2 · Genome assembly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302000" cy="1942753"/>
          </a:xfrm>
          <a:prstGeom prst="roundRect">
            <a:avLst>
              <a:gd name="adj" fmla="val 3922"/>
            </a:avLst>
          </a:prstGeom>
          <a:solidFill>
            <a:srgbClr val="273003"/>
          </a:solidFill>
          <a:ln/>
        </p:spPr>
      </p:sp>
      <p:sp>
        <p:nvSpPr>
          <p:cNvPr id="5" name="Text 3"/>
          <p:cNvSpPr/>
          <p:nvPr/>
        </p:nvSpPr>
        <p:spPr>
          <a:xfrm>
            <a:off x="1041400" y="191259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QUESTION</a:t>
            </a:r>
            <a:endParaRPr lang="en-US" sz="1200" dirty="0"/>
          </a:p>
        </p:txBody>
      </p:sp>
      <p:sp>
        <p:nvSpPr>
          <p:cNvPr id="6" name="Text 4"/>
          <p:cNvSpPr/>
          <p:nvPr/>
        </p:nvSpPr>
        <p:spPr>
          <a:xfrm>
            <a:off x="1041400" y="2214811"/>
            <a:ext cx="293014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9F2EA"/>
                </a:solidFill>
                <a:latin typeface="Carlito" pitchFamily="34" charset="0"/>
                <a:ea typeface="Carlito" pitchFamily="34" charset="-122"/>
                <a:cs typeface="Carlito" pitchFamily="34" charset="-120"/>
              </a:rPr>
              <a:t>Rebuild the genome from millions of short pieces</a:t>
            </a:r>
            <a:endParaRPr lang="en-US" sz="1600" dirty="0"/>
          </a:p>
        </p:txBody>
      </p:sp>
      <p:sp>
        <p:nvSpPr>
          <p:cNvPr id="7" name="Text 5"/>
          <p:cNvSpPr/>
          <p:nvPr/>
        </p:nvSpPr>
        <p:spPr>
          <a:xfrm>
            <a:off x="1041400" y="283195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RESULTS</a:t>
            </a:r>
            <a:endParaRPr lang="en-US" sz="1200" dirty="0"/>
          </a:p>
        </p:txBody>
      </p:sp>
      <p:sp>
        <p:nvSpPr>
          <p:cNvPr id="8" name="Text 6"/>
          <p:cNvSpPr/>
          <p:nvPr/>
        </p:nvSpPr>
        <p:spPr>
          <a:xfrm>
            <a:off x="1041400" y="3134171"/>
            <a:ext cx="29301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EDF"/>
                </a:solidFill>
                <a:latin typeface="JetBrains Mono" pitchFamily="49" charset="0"/>
                <a:ea typeface="JetBrains Mono" pitchFamily="49" charset="-122"/>
                <a:cs typeface="JetBrains Mono" pitchFamily="49" charset="-120"/>
              </a:rPr>
              <a:t>02_assembly/</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381500" y="1722090"/>
          <a:ext cx="6997700" cy="1930053"/>
        </p:xfrm>
        <a:graphic>
          <a:graphicData uri="http://schemas.openxmlformats.org/drawingml/2006/table">
            <a:tbl>
              <a:tblPr/>
              <a:tblGrid>
                <a:gridCol w="2519172"/>
                <a:gridCol w="4478528"/>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Tool</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What it does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Shovill</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Short-read assembly into contigs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Autocycler, Medaka</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Long-read consensus assembly, then error correction</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Polypolish, Pypolca</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Polish the long-read assembly with short reads: the hybrid</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QUAST</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Size, number of contigs, N50</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10" name="Shape 7"/>
          <p:cNvSpPr/>
          <p:nvPr/>
        </p:nvSpPr>
        <p:spPr>
          <a:xfrm>
            <a:off x="838200" y="3906143"/>
            <a:ext cx="0" cy="358775"/>
          </a:xfrm>
          <a:prstGeom prst="line">
            <a:avLst/>
          </a:prstGeom>
          <a:noFill/>
          <a:ln w="50800">
            <a:solidFill>
              <a:srgbClr val="891F15"/>
            </a:solidFill>
            <a:prstDash val="solid"/>
          </a:ln>
        </p:spPr>
      </p:sp>
      <p:sp>
        <p:nvSpPr>
          <p:cNvPr id="11" name="Text 8"/>
          <p:cNvSpPr/>
          <p:nvPr/>
        </p:nvSpPr>
        <p:spPr>
          <a:xfrm>
            <a:off x="1041400" y="3956943"/>
            <a:ext cx="844746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One </a:t>
            </a:r>
            <a:r>
              <a:rPr lang="en-US" sz="1500" b="1" dirty="0">
                <a:solidFill>
                  <a:srgbClr val="3A322C"/>
                </a:solidFill>
                <a:latin typeface="Carlito" pitchFamily="34" charset="0"/>
                <a:ea typeface="Carlito" pitchFamily="34" charset="-122"/>
                <a:cs typeface="Carlito" pitchFamily="34" charset="-120"/>
              </a:rPr>
              <a:t>best assembly</a:t>
            </a:r>
            <a:r>
              <a:rPr lang="en-US" sz="1500" dirty="0">
                <a:solidFill>
                  <a:srgbClr val="3A322C"/>
                </a:solidFill>
                <a:latin typeface="Carlito" pitchFamily="34" charset="0"/>
                <a:ea typeface="Carlito" pitchFamily="34" charset="-122"/>
                <a:cs typeface="Carlito" pitchFamily="34" charset="-120"/>
              </a:rPr>
              <a:t> per isolate goes forward: the hybrid if there is one, otherwise the short-read assembly.</a:t>
            </a:r>
            <a:endParaRPr lang="en-US" sz="1500" dirty="0"/>
          </a:p>
        </p:txBody>
      </p:sp>
      <p:pic>
        <p:nvPicPr>
          <p:cNvPr id="12"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3"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2</a:t>
            </a:r>
            <a:endParaRPr lang="en-US" sz="1200" dirty="0"/>
          </a:p>
        </p:txBody>
      </p:sp>
      <p:sp>
        <p:nvSpPr>
          <p:cNvPr id="14"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3 · Species and typing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302000" cy="2191643"/>
          </a:xfrm>
          <a:prstGeom prst="roundRect">
            <a:avLst>
              <a:gd name="adj" fmla="val 3477"/>
            </a:avLst>
          </a:prstGeom>
          <a:solidFill>
            <a:srgbClr val="273003"/>
          </a:solidFill>
          <a:ln/>
        </p:spPr>
      </p:sp>
      <p:sp>
        <p:nvSpPr>
          <p:cNvPr id="5" name="Text 3"/>
          <p:cNvSpPr/>
          <p:nvPr/>
        </p:nvSpPr>
        <p:spPr>
          <a:xfrm>
            <a:off x="1041400" y="191259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QUESTION</a:t>
            </a:r>
            <a:endParaRPr lang="en-US" sz="1200" dirty="0"/>
          </a:p>
        </p:txBody>
      </p:sp>
      <p:sp>
        <p:nvSpPr>
          <p:cNvPr id="6" name="Text 4"/>
          <p:cNvSpPr/>
          <p:nvPr/>
        </p:nvSpPr>
        <p:spPr>
          <a:xfrm>
            <a:off x="1041400" y="2214811"/>
            <a:ext cx="293014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9F2EA"/>
                </a:solidFill>
                <a:latin typeface="Carlito" pitchFamily="34" charset="0"/>
                <a:ea typeface="Carlito" pitchFamily="34" charset="-122"/>
                <a:cs typeface="Carlito" pitchFamily="34" charset="-120"/>
              </a:rPr>
              <a:t>Which species and lineage is it?</a:t>
            </a:r>
            <a:endParaRPr lang="en-US" sz="1600" dirty="0"/>
          </a:p>
        </p:txBody>
      </p:sp>
      <p:sp>
        <p:nvSpPr>
          <p:cNvPr id="7" name="Text 5"/>
          <p:cNvSpPr/>
          <p:nvPr/>
        </p:nvSpPr>
        <p:spPr>
          <a:xfrm>
            <a:off x="1041400" y="256783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RESULTS</a:t>
            </a:r>
            <a:endParaRPr lang="en-US" sz="1200" dirty="0"/>
          </a:p>
        </p:txBody>
      </p:sp>
      <p:sp>
        <p:nvSpPr>
          <p:cNvPr id="8" name="Text 6"/>
          <p:cNvSpPr/>
          <p:nvPr/>
        </p:nvSpPr>
        <p:spPr>
          <a:xfrm>
            <a:off x="1041400" y="2870051"/>
            <a:ext cx="29301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EDF"/>
                </a:solidFill>
                <a:latin typeface="JetBrains Mono" pitchFamily="49" charset="0"/>
                <a:ea typeface="JetBrains Mono" pitchFamily="49" charset="-122"/>
                <a:cs typeface="JetBrains Mono" pitchFamily="49" charset="-120"/>
              </a:rPr>
              <a:t>03_typing/</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381500" y="1722090"/>
          <a:ext cx="6997700" cy="2178943"/>
        </p:xfrm>
        <a:graphic>
          <a:graphicData uri="http://schemas.openxmlformats.org/drawingml/2006/table">
            <a:tbl>
              <a:tblPr/>
              <a:tblGrid>
                <a:gridCol w="2239264"/>
                <a:gridCol w="4758436"/>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Tool</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What it does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63490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Kleborate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Species within the K. pneumoniae complex, MLST, K and O loci, resistance and virulence scores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Kaptive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Capsule (K) and O-antigen loci in detail</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ECTyper</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E. coli serotype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EzClermont</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E. coli phylogroup</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10" name="Shape 7"/>
          <p:cNvSpPr/>
          <p:nvPr/>
        </p:nvSpPr>
        <p:spPr>
          <a:xfrm>
            <a:off x="838200" y="4155033"/>
            <a:ext cx="0" cy="358775"/>
          </a:xfrm>
          <a:prstGeom prst="line">
            <a:avLst/>
          </a:prstGeom>
          <a:noFill/>
          <a:ln w="50800">
            <a:solidFill>
              <a:srgbClr val="891F15"/>
            </a:solidFill>
            <a:prstDash val="solid"/>
          </a:ln>
        </p:spPr>
      </p:sp>
      <p:sp>
        <p:nvSpPr>
          <p:cNvPr id="11" name="Text 8"/>
          <p:cNvSpPr/>
          <p:nvPr/>
        </p:nvSpPr>
        <p:spPr>
          <a:xfrm>
            <a:off x="1041400" y="4205833"/>
            <a:ext cx="710574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The </a:t>
            </a:r>
            <a:r>
              <a:rPr lang="en-US" sz="1500" b="1" dirty="0">
                <a:solidFill>
                  <a:srgbClr val="3A322C"/>
                </a:solidFill>
                <a:latin typeface="Carlito" pitchFamily="34" charset="0"/>
                <a:ea typeface="Carlito" pitchFamily="34" charset="-122"/>
                <a:cs typeface="Carlito" pitchFamily="34" charset="-120"/>
              </a:rPr>
              <a:t>sequence type (ST)</a:t>
            </a:r>
            <a:r>
              <a:rPr lang="en-US" sz="1500" dirty="0">
                <a:solidFill>
                  <a:srgbClr val="3A322C"/>
                </a:solidFill>
                <a:latin typeface="Carlito" pitchFamily="34" charset="0"/>
                <a:ea typeface="Carlito" pitchFamily="34" charset="-122"/>
                <a:cs typeface="Carlito" pitchFamily="34" charset="-120"/>
              </a:rPr>
              <a:t> places each isolate in a lineage, and flags known </a:t>
            </a:r>
            <a:r>
              <a:rPr lang="en-US" sz="1500" b="1" dirty="0">
                <a:solidFill>
                  <a:srgbClr val="3A322C"/>
                </a:solidFill>
                <a:latin typeface="Carlito" pitchFamily="34" charset="0"/>
                <a:ea typeface="Carlito" pitchFamily="34" charset="-122"/>
                <a:cs typeface="Carlito" pitchFamily="34" charset="-120"/>
              </a:rPr>
              <a:t>high-risk clones</a:t>
            </a:r>
            <a:r>
              <a:rPr lang="en-US" sz="1500" dirty="0">
                <a:solidFill>
                  <a:srgbClr val="3A322C"/>
                </a:solidFill>
                <a:latin typeface="Carlito" pitchFamily="34" charset="0"/>
                <a:ea typeface="Carlito" pitchFamily="34" charset="-122"/>
                <a:cs typeface="Carlito" pitchFamily="34" charset="-120"/>
              </a:rPr>
              <a:t>.</a:t>
            </a:r>
            <a:endParaRPr lang="en-US" sz="1500" dirty="0"/>
          </a:p>
        </p:txBody>
      </p:sp>
      <p:pic>
        <p:nvPicPr>
          <p:cNvPr id="12"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3"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Modules 3, 7</a:t>
            </a:r>
            <a:endParaRPr lang="en-US" sz="1200" dirty="0"/>
          </a:p>
        </p:txBody>
      </p:sp>
      <p:sp>
        <p:nvSpPr>
          <p:cNvPr id="14"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4 · Resistance and virulence genes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302000" cy="1964630"/>
          </a:xfrm>
          <a:prstGeom prst="roundRect">
            <a:avLst>
              <a:gd name="adj" fmla="val 3879"/>
            </a:avLst>
          </a:prstGeom>
          <a:solidFill>
            <a:srgbClr val="273003"/>
          </a:solidFill>
          <a:ln/>
        </p:spPr>
      </p:sp>
      <p:sp>
        <p:nvSpPr>
          <p:cNvPr id="5" name="Text 3"/>
          <p:cNvSpPr/>
          <p:nvPr/>
        </p:nvSpPr>
        <p:spPr>
          <a:xfrm>
            <a:off x="1041400" y="191259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QUESTION</a:t>
            </a:r>
            <a:endParaRPr lang="en-US" sz="1200" dirty="0"/>
          </a:p>
        </p:txBody>
      </p:sp>
      <p:sp>
        <p:nvSpPr>
          <p:cNvPr id="6" name="Text 4"/>
          <p:cNvSpPr/>
          <p:nvPr/>
        </p:nvSpPr>
        <p:spPr>
          <a:xfrm>
            <a:off x="1041400" y="2214811"/>
            <a:ext cx="293014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9F2EA"/>
                </a:solidFill>
                <a:latin typeface="Carlito" pitchFamily="34" charset="0"/>
                <a:ea typeface="Carlito" pitchFamily="34" charset="-122"/>
                <a:cs typeface="Carlito" pitchFamily="34" charset="-120"/>
              </a:rPr>
              <a:t>Which antibiotics will still work?</a:t>
            </a:r>
            <a:endParaRPr lang="en-US" sz="1600" dirty="0"/>
          </a:p>
        </p:txBody>
      </p:sp>
      <p:sp>
        <p:nvSpPr>
          <p:cNvPr id="7" name="Text 5"/>
          <p:cNvSpPr/>
          <p:nvPr/>
        </p:nvSpPr>
        <p:spPr>
          <a:xfrm>
            <a:off x="1041400" y="256783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RESULTS</a:t>
            </a:r>
            <a:endParaRPr lang="en-US" sz="1200" dirty="0"/>
          </a:p>
        </p:txBody>
      </p:sp>
      <p:sp>
        <p:nvSpPr>
          <p:cNvPr id="8" name="Text 6"/>
          <p:cNvSpPr/>
          <p:nvPr/>
        </p:nvSpPr>
        <p:spPr>
          <a:xfrm>
            <a:off x="1041400" y="2870051"/>
            <a:ext cx="29301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EDF"/>
                </a:solidFill>
                <a:latin typeface="JetBrains Mono" pitchFamily="49" charset="0"/>
                <a:ea typeface="JetBrains Mono" pitchFamily="49" charset="-122"/>
                <a:cs typeface="JetBrains Mono" pitchFamily="49" charset="-120"/>
              </a:rPr>
              <a:t>04_amr/</a:t>
            </a:r>
            <a:endParaRPr lang="en-US" sz="1300" dirty="0"/>
          </a:p>
        </p:txBody>
      </p:sp>
      <p:sp>
        <p:nvSpPr>
          <p:cNvPr id="9" name="Shape 7"/>
          <p:cNvSpPr/>
          <p:nvPr/>
        </p:nvSpPr>
        <p:spPr>
          <a:xfrm>
            <a:off x="4368800" y="1709390"/>
            <a:ext cx="7010400" cy="1038820"/>
          </a:xfrm>
          <a:prstGeom prst="roundRect">
            <a:avLst>
              <a:gd name="adj" fmla="val 4890"/>
            </a:avLst>
          </a:prstGeom>
          <a:solidFill>
            <a:srgbClr val="FFFFFF"/>
          </a:solidFill>
          <a:ln/>
        </p:spPr>
      </p:sp>
      <p:sp>
        <p:nvSpPr>
          <p:cNvPr id="10" name="Shape 8"/>
          <p:cNvSpPr/>
          <p:nvPr/>
        </p:nvSpPr>
        <p:spPr>
          <a:xfrm>
            <a:off x="4368800" y="1709390"/>
            <a:ext cx="7010400" cy="1038820"/>
          </a:xfrm>
          <a:custGeom>
            <a:avLst/>
            <a:gdLst/>
            <a:ahLst/>
            <a:cxnLst/>
            <a:rect l="l" t="t" r="r" b="b"/>
            <a:pathLst>
              <a:path w="7010400" h="1038820">
                <a:moveTo>
                  <a:pt x="50800" y="1038820"/>
                </a:moveTo>
                <a:lnTo>
                  <a:pt x="50800" y="1038820"/>
                </a:lnTo>
                <a:arcTo hR="50800" wR="50800" stAng="5400000" swAng="5400000"/>
                <a:lnTo>
                  <a:pt x="0" y="50800"/>
                </a:lnTo>
                <a:arcTo hR="50800" wR="50800" stAng="10800000" swAng="5400000"/>
                <a:lnTo>
                  <a:pt x="50800" y="0"/>
                </a:lnTo>
                <a:lnTo>
                  <a:pt x="50800" y="1038820"/>
                </a:lnTo>
                <a:close/>
              </a:path>
            </a:pathLst>
          </a:custGeom>
          <a:solidFill>
            <a:srgbClr val="891F15"/>
          </a:solidFill>
          <a:ln/>
        </p:spPr>
      </p:sp>
      <p:sp>
        <p:nvSpPr>
          <p:cNvPr id="11" name="Text 9"/>
          <p:cNvSpPr/>
          <p:nvPr/>
        </p:nvSpPr>
        <p:spPr>
          <a:xfrm>
            <a:off x="4597400" y="1849090"/>
            <a:ext cx="68021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AMRFinderPlus</a:t>
            </a:r>
            <a:endParaRPr lang="en-US" sz="1500" dirty="0"/>
          </a:p>
        </p:txBody>
      </p:sp>
      <p:sp>
        <p:nvSpPr>
          <p:cNvPr id="12" name="Text 10"/>
          <p:cNvSpPr/>
          <p:nvPr/>
        </p:nvSpPr>
        <p:spPr>
          <a:xfrm>
            <a:off x="4597400" y="2128490"/>
            <a:ext cx="68021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NCBI's curated genes and point mutations, with the drug class each affects; with </a:t>
            </a:r>
            <a:r>
              <a:rPr lang="en-US" sz="1400" b="1" dirty="0">
                <a:solidFill>
                  <a:srgbClr val="3A322C"/>
                </a:solidFill>
                <a:latin typeface="Carlito" pitchFamily="34" charset="0"/>
                <a:ea typeface="Carlito" pitchFamily="34" charset="-122"/>
                <a:cs typeface="Carlito" pitchFamily="34" charset="-120"/>
              </a:rPr>
              <a:t>--plus</a:t>
            </a:r>
            <a:r>
              <a:rPr lang="en-US" sz="1400" dirty="0">
                <a:solidFill>
                  <a:srgbClr val="3A322C"/>
                </a:solidFill>
                <a:latin typeface="Carlito" pitchFamily="34" charset="0"/>
                <a:ea typeface="Carlito" pitchFamily="34" charset="-122"/>
                <a:cs typeface="Carlito" pitchFamily="34" charset="-120"/>
              </a:rPr>
              <a:t>, virulence and stress genes too.</a:t>
            </a:r>
            <a:endParaRPr lang="en-US" sz="1400" dirty="0"/>
          </a:p>
        </p:txBody>
      </p:sp>
      <p:sp>
        <p:nvSpPr>
          <p:cNvPr id="13" name="Shape 11"/>
          <p:cNvSpPr/>
          <p:nvPr/>
        </p:nvSpPr>
        <p:spPr>
          <a:xfrm>
            <a:off x="4368800" y="2875211"/>
            <a:ext cx="7010400" cy="798810"/>
          </a:xfrm>
          <a:prstGeom prst="roundRect">
            <a:avLst>
              <a:gd name="adj" fmla="val 6359"/>
            </a:avLst>
          </a:prstGeom>
          <a:solidFill>
            <a:srgbClr val="FFFFFF"/>
          </a:solidFill>
          <a:ln/>
        </p:spPr>
      </p:sp>
      <p:sp>
        <p:nvSpPr>
          <p:cNvPr id="14" name="Shape 12"/>
          <p:cNvSpPr/>
          <p:nvPr/>
        </p:nvSpPr>
        <p:spPr>
          <a:xfrm>
            <a:off x="4368800" y="2875211"/>
            <a:ext cx="7010400" cy="798810"/>
          </a:xfrm>
          <a:custGeom>
            <a:avLst/>
            <a:gdLst/>
            <a:ahLst/>
            <a:cxnLst/>
            <a:rect l="l" t="t" r="r" b="b"/>
            <a:pathLst>
              <a:path w="7010400" h="798810">
                <a:moveTo>
                  <a:pt x="50800" y="798810"/>
                </a:moveTo>
                <a:lnTo>
                  <a:pt x="50800" y="798810"/>
                </a:lnTo>
                <a:arcTo hR="50800" wR="50800" stAng="5400000" swAng="5400000"/>
                <a:lnTo>
                  <a:pt x="0" y="50800"/>
                </a:lnTo>
                <a:arcTo hR="50800" wR="50800" stAng="10800000" swAng="5400000"/>
                <a:lnTo>
                  <a:pt x="50800" y="0"/>
                </a:lnTo>
                <a:lnTo>
                  <a:pt x="50800" y="798810"/>
                </a:lnTo>
                <a:close/>
              </a:path>
            </a:pathLst>
          </a:custGeom>
          <a:solidFill>
            <a:srgbClr val="273003"/>
          </a:solidFill>
          <a:ln/>
        </p:spPr>
      </p:sp>
      <p:sp>
        <p:nvSpPr>
          <p:cNvPr id="15" name="Text 13"/>
          <p:cNvSpPr/>
          <p:nvPr/>
        </p:nvSpPr>
        <p:spPr>
          <a:xfrm>
            <a:off x="4597400" y="3014911"/>
            <a:ext cx="68021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Key genes in neonatal sepsis</a:t>
            </a:r>
            <a:endParaRPr lang="en-US" sz="1500" dirty="0"/>
          </a:p>
        </p:txBody>
      </p:sp>
      <p:sp>
        <p:nvSpPr>
          <p:cNvPr id="16" name="Text 14"/>
          <p:cNvSpPr/>
          <p:nvPr/>
        </p:nvSpPr>
        <p:spPr>
          <a:xfrm>
            <a:off x="4597400" y="3294311"/>
            <a:ext cx="6802120" cy="26541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3A322C"/>
                </a:solidFill>
                <a:latin typeface="Carlito" pitchFamily="34" charset="0"/>
                <a:ea typeface="Carlito" pitchFamily="34" charset="-122"/>
                <a:cs typeface="Carlito" pitchFamily="34" charset="-120"/>
              </a:rPr>
              <a:t>bla</a:t>
            </a:r>
            <a:r>
              <a:rPr lang="en-US" sz="1400" dirty="0">
                <a:solidFill>
                  <a:srgbClr val="3A322C"/>
                </a:solidFill>
                <a:latin typeface="Carlito" pitchFamily="34" charset="0"/>
                <a:ea typeface="Carlito" pitchFamily="34" charset="-122"/>
                <a:cs typeface="Carlito" pitchFamily="34" charset="-120"/>
              </a:rPr>
              <a:t>CTX-M (ESBL), </a:t>
            </a:r>
            <a:r>
              <a:rPr lang="en-US" sz="1400" i="1" dirty="0">
                <a:solidFill>
                  <a:srgbClr val="3A322C"/>
                </a:solidFill>
                <a:latin typeface="Carlito" pitchFamily="34" charset="0"/>
                <a:ea typeface="Carlito" pitchFamily="34" charset="-122"/>
                <a:cs typeface="Carlito" pitchFamily="34" charset="-120"/>
              </a:rPr>
              <a:t>bla</a:t>
            </a:r>
            <a:r>
              <a:rPr lang="en-US" sz="1400" dirty="0">
                <a:solidFill>
                  <a:srgbClr val="3A322C"/>
                </a:solidFill>
                <a:latin typeface="Carlito" pitchFamily="34" charset="0"/>
                <a:ea typeface="Carlito" pitchFamily="34" charset="-122"/>
                <a:cs typeface="Carlito" pitchFamily="34" charset="-120"/>
              </a:rPr>
              <a:t>NDM / OXA-48 (carbapenemases), </a:t>
            </a:r>
            <a:r>
              <a:rPr lang="en-US" sz="1400" i="1" dirty="0">
                <a:solidFill>
                  <a:srgbClr val="3A322C"/>
                </a:solidFill>
                <a:latin typeface="Carlito" pitchFamily="34" charset="0"/>
                <a:ea typeface="Carlito" pitchFamily="34" charset="-122"/>
                <a:cs typeface="Carlito" pitchFamily="34" charset="-120"/>
              </a:rPr>
              <a:t>aac(3)</a:t>
            </a:r>
            <a:r>
              <a:rPr lang="en-US" sz="1400" dirty="0">
                <a:solidFill>
                  <a:srgbClr val="3A322C"/>
                </a:solidFill>
                <a:latin typeface="Carlito" pitchFamily="34" charset="0"/>
                <a:ea typeface="Carlito" pitchFamily="34" charset="-122"/>
                <a:cs typeface="Carlito" pitchFamily="34" charset="-120"/>
              </a:rPr>
              <a:t> (gentamicin)</a:t>
            </a:r>
            <a:endParaRPr lang="en-US" sz="1400" dirty="0"/>
          </a:p>
        </p:txBody>
      </p:sp>
      <p:sp>
        <p:nvSpPr>
          <p:cNvPr id="17" name="Shape 15"/>
          <p:cNvSpPr/>
          <p:nvPr/>
        </p:nvSpPr>
        <p:spPr>
          <a:xfrm>
            <a:off x="838200" y="3928021"/>
            <a:ext cx="0" cy="358775"/>
          </a:xfrm>
          <a:prstGeom prst="line">
            <a:avLst/>
          </a:prstGeom>
          <a:noFill/>
          <a:ln w="50800">
            <a:solidFill>
              <a:srgbClr val="891F15"/>
            </a:solidFill>
            <a:prstDash val="solid"/>
          </a:ln>
        </p:spPr>
      </p:sp>
      <p:sp>
        <p:nvSpPr>
          <p:cNvPr id="18" name="Text 16"/>
          <p:cNvSpPr/>
          <p:nvPr/>
        </p:nvSpPr>
        <p:spPr>
          <a:xfrm>
            <a:off x="1041400" y="3978821"/>
            <a:ext cx="940590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A gene is a </a:t>
            </a:r>
            <a:r>
              <a:rPr lang="en-US" sz="1500" b="1" dirty="0">
                <a:solidFill>
                  <a:srgbClr val="3A322C"/>
                </a:solidFill>
                <a:latin typeface="Carlito" pitchFamily="34" charset="0"/>
                <a:ea typeface="Carlito" pitchFamily="34" charset="-122"/>
                <a:cs typeface="Carlito" pitchFamily="34" charset="-120"/>
              </a:rPr>
              <a:t>prediction</a:t>
            </a:r>
            <a:r>
              <a:rPr lang="en-US" sz="1500" dirty="0">
                <a:solidFill>
                  <a:srgbClr val="3A322C"/>
                </a:solidFill>
                <a:latin typeface="Carlito" pitchFamily="34" charset="0"/>
                <a:ea typeface="Carlito" pitchFamily="34" charset="-122"/>
                <a:cs typeface="Carlito" pitchFamily="34" charset="-120"/>
              </a:rPr>
              <a:t>: compare with lab AST, and separate intrinsic genes (SHV in </a:t>
            </a:r>
            <a:r>
              <a:rPr lang="en-US" sz="1500" i="1" dirty="0">
                <a:solidFill>
                  <a:srgbClr val="3A322C"/>
                </a:solidFill>
                <a:latin typeface="Carlito" pitchFamily="34" charset="0"/>
                <a:ea typeface="Carlito" pitchFamily="34" charset="-122"/>
                <a:cs typeface="Carlito" pitchFamily="34" charset="-120"/>
              </a:rPr>
              <a:t>K. pneumoniae</a:t>
            </a:r>
            <a:r>
              <a:rPr lang="en-US" sz="1500" dirty="0">
                <a:solidFill>
                  <a:srgbClr val="3A322C"/>
                </a:solidFill>
                <a:latin typeface="Carlito" pitchFamily="34" charset="0"/>
                <a:ea typeface="Carlito" pitchFamily="34" charset="-122"/>
                <a:cs typeface="Carlito" pitchFamily="34" charset="-120"/>
              </a:rPr>
              <a:t>) from acquired ones.</a:t>
            </a:r>
            <a:endParaRPr lang="en-US" sz="1500" dirty="0"/>
          </a:p>
        </p:txBody>
      </p:sp>
      <p:pic>
        <p:nvPicPr>
          <p:cNvPr id="19"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0"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4</a:t>
            </a:r>
            <a:endParaRPr lang="en-US" sz="1200" dirty="0"/>
          </a:p>
        </p:txBody>
      </p:sp>
      <p:sp>
        <p:nvSpPr>
          <p:cNvPr id="21"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5 · Plasmids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3302000" cy="2204641"/>
          </a:xfrm>
          <a:prstGeom prst="roundRect">
            <a:avLst>
              <a:gd name="adj" fmla="val 3456"/>
            </a:avLst>
          </a:prstGeom>
          <a:solidFill>
            <a:srgbClr val="273003"/>
          </a:solidFill>
          <a:ln/>
        </p:spPr>
      </p:sp>
      <p:sp>
        <p:nvSpPr>
          <p:cNvPr id="5" name="Text 3"/>
          <p:cNvSpPr/>
          <p:nvPr/>
        </p:nvSpPr>
        <p:spPr>
          <a:xfrm>
            <a:off x="1041400" y="191259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QUESTION</a:t>
            </a:r>
            <a:endParaRPr lang="en-US" sz="1200" dirty="0"/>
          </a:p>
        </p:txBody>
      </p:sp>
      <p:sp>
        <p:nvSpPr>
          <p:cNvPr id="6" name="Text 4"/>
          <p:cNvSpPr/>
          <p:nvPr/>
        </p:nvSpPr>
        <p:spPr>
          <a:xfrm>
            <a:off x="1041400" y="2214811"/>
            <a:ext cx="293014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9F2EA"/>
                </a:solidFill>
                <a:latin typeface="Carlito" pitchFamily="34" charset="0"/>
                <a:ea typeface="Carlito" pitchFamily="34" charset="-122"/>
                <a:cs typeface="Carlito" pitchFamily="34" charset="-120"/>
              </a:rPr>
              <a:t>Where do the resistance genes live, and can they spread?</a:t>
            </a:r>
            <a:endParaRPr lang="en-US" sz="1600" dirty="0"/>
          </a:p>
        </p:txBody>
      </p:sp>
      <p:sp>
        <p:nvSpPr>
          <p:cNvPr id="7" name="Text 5"/>
          <p:cNvSpPr/>
          <p:nvPr/>
        </p:nvSpPr>
        <p:spPr>
          <a:xfrm>
            <a:off x="1041400" y="283195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RESULTS</a:t>
            </a:r>
            <a:endParaRPr lang="en-US" sz="1200" dirty="0"/>
          </a:p>
        </p:txBody>
      </p:sp>
      <p:sp>
        <p:nvSpPr>
          <p:cNvPr id="8" name="Text 6"/>
          <p:cNvSpPr/>
          <p:nvPr/>
        </p:nvSpPr>
        <p:spPr>
          <a:xfrm>
            <a:off x="1041400" y="3134171"/>
            <a:ext cx="293014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EDF"/>
                </a:solidFill>
                <a:latin typeface="JetBrains Mono" pitchFamily="49" charset="0"/>
                <a:ea typeface="JetBrains Mono" pitchFamily="49" charset="-122"/>
                <a:cs typeface="JetBrains Mono" pitchFamily="49" charset="-120"/>
              </a:rPr>
              <a:t>05_plasmids/</a:t>
            </a:r>
            <a:endParaRPr lang="en-US" sz="1300" dirty="0"/>
          </a:p>
        </p:txBody>
      </p:sp>
      <p:sp>
        <p:nvSpPr>
          <p:cNvPr id="9" name="Shape 7"/>
          <p:cNvSpPr/>
          <p:nvPr/>
        </p:nvSpPr>
        <p:spPr>
          <a:xfrm>
            <a:off x="4368800" y="1709390"/>
            <a:ext cx="7010400" cy="1038820"/>
          </a:xfrm>
          <a:prstGeom prst="roundRect">
            <a:avLst>
              <a:gd name="adj" fmla="val 4890"/>
            </a:avLst>
          </a:prstGeom>
          <a:solidFill>
            <a:srgbClr val="FFFFFF"/>
          </a:solidFill>
          <a:ln/>
        </p:spPr>
      </p:sp>
      <p:sp>
        <p:nvSpPr>
          <p:cNvPr id="10" name="Shape 8"/>
          <p:cNvSpPr/>
          <p:nvPr/>
        </p:nvSpPr>
        <p:spPr>
          <a:xfrm>
            <a:off x="4368800" y="1709390"/>
            <a:ext cx="7010400" cy="1038820"/>
          </a:xfrm>
          <a:custGeom>
            <a:avLst/>
            <a:gdLst/>
            <a:ahLst/>
            <a:cxnLst/>
            <a:rect l="l" t="t" r="r" b="b"/>
            <a:pathLst>
              <a:path w="7010400" h="1038820">
                <a:moveTo>
                  <a:pt x="50800" y="1038820"/>
                </a:moveTo>
                <a:lnTo>
                  <a:pt x="50800" y="1038820"/>
                </a:lnTo>
                <a:arcTo hR="50800" wR="50800" stAng="5400000" swAng="5400000"/>
                <a:lnTo>
                  <a:pt x="0" y="50800"/>
                </a:lnTo>
                <a:arcTo hR="50800" wR="50800" stAng="10800000" swAng="5400000"/>
                <a:lnTo>
                  <a:pt x="50800" y="0"/>
                </a:lnTo>
                <a:lnTo>
                  <a:pt x="50800" y="1038820"/>
                </a:lnTo>
                <a:close/>
              </a:path>
            </a:pathLst>
          </a:custGeom>
          <a:solidFill>
            <a:srgbClr val="891F15"/>
          </a:solidFill>
          <a:ln/>
        </p:spPr>
      </p:sp>
      <p:sp>
        <p:nvSpPr>
          <p:cNvPr id="11" name="Text 9"/>
          <p:cNvSpPr/>
          <p:nvPr/>
        </p:nvSpPr>
        <p:spPr>
          <a:xfrm>
            <a:off x="4597400" y="1849090"/>
            <a:ext cx="68021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MOB-suite</a:t>
            </a:r>
            <a:endParaRPr lang="en-US" sz="1500" dirty="0"/>
          </a:p>
        </p:txBody>
      </p:sp>
      <p:sp>
        <p:nvSpPr>
          <p:cNvPr id="12" name="Text 10"/>
          <p:cNvSpPr/>
          <p:nvPr/>
        </p:nvSpPr>
        <p:spPr>
          <a:xfrm>
            <a:off x="4597400" y="2128490"/>
            <a:ext cx="68021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Sorts contigs into chromosome and plasmids; reports each plasmid's size, replicon (Inc) type, mobility and cluster.</a:t>
            </a:r>
            <a:endParaRPr lang="en-US" sz="1400" dirty="0"/>
          </a:p>
        </p:txBody>
      </p:sp>
      <p:sp>
        <p:nvSpPr>
          <p:cNvPr id="13" name="Shape 11"/>
          <p:cNvSpPr/>
          <p:nvPr/>
        </p:nvSpPr>
        <p:spPr>
          <a:xfrm>
            <a:off x="4368800" y="2875211"/>
            <a:ext cx="7010400" cy="1038820"/>
          </a:xfrm>
          <a:prstGeom prst="roundRect">
            <a:avLst>
              <a:gd name="adj" fmla="val 4890"/>
            </a:avLst>
          </a:prstGeom>
          <a:solidFill>
            <a:srgbClr val="FFFFFF"/>
          </a:solidFill>
          <a:ln/>
        </p:spPr>
      </p:sp>
      <p:sp>
        <p:nvSpPr>
          <p:cNvPr id="14" name="Shape 12"/>
          <p:cNvSpPr/>
          <p:nvPr/>
        </p:nvSpPr>
        <p:spPr>
          <a:xfrm>
            <a:off x="4368800" y="2875211"/>
            <a:ext cx="7010400" cy="1038820"/>
          </a:xfrm>
          <a:custGeom>
            <a:avLst/>
            <a:gdLst/>
            <a:ahLst/>
            <a:cxnLst/>
            <a:rect l="l" t="t" r="r" b="b"/>
            <a:pathLst>
              <a:path w="7010400" h="1038820">
                <a:moveTo>
                  <a:pt x="50800" y="1038820"/>
                </a:moveTo>
                <a:lnTo>
                  <a:pt x="50800" y="1038820"/>
                </a:lnTo>
                <a:arcTo hR="50800" wR="50800" stAng="5400000" swAng="5400000"/>
                <a:lnTo>
                  <a:pt x="0" y="50800"/>
                </a:lnTo>
                <a:arcTo hR="50800" wR="50800" stAng="10800000" swAng="5400000"/>
                <a:lnTo>
                  <a:pt x="50800" y="0"/>
                </a:lnTo>
                <a:lnTo>
                  <a:pt x="50800" y="1038820"/>
                </a:lnTo>
                <a:close/>
              </a:path>
            </a:pathLst>
          </a:custGeom>
          <a:solidFill>
            <a:srgbClr val="273003"/>
          </a:solidFill>
          <a:ln/>
        </p:spPr>
      </p:sp>
      <p:sp>
        <p:nvSpPr>
          <p:cNvPr id="15" name="Text 13"/>
          <p:cNvSpPr/>
          <p:nvPr/>
        </p:nvSpPr>
        <p:spPr>
          <a:xfrm>
            <a:off x="4597400" y="3014911"/>
            <a:ext cx="68021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Why it matters</a:t>
            </a:r>
            <a:endParaRPr lang="en-US" sz="1500" dirty="0"/>
          </a:p>
        </p:txBody>
      </p:sp>
      <p:sp>
        <p:nvSpPr>
          <p:cNvPr id="16" name="Text 14"/>
          <p:cNvSpPr/>
          <p:nvPr/>
        </p:nvSpPr>
        <p:spPr>
          <a:xfrm>
            <a:off x="4597400" y="3294311"/>
            <a:ext cx="68021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The same plasmid in different lineages means resistance is spreading between bacteria, not one clone.</a:t>
            </a:r>
            <a:endParaRPr lang="en-US" sz="1400" dirty="0"/>
          </a:p>
        </p:txBody>
      </p:sp>
      <p:sp>
        <p:nvSpPr>
          <p:cNvPr id="17" name="Shape 15"/>
          <p:cNvSpPr/>
          <p:nvPr/>
        </p:nvSpPr>
        <p:spPr>
          <a:xfrm>
            <a:off x="838200" y="4168031"/>
            <a:ext cx="0" cy="358775"/>
          </a:xfrm>
          <a:prstGeom prst="line">
            <a:avLst/>
          </a:prstGeom>
          <a:noFill/>
          <a:ln w="50800">
            <a:solidFill>
              <a:srgbClr val="891F15"/>
            </a:solidFill>
            <a:prstDash val="solid"/>
          </a:ln>
        </p:spPr>
      </p:sp>
      <p:sp>
        <p:nvSpPr>
          <p:cNvPr id="18" name="Text 16"/>
          <p:cNvSpPr/>
          <p:nvPr/>
        </p:nvSpPr>
        <p:spPr>
          <a:xfrm>
            <a:off x="1041400" y="4218831"/>
            <a:ext cx="574971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Short reads rarely give complete plasmids; </a:t>
            </a:r>
            <a:r>
              <a:rPr lang="en-US" sz="1500" b="1" dirty="0">
                <a:solidFill>
                  <a:srgbClr val="3A322C"/>
                </a:solidFill>
                <a:latin typeface="Carlito" pitchFamily="34" charset="0"/>
                <a:ea typeface="Carlito" pitchFamily="34" charset="-122"/>
                <a:cs typeface="Carlito" pitchFamily="34" charset="-120"/>
              </a:rPr>
              <a:t>hybrid</a:t>
            </a:r>
            <a:r>
              <a:rPr lang="en-US" sz="1500" dirty="0">
                <a:solidFill>
                  <a:srgbClr val="3A322C"/>
                </a:solidFill>
                <a:latin typeface="Carlito" pitchFamily="34" charset="0"/>
                <a:ea typeface="Carlito" pitchFamily="34" charset="-122"/>
                <a:cs typeface="Carlito" pitchFamily="34" charset="-120"/>
              </a:rPr>
              <a:t> assemblies usually do.</a:t>
            </a:r>
            <a:endParaRPr lang="en-US" sz="1500" dirty="0"/>
          </a:p>
        </p:txBody>
      </p:sp>
      <p:pic>
        <p:nvPicPr>
          <p:cNvPr id="19"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0"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5</a:t>
            </a:r>
            <a:endParaRPr lang="en-US" sz="1200" dirty="0"/>
          </a:p>
        </p:txBody>
      </p:sp>
      <p:sp>
        <p:nvSpPr>
          <p:cNvPr id="21"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6 · Phylogeny and SNP distances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1788120" cy="1225451"/>
          </a:xfrm>
          <a:prstGeom prst="roundRect">
            <a:avLst>
              <a:gd name="adj" fmla="val 6218"/>
            </a:avLst>
          </a:prstGeom>
          <a:solidFill>
            <a:srgbClr val="273003"/>
          </a:solidFill>
          <a:ln/>
        </p:spPr>
      </p:sp>
      <p:sp>
        <p:nvSpPr>
          <p:cNvPr id="5" name="Text 3"/>
          <p:cNvSpPr/>
          <p:nvPr/>
        </p:nvSpPr>
        <p:spPr>
          <a:xfrm>
            <a:off x="977900" y="1861790"/>
            <a:ext cx="15087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GROUP</a:t>
            </a:r>
            <a:endParaRPr lang="en-US" sz="1200" dirty="0"/>
          </a:p>
        </p:txBody>
      </p:sp>
      <p:sp>
        <p:nvSpPr>
          <p:cNvPr id="6" name="Text 4"/>
          <p:cNvSpPr/>
          <p:nvPr/>
        </p:nvSpPr>
        <p:spPr>
          <a:xfrm>
            <a:off x="977900" y="2138611"/>
            <a:ext cx="150872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9F2EA"/>
                </a:solidFill>
                <a:latin typeface="Carlito" pitchFamily="34" charset="0"/>
                <a:ea typeface="Carlito" pitchFamily="34" charset="-122"/>
                <a:cs typeface="Carlito" pitchFamily="34" charset="-120"/>
              </a:rPr>
              <a:t>Isolates of one species and ST</a:t>
            </a:r>
            <a:endParaRPr lang="en-US" sz="1300" dirty="0"/>
          </a:p>
        </p:txBody>
      </p:sp>
      <p:pic>
        <p:nvPicPr>
          <p:cNvPr id="7" name="Image 0" descr="arrow-right">    </p:cNvPr>
          <p:cNvPicPr>
            <a:picLocks noChangeAspect="1"/>
          </p:cNvPicPr>
          <p:nvPr/>
        </p:nvPicPr>
        <p:blipFill>
          <a:blip r:embed="rId1"/>
          <a:srcRect l="0" r="0" t="0" b="0"/>
          <a:stretch/>
        </p:blipFill>
        <p:spPr>
          <a:xfrm>
            <a:off x="2677120" y="2245916"/>
            <a:ext cx="254000" cy="152400"/>
          </a:xfrm>
          <a:prstGeom prst="rect">
            <a:avLst/>
          </a:prstGeom>
        </p:spPr>
      </p:pic>
      <p:sp>
        <p:nvSpPr>
          <p:cNvPr id="8" name="Shape 5"/>
          <p:cNvSpPr/>
          <p:nvPr/>
        </p:nvSpPr>
        <p:spPr>
          <a:xfrm>
            <a:off x="3007320" y="1709390"/>
            <a:ext cx="1788170" cy="1225451"/>
          </a:xfrm>
          <a:prstGeom prst="roundRect">
            <a:avLst>
              <a:gd name="adj" fmla="val 6218"/>
            </a:avLst>
          </a:prstGeom>
          <a:solidFill>
            <a:srgbClr val="273003"/>
          </a:solidFill>
          <a:ln/>
        </p:spPr>
      </p:sp>
      <p:sp>
        <p:nvSpPr>
          <p:cNvPr id="9" name="Text 6"/>
          <p:cNvSpPr/>
          <p:nvPr/>
        </p:nvSpPr>
        <p:spPr>
          <a:xfrm>
            <a:off x="3172420" y="1861790"/>
            <a:ext cx="1508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SNPs</a:t>
            </a:r>
            <a:endParaRPr lang="en-US" sz="1200" dirty="0"/>
          </a:p>
        </p:txBody>
      </p:sp>
      <p:sp>
        <p:nvSpPr>
          <p:cNvPr id="10" name="Text 7"/>
          <p:cNvSpPr/>
          <p:nvPr/>
        </p:nvSpPr>
        <p:spPr>
          <a:xfrm>
            <a:off x="3172420" y="2138611"/>
            <a:ext cx="150877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Snippy</a:t>
            </a:r>
            <a:r>
              <a:rPr lang="en-US" sz="1300" dirty="0">
                <a:solidFill>
                  <a:srgbClr val="F9F2EA"/>
                </a:solidFill>
                <a:latin typeface="Carlito" pitchFamily="34" charset="0"/>
                <a:ea typeface="Carlito" pitchFamily="34" charset="-122"/>
                <a:cs typeface="Carlito" pitchFamily="34" charset="-120"/>
              </a:rPr>
              <a:t> (map to a reference) or </a:t>
            </a:r>
            <a:r>
              <a:rPr lang="en-US" sz="1300" b="1" dirty="0">
                <a:solidFill>
                  <a:srgbClr val="F9F2EA"/>
                </a:solidFill>
                <a:latin typeface="Carlito" pitchFamily="34" charset="0"/>
                <a:ea typeface="Carlito" pitchFamily="34" charset="-122"/>
                <a:cs typeface="Carlito" pitchFamily="34" charset="-120"/>
              </a:rPr>
              <a:t>SKA2</a:t>
            </a:r>
            <a:r>
              <a:rPr lang="en-US" sz="1300" dirty="0">
                <a:solidFill>
                  <a:srgbClr val="F9F2EA"/>
                </a:solidFill>
                <a:latin typeface="Carlito" pitchFamily="34" charset="0"/>
                <a:ea typeface="Carlito" pitchFamily="34" charset="-122"/>
                <a:cs typeface="Carlito" pitchFamily="34" charset="-120"/>
              </a:rPr>
              <a:t> (split k-mers)</a:t>
            </a:r>
            <a:endParaRPr lang="en-US" sz="1300" dirty="0"/>
          </a:p>
        </p:txBody>
      </p:sp>
      <p:pic>
        <p:nvPicPr>
          <p:cNvPr id="11" name="Image 1" descr="arrow-right">    </p:cNvPr>
          <p:cNvPicPr>
            <a:picLocks noChangeAspect="1"/>
          </p:cNvPicPr>
          <p:nvPr/>
        </p:nvPicPr>
        <p:blipFill>
          <a:blip r:embed="rId2"/>
          <a:srcRect l="0" r="0" t="0" b="0"/>
          <a:stretch/>
        </p:blipFill>
        <p:spPr>
          <a:xfrm>
            <a:off x="4871690" y="2245916"/>
            <a:ext cx="254000" cy="152400"/>
          </a:xfrm>
          <a:prstGeom prst="rect">
            <a:avLst/>
          </a:prstGeom>
        </p:spPr>
      </p:pic>
      <p:sp>
        <p:nvSpPr>
          <p:cNvPr id="12" name="Shape 8"/>
          <p:cNvSpPr/>
          <p:nvPr/>
        </p:nvSpPr>
        <p:spPr>
          <a:xfrm>
            <a:off x="5201890" y="1709390"/>
            <a:ext cx="1788170" cy="1225451"/>
          </a:xfrm>
          <a:prstGeom prst="roundRect">
            <a:avLst>
              <a:gd name="adj" fmla="val 6218"/>
            </a:avLst>
          </a:prstGeom>
          <a:solidFill>
            <a:srgbClr val="891F15"/>
          </a:solidFill>
          <a:ln/>
        </p:spPr>
      </p:sp>
      <p:sp>
        <p:nvSpPr>
          <p:cNvPr id="13" name="Text 9"/>
          <p:cNvSpPr/>
          <p:nvPr/>
        </p:nvSpPr>
        <p:spPr>
          <a:xfrm>
            <a:off x="5366990" y="1861790"/>
            <a:ext cx="1508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RECOMBINATION</a:t>
            </a:r>
            <a:endParaRPr lang="en-US" sz="1200" dirty="0"/>
          </a:p>
        </p:txBody>
      </p:sp>
      <p:sp>
        <p:nvSpPr>
          <p:cNvPr id="14" name="Text 10"/>
          <p:cNvSpPr/>
          <p:nvPr/>
        </p:nvSpPr>
        <p:spPr>
          <a:xfrm>
            <a:off x="5366990" y="2138611"/>
            <a:ext cx="1508770"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Gubbins</a:t>
            </a:r>
            <a:r>
              <a:rPr lang="en-US" sz="1300" dirty="0">
                <a:solidFill>
                  <a:srgbClr val="F9F2EA"/>
                </a:solidFill>
                <a:latin typeface="Carlito" pitchFamily="34" charset="0"/>
                <a:ea typeface="Carlito" pitchFamily="34" charset="-122"/>
                <a:cs typeface="Carlito" pitchFamily="34" charset="-120"/>
              </a:rPr>
              <a:t> removes imported DNA</a:t>
            </a:r>
            <a:endParaRPr lang="en-US" sz="1300" dirty="0"/>
          </a:p>
        </p:txBody>
      </p:sp>
      <p:pic>
        <p:nvPicPr>
          <p:cNvPr id="15" name="Image 2" descr="arrow-right">    </p:cNvPr>
          <p:cNvPicPr>
            <a:picLocks noChangeAspect="1"/>
          </p:cNvPicPr>
          <p:nvPr/>
        </p:nvPicPr>
        <p:blipFill>
          <a:blip r:embed="rId3"/>
          <a:srcRect l="0" r="0" t="0" b="0"/>
          <a:stretch/>
        </p:blipFill>
        <p:spPr>
          <a:xfrm>
            <a:off x="7066260" y="2245916"/>
            <a:ext cx="254000" cy="152400"/>
          </a:xfrm>
          <a:prstGeom prst="rect">
            <a:avLst/>
          </a:prstGeom>
        </p:spPr>
      </p:pic>
      <p:sp>
        <p:nvSpPr>
          <p:cNvPr id="16" name="Shape 11"/>
          <p:cNvSpPr/>
          <p:nvPr/>
        </p:nvSpPr>
        <p:spPr>
          <a:xfrm>
            <a:off x="7396460" y="1709390"/>
            <a:ext cx="1788170" cy="1225451"/>
          </a:xfrm>
          <a:prstGeom prst="roundRect">
            <a:avLst>
              <a:gd name="adj" fmla="val 6218"/>
            </a:avLst>
          </a:prstGeom>
          <a:solidFill>
            <a:srgbClr val="273003"/>
          </a:solidFill>
          <a:ln/>
        </p:spPr>
      </p:sp>
      <p:sp>
        <p:nvSpPr>
          <p:cNvPr id="17" name="Text 12"/>
          <p:cNvSpPr/>
          <p:nvPr/>
        </p:nvSpPr>
        <p:spPr>
          <a:xfrm>
            <a:off x="7561560" y="1861790"/>
            <a:ext cx="1508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TREE</a:t>
            </a:r>
            <a:endParaRPr lang="en-US" sz="1200" dirty="0"/>
          </a:p>
        </p:txBody>
      </p:sp>
      <p:sp>
        <p:nvSpPr>
          <p:cNvPr id="18" name="Text 13"/>
          <p:cNvSpPr/>
          <p:nvPr/>
        </p:nvSpPr>
        <p:spPr>
          <a:xfrm>
            <a:off x="7561560" y="2138611"/>
            <a:ext cx="1508770"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IQ-TREE</a:t>
            </a:r>
            <a:r>
              <a:rPr lang="en-US" sz="1300" dirty="0">
                <a:solidFill>
                  <a:srgbClr val="F9F2EA"/>
                </a:solidFill>
                <a:latin typeface="Carlito" pitchFamily="34" charset="0"/>
                <a:ea typeface="Carlito" pitchFamily="34" charset="-122"/>
                <a:cs typeface="Carlito" pitchFamily="34" charset="-120"/>
              </a:rPr>
              <a:t> maximum-likelihood tree</a:t>
            </a:r>
            <a:endParaRPr lang="en-US" sz="1300" dirty="0"/>
          </a:p>
        </p:txBody>
      </p:sp>
      <p:pic>
        <p:nvPicPr>
          <p:cNvPr id="19" name="Image 3" descr="arrow-right">    </p:cNvPr>
          <p:cNvPicPr>
            <a:picLocks noChangeAspect="1"/>
          </p:cNvPicPr>
          <p:nvPr/>
        </p:nvPicPr>
        <p:blipFill>
          <a:blip r:embed="rId4"/>
          <a:srcRect l="0" r="0" t="0" b="0"/>
          <a:stretch/>
        </p:blipFill>
        <p:spPr>
          <a:xfrm>
            <a:off x="9260830" y="2245916"/>
            <a:ext cx="254000" cy="152400"/>
          </a:xfrm>
          <a:prstGeom prst="rect">
            <a:avLst/>
          </a:prstGeom>
        </p:spPr>
      </p:pic>
      <p:sp>
        <p:nvSpPr>
          <p:cNvPr id="20" name="Shape 14"/>
          <p:cNvSpPr/>
          <p:nvPr/>
        </p:nvSpPr>
        <p:spPr>
          <a:xfrm>
            <a:off x="9591030" y="1709390"/>
            <a:ext cx="1788170" cy="1225451"/>
          </a:xfrm>
          <a:prstGeom prst="roundRect">
            <a:avLst>
              <a:gd name="adj" fmla="val 6218"/>
            </a:avLst>
          </a:prstGeom>
          <a:solidFill>
            <a:srgbClr val="273003"/>
          </a:solidFill>
          <a:ln/>
        </p:spPr>
      </p:sp>
      <p:sp>
        <p:nvSpPr>
          <p:cNvPr id="21" name="Text 15"/>
          <p:cNvSpPr/>
          <p:nvPr/>
        </p:nvSpPr>
        <p:spPr>
          <a:xfrm>
            <a:off x="9756130" y="1861790"/>
            <a:ext cx="1508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CE00"/>
                </a:solidFill>
                <a:latin typeface="Carlito" pitchFamily="34" charset="0"/>
                <a:ea typeface="Carlito" pitchFamily="34" charset="-122"/>
                <a:cs typeface="Carlito" pitchFamily="34" charset="-120"/>
              </a:rPr>
              <a:t>DISTANCES</a:t>
            </a:r>
            <a:endParaRPr lang="en-US" sz="1200" dirty="0"/>
          </a:p>
        </p:txBody>
      </p:sp>
      <p:sp>
        <p:nvSpPr>
          <p:cNvPr id="22" name="Text 16"/>
          <p:cNvSpPr/>
          <p:nvPr/>
        </p:nvSpPr>
        <p:spPr>
          <a:xfrm>
            <a:off x="9756130" y="2138611"/>
            <a:ext cx="1508770"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snp-dists</a:t>
            </a:r>
            <a:r>
              <a:rPr lang="en-US" sz="1300" dirty="0">
                <a:solidFill>
                  <a:srgbClr val="F9F2EA"/>
                </a:solidFill>
                <a:latin typeface="Carlito" pitchFamily="34" charset="0"/>
                <a:ea typeface="Carlito" pitchFamily="34" charset="-122"/>
                <a:cs typeface="Carlito" pitchFamily="34" charset="-120"/>
              </a:rPr>
              <a:t>: SNPs between every pair</a:t>
            </a:r>
            <a:endParaRPr lang="en-US" sz="1300" dirty="0"/>
          </a:p>
        </p:txBody>
      </p:sp>
      <p:sp>
        <p:nvSpPr>
          <p:cNvPr id="23" name="Shape 17"/>
          <p:cNvSpPr/>
          <p:nvPr/>
        </p:nvSpPr>
        <p:spPr>
          <a:xfrm>
            <a:off x="838200" y="3188841"/>
            <a:ext cx="0" cy="759420"/>
          </a:xfrm>
          <a:prstGeom prst="line">
            <a:avLst/>
          </a:prstGeom>
          <a:noFill/>
          <a:ln w="50800">
            <a:solidFill>
              <a:srgbClr val="891F15"/>
            </a:solidFill>
            <a:prstDash val="solid"/>
          </a:ln>
        </p:spPr>
      </p:sp>
      <p:sp>
        <p:nvSpPr>
          <p:cNvPr id="24" name="Text 18"/>
          <p:cNvSpPr/>
          <p:nvPr/>
        </p:nvSpPr>
        <p:spPr>
          <a:xfrm>
            <a:off x="1016000" y="3188841"/>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Question</a:t>
            </a:r>
            <a:endParaRPr lang="en-US" sz="1500" dirty="0"/>
          </a:p>
        </p:txBody>
      </p:sp>
      <p:sp>
        <p:nvSpPr>
          <p:cNvPr id="25" name="Text 19"/>
          <p:cNvSpPr/>
          <p:nvPr/>
        </p:nvSpPr>
        <p:spPr>
          <a:xfrm>
            <a:off x="1016000" y="3468241"/>
            <a:ext cx="510159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Are these infections linked? Results in </a:t>
            </a:r>
            <a:r>
              <a:rPr lang="en-US" sz="1400" b="1" dirty="0">
                <a:solidFill>
                  <a:srgbClr val="3A322C"/>
                </a:solidFill>
                <a:latin typeface="Carlito" pitchFamily="34" charset="0"/>
                <a:ea typeface="Carlito" pitchFamily="34" charset="-122"/>
                <a:cs typeface="Carlito" pitchFamily="34" charset="-120"/>
              </a:rPr>
              <a:t>06_phylogeny/</a:t>
            </a:r>
            <a:r>
              <a:rPr lang="en-US" sz="1400" dirty="0">
                <a:solidFill>
                  <a:srgbClr val="3A322C"/>
                </a:solidFill>
                <a:latin typeface="Carlito" pitchFamily="34" charset="0"/>
                <a:ea typeface="Carlito" pitchFamily="34" charset="-122"/>
                <a:cs typeface="Carlito" pitchFamily="34" charset="-120"/>
              </a:rPr>
              <a:t>.</a:t>
            </a:r>
            <a:endParaRPr lang="en-US" sz="1400" dirty="0"/>
          </a:p>
        </p:txBody>
      </p:sp>
      <p:sp>
        <p:nvSpPr>
          <p:cNvPr id="26" name="Shape 20"/>
          <p:cNvSpPr/>
          <p:nvPr/>
        </p:nvSpPr>
        <p:spPr>
          <a:xfrm>
            <a:off x="6248400" y="3188841"/>
            <a:ext cx="0" cy="759420"/>
          </a:xfrm>
          <a:prstGeom prst="line">
            <a:avLst/>
          </a:prstGeom>
          <a:noFill/>
          <a:ln w="50800">
            <a:solidFill>
              <a:srgbClr val="273003"/>
            </a:solidFill>
            <a:prstDash val="solid"/>
          </a:ln>
        </p:spPr>
      </p:sp>
      <p:sp>
        <p:nvSpPr>
          <p:cNvPr id="27" name="Text 21"/>
          <p:cNvSpPr/>
          <p:nvPr/>
        </p:nvSpPr>
        <p:spPr>
          <a:xfrm>
            <a:off x="6426200" y="3188841"/>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A few SNPs apart</a:t>
            </a:r>
            <a:endParaRPr lang="en-US" sz="1500" dirty="0"/>
          </a:p>
        </p:txBody>
      </p:sp>
      <p:sp>
        <p:nvSpPr>
          <p:cNvPr id="28" name="Text 22"/>
          <p:cNvSpPr/>
          <p:nvPr/>
        </p:nvSpPr>
        <p:spPr>
          <a:xfrm>
            <a:off x="6426200" y="3468241"/>
            <a:ext cx="510159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322C"/>
                </a:solidFill>
                <a:latin typeface="Carlito" pitchFamily="34" charset="0"/>
                <a:ea typeface="Carlito" pitchFamily="34" charset="-122"/>
                <a:cs typeface="Carlito" pitchFamily="34" charset="-120"/>
              </a:rPr>
              <a:t>Evidence of recent transmission, </a:t>
            </a:r>
            <a:r>
              <a:rPr lang="en-US" sz="1400" b="1" dirty="0">
                <a:solidFill>
                  <a:srgbClr val="3A322C"/>
                </a:solidFill>
                <a:latin typeface="Carlito" pitchFamily="34" charset="0"/>
                <a:ea typeface="Carlito" pitchFamily="34" charset="-122"/>
                <a:cs typeface="Carlito" pitchFamily="34" charset="-120"/>
              </a:rPr>
              <a:t>not proof</a:t>
            </a:r>
            <a:r>
              <a:rPr lang="en-US" sz="1400" dirty="0">
                <a:solidFill>
                  <a:srgbClr val="3A322C"/>
                </a:solidFill>
                <a:latin typeface="Carlito" pitchFamily="34" charset="0"/>
                <a:ea typeface="Carlito" pitchFamily="34" charset="-122"/>
                <a:cs typeface="Carlito" pitchFamily="34" charset="-120"/>
              </a:rPr>
              <a:t>: read it with ward and dates.</a:t>
            </a:r>
            <a:endParaRPr lang="en-US" sz="1400" dirty="0"/>
          </a:p>
        </p:txBody>
      </p:sp>
      <p:pic>
        <p:nvPicPr>
          <p:cNvPr id="29" name="Image 4" descr="ILRI and CGIAR logos">    </p:cNvPr>
          <p:cNvPicPr>
            <a:picLocks noChangeAspect="1"/>
          </p:cNvPicPr>
          <p:nvPr/>
        </p:nvPicPr>
        <p:blipFill>
          <a:blip r:embed="rId5"/>
          <a:srcRect l="-56" r="-56" t="0" b="0"/>
          <a:stretch/>
        </p:blipFill>
        <p:spPr>
          <a:xfrm>
            <a:off x="10033000" y="254000"/>
            <a:ext cx="1346200" cy="381000"/>
          </a:xfrm>
          <a:prstGeom prst="rect">
            <a:avLst/>
          </a:prstGeom>
        </p:spPr>
      </p:pic>
      <p:sp>
        <p:nvSpPr>
          <p:cNvPr id="30"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6</a:t>
            </a:r>
            <a:endParaRPr lang="en-US" sz="1200" dirty="0"/>
          </a:p>
        </p:txBody>
      </p:sp>
      <p:sp>
        <p:nvSpPr>
          <p:cNvPr id="31" name="Text 2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Step 7 · Reports and outputs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3474095"/>
        </p:xfrm>
        <a:graphic>
          <a:graphicData uri="http://schemas.openxmlformats.org/drawingml/2006/table">
            <a:tbl>
              <a:tblPr/>
              <a:tblGrid>
                <a:gridCol w="2532888"/>
                <a:gridCol w="5910072"/>
                <a:gridCol w="2110740"/>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Folder</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Contents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Step</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01_qc/</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fastp, Kraken2, Bracken, long-read QC</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02_assembly/</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Assemblies and QUAST</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2</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03_typing/</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Kleborate, Kaptive, E. coli typing</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3</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04_amr/</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AMRFinderPlus</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4</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05_plasmids/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MOB-suite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5</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06_phylogeny/</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Trees and SNP-distance matrices per ST</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6</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multiqc/</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One summary report for all isolates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7</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pipeline_info/</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Software versions, run time per step</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7</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pic>
        <p:nvPicPr>
          <p:cNvPr id="5"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6"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 8</a:t>
            </a:r>
            <a:endParaRPr lang="en-US" sz="1200" dirty="0"/>
          </a:p>
        </p:txBody>
      </p:sp>
      <p:sp>
        <p:nvSpPr>
          <p:cNvPr id="7"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73003"/>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C2CA6E"/>
                </a:solidFill>
                <a:latin typeface="Carlito" pitchFamily="34" charset="0"/>
                <a:ea typeface="Carlito" pitchFamily="34" charset="-122"/>
                <a:cs typeface="Carlito" pitchFamily="34" charset="-120"/>
              </a:rPr>
              <a:t>FROM GENOMES TO ACTION</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Beyond single genomes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DE2B0"/>
                </a:solidFill>
                <a:latin typeface="Carlito" pitchFamily="34" charset="0"/>
                <a:ea typeface="Carlito" pitchFamily="34" charset="-122"/>
                <a:cs typeface="Carlito" pitchFamily="34" charset="-120"/>
              </a:rPr>
              <a:t>Comparing many isolates, and running the analysis in one command</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Looking across many isolates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83990"/>
            <a:ext cx="10566400" cy="3022600"/>
          </a:xfrm>
          <a:prstGeom prst="roundRect">
            <a:avLst>
              <a:gd name="adj" fmla="val 2521"/>
            </a:avLst>
          </a:prstGeom>
          <a:solidFill>
            <a:srgbClr val="FFFFFF"/>
          </a:solidFill>
          <a:ln/>
        </p:spPr>
      </p:sp>
      <p:pic>
        <p:nvPicPr>
          <p:cNvPr id="5" name="Image 0" descr="Four ways to analyse resistance across samples: ordination using resistance genes, resistome cluster analysis as a heatmap, an antibiotic resistance gene network, and a resistance profile of genes by samples alongside a dendrogram">    </p:cNvPr>
          <p:cNvPicPr>
            <a:picLocks noChangeAspect="1"/>
          </p:cNvPicPr>
          <p:nvPr/>
        </p:nvPicPr>
        <p:blipFill>
          <a:blip r:embed="rId1"/>
          <a:srcRect l="0" r="0" t="-1" b="-1"/>
          <a:stretch/>
        </p:blipFill>
        <p:spPr>
          <a:xfrm>
            <a:off x="812800" y="1683990"/>
            <a:ext cx="10566400" cy="3022600"/>
          </a:xfrm>
          <a:prstGeom prst="roundRect">
            <a:avLst>
              <a:gd name="adj" fmla="val 2521"/>
            </a:avLst>
          </a:prstGeom>
        </p:spPr>
      </p:pic>
      <p:sp>
        <p:nvSpPr>
          <p:cNvPr id="6" name="Text 3"/>
          <p:cNvSpPr/>
          <p:nvPr/>
        </p:nvSpPr>
        <p:spPr>
          <a:xfrm>
            <a:off x="812800" y="47700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Boolchandani M, et al. </a:t>
            </a:r>
            <a:r>
              <a:rPr lang="en-US" sz="1200" i="1" dirty="0">
                <a:solidFill>
                  <a:srgbClr val="6B6460"/>
                </a:solidFill>
                <a:latin typeface="Carlito" pitchFamily="34" charset="0"/>
                <a:ea typeface="Carlito" pitchFamily="34" charset="-122"/>
                <a:cs typeface="Carlito" pitchFamily="34" charset="-120"/>
              </a:rPr>
              <a:t>Nat Rev Genet</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doi:10.1038/s41576-019-0108-4</a:t>
            </a:r>
            <a:endParaRPr lang="en-US" sz="1200" dirty="0"/>
          </a:p>
        </p:txBody>
      </p:sp>
      <p:sp>
        <p:nvSpPr>
          <p:cNvPr id="7" name="Shape 4"/>
          <p:cNvSpPr/>
          <p:nvPr/>
        </p:nvSpPr>
        <p:spPr>
          <a:xfrm>
            <a:off x="838200" y="5212011"/>
            <a:ext cx="0" cy="307975"/>
          </a:xfrm>
          <a:prstGeom prst="line">
            <a:avLst/>
          </a:prstGeom>
          <a:noFill/>
          <a:ln w="50800">
            <a:solidFill>
              <a:srgbClr val="891F15"/>
            </a:solidFill>
            <a:prstDash val="solid"/>
          </a:ln>
        </p:spPr>
      </p:sp>
      <p:sp>
        <p:nvSpPr>
          <p:cNvPr id="8" name="Text 5"/>
          <p:cNvSpPr/>
          <p:nvPr/>
        </p:nvSpPr>
        <p:spPr>
          <a:xfrm>
            <a:off x="1041400" y="5237411"/>
            <a:ext cx="867352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In the course: </a:t>
            </a:r>
            <a:r>
              <a:rPr lang="en-US" sz="1500" b="1" dirty="0">
                <a:solidFill>
                  <a:srgbClr val="3A322C"/>
                </a:solidFill>
                <a:latin typeface="Carlito" pitchFamily="34" charset="0"/>
                <a:ea typeface="Carlito" pitchFamily="34" charset="-122"/>
                <a:cs typeface="Carlito" pitchFamily="34" charset="-120"/>
              </a:rPr>
              <a:t>gene × isolate profiles</a:t>
            </a:r>
            <a:r>
              <a:rPr lang="en-US" sz="1500" dirty="0">
                <a:solidFill>
                  <a:srgbClr val="3A322C"/>
                </a:solidFill>
                <a:latin typeface="Carlito" pitchFamily="34" charset="0"/>
                <a:ea typeface="Carlito" pitchFamily="34" charset="-122"/>
                <a:cs typeface="Carlito" pitchFamily="34" charset="-120"/>
              </a:rPr>
              <a:t> beside the tree, coloured by ward and year, and summaries per country.</a:t>
            </a:r>
            <a:endParaRPr lang="en-US" sz="1500" dirty="0"/>
          </a:p>
        </p:txBody>
      </p:sp>
      <p:pic>
        <p:nvPicPr>
          <p:cNvPr id="9" name="Image 1" descr="ILRI and CGIAR logos">    </p:cNvPr>
          <p:cNvPicPr>
            <a:picLocks noChangeAspect="1"/>
          </p:cNvPicPr>
          <p:nvPr/>
        </p:nvPicPr>
        <p:blipFill>
          <a:blip r:embed="rId3"/>
          <a:srcRect l="-56" r="-56" t="0" b="0"/>
          <a:stretch/>
        </p:blipFill>
        <p:spPr>
          <a:xfrm>
            <a:off x="10033000" y="254000"/>
            <a:ext cx="1346200" cy="381000"/>
          </a:xfrm>
          <a:prstGeom prst="rect">
            <a:avLst/>
          </a:prstGeom>
        </p:spPr>
      </p:pic>
      <p:sp>
        <p:nvSpPr>
          <p:cNvPr id="10"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 · Modules 6–8</a:t>
            </a:r>
            <a:endParaRPr lang="en-US" sz="1200" dirty="0"/>
          </a:p>
        </p:txBody>
      </p:sp>
      <p:sp>
        <p:nvSpPr>
          <p:cNvPr id="11"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Every step, in one command</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83990"/>
            <a:ext cx="10566400" cy="1073696"/>
          </a:xfrm>
          <a:prstGeom prst="roundRect">
            <a:avLst>
              <a:gd name="adj" fmla="val 7097"/>
            </a:avLst>
          </a:prstGeom>
          <a:solidFill>
            <a:srgbClr val="273003"/>
          </a:solidFill>
          <a:ln/>
        </p:spPr>
        <p:txBody>
          <a:bodyPr wrap="square" lIns="206282" tIns="155482" rIns="0" bIns="130082" rtlCol="0" anchor="t">
            <a:normAutofit/>
          </a:bodyPr>
          <a:lstStyle/>
          <a:p>
            <a:pPr algn="l" indent="0" marL="0">
              <a:lnSpc>
                <a:spcPts val="1885"/>
              </a:lnSpc>
              <a:buNone/>
            </a:pPr>
            <a:r>
              <a:rPr lang="en-US" sz="1300" dirty="0">
                <a:solidFill>
                  <a:srgbClr val="F3EEDF"/>
                </a:solidFill>
                <a:latin typeface="JetBrains Mono" pitchFamily="49" charset="0"/>
                <a:ea typeface="JetBrains Mono" pitchFamily="49" charset="-122"/>
                <a:cs typeface="JetBrains Mono" pitchFamily="49" charset="-120"/>
              </a:rPr>
              <a:t>nextflow run neonatal-amr-nf/main.nf -profile singularity -c site.config \</a:t>
            </a:r>
            <a:endParaRPr lang="en-US" sz="1300" dirty="0"/>
          </a:p>
          <a:p>
            <a:pPr algn="l" indent="0" marL="0">
              <a:lnSpc>
                <a:spcPts val="1885"/>
              </a:lnSpc>
              <a:buNone/>
            </a:pPr>
            <a:r>
              <a:rPr lang="en-US" sz="1300" dirty="0">
                <a:solidFill>
                  <a:srgbClr val="F3EEDF"/>
                </a:solidFill>
                <a:latin typeface="JetBrains Mono" pitchFamily="49" charset="0"/>
                <a:ea typeface="JetBrains Mono" pitchFamily="49" charset="-122"/>
                <a:cs typeface="JetBrains Mono" pitchFamily="49" charset="-120"/>
              </a:rPr>
              <a:t>    --input samplesheet.csv --outdir results \</a:t>
            </a:r>
            <a:endParaRPr lang="en-US" sz="1300" dirty="0"/>
          </a:p>
          <a:p>
            <a:pPr algn="l" indent="0" marL="0">
              <a:lnSpc>
                <a:spcPts val="1885"/>
              </a:lnSpc>
              <a:buNone/>
            </a:pPr>
            <a:r>
              <a:rPr lang="en-US" sz="1300" dirty="0">
                <a:solidFill>
                  <a:srgbClr val="F3EEDF"/>
                </a:solidFill>
                <a:latin typeface="JetBrains Mono" pitchFamily="49" charset="0"/>
                <a:ea typeface="JetBrains Mono" pitchFamily="49" charset="-122"/>
                <a:cs typeface="JetBrains Mono" pitchFamily="49" charset="-120"/>
              </a:rPr>
              <a:t>    --kraken2_db k2db --amrfinderplus_db amrfinderdb.tar.gz</a:t>
            </a:r>
            <a:endParaRPr lang="en-US" sz="1300" dirty="0"/>
          </a:p>
        </p:txBody>
      </p:sp>
      <p:sp>
        <p:nvSpPr>
          <p:cNvPr id="5" name="Shape 3"/>
          <p:cNvSpPr/>
          <p:nvPr/>
        </p:nvSpPr>
        <p:spPr>
          <a:xfrm>
            <a:off x="812800" y="2986286"/>
            <a:ext cx="5207000" cy="766366"/>
          </a:xfrm>
          <a:prstGeom prst="roundRect">
            <a:avLst>
              <a:gd name="adj" fmla="val 6629"/>
            </a:avLst>
          </a:prstGeom>
          <a:solidFill>
            <a:srgbClr val="FFFFFF"/>
          </a:solidFill>
          <a:ln/>
        </p:spPr>
      </p:sp>
      <p:sp>
        <p:nvSpPr>
          <p:cNvPr id="6" name="Shape 4"/>
          <p:cNvSpPr/>
          <p:nvPr/>
        </p:nvSpPr>
        <p:spPr>
          <a:xfrm>
            <a:off x="812800" y="2986286"/>
            <a:ext cx="5207000" cy="766366"/>
          </a:xfrm>
          <a:custGeom>
            <a:avLst/>
            <a:gdLst/>
            <a:ahLst/>
            <a:cxnLst/>
            <a:rect l="l" t="t" r="r" b="b"/>
            <a:pathLst>
              <a:path w="5207000" h="766366">
                <a:moveTo>
                  <a:pt x="50800" y="766366"/>
                </a:moveTo>
                <a:lnTo>
                  <a:pt x="50800" y="766366"/>
                </a:lnTo>
                <a:arcTo hR="50800" wR="50800" stAng="5400000" swAng="5400000"/>
                <a:lnTo>
                  <a:pt x="0" y="50800"/>
                </a:lnTo>
                <a:arcTo hR="50800" wR="50800" stAng="10800000" swAng="5400000"/>
                <a:lnTo>
                  <a:pt x="50800" y="0"/>
                </a:lnTo>
                <a:lnTo>
                  <a:pt x="50800" y="766366"/>
                </a:lnTo>
                <a:close/>
              </a:path>
            </a:pathLst>
          </a:custGeom>
          <a:solidFill>
            <a:srgbClr val="891F15"/>
          </a:solidFill>
          <a:ln/>
        </p:spPr>
      </p:sp>
      <p:sp>
        <p:nvSpPr>
          <p:cNvPr id="7" name="Text 5"/>
          <p:cNvSpPr/>
          <p:nvPr/>
        </p:nvSpPr>
        <p:spPr>
          <a:xfrm>
            <a:off x="1041400" y="3125986"/>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Reproducible</a:t>
            </a:r>
            <a:endParaRPr lang="en-US" sz="1400" dirty="0"/>
          </a:p>
        </p:txBody>
      </p:sp>
      <p:sp>
        <p:nvSpPr>
          <p:cNvPr id="8" name="Text 6"/>
          <p:cNvSpPr/>
          <p:nvPr/>
        </p:nvSpPr>
        <p:spPr>
          <a:xfrm>
            <a:off x="1041400" y="3390106"/>
            <a:ext cx="49784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Every tool runs in a container at a fixed version; versions are recorded.</a:t>
            </a:r>
            <a:endParaRPr lang="en-US" sz="1300" dirty="0"/>
          </a:p>
        </p:txBody>
      </p:sp>
      <p:sp>
        <p:nvSpPr>
          <p:cNvPr id="9" name="Shape 7"/>
          <p:cNvSpPr/>
          <p:nvPr/>
        </p:nvSpPr>
        <p:spPr>
          <a:xfrm>
            <a:off x="6172200" y="2986286"/>
            <a:ext cx="5207000" cy="766366"/>
          </a:xfrm>
          <a:prstGeom prst="roundRect">
            <a:avLst>
              <a:gd name="adj" fmla="val 6629"/>
            </a:avLst>
          </a:prstGeom>
          <a:solidFill>
            <a:srgbClr val="FFFFFF"/>
          </a:solidFill>
          <a:ln/>
        </p:spPr>
      </p:sp>
      <p:sp>
        <p:nvSpPr>
          <p:cNvPr id="10" name="Shape 8"/>
          <p:cNvSpPr/>
          <p:nvPr/>
        </p:nvSpPr>
        <p:spPr>
          <a:xfrm>
            <a:off x="6172200" y="2986286"/>
            <a:ext cx="5207000" cy="766366"/>
          </a:xfrm>
          <a:custGeom>
            <a:avLst/>
            <a:gdLst/>
            <a:ahLst/>
            <a:cxnLst/>
            <a:rect l="l" t="t" r="r" b="b"/>
            <a:pathLst>
              <a:path w="5207000" h="766366">
                <a:moveTo>
                  <a:pt x="50800" y="766366"/>
                </a:moveTo>
                <a:lnTo>
                  <a:pt x="50800" y="766366"/>
                </a:lnTo>
                <a:arcTo hR="50800" wR="50800" stAng="5400000" swAng="5400000"/>
                <a:lnTo>
                  <a:pt x="0" y="50800"/>
                </a:lnTo>
                <a:arcTo hR="50800" wR="50800" stAng="10800000" swAng="5400000"/>
                <a:lnTo>
                  <a:pt x="50800" y="0"/>
                </a:lnTo>
                <a:lnTo>
                  <a:pt x="50800" y="766366"/>
                </a:lnTo>
                <a:close/>
              </a:path>
            </a:pathLst>
          </a:custGeom>
          <a:solidFill>
            <a:srgbClr val="891F15"/>
          </a:solidFill>
          <a:ln/>
        </p:spPr>
      </p:sp>
      <p:sp>
        <p:nvSpPr>
          <p:cNvPr id="11" name="Text 9"/>
          <p:cNvSpPr/>
          <p:nvPr/>
        </p:nvSpPr>
        <p:spPr>
          <a:xfrm>
            <a:off x="6400800" y="3125986"/>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Scalable</a:t>
            </a:r>
            <a:endParaRPr lang="en-US" sz="1400" dirty="0"/>
          </a:p>
        </p:txBody>
      </p:sp>
      <p:sp>
        <p:nvSpPr>
          <p:cNvPr id="12" name="Text 10"/>
          <p:cNvSpPr/>
          <p:nvPr/>
        </p:nvSpPr>
        <p:spPr>
          <a:xfrm>
            <a:off x="6400800" y="3390106"/>
            <a:ext cx="49446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Each step is its own job on the HPC; many isolates run in parallel.</a:t>
            </a:r>
            <a:endParaRPr lang="en-US" sz="1300" dirty="0"/>
          </a:p>
        </p:txBody>
      </p:sp>
      <p:sp>
        <p:nvSpPr>
          <p:cNvPr id="13" name="Shape 11"/>
          <p:cNvSpPr/>
          <p:nvPr/>
        </p:nvSpPr>
        <p:spPr>
          <a:xfrm>
            <a:off x="812800" y="3905052"/>
            <a:ext cx="5207000" cy="766366"/>
          </a:xfrm>
          <a:prstGeom prst="roundRect">
            <a:avLst>
              <a:gd name="adj" fmla="val 6629"/>
            </a:avLst>
          </a:prstGeom>
          <a:solidFill>
            <a:srgbClr val="FFFFFF"/>
          </a:solidFill>
          <a:ln/>
        </p:spPr>
      </p:sp>
      <p:sp>
        <p:nvSpPr>
          <p:cNvPr id="14" name="Shape 12"/>
          <p:cNvSpPr/>
          <p:nvPr/>
        </p:nvSpPr>
        <p:spPr>
          <a:xfrm>
            <a:off x="812800" y="3905052"/>
            <a:ext cx="5207000" cy="766366"/>
          </a:xfrm>
          <a:custGeom>
            <a:avLst/>
            <a:gdLst/>
            <a:ahLst/>
            <a:cxnLst/>
            <a:rect l="l" t="t" r="r" b="b"/>
            <a:pathLst>
              <a:path w="5207000" h="766366">
                <a:moveTo>
                  <a:pt x="50800" y="766366"/>
                </a:moveTo>
                <a:lnTo>
                  <a:pt x="50800" y="766366"/>
                </a:lnTo>
                <a:arcTo hR="50800" wR="50800" stAng="5400000" swAng="5400000"/>
                <a:lnTo>
                  <a:pt x="0" y="50800"/>
                </a:lnTo>
                <a:arcTo hR="50800" wR="50800" stAng="10800000" swAng="5400000"/>
                <a:lnTo>
                  <a:pt x="50800" y="0"/>
                </a:lnTo>
                <a:lnTo>
                  <a:pt x="50800" y="766366"/>
                </a:lnTo>
                <a:close/>
              </a:path>
            </a:pathLst>
          </a:custGeom>
          <a:solidFill>
            <a:srgbClr val="273003"/>
          </a:solidFill>
          <a:ln/>
        </p:spPr>
      </p:sp>
      <p:sp>
        <p:nvSpPr>
          <p:cNvPr id="15" name="Text 13"/>
          <p:cNvSpPr/>
          <p:nvPr/>
        </p:nvSpPr>
        <p:spPr>
          <a:xfrm>
            <a:off x="1041400" y="4044752"/>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Resumable</a:t>
            </a:r>
            <a:endParaRPr lang="en-US" sz="1400" dirty="0"/>
          </a:p>
        </p:txBody>
      </p:sp>
      <p:sp>
        <p:nvSpPr>
          <p:cNvPr id="16" name="Text 14"/>
          <p:cNvSpPr/>
          <p:nvPr/>
        </p:nvSpPr>
        <p:spPr>
          <a:xfrm>
            <a:off x="1041400" y="4308872"/>
            <a:ext cx="4944618"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322C"/>
                </a:solidFill>
                <a:latin typeface="Carlito" pitchFamily="34" charset="0"/>
                <a:ea typeface="Carlito" pitchFamily="34" charset="-122"/>
                <a:cs typeface="Carlito" pitchFamily="34" charset="-120"/>
              </a:rPr>
              <a:t>-resume</a:t>
            </a:r>
            <a:r>
              <a:rPr lang="en-US" sz="1300" dirty="0">
                <a:solidFill>
                  <a:srgbClr val="3A322C"/>
                </a:solidFill>
                <a:latin typeface="Carlito" pitchFamily="34" charset="0"/>
                <a:ea typeface="Carlito" pitchFamily="34" charset="-122"/>
                <a:cs typeface="Carlito" pitchFamily="34" charset="-120"/>
              </a:rPr>
              <a:t> reuses finished steps after a stop or a change.</a:t>
            </a:r>
            <a:endParaRPr lang="en-US" sz="1300" dirty="0"/>
          </a:p>
        </p:txBody>
      </p:sp>
      <p:sp>
        <p:nvSpPr>
          <p:cNvPr id="17" name="Shape 15"/>
          <p:cNvSpPr/>
          <p:nvPr/>
        </p:nvSpPr>
        <p:spPr>
          <a:xfrm>
            <a:off x="6172200" y="3905052"/>
            <a:ext cx="5207000" cy="766366"/>
          </a:xfrm>
          <a:prstGeom prst="roundRect">
            <a:avLst>
              <a:gd name="adj" fmla="val 6629"/>
            </a:avLst>
          </a:prstGeom>
          <a:solidFill>
            <a:srgbClr val="FFFFFF"/>
          </a:solidFill>
          <a:ln/>
        </p:spPr>
      </p:sp>
      <p:sp>
        <p:nvSpPr>
          <p:cNvPr id="18" name="Shape 16"/>
          <p:cNvSpPr/>
          <p:nvPr/>
        </p:nvSpPr>
        <p:spPr>
          <a:xfrm>
            <a:off x="6172200" y="3905052"/>
            <a:ext cx="5207000" cy="766366"/>
          </a:xfrm>
          <a:custGeom>
            <a:avLst/>
            <a:gdLst/>
            <a:ahLst/>
            <a:cxnLst/>
            <a:rect l="l" t="t" r="r" b="b"/>
            <a:pathLst>
              <a:path w="5207000" h="766366">
                <a:moveTo>
                  <a:pt x="50800" y="766366"/>
                </a:moveTo>
                <a:lnTo>
                  <a:pt x="50800" y="766366"/>
                </a:lnTo>
                <a:arcTo hR="50800" wR="50800" stAng="5400000" swAng="5400000"/>
                <a:lnTo>
                  <a:pt x="0" y="50800"/>
                </a:lnTo>
                <a:arcTo hR="50800" wR="50800" stAng="10800000" swAng="5400000"/>
                <a:lnTo>
                  <a:pt x="50800" y="0"/>
                </a:lnTo>
                <a:lnTo>
                  <a:pt x="50800" y="766366"/>
                </a:lnTo>
                <a:close/>
              </a:path>
            </a:pathLst>
          </a:custGeom>
          <a:solidFill>
            <a:srgbClr val="273003"/>
          </a:solidFill>
          <a:ln/>
        </p:spPr>
      </p:sp>
      <p:sp>
        <p:nvSpPr>
          <p:cNvPr id="19" name="Text 17"/>
          <p:cNvSpPr/>
          <p:nvPr/>
        </p:nvSpPr>
        <p:spPr>
          <a:xfrm>
            <a:off x="6400800" y="4044752"/>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Reads or assemblies</a:t>
            </a:r>
            <a:endParaRPr lang="en-US" sz="1400" dirty="0"/>
          </a:p>
        </p:txBody>
      </p:sp>
      <p:sp>
        <p:nvSpPr>
          <p:cNvPr id="20" name="Text 18"/>
          <p:cNvSpPr/>
          <p:nvPr/>
        </p:nvSpPr>
        <p:spPr>
          <a:xfrm>
            <a:off x="6400800" y="4308872"/>
            <a:ext cx="4944618"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Starts from FASTQ files or from contigs made elsewhere.</a:t>
            </a:r>
            <a:endParaRPr lang="en-US" sz="1300" dirty="0"/>
          </a:p>
        </p:txBody>
      </p:sp>
      <p:pic>
        <p:nvPicPr>
          <p:cNvPr id="21"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2"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7300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9F2EA"/>
                </a:solidFill>
                <a:latin typeface="Carlito" pitchFamily="34" charset="0"/>
                <a:ea typeface="Carlito" pitchFamily="34" charset="-122"/>
                <a:cs typeface="Carlito" pitchFamily="34" charset="-120"/>
              </a:rPr>
              <a:t>Key messages</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sp>
      <p:sp>
        <p:nvSpPr>
          <p:cNvPr id="4" name="Text 2"/>
          <p:cNvSpPr/>
          <p:nvPr/>
        </p:nvSpPr>
        <p:spPr>
          <a:xfrm>
            <a:off x="812800" y="1760190"/>
            <a:ext cx="20528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60190"/>
            <a:ext cx="5125606"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9F2EA"/>
                </a:solidFill>
                <a:latin typeface="Carlito" pitchFamily="34" charset="0"/>
                <a:ea typeface="Carlito" pitchFamily="34" charset="-122"/>
                <a:cs typeface="Carlito" pitchFamily="34" charset="-120"/>
              </a:rPr>
              <a:t>Quality first.</a:t>
            </a:r>
            <a:r>
              <a:rPr lang="en-US" sz="1600" dirty="0">
                <a:solidFill>
                  <a:srgbClr val="F9F2EA"/>
                </a:solidFill>
                <a:latin typeface="Carlito" pitchFamily="34" charset="0"/>
                <a:ea typeface="Carlito" pitchFamily="34" charset="-122"/>
                <a:cs typeface="Carlito" pitchFamily="34" charset="-120"/>
              </a:rPr>
              <a:t> Contaminated or low-coverage data give wrong answers at every later step.</a:t>
            </a:r>
            <a:endParaRPr lang="en-US" sz="1600" dirty="0"/>
          </a:p>
        </p:txBody>
      </p:sp>
      <p:sp>
        <p:nvSpPr>
          <p:cNvPr id="6" name="Text 4"/>
          <p:cNvSpPr/>
          <p:nvPr/>
        </p:nvSpPr>
        <p:spPr>
          <a:xfrm>
            <a:off x="6096000" y="1760190"/>
            <a:ext cx="20528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6402884" y="1760190"/>
            <a:ext cx="5125606"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9F2EA"/>
                </a:solidFill>
                <a:latin typeface="Carlito" pitchFamily="34" charset="0"/>
                <a:ea typeface="Carlito" pitchFamily="34" charset="-122"/>
                <a:cs typeface="Carlito" pitchFamily="34" charset="-120"/>
              </a:rPr>
              <a:t>Genes are predictions.</a:t>
            </a:r>
            <a:r>
              <a:rPr lang="en-US" sz="1600" dirty="0">
                <a:solidFill>
                  <a:srgbClr val="F9F2EA"/>
                </a:solidFill>
                <a:latin typeface="Carlito" pitchFamily="34" charset="0"/>
                <a:ea typeface="Carlito" pitchFamily="34" charset="-122"/>
                <a:cs typeface="Carlito" pitchFamily="34" charset="-120"/>
              </a:rPr>
              <a:t> Read them against lab AST and against intrinsic resistance.</a:t>
            </a:r>
            <a:endParaRPr lang="en-US" sz="1600" dirty="0"/>
          </a:p>
        </p:txBody>
      </p:sp>
      <p:sp>
        <p:nvSpPr>
          <p:cNvPr id="8" name="Text 6"/>
          <p:cNvSpPr/>
          <p:nvPr/>
        </p:nvSpPr>
        <p:spPr>
          <a:xfrm>
            <a:off x="812800" y="2308771"/>
            <a:ext cx="20528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2308771"/>
            <a:ext cx="5125606"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9F2EA"/>
                </a:solidFill>
                <a:latin typeface="Carlito" pitchFamily="34" charset="0"/>
                <a:ea typeface="Carlito" pitchFamily="34" charset="-122"/>
                <a:cs typeface="Carlito" pitchFamily="34" charset="-120"/>
              </a:rPr>
              <a:t>Context matters.</a:t>
            </a:r>
            <a:r>
              <a:rPr lang="en-US" sz="1600" dirty="0">
                <a:solidFill>
                  <a:srgbClr val="F9F2EA"/>
                </a:solidFill>
                <a:latin typeface="Carlito" pitchFamily="34" charset="0"/>
                <a:ea typeface="Carlito" pitchFamily="34" charset="-122"/>
                <a:cs typeface="Carlito" pitchFamily="34" charset="-120"/>
              </a:rPr>
              <a:t> The same gene on a plasmid can move between lineages.</a:t>
            </a:r>
            <a:endParaRPr lang="en-US" sz="1600" dirty="0"/>
          </a:p>
        </p:txBody>
      </p:sp>
      <p:sp>
        <p:nvSpPr>
          <p:cNvPr id="10" name="Text 8"/>
          <p:cNvSpPr/>
          <p:nvPr/>
        </p:nvSpPr>
        <p:spPr>
          <a:xfrm>
            <a:off x="6096000" y="2308771"/>
            <a:ext cx="20528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1" name="Text 9"/>
          <p:cNvSpPr/>
          <p:nvPr/>
        </p:nvSpPr>
        <p:spPr>
          <a:xfrm>
            <a:off x="6402884" y="2308771"/>
            <a:ext cx="5125606"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9F2EA"/>
                </a:solidFill>
                <a:latin typeface="Carlito" pitchFamily="34" charset="0"/>
                <a:ea typeface="Carlito" pitchFamily="34" charset="-122"/>
                <a:cs typeface="Carlito" pitchFamily="34" charset="-120"/>
              </a:rPr>
              <a:t>Genomics plus epidemiology.</a:t>
            </a:r>
            <a:r>
              <a:rPr lang="en-US" sz="1600" dirty="0">
                <a:solidFill>
                  <a:srgbClr val="F9F2EA"/>
                </a:solidFill>
                <a:latin typeface="Carlito" pitchFamily="34" charset="0"/>
                <a:ea typeface="Carlito" pitchFamily="34" charset="-122"/>
                <a:cs typeface="Carlito" pitchFamily="34" charset="-120"/>
              </a:rPr>
              <a:t> SNP distances flag links; ward and dates decide them.</a:t>
            </a:r>
            <a:endParaRPr lang="en-US" sz="16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8A"/>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8A"/>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p:bgPr>
    </p:bg>
    <p:spTree>
      <p:nvGrpSpPr>
        <p:cNvPr id="1" name=""/>
        <p:cNvGrpSpPr/>
        <p:nvPr/>
      </p:nvGrpSpPr>
      <p:grpSpPr>
        <a:xfrm>
          <a:off x="0" y="0"/>
          <a:ext cx="0" cy="0"/>
          <a:chOff x="0" y="0"/>
          <a:chExt cx="0" cy="0"/>
        </a:xfrm>
      </p:grpSpPr>
      <p:pic>
        <p:nvPicPr>
          <p:cNvPr id="2" name="Image 0" descr="ILRI and CGIAR logos">    </p:cNvPr>
          <p:cNvPicPr>
            <a:picLocks noChangeAspect="1"/>
          </p:cNvPicPr>
          <p:nvPr/>
        </p:nvPicPr>
        <p:blipFill>
          <a:blip r:embed="rId1"/>
          <a:srcRect l="0" r="0" t="-63" b="-63"/>
          <a:stretch/>
        </p:blipFill>
        <p:spPr>
          <a:xfrm>
            <a:off x="425450" y="393700"/>
            <a:ext cx="1790700" cy="508000"/>
          </a:xfrm>
          <a:prstGeom prst="rect">
            <a:avLst/>
          </a:prstGeom>
        </p:spPr>
      </p:pic>
      <p:sp>
        <p:nvSpPr>
          <p:cNvPr id="3" name="Text 0"/>
          <p:cNvSpPr/>
          <p:nvPr>
            <p:ph type="title"/>
          </p:nvPr>
        </p:nvSpPr>
        <p:spPr>
          <a:xfrm>
            <a:off x="812800" y="25400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1</a:t>
            </a:r>
            <a:r>
              <a:rPr lang="en-US" sz="2000" dirty="0">
                <a:solidFill>
                  <a:srgbClr val="3A322C"/>
                </a:solidFill>
                <a:latin typeface="Carlito" pitchFamily="34" charset="0"/>
                <a:ea typeface="Carlito" pitchFamily="34" charset="-122"/>
                <a:cs typeface="Carlito" pitchFamily="34" charset="-120"/>
              </a:rPr>
              <a:t> · The command line, software environments and read quality control</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Introduction to bacterial WGS and AMR bioinformatics</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theme/theme1.xml><?xml version="1.0" encoding="utf-8"?>
<a:theme xmlns:a="http://schemas.openxmlformats.org/drawingml/2006/main" name="Introduction to bacterial WGS and AMR bioinformatics">
  <a:themeElements>
    <a:clrScheme name="Introduction to bacterial WGS and AMR bioinformatics">
      <a:dk1>
        <a:srgbClr val="6D2637"/>
      </a:dk1>
      <a:lt1>
        <a:srgbClr val="F9F2EA"/>
      </a:lt1>
      <a:dk2>
        <a:srgbClr val="905964"/>
      </a:dk2>
      <a:lt2>
        <a:srgbClr val="EBDED8"/>
      </a:lt2>
      <a:accent1>
        <a:srgbClr val="273003"/>
      </a:accent1>
      <a:accent2>
        <a:srgbClr val="FFCE00"/>
      </a:accent2>
      <a:accent3>
        <a:srgbClr val="891F15"/>
      </a:accent3>
      <a:accent4>
        <a:srgbClr val="B9C08A"/>
      </a:accent4>
      <a:accent5>
        <a:srgbClr val="E3B5A8"/>
      </a:accent5>
      <a:accent6>
        <a:srgbClr val="F1D3C9"/>
      </a:accent6>
      <a:hlink>
        <a:srgbClr val="0563C1"/>
      </a:hlink>
      <a:folHlink>
        <a:srgbClr val="954F72"/>
      </a:folHlink>
    </a:clrScheme>
    <a:fontScheme name="Introduction to bacterial WGS and AMR bioinformatics">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bacterial WGS and AMR bioinformatics</dc:title>
  <dc:subject/>
  <dc:creator/>
  <cp:lastModifiedBy/>
  <cp:revision>1</cp:revision>
  <dcterms:created xsi:type="dcterms:W3CDTF">2026-10-20T07:31:02Z</dcterms:created>
  <dcterms:modified xsi:type="dcterms:W3CDTF">2026-10-20T07:31:02Z</dcterms:modified>
</cp:coreProperties>
</file>