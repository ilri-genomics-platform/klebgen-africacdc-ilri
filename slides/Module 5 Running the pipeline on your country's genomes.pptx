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1286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5 afternoon. Everything trainees have done by hand since Day 1 is in one Nextflow pipeline, neonatal-amr-nf. Session 3 shows how it is built and runs a test. Session 4 runs it on real data: each country's own assemblies, one run per country and species.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uses the pipeline on test data, so everyone can follow at the same time. Session 4 is the real thing: each country team prepares its own inputs, and one run per country and species is submitted to the HPC, by one participant per country or by a trainer on the country's behalf.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 is Session 3. Objectives 2 to 4 are Session 4, on each country's own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A pipeline makes the analysis repeatable: the same steps, the same software versions and the same settings for every isolate and every country. Nextflow runs each step as its own job, keeps track of what has finished, and can resume after a stop.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figure from the pipeline README, laid out left to right. The names in capitals are the Nextflow processes you will see in the progress log. Each box is a subworkflow, and the module numbers match the course days: read QC on Day 1, assembly on Day 2, typing and AMR on Days 3 to 5, phylogeny on Days 6 and 7, capsule types on Day 8. Kleborate's species and ST decide the phylogeny groups: one tree per ST. The dashed boxes are switched on with the options shown.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inside one module: cat modules/local/kleborate/main.nf and environment.yml in $SHARED/neonatal-amr-nf. nf-core modules are shared by the whole community and updated centrally; local modules follow the same layout for tools nf-core does not cover yet, such as Kleborate version 3 and Autocycler.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images use_tools has used all week. If an image is missing, the run stops before it starts with a message saying so: tell a trainer; it cannot be fixed from a participant account, by design. MANIFEST.tsv in the containers folder records where each image came from.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runs this on the head node: it is light. Compare the folder tree it creates with the workflow figure: one folder per stage, numbered in course order.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fastp re-runs, because its command changed. Every step that uses the trimmed Illumina reads, directly or indirectly, also re-runs: Shovill, short-read polishing, typing, AMR, plasmids, phylogeny and MultiQC. Steps that use only the Nanopore reads (Filtlong, NanoPlot, Autocycler, Medaka) and the AMRFinderPlus database download are reused from the cache. -resume is what lets a stopped country run continue later without repeating finished 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Each country team brings genomes that were already assembled at home, as contigs, with a metadata table. The pipeline starts from the contigs, so read QC and assembly are skipped. Most of the session is preparing the inputs correctly; the run itself is one command.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workflow as before, with the steps that need reads crossed out. --input_type auto is the default: a samplesheet with a fasta column is an assembly run. Because there are no reads, there is no Kraken2 contamination check and no read-level QC; the checks that replace them come later in this session. SNPs called from contigs are only as good as the assemblies.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one submitter: every run starts many Slurm jobs, and participant accounts have limited computing allowances. Two people submitting the same country would double the load and write two copies of the results. A run is named country_species (for example kenya_kpneumoniae), so each has its own output folder and its own resume history. Whoever submits, the inputs are the country team's work, and so is reading the results.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inputs, one script, three outputs per species split. &lt;species&gt; is kpneumoniae or ecoli. Isolates of any other organism, for example Acinetobacter, are written to the other-species list with their contigs path; the pipeline does not type them. The next three slides cover the contigs, the metadata and the script in turn.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looks for &lt;ID&gt;_contigs.fasta first, then &lt;ID&gt;.fasta, .fa, .fna, _contigs.fa and _contigs.fna; another pattern can be set with --suffix. Compressed files are reported, not used: unzip them with gunzip first, because not every tool reads gzipped contigs. The pipeline itself refuses duplicate IDs and IDs with spaces or slashes, so fix them in the metadata and file names before you start. The IDs here are examples.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rows are made-up examples, not real isolates. The defaults match the Ethiopia table; every other country maps its own column names with the options at the bottom, so nobody needs to rename columns by hand. Months can be numbers or names; a missing day gives a year-month date. A single date column must be written YYYY-MM-DD (or YYYY-MM); a date such as 14/03/2023 keeps only its year. Organism spellings such as K. pneumoniae, Klebsiella pneumoniae, E. coli and Escherichia coli are all recognised; ETH003 here would go to the other-species list. Every original column is kept in the metadata the script writes, so nothing is lost. Do not put patient names or record numbers in this 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assumes a table with columns sample_id, organism, collection_date and ward; replace them with your own column names. The contigs folder path is an example too: use wherever your country's contigs are on the HPC. The script never drops an isolate silently: anything it leaves out is printed with the reason. Fix the problems and run it again until the messages are only the ones you expect, such as non-Klebsiella organisms.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both files and check them before submitting: the number of rows, the paths, and that the dates and wards came through. head and column -t make the TSV readable. The sample IDs here are made up. The E. coli files have the same layout. If your country has its own grouping, for example a known outbreak, --group-col fills phylo_group, and the run then needs --phylo_grouping samplesheet.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submission script reads its settings from environment variables, so the exports set the country and species without editing the script. Replace the e-mail address with your own: the script's default sends Slurm messages to the course organiser. When a trainer submits on a country's behalf, it is the same commands from the trainer's account, with INPUT pointing to the country's checked samplesheet; results then land in the trainer's scratch folder (/var/scratch/global/&lt;trainer&gt;/neonatal-amr/outdir_&lt;country&gt;_&lt;species&gt;) and are shared back. The run uses the shared AMRFinderPlus database and Snippy by default; PHYLO_METHOD=both also runs SKA2.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name has its own launch folder, so a resubmission always resumes the right run; never change RUN_NAME between attempts. A country run on a few dozen genomes takes hours, not minutes; the job keeps running after you log out, so there is no need to stay connected. The pipeline_info folder has an execution report: which step took longest and used most memory.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checks as Day 2, now on assemblies made elsewhere. If the original reads exist, a read run of those isolates adds the contamination check. A genome that fails these checks can still be typed, but should be left out of transmission analysis and reported as uncertain.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folder matches a day of hand work, so trainees already know how to read each result. A phylogeny group needs at least 3 isolates of one ST for a tree (--phylo_min_group_size); a country with few isolates per ST may get few or no trees. pipeline_info/software_versions records exactly which tool versions produced the results: keep it with any report.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settings are at the top of bin/plot_results.sbatch, which runs the transmission pairs, the figures and, optionally, BactDating after the pipeline. The training set stays the teaching example on the following days; each country team then repeats the analysis on its own results.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with each country team at the start of the session who may see its results and where they will be kept after the course. Ward and date are needed for the transmission analysis inside the team, but they can identify patients in a small neonatal unit, so they stay inside the team.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QUAST (size, contigs, N50), Kleborate's species, contig statistics and QC warnings, and the MultiQC overview. 2: the samplesheet script leaves it out and lists it in samplesheet_assemblies_other_species.tsv with its contigs path; the pipeline types only the K. pneumoniae complex and E. coli. 3: submit exactly the same command again, with the same RUN_NAME: the run starts in the same launch folder and -resume reuses every finished step. 4: one submitter avoids duplicate runs and saves the limited computing allowance; one run per species gives each its own output folder, metadata and figures.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Country runs will usually finish overnight. Start Day 6 by checking each run's log and the QC slide's checks before moving to the trees.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pipeline runs everything from Days 1 to 5 in one command, and each country now has its own run on its own genomes.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a:effectLst/>
      </p:bgPr>
    </p:bg>
    <p:spTree>
      <p:nvGrpSpPr>
        <p:cNvPr id="1" name=""/>
        <p:cNvGrpSpPr/>
        <p:nvPr/>
      </p:nvGrpSpPr>
      <p:grpSpPr>
        <a:xfrm>
          <a:off x="0" y="0"/>
          <a:ext cx="0" cy="0"/>
          <a:chOff x="0" y="0"/>
          <a:chExt cx="0" cy="0"/>
        </a:xfrm>
      </p:grpSpPr>
      <p:pic>
        <p:nvPicPr>
          <p:cNvPr id="2" name="Image 0" descr="Pastoralists walking with their cattle at dawn"/>
          <p:cNvPicPr>
            <a:picLocks noChangeAspect="1"/>
          </p:cNvPicPr>
          <p:nvPr/>
        </p:nvPicPr>
        <p:blipFill>
          <a:blip r:embed="rId3"/>
          <a:srcRect/>
          <a:stretch/>
        </p:blipFill>
        <p:spPr>
          <a:xfrm>
            <a:off x="6096000" y="0"/>
            <a:ext cx="6096000" cy="6858000"/>
          </a:xfrm>
          <a:prstGeom prst="rect">
            <a:avLst/>
          </a:prstGeom>
        </p:spPr>
      </p:pic>
      <p:pic>
        <p:nvPicPr>
          <p:cNvPr id="3" name="Image 1" descr="ILRI and CGIAR logos"/>
          <p:cNvPicPr>
            <a:picLocks noChangeAspect="1"/>
          </p:cNvPicPr>
          <p:nvPr/>
        </p:nvPicPr>
        <p:blipFill>
          <a:blip r:embed="rId4"/>
          <a:srcRect l="-36" r="-36"/>
          <a:stretch/>
        </p:blipFill>
        <p:spPr>
          <a:xfrm>
            <a:off x="368300" y="336550"/>
            <a:ext cx="2984500" cy="806450"/>
          </a:xfrm>
          <a:prstGeom prst="rect">
            <a:avLst/>
          </a:prstGeom>
        </p:spPr>
      </p:pic>
      <p:sp>
        <p:nvSpPr>
          <p:cNvPr id="4" name="Text 0"/>
          <p:cNvSpPr/>
          <p:nvPr/>
        </p:nvSpPr>
        <p:spPr>
          <a:xfrm>
            <a:off x="0" y="222126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MODULE 5 · DAY 5 AFTERNOON</a:t>
            </a:r>
            <a:endParaRPr lang="en-US" sz="1600" dirty="0"/>
          </a:p>
        </p:txBody>
      </p:sp>
      <p:sp>
        <p:nvSpPr>
          <p:cNvPr id="5" name="Text 1"/>
          <p:cNvSpPr>
            <a:spLocks noGrp="1"/>
          </p:cNvSpPr>
          <p:nvPr>
            <p:ph type="title"/>
          </p:nvPr>
        </p:nvSpPr>
        <p:spPr>
          <a:xfrm>
            <a:off x="0" y="2708920"/>
            <a:ext cx="12557760" cy="71879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9F2EA"/>
                </a:solidFill>
                <a:latin typeface="Carlito" pitchFamily="34" charset="0"/>
                <a:ea typeface="Carlito" pitchFamily="34" charset="-122"/>
                <a:cs typeface="Carlito" pitchFamily="34" charset="-120"/>
              </a:rPr>
              <a:t>Running the pipeline</a:t>
            </a:r>
            <a:endParaRPr lang="en-US" sz="5200" dirty="0"/>
          </a:p>
        </p:txBody>
      </p:sp>
      <p:sp>
        <p:nvSpPr>
          <p:cNvPr id="6" name="Text 2"/>
          <p:cNvSpPr/>
          <p:nvPr/>
        </p:nvSpPr>
        <p:spPr>
          <a:xfrm>
            <a:off x="0" y="360551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9F2EA"/>
                </a:solidFill>
                <a:latin typeface="Carlito" pitchFamily="34" charset="0"/>
                <a:ea typeface="Carlito" pitchFamily="34" charset="-122"/>
                <a:cs typeface="Carlito" pitchFamily="34" charset="-120"/>
              </a:rPr>
              <a:t>From your country's assemblies and metadata to typed, resistance-profiled genomes and trees</a:t>
            </a:r>
            <a:endParaRPr lang="en-US" sz="2000" dirty="0"/>
          </a:p>
        </p:txBody>
      </p:sp>
      <p:sp>
        <p:nvSpPr>
          <p:cNvPr id="7" name="Text 3"/>
          <p:cNvSpPr/>
          <p:nvPr/>
        </p:nvSpPr>
        <p:spPr>
          <a:xfrm>
            <a:off x="0" y="4138910"/>
            <a:ext cx="125577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5 · Running the pipeline | Day 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Day 5 afternoon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1318023"/>
        </p:xfrm>
        <a:graphic>
          <a:graphicData uri="http://schemas.openxmlformats.org/drawingml/2006/table">
            <a:tbl>
              <a:tblPr/>
              <a:tblGrid>
                <a:gridCol w="1477518">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6965442">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Session</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Time</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Topic</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3</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13:30–15:00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The course pipeline: workflow, structure, software; a test run</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4</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15:30–17:00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Run the pipeline on your country's assemblies; read its reports</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Shape 2"/>
          <p:cNvSpPr/>
          <p:nvPr/>
        </p:nvSpPr>
        <p:spPr>
          <a:xfrm>
            <a:off x="812800" y="3294112"/>
            <a:ext cx="10566400" cy="975320"/>
          </a:xfrm>
          <a:prstGeom prst="roundRect">
            <a:avLst>
              <a:gd name="adj" fmla="val 7813"/>
            </a:avLst>
          </a:prstGeom>
          <a:solidFill>
            <a:srgbClr val="273003"/>
          </a:solidFill>
          <a:ln/>
        </p:spPr>
        <p:txBody>
          <a:bodyPr/>
          <a:lstStyle/>
          <a:p>
            <a:endParaRPr lang="en-KE"/>
          </a:p>
        </p:txBody>
      </p:sp>
      <p:sp>
        <p:nvSpPr>
          <p:cNvPr id="6" name="Text 3"/>
          <p:cNvSpPr/>
          <p:nvPr/>
        </p:nvSpPr>
        <p:spPr>
          <a:xfrm>
            <a:off x="1066800" y="3639542"/>
            <a:ext cx="1390948" cy="309860"/>
          </a:xfrm>
          <a:prstGeom prst="rect">
            <a:avLst/>
          </a:prstGeom>
          <a:noFill/>
          <a:ln/>
        </p:spPr>
        <p:txBody>
          <a:bodyPr wrap="none" lIns="0" tIns="0" rIns="0" bIns="0" rtlCol="0" anchor="t">
            <a:normAutofit/>
          </a:bodyPr>
          <a:lstStyle/>
          <a:p>
            <a:pPr marL="0" indent="0" algn="l">
              <a:lnSpc>
                <a:spcPts val="2240"/>
              </a:lnSpc>
              <a:buNone/>
            </a:pPr>
            <a:r>
              <a:rPr lang="en-US" sz="1600" b="1" dirty="0">
                <a:solidFill>
                  <a:srgbClr val="FFCE00"/>
                </a:solidFill>
                <a:latin typeface="Carlito" pitchFamily="34" charset="0"/>
                <a:ea typeface="Carlito" pitchFamily="34" charset="-122"/>
                <a:cs typeface="Carlito" pitchFamily="34" charset="-120"/>
              </a:rPr>
              <a:t>You will produce</a:t>
            </a:r>
            <a:endParaRPr lang="en-US" sz="1600" dirty="0"/>
          </a:p>
        </p:txBody>
      </p:sp>
      <p:sp>
        <p:nvSpPr>
          <p:cNvPr id="7" name="Text 4"/>
          <p:cNvSpPr/>
          <p:nvPr/>
        </p:nvSpPr>
        <p:spPr>
          <a:xfrm>
            <a:off x="2559348" y="3497312"/>
            <a:ext cx="8822828"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9F2EA"/>
                </a:solidFill>
                <a:latin typeface="Carlito" pitchFamily="34" charset="0"/>
                <a:ea typeface="Carlito" pitchFamily="34" charset="-122"/>
                <a:cs typeface="Carlito" pitchFamily="34" charset="-120"/>
              </a:rPr>
              <a:t>a samplesheet and metadata table for your country, and a complete pipeline run on your country's genomes</a:t>
            </a:r>
            <a:endParaRPr lang="en-US" sz="1600" dirty="0"/>
          </a:p>
        </p:txBody>
      </p:sp>
      <p:sp>
        <p:nvSpPr>
          <p:cNvPr id="8" name="Shape 5"/>
          <p:cNvSpPr/>
          <p:nvPr/>
        </p:nvSpPr>
        <p:spPr>
          <a:xfrm>
            <a:off x="838200" y="4523432"/>
            <a:ext cx="0" cy="358775"/>
          </a:xfrm>
          <a:prstGeom prst="line">
            <a:avLst/>
          </a:prstGeom>
          <a:noFill/>
          <a:ln w="50800">
            <a:solidFill>
              <a:srgbClr val="891F15"/>
            </a:solidFill>
            <a:prstDash val="solid"/>
          </a:ln>
        </p:spPr>
        <p:txBody>
          <a:bodyPr/>
          <a:lstStyle/>
          <a:p>
            <a:endParaRPr lang="en-KE"/>
          </a:p>
        </p:txBody>
      </p:sp>
      <p:sp>
        <p:nvSpPr>
          <p:cNvPr id="9" name="Text 6"/>
          <p:cNvSpPr/>
          <p:nvPr/>
        </p:nvSpPr>
        <p:spPr>
          <a:xfrm>
            <a:off x="1041400" y="4574232"/>
            <a:ext cx="7662298"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Bring: your country's </a:t>
            </a:r>
            <a:r>
              <a:rPr lang="en-US" sz="1500" b="1" dirty="0">
                <a:solidFill>
                  <a:srgbClr val="3A322C"/>
                </a:solidFill>
                <a:latin typeface="Carlito" pitchFamily="34" charset="0"/>
                <a:ea typeface="Carlito" pitchFamily="34" charset="-122"/>
                <a:cs typeface="Carlito" pitchFamily="34" charset="-120"/>
              </a:rPr>
              <a:t>contigs</a:t>
            </a:r>
            <a:r>
              <a:rPr lang="en-US" sz="1500" dirty="0">
                <a:solidFill>
                  <a:srgbClr val="3A322C"/>
                </a:solidFill>
                <a:latin typeface="Carlito" pitchFamily="34" charset="0"/>
                <a:ea typeface="Carlito" pitchFamily="34" charset="-122"/>
                <a:cs typeface="Carlito" pitchFamily="34" charset="-120"/>
              </a:rPr>
              <a:t> (one FASTA per isolate) and a </a:t>
            </a:r>
            <a:r>
              <a:rPr lang="en-US" sz="1500" b="1" dirty="0">
                <a:solidFill>
                  <a:srgbClr val="3A322C"/>
                </a:solidFill>
                <a:latin typeface="Carlito" pitchFamily="34" charset="0"/>
                <a:ea typeface="Carlito" pitchFamily="34" charset="-122"/>
                <a:cs typeface="Carlito" pitchFamily="34" charset="-120"/>
              </a:rPr>
              <a:t>metadata table</a:t>
            </a:r>
            <a:r>
              <a:rPr lang="en-US" sz="1500" dirty="0">
                <a:solidFill>
                  <a:srgbClr val="3A322C"/>
                </a:solidFill>
                <a:latin typeface="Carlito" pitchFamily="34" charset="0"/>
                <a:ea typeface="Carlito" pitchFamily="34" charset="-122"/>
                <a:cs typeface="Carlito" pitchFamily="34" charset="-120"/>
              </a:rPr>
              <a:t> (one row per isolate).</a:t>
            </a:r>
            <a:endParaRPr lang="en-US" sz="1500" dirty="0"/>
          </a:p>
        </p:txBody>
      </p:sp>
      <p:pic>
        <p:nvPicPr>
          <p:cNvPr id="10"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1" name="Text 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2"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a:effectLst/>
      </p:bgPr>
    </p:bg>
    <p:spTree>
      <p:nvGrpSpPr>
        <p:cNvPr id="1" name=""/>
        <p:cNvGrpSpPr/>
        <p:nvPr/>
      </p:nvGrpSpPr>
      <p:grpSpPr>
        <a:xfrm>
          <a:off x="0" y="0"/>
          <a:ext cx="0" cy="0"/>
          <a:chOff x="0" y="0"/>
          <a:chExt cx="0" cy="0"/>
        </a:xfrm>
      </p:grpSpPr>
      <p:sp>
        <p:nvSpPr>
          <p:cNvPr id="2" name="Shape 0"/>
          <p:cNvSpPr/>
          <p:nvPr/>
        </p:nvSpPr>
        <p:spPr>
          <a:xfrm>
            <a:off x="336550" y="692150"/>
            <a:ext cx="10148570" cy="1155005"/>
          </a:xfrm>
          <a:prstGeom prst="rect">
            <a:avLst/>
          </a:prstGeom>
          <a:solidFill>
            <a:srgbClr val="273003"/>
          </a:solidFill>
          <a:ln/>
        </p:spPr>
        <p:txBody>
          <a:bodyPr/>
          <a:lstStyle/>
          <a:p>
            <a:endParaRPr lang="en-KE"/>
          </a:p>
        </p:txBody>
      </p:sp>
      <p:sp>
        <p:nvSpPr>
          <p:cNvPr id="3" name="Text 1"/>
          <p:cNvSpPr>
            <a:spLocks noGrp="1"/>
          </p:cNvSpPr>
          <p:nvPr>
            <p:ph type="title"/>
          </p:nvPr>
        </p:nvSpPr>
        <p:spPr>
          <a:xfrm>
            <a:off x="742950" y="1098550"/>
            <a:ext cx="6805930" cy="51871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By the end of today you can</a:t>
            </a:r>
            <a:endParaRPr lang="en-US" sz="3600" dirty="0"/>
          </a:p>
        </p:txBody>
      </p:sp>
      <p:sp>
        <p:nvSpPr>
          <p:cNvPr id="4" name="Text 2"/>
          <p:cNvSpPr/>
          <p:nvPr/>
        </p:nvSpPr>
        <p:spPr>
          <a:xfrm>
            <a:off x="742950" y="5121970"/>
            <a:ext cx="336181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CA6E"/>
                </a:solidFill>
                <a:latin typeface="Carlito" pitchFamily="34" charset="0"/>
                <a:ea typeface="Carlito" pitchFamily="34" charset="-122"/>
                <a:cs typeface="Carlito" pitchFamily="34" charset="-120"/>
              </a:rPr>
              <a:t>Input: your country's assemblies (contigs) and metadata</a:t>
            </a:r>
            <a:endParaRPr lang="en-US" sz="1400" dirty="0"/>
          </a:p>
        </p:txBody>
      </p:sp>
      <p:sp>
        <p:nvSpPr>
          <p:cNvPr id="5" name="Shape 3"/>
          <p:cNvSpPr/>
          <p:nvPr/>
        </p:nvSpPr>
        <p:spPr>
          <a:xfrm>
            <a:off x="0" y="2644180"/>
            <a:ext cx="12192000" cy="0"/>
          </a:xfrm>
          <a:prstGeom prst="line">
            <a:avLst/>
          </a:prstGeom>
          <a:noFill/>
          <a:ln w="12700">
            <a:solidFill>
              <a:srgbClr val="D9CDBF"/>
            </a:solidFill>
            <a:prstDash val="solid"/>
          </a:ln>
        </p:spPr>
        <p:txBody>
          <a:bodyPr/>
          <a:lstStyle/>
          <a:p>
            <a:endParaRPr lang="en-KE"/>
          </a:p>
        </p:txBody>
      </p:sp>
      <p:sp>
        <p:nvSpPr>
          <p:cNvPr id="6" name="Text 4"/>
          <p:cNvSpPr/>
          <p:nvPr/>
        </p:nvSpPr>
        <p:spPr>
          <a:xfrm>
            <a:off x="0" y="2094309"/>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1</a:t>
            </a:r>
            <a:endParaRPr lang="en-US" sz="2200" dirty="0"/>
          </a:p>
        </p:txBody>
      </p:sp>
      <p:sp>
        <p:nvSpPr>
          <p:cNvPr id="7" name="Text 5"/>
          <p:cNvSpPr/>
          <p:nvPr/>
        </p:nvSpPr>
        <p:spPr>
          <a:xfrm>
            <a:off x="319435" y="2094309"/>
            <a:ext cx="1024503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Explain how the course pipeline is organised: nf-core modules, local modules, subworkflows and configuration.</a:t>
            </a:r>
            <a:endParaRPr lang="en-US" sz="1500" dirty="0"/>
          </a:p>
        </p:txBody>
      </p:sp>
      <p:sp>
        <p:nvSpPr>
          <p:cNvPr id="8" name="Shape 6"/>
          <p:cNvSpPr/>
          <p:nvPr/>
        </p:nvSpPr>
        <p:spPr>
          <a:xfrm>
            <a:off x="0" y="3352800"/>
            <a:ext cx="12192000" cy="0"/>
          </a:xfrm>
          <a:prstGeom prst="line">
            <a:avLst/>
          </a:prstGeom>
          <a:noFill/>
          <a:ln w="12700">
            <a:solidFill>
              <a:srgbClr val="D9CDBF"/>
            </a:solidFill>
            <a:prstDash val="solid"/>
          </a:ln>
        </p:spPr>
        <p:txBody>
          <a:bodyPr/>
          <a:lstStyle/>
          <a:p>
            <a:endParaRPr lang="en-KE"/>
          </a:p>
        </p:txBody>
      </p:sp>
      <p:sp>
        <p:nvSpPr>
          <p:cNvPr id="9" name="Text 7"/>
          <p:cNvSpPr/>
          <p:nvPr/>
        </p:nvSpPr>
        <p:spPr>
          <a:xfrm>
            <a:off x="0" y="280293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2</a:t>
            </a:r>
            <a:endParaRPr lang="en-US" sz="2200" dirty="0"/>
          </a:p>
        </p:txBody>
      </p:sp>
      <p:sp>
        <p:nvSpPr>
          <p:cNvPr id="10" name="Text 8"/>
          <p:cNvSpPr/>
          <p:nvPr/>
        </p:nvSpPr>
        <p:spPr>
          <a:xfrm>
            <a:off x="319435" y="2802930"/>
            <a:ext cx="6631424"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Prepare a samplesheet and metadata table from your country's contigs.</a:t>
            </a:r>
            <a:endParaRPr lang="en-US" sz="1500" dirty="0"/>
          </a:p>
        </p:txBody>
      </p:sp>
      <p:sp>
        <p:nvSpPr>
          <p:cNvPr id="11" name="Shape 9"/>
          <p:cNvSpPr/>
          <p:nvPr/>
        </p:nvSpPr>
        <p:spPr>
          <a:xfrm>
            <a:off x="0" y="4061420"/>
            <a:ext cx="12192000" cy="0"/>
          </a:xfrm>
          <a:prstGeom prst="line">
            <a:avLst/>
          </a:prstGeom>
          <a:noFill/>
          <a:ln w="12700">
            <a:solidFill>
              <a:srgbClr val="D9CDBF"/>
            </a:solidFill>
            <a:prstDash val="solid"/>
          </a:ln>
        </p:spPr>
        <p:txBody>
          <a:bodyPr/>
          <a:lstStyle/>
          <a:p>
            <a:endParaRPr lang="en-KE"/>
          </a:p>
        </p:txBody>
      </p:sp>
      <p:sp>
        <p:nvSpPr>
          <p:cNvPr id="12" name="Text 10"/>
          <p:cNvSpPr/>
          <p:nvPr/>
        </p:nvSpPr>
        <p:spPr>
          <a:xfrm>
            <a:off x="0" y="351155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3</a:t>
            </a:r>
            <a:endParaRPr lang="en-US" sz="2200" dirty="0"/>
          </a:p>
        </p:txBody>
      </p:sp>
      <p:sp>
        <p:nvSpPr>
          <p:cNvPr id="13" name="Text 11"/>
          <p:cNvSpPr/>
          <p:nvPr/>
        </p:nvSpPr>
        <p:spPr>
          <a:xfrm>
            <a:off x="319435" y="3511550"/>
            <a:ext cx="894332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Submit the run (or have a trainer submit it), follow it, resume it after a stop, and find each result.</a:t>
            </a:r>
            <a:endParaRPr lang="en-US" sz="1500" dirty="0"/>
          </a:p>
        </p:txBody>
      </p:sp>
      <p:sp>
        <p:nvSpPr>
          <p:cNvPr id="14" name="Text 12"/>
          <p:cNvSpPr/>
          <p:nvPr/>
        </p:nvSpPr>
        <p:spPr>
          <a:xfrm>
            <a:off x="0" y="422017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4</a:t>
            </a:r>
            <a:endParaRPr lang="en-US" sz="2200" dirty="0"/>
          </a:p>
        </p:txBody>
      </p:sp>
      <p:sp>
        <p:nvSpPr>
          <p:cNvPr id="15" name="Text 13"/>
          <p:cNvSpPr/>
          <p:nvPr/>
        </p:nvSpPr>
        <p:spPr>
          <a:xfrm>
            <a:off x="319435" y="4220170"/>
            <a:ext cx="6185059"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Say which checks replace read QC when you start from assemblies.</a:t>
            </a:r>
            <a:endParaRPr lang="en-US" sz="1500" dirty="0"/>
          </a:p>
        </p:txBody>
      </p:sp>
      <p:sp>
        <p:nvSpPr>
          <p:cNvPr id="16" name="Text 14"/>
          <p:cNvSpPr/>
          <p:nvPr/>
        </p:nvSpPr>
        <p:spPr>
          <a:xfrm>
            <a:off x="812800" y="6238280"/>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SESSION 3 · 13:30–15:00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The course pipeline</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Everything you ran by hand since Day 1, in one command: neonatal-amr-nf</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5 · Running the pipeline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workflow</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607790"/>
            <a:ext cx="10566400" cy="408930"/>
          </a:xfrm>
          <a:prstGeom prst="roundRect">
            <a:avLst>
              <a:gd name="adj" fmla="val 12423"/>
            </a:avLst>
          </a:prstGeom>
          <a:solidFill>
            <a:srgbClr val="273003"/>
          </a:solidFill>
          <a:ln/>
        </p:spPr>
        <p:txBody>
          <a:bodyPr/>
          <a:lstStyle/>
          <a:p>
            <a:endParaRPr lang="en-KE"/>
          </a:p>
        </p:txBody>
      </p:sp>
      <p:sp>
        <p:nvSpPr>
          <p:cNvPr id="5" name="Text 3"/>
          <p:cNvSpPr/>
          <p:nvPr/>
        </p:nvSpPr>
        <p:spPr>
          <a:xfrm>
            <a:off x="990600" y="1705570"/>
            <a:ext cx="55268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INPUT</a:t>
            </a:r>
            <a:endParaRPr lang="en-US" sz="1200" dirty="0"/>
          </a:p>
        </p:txBody>
      </p:sp>
      <p:sp>
        <p:nvSpPr>
          <p:cNvPr id="6" name="Text 4"/>
          <p:cNvSpPr/>
          <p:nvPr/>
        </p:nvSpPr>
        <p:spPr>
          <a:xfrm>
            <a:off x="1578173" y="1696690"/>
            <a:ext cx="6024979"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9F2EA"/>
                </a:solidFill>
                <a:latin typeface="Carlito" pitchFamily="34" charset="0"/>
                <a:ea typeface="Carlito" pitchFamily="34" charset="-122"/>
                <a:cs typeface="Carlito" pitchFamily="34" charset="-120"/>
              </a:rPr>
              <a:t>Illumina reads, ONT reads (optional) </a:t>
            </a:r>
            <a:r>
              <a:rPr lang="en-US" sz="1300" b="1" dirty="0">
                <a:solidFill>
                  <a:srgbClr val="F9F2EA"/>
                </a:solidFill>
                <a:latin typeface="Carlito" pitchFamily="34" charset="0"/>
                <a:ea typeface="Carlito" pitchFamily="34" charset="-122"/>
                <a:cs typeface="Carlito" pitchFamily="34" charset="-120"/>
              </a:rPr>
              <a:t>or</a:t>
            </a:r>
            <a:r>
              <a:rPr lang="en-US" sz="1300" dirty="0">
                <a:solidFill>
                  <a:srgbClr val="F9F2EA"/>
                </a:solidFill>
                <a:latin typeface="Carlito" pitchFamily="34" charset="0"/>
                <a:ea typeface="Carlito" pitchFamily="34" charset="-122"/>
                <a:cs typeface="Carlito" pitchFamily="34" charset="-120"/>
              </a:rPr>
              <a:t> assemblies (assembly samplesheet)</a:t>
            </a:r>
            <a:endParaRPr lang="en-US" sz="1300" dirty="0"/>
          </a:p>
        </p:txBody>
      </p:sp>
      <p:sp>
        <p:nvSpPr>
          <p:cNvPr id="7" name="Shape 5"/>
          <p:cNvSpPr/>
          <p:nvPr/>
        </p:nvSpPr>
        <p:spPr>
          <a:xfrm>
            <a:off x="812800" y="2169120"/>
            <a:ext cx="1869430" cy="2166392"/>
          </a:xfrm>
          <a:prstGeom prst="roundRect">
            <a:avLst>
              <a:gd name="adj" fmla="val 2717"/>
            </a:avLst>
          </a:prstGeom>
          <a:solidFill>
            <a:srgbClr val="FFFFFF"/>
          </a:solidFill>
          <a:ln/>
        </p:spPr>
        <p:txBody>
          <a:bodyPr/>
          <a:lstStyle/>
          <a:p>
            <a:endParaRPr lang="en-KE"/>
          </a:p>
        </p:txBody>
      </p:sp>
      <p:sp>
        <p:nvSpPr>
          <p:cNvPr id="8" name="Shape 6"/>
          <p:cNvSpPr/>
          <p:nvPr/>
        </p:nvSpPr>
        <p:spPr>
          <a:xfrm>
            <a:off x="812800" y="2169120"/>
            <a:ext cx="1869430" cy="2166392"/>
          </a:xfrm>
          <a:custGeom>
            <a:avLst/>
            <a:gdLst/>
            <a:ahLst/>
            <a:cxnLst/>
            <a:rect l="l" t="t" r="r" b="b"/>
            <a:pathLst>
              <a:path w="1869430" h="2166392">
                <a:moveTo>
                  <a:pt x="0" y="50800"/>
                </a:moveTo>
                <a:lnTo>
                  <a:pt x="0" y="50800"/>
                </a:lnTo>
                <a:arcTo wR="50800" hR="50800" stAng="10800000" swAng="5400000"/>
                <a:lnTo>
                  <a:pt x="1818630" y="0"/>
                </a:lnTo>
                <a:arcTo wR="50800" hR="50800" stAng="16200000" swAng="5400000"/>
                <a:lnTo>
                  <a:pt x="1869430" y="50800"/>
                </a:lnTo>
                <a:lnTo>
                  <a:pt x="0" y="50800"/>
                </a:lnTo>
                <a:close/>
              </a:path>
            </a:pathLst>
          </a:custGeom>
          <a:solidFill>
            <a:srgbClr val="273003"/>
          </a:solidFill>
          <a:ln/>
        </p:spPr>
        <p:txBody>
          <a:bodyPr/>
          <a:lstStyle/>
          <a:p>
            <a:endParaRPr lang="en-KE"/>
          </a:p>
        </p:txBody>
      </p:sp>
      <p:sp>
        <p:nvSpPr>
          <p:cNvPr id="9" name="Text 7"/>
          <p:cNvSpPr/>
          <p:nvPr/>
        </p:nvSpPr>
        <p:spPr>
          <a:xfrm>
            <a:off x="927100" y="2334220"/>
            <a:ext cx="169163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73003"/>
                </a:solidFill>
                <a:latin typeface="Carlito" pitchFamily="34" charset="0"/>
                <a:ea typeface="Carlito" pitchFamily="34" charset="-122"/>
                <a:cs typeface="Carlito" pitchFamily="34" charset="-120"/>
              </a:rPr>
              <a:t>READ_QC</a:t>
            </a:r>
            <a:endParaRPr lang="en-US" sz="1300" dirty="0"/>
          </a:p>
        </p:txBody>
      </p:sp>
      <p:sp>
        <p:nvSpPr>
          <p:cNvPr id="10" name="Text 8"/>
          <p:cNvSpPr/>
          <p:nvPr/>
        </p:nvSpPr>
        <p:spPr>
          <a:xfrm>
            <a:off x="927100" y="2616150"/>
            <a:ext cx="1691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1</a:t>
            </a:r>
            <a:endParaRPr lang="en-US" sz="1200" dirty="0"/>
          </a:p>
        </p:txBody>
      </p:sp>
      <p:sp>
        <p:nvSpPr>
          <p:cNvPr id="11" name="Text 9"/>
          <p:cNvSpPr/>
          <p:nvPr/>
        </p:nvSpPr>
        <p:spPr>
          <a:xfrm>
            <a:off x="927100" y="288027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FASTP</a:t>
            </a:r>
            <a:endParaRPr lang="en-US" sz="1200" dirty="0"/>
          </a:p>
        </p:txBody>
      </p:sp>
      <p:sp>
        <p:nvSpPr>
          <p:cNvPr id="12" name="Text 10"/>
          <p:cNvSpPr/>
          <p:nvPr/>
        </p:nvSpPr>
        <p:spPr>
          <a:xfrm>
            <a:off x="927100" y="312916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KRAKEN2 → BRACKEN</a:t>
            </a:r>
            <a:endParaRPr lang="en-US" sz="1200" dirty="0"/>
          </a:p>
        </p:txBody>
      </p:sp>
      <p:sp>
        <p:nvSpPr>
          <p:cNvPr id="13" name="Text 11"/>
          <p:cNvSpPr/>
          <p:nvPr/>
        </p:nvSpPr>
        <p:spPr>
          <a:xfrm>
            <a:off x="927100" y="3378051"/>
            <a:ext cx="169163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FILTLONG → NANOPLOT (ONT)</a:t>
            </a:r>
            <a:endParaRPr lang="en-US" sz="1200" dirty="0"/>
          </a:p>
        </p:txBody>
      </p:sp>
      <p:pic>
        <p:nvPicPr>
          <p:cNvPr id="14" name="Image 0" descr="arrow-right"/>
          <p:cNvPicPr>
            <a:picLocks noChangeAspect="1"/>
          </p:cNvPicPr>
          <p:nvPr/>
        </p:nvPicPr>
        <p:blipFill>
          <a:blip r:embed="rId3"/>
          <a:srcRect/>
          <a:stretch/>
        </p:blipFill>
        <p:spPr>
          <a:xfrm>
            <a:off x="2733030" y="3188791"/>
            <a:ext cx="203200" cy="127000"/>
          </a:xfrm>
          <a:prstGeom prst="rect">
            <a:avLst/>
          </a:prstGeom>
        </p:spPr>
      </p:pic>
      <p:sp>
        <p:nvSpPr>
          <p:cNvPr id="15" name="Shape 12"/>
          <p:cNvSpPr/>
          <p:nvPr/>
        </p:nvSpPr>
        <p:spPr>
          <a:xfrm>
            <a:off x="2987030" y="2169120"/>
            <a:ext cx="1869480" cy="2166392"/>
          </a:xfrm>
          <a:prstGeom prst="roundRect">
            <a:avLst>
              <a:gd name="adj" fmla="val 2717"/>
            </a:avLst>
          </a:prstGeom>
          <a:solidFill>
            <a:srgbClr val="FFFFFF"/>
          </a:solidFill>
          <a:ln/>
        </p:spPr>
        <p:txBody>
          <a:bodyPr/>
          <a:lstStyle/>
          <a:p>
            <a:endParaRPr lang="en-KE"/>
          </a:p>
        </p:txBody>
      </p:sp>
      <p:sp>
        <p:nvSpPr>
          <p:cNvPr id="16" name="Shape 13"/>
          <p:cNvSpPr/>
          <p:nvPr/>
        </p:nvSpPr>
        <p:spPr>
          <a:xfrm>
            <a:off x="2987030" y="2169120"/>
            <a:ext cx="1869480" cy="2166392"/>
          </a:xfrm>
          <a:custGeom>
            <a:avLst/>
            <a:gdLst/>
            <a:ahLst/>
            <a:cxnLst/>
            <a:rect l="l" t="t" r="r" b="b"/>
            <a:pathLst>
              <a:path w="1869480" h="2166392">
                <a:moveTo>
                  <a:pt x="0" y="50800"/>
                </a:moveTo>
                <a:lnTo>
                  <a:pt x="0" y="50800"/>
                </a:lnTo>
                <a:arcTo wR="50800" hR="50800" stAng="10800000" swAng="5400000"/>
                <a:lnTo>
                  <a:pt x="1818680" y="0"/>
                </a:lnTo>
                <a:arcTo wR="50800" hR="50800" stAng="16200000" swAng="5400000"/>
                <a:lnTo>
                  <a:pt x="1869480" y="50800"/>
                </a:lnTo>
                <a:lnTo>
                  <a:pt x="0" y="50800"/>
                </a:lnTo>
                <a:close/>
              </a:path>
            </a:pathLst>
          </a:custGeom>
          <a:solidFill>
            <a:srgbClr val="273003"/>
          </a:solidFill>
          <a:ln/>
        </p:spPr>
        <p:txBody>
          <a:bodyPr/>
          <a:lstStyle/>
          <a:p>
            <a:endParaRPr lang="en-KE"/>
          </a:p>
        </p:txBody>
      </p:sp>
      <p:sp>
        <p:nvSpPr>
          <p:cNvPr id="17" name="Text 14"/>
          <p:cNvSpPr/>
          <p:nvPr/>
        </p:nvSpPr>
        <p:spPr>
          <a:xfrm>
            <a:off x="3101330" y="2334220"/>
            <a:ext cx="169168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73003"/>
                </a:solidFill>
                <a:latin typeface="Carlito" pitchFamily="34" charset="0"/>
                <a:ea typeface="Carlito" pitchFamily="34" charset="-122"/>
                <a:cs typeface="Carlito" pitchFamily="34" charset="-120"/>
              </a:rPr>
              <a:t>ASSEMBLY</a:t>
            </a:r>
            <a:endParaRPr lang="en-US" sz="1300" dirty="0"/>
          </a:p>
        </p:txBody>
      </p:sp>
      <p:sp>
        <p:nvSpPr>
          <p:cNvPr id="18" name="Text 15"/>
          <p:cNvSpPr/>
          <p:nvPr/>
        </p:nvSpPr>
        <p:spPr>
          <a:xfrm>
            <a:off x="3101330" y="2616150"/>
            <a:ext cx="16916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a:t>
            </a:r>
            <a:endParaRPr lang="en-US" sz="1200" dirty="0"/>
          </a:p>
        </p:txBody>
      </p:sp>
      <p:sp>
        <p:nvSpPr>
          <p:cNvPr id="19" name="Text 16"/>
          <p:cNvSpPr/>
          <p:nvPr/>
        </p:nvSpPr>
        <p:spPr>
          <a:xfrm>
            <a:off x="3101330" y="2880271"/>
            <a:ext cx="169168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SHOVILL</a:t>
            </a:r>
            <a:endParaRPr lang="en-US" sz="1200" dirty="0"/>
          </a:p>
        </p:txBody>
      </p:sp>
      <p:sp>
        <p:nvSpPr>
          <p:cNvPr id="20" name="Text 17"/>
          <p:cNvSpPr/>
          <p:nvPr/>
        </p:nvSpPr>
        <p:spPr>
          <a:xfrm>
            <a:off x="3101330" y="3129161"/>
            <a:ext cx="1691680" cy="6196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AUTOCYCLER → MEDAKA → POLYPOLISH → PYPOLCA</a:t>
            </a:r>
            <a:endParaRPr lang="en-US" sz="1200" dirty="0"/>
          </a:p>
        </p:txBody>
      </p:sp>
      <p:sp>
        <p:nvSpPr>
          <p:cNvPr id="21" name="Text 18"/>
          <p:cNvSpPr/>
          <p:nvPr/>
        </p:nvSpPr>
        <p:spPr>
          <a:xfrm>
            <a:off x="3101330" y="3774232"/>
            <a:ext cx="175518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Best assembly, hybrid first</a:t>
            </a:r>
            <a:endParaRPr lang="en-US" sz="1200" dirty="0"/>
          </a:p>
        </p:txBody>
      </p:sp>
      <p:sp>
        <p:nvSpPr>
          <p:cNvPr id="22" name="Text 19"/>
          <p:cNvSpPr/>
          <p:nvPr/>
        </p:nvSpPr>
        <p:spPr>
          <a:xfrm>
            <a:off x="3101330" y="4023122"/>
            <a:ext cx="169168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QUAST</a:t>
            </a:r>
            <a:endParaRPr lang="en-US" sz="1200" dirty="0"/>
          </a:p>
        </p:txBody>
      </p:sp>
      <p:pic>
        <p:nvPicPr>
          <p:cNvPr id="23" name="Image 1" descr="arrow-right"/>
          <p:cNvPicPr>
            <a:picLocks noChangeAspect="1"/>
          </p:cNvPicPr>
          <p:nvPr/>
        </p:nvPicPr>
        <p:blipFill>
          <a:blip r:embed="rId3"/>
          <a:srcRect/>
          <a:stretch/>
        </p:blipFill>
        <p:spPr>
          <a:xfrm>
            <a:off x="4907310" y="3188791"/>
            <a:ext cx="203200" cy="127000"/>
          </a:xfrm>
          <a:prstGeom prst="rect">
            <a:avLst/>
          </a:prstGeom>
        </p:spPr>
      </p:pic>
      <p:sp>
        <p:nvSpPr>
          <p:cNvPr id="24" name="Shape 20"/>
          <p:cNvSpPr/>
          <p:nvPr/>
        </p:nvSpPr>
        <p:spPr>
          <a:xfrm>
            <a:off x="5161310" y="2169120"/>
            <a:ext cx="1869430" cy="2166392"/>
          </a:xfrm>
          <a:prstGeom prst="roundRect">
            <a:avLst>
              <a:gd name="adj" fmla="val 2717"/>
            </a:avLst>
          </a:prstGeom>
          <a:solidFill>
            <a:srgbClr val="FFFFFF"/>
          </a:solidFill>
          <a:ln/>
        </p:spPr>
        <p:txBody>
          <a:bodyPr/>
          <a:lstStyle/>
          <a:p>
            <a:endParaRPr lang="en-KE"/>
          </a:p>
        </p:txBody>
      </p:sp>
      <p:sp>
        <p:nvSpPr>
          <p:cNvPr id="25" name="Shape 21"/>
          <p:cNvSpPr/>
          <p:nvPr/>
        </p:nvSpPr>
        <p:spPr>
          <a:xfrm>
            <a:off x="5161310" y="2169120"/>
            <a:ext cx="1869430" cy="2166392"/>
          </a:xfrm>
          <a:custGeom>
            <a:avLst/>
            <a:gdLst/>
            <a:ahLst/>
            <a:cxnLst/>
            <a:rect l="l" t="t" r="r" b="b"/>
            <a:pathLst>
              <a:path w="1869430" h="2166392">
                <a:moveTo>
                  <a:pt x="0" y="50800"/>
                </a:moveTo>
                <a:lnTo>
                  <a:pt x="0" y="50800"/>
                </a:lnTo>
                <a:arcTo wR="50800" hR="50800" stAng="10800000" swAng="5400000"/>
                <a:lnTo>
                  <a:pt x="1818630" y="0"/>
                </a:lnTo>
                <a:arcTo wR="50800" hR="50800" stAng="16200000" swAng="5400000"/>
                <a:lnTo>
                  <a:pt x="1869430" y="50800"/>
                </a:lnTo>
                <a:lnTo>
                  <a:pt x="0" y="50800"/>
                </a:lnTo>
                <a:close/>
              </a:path>
            </a:pathLst>
          </a:custGeom>
          <a:solidFill>
            <a:srgbClr val="891F15"/>
          </a:solidFill>
          <a:ln/>
        </p:spPr>
        <p:txBody>
          <a:bodyPr/>
          <a:lstStyle/>
          <a:p>
            <a:endParaRPr lang="en-KE"/>
          </a:p>
        </p:txBody>
      </p:sp>
      <p:sp>
        <p:nvSpPr>
          <p:cNvPr id="26" name="Text 22"/>
          <p:cNvSpPr/>
          <p:nvPr/>
        </p:nvSpPr>
        <p:spPr>
          <a:xfrm>
            <a:off x="5275610" y="2334220"/>
            <a:ext cx="169163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91F15"/>
                </a:solidFill>
                <a:latin typeface="Carlito" pitchFamily="34" charset="0"/>
                <a:ea typeface="Carlito" pitchFamily="34" charset="-122"/>
                <a:cs typeface="Carlito" pitchFamily="34" charset="-120"/>
              </a:rPr>
              <a:t>TYPING_AMR</a:t>
            </a:r>
            <a:endParaRPr lang="en-US" sz="1300" dirty="0"/>
          </a:p>
        </p:txBody>
      </p:sp>
      <p:sp>
        <p:nvSpPr>
          <p:cNvPr id="27" name="Text 23"/>
          <p:cNvSpPr/>
          <p:nvPr/>
        </p:nvSpPr>
        <p:spPr>
          <a:xfrm>
            <a:off x="5275610" y="2616150"/>
            <a:ext cx="1691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Modules 3, 4, 5, 7</a:t>
            </a:r>
            <a:endParaRPr lang="en-US" sz="1200" dirty="0"/>
          </a:p>
        </p:txBody>
      </p:sp>
      <p:sp>
        <p:nvSpPr>
          <p:cNvPr id="28" name="Text 24"/>
          <p:cNvSpPr/>
          <p:nvPr/>
        </p:nvSpPr>
        <p:spPr>
          <a:xfrm>
            <a:off x="5275610" y="288027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KLEBORATE, KAPTIVE</a:t>
            </a:r>
            <a:endParaRPr lang="en-US" sz="1200" dirty="0"/>
          </a:p>
        </p:txBody>
      </p:sp>
      <p:sp>
        <p:nvSpPr>
          <p:cNvPr id="29" name="Text 25"/>
          <p:cNvSpPr/>
          <p:nvPr/>
        </p:nvSpPr>
        <p:spPr>
          <a:xfrm>
            <a:off x="5275610" y="3129161"/>
            <a:ext cx="1691630" cy="421580"/>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3A322C"/>
                </a:solidFill>
                <a:latin typeface="Carlito" pitchFamily="34" charset="0"/>
                <a:ea typeface="Carlito" pitchFamily="34" charset="-122"/>
                <a:cs typeface="Carlito" pitchFamily="34" charset="-120"/>
              </a:rPr>
              <a:t>E. coli</a:t>
            </a:r>
            <a:r>
              <a:rPr lang="en-US" sz="1200" dirty="0">
                <a:solidFill>
                  <a:srgbClr val="3A322C"/>
                </a:solidFill>
                <a:latin typeface="Carlito" pitchFamily="34" charset="0"/>
                <a:ea typeface="Carlito" pitchFamily="34" charset="-122"/>
                <a:cs typeface="Carlito" pitchFamily="34" charset="-120"/>
              </a:rPr>
              <a:t>: ECTYPER, EZCLERMONT</a:t>
            </a:r>
            <a:endParaRPr lang="en-US" sz="1200" dirty="0"/>
          </a:p>
        </p:txBody>
      </p:sp>
      <p:sp>
        <p:nvSpPr>
          <p:cNvPr id="30" name="Text 26"/>
          <p:cNvSpPr/>
          <p:nvPr/>
        </p:nvSpPr>
        <p:spPr>
          <a:xfrm>
            <a:off x="5275610" y="357614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AMRFINDERPLUS</a:t>
            </a:r>
            <a:endParaRPr lang="en-US" sz="1200" dirty="0"/>
          </a:p>
        </p:txBody>
      </p:sp>
      <p:sp>
        <p:nvSpPr>
          <p:cNvPr id="31" name="Text 27"/>
          <p:cNvSpPr/>
          <p:nvPr/>
        </p:nvSpPr>
        <p:spPr>
          <a:xfrm>
            <a:off x="5275610" y="3825032"/>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MOBSUITE_RECON</a:t>
            </a:r>
            <a:endParaRPr lang="en-US" sz="1200" dirty="0"/>
          </a:p>
        </p:txBody>
      </p:sp>
      <p:pic>
        <p:nvPicPr>
          <p:cNvPr id="32" name="Image 2" descr="arrow-right"/>
          <p:cNvPicPr>
            <a:picLocks noChangeAspect="1"/>
          </p:cNvPicPr>
          <p:nvPr/>
        </p:nvPicPr>
        <p:blipFill>
          <a:blip r:embed="rId3"/>
          <a:srcRect/>
          <a:stretch/>
        </p:blipFill>
        <p:spPr>
          <a:xfrm>
            <a:off x="7081540" y="3188791"/>
            <a:ext cx="203200" cy="127000"/>
          </a:xfrm>
          <a:prstGeom prst="rect">
            <a:avLst/>
          </a:prstGeom>
        </p:spPr>
      </p:pic>
      <p:sp>
        <p:nvSpPr>
          <p:cNvPr id="33" name="Shape 28"/>
          <p:cNvSpPr/>
          <p:nvPr/>
        </p:nvSpPr>
        <p:spPr>
          <a:xfrm>
            <a:off x="7335540" y="2169120"/>
            <a:ext cx="1869430" cy="2166392"/>
          </a:xfrm>
          <a:prstGeom prst="roundRect">
            <a:avLst>
              <a:gd name="adj" fmla="val 2717"/>
            </a:avLst>
          </a:prstGeom>
          <a:solidFill>
            <a:srgbClr val="FFFFFF"/>
          </a:solidFill>
          <a:ln/>
        </p:spPr>
        <p:txBody>
          <a:bodyPr/>
          <a:lstStyle/>
          <a:p>
            <a:endParaRPr lang="en-KE"/>
          </a:p>
        </p:txBody>
      </p:sp>
      <p:sp>
        <p:nvSpPr>
          <p:cNvPr id="34" name="Shape 29"/>
          <p:cNvSpPr/>
          <p:nvPr/>
        </p:nvSpPr>
        <p:spPr>
          <a:xfrm>
            <a:off x="7335540" y="2169120"/>
            <a:ext cx="1869430" cy="2166392"/>
          </a:xfrm>
          <a:custGeom>
            <a:avLst/>
            <a:gdLst/>
            <a:ahLst/>
            <a:cxnLst/>
            <a:rect l="l" t="t" r="r" b="b"/>
            <a:pathLst>
              <a:path w="1869430" h="2166392">
                <a:moveTo>
                  <a:pt x="0" y="50800"/>
                </a:moveTo>
                <a:lnTo>
                  <a:pt x="0" y="50800"/>
                </a:lnTo>
                <a:arcTo wR="50800" hR="50800" stAng="10800000" swAng="5400000"/>
                <a:lnTo>
                  <a:pt x="1818630" y="0"/>
                </a:lnTo>
                <a:arcTo wR="50800" hR="50800" stAng="16200000" swAng="5400000"/>
                <a:lnTo>
                  <a:pt x="1869430" y="50800"/>
                </a:lnTo>
                <a:lnTo>
                  <a:pt x="0" y="50800"/>
                </a:lnTo>
                <a:close/>
              </a:path>
            </a:pathLst>
          </a:custGeom>
          <a:solidFill>
            <a:srgbClr val="891F15"/>
          </a:solidFill>
          <a:ln/>
        </p:spPr>
        <p:txBody>
          <a:bodyPr/>
          <a:lstStyle/>
          <a:p>
            <a:endParaRPr lang="en-KE"/>
          </a:p>
        </p:txBody>
      </p:sp>
      <p:sp>
        <p:nvSpPr>
          <p:cNvPr id="35" name="Text 30"/>
          <p:cNvSpPr/>
          <p:nvPr/>
        </p:nvSpPr>
        <p:spPr>
          <a:xfrm>
            <a:off x="7449840" y="2334220"/>
            <a:ext cx="169163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91F15"/>
                </a:solidFill>
                <a:latin typeface="Carlito" pitchFamily="34" charset="0"/>
                <a:ea typeface="Carlito" pitchFamily="34" charset="-122"/>
                <a:cs typeface="Carlito" pitchFamily="34" charset="-120"/>
              </a:rPr>
              <a:t>PHYLOGENY</a:t>
            </a:r>
            <a:endParaRPr lang="en-US" sz="1300" dirty="0"/>
          </a:p>
        </p:txBody>
      </p:sp>
      <p:sp>
        <p:nvSpPr>
          <p:cNvPr id="36" name="Text 31"/>
          <p:cNvSpPr/>
          <p:nvPr/>
        </p:nvSpPr>
        <p:spPr>
          <a:xfrm>
            <a:off x="7449840" y="2616150"/>
            <a:ext cx="1691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a:t>
            </a:r>
            <a:endParaRPr lang="en-US" sz="1200" dirty="0"/>
          </a:p>
        </p:txBody>
      </p:sp>
      <p:sp>
        <p:nvSpPr>
          <p:cNvPr id="37" name="Text 32"/>
          <p:cNvSpPr/>
          <p:nvPr/>
        </p:nvSpPr>
        <p:spPr>
          <a:xfrm>
            <a:off x="7449840" y="2880271"/>
            <a:ext cx="169163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One group per species + ST (from Kleborate)</a:t>
            </a:r>
            <a:endParaRPr lang="en-US" sz="1200" dirty="0"/>
          </a:p>
        </p:txBody>
      </p:sp>
      <p:sp>
        <p:nvSpPr>
          <p:cNvPr id="38" name="Text 33"/>
          <p:cNvSpPr/>
          <p:nvPr/>
        </p:nvSpPr>
        <p:spPr>
          <a:xfrm>
            <a:off x="7449840" y="332725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SNIPPY and/or SKA2</a:t>
            </a:r>
            <a:endParaRPr lang="en-US" sz="1200" dirty="0"/>
          </a:p>
        </p:txBody>
      </p:sp>
      <p:sp>
        <p:nvSpPr>
          <p:cNvPr id="39" name="Text 34"/>
          <p:cNvSpPr/>
          <p:nvPr/>
        </p:nvSpPr>
        <p:spPr>
          <a:xfrm>
            <a:off x="7449840" y="357614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GUBBINS → IQTREE</a:t>
            </a:r>
            <a:endParaRPr lang="en-US" sz="1200" dirty="0"/>
          </a:p>
        </p:txBody>
      </p:sp>
      <p:sp>
        <p:nvSpPr>
          <p:cNvPr id="40" name="Text 35"/>
          <p:cNvSpPr/>
          <p:nvPr/>
        </p:nvSpPr>
        <p:spPr>
          <a:xfrm>
            <a:off x="7449840" y="3825032"/>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SNPDISTS</a:t>
            </a:r>
            <a:endParaRPr lang="en-US" sz="1200" dirty="0"/>
          </a:p>
        </p:txBody>
      </p:sp>
      <p:pic>
        <p:nvPicPr>
          <p:cNvPr id="41" name="Image 3" descr="arrow-right"/>
          <p:cNvPicPr>
            <a:picLocks noChangeAspect="1"/>
          </p:cNvPicPr>
          <p:nvPr/>
        </p:nvPicPr>
        <p:blipFill>
          <a:blip r:embed="rId3"/>
          <a:srcRect/>
          <a:stretch/>
        </p:blipFill>
        <p:spPr>
          <a:xfrm>
            <a:off x="9255770" y="3188791"/>
            <a:ext cx="203200" cy="127000"/>
          </a:xfrm>
          <a:prstGeom prst="rect">
            <a:avLst/>
          </a:prstGeom>
        </p:spPr>
      </p:pic>
      <p:sp>
        <p:nvSpPr>
          <p:cNvPr id="42" name="Shape 36"/>
          <p:cNvSpPr/>
          <p:nvPr/>
        </p:nvSpPr>
        <p:spPr>
          <a:xfrm>
            <a:off x="9509770" y="2169120"/>
            <a:ext cx="1869430" cy="2166392"/>
          </a:xfrm>
          <a:prstGeom prst="roundRect">
            <a:avLst>
              <a:gd name="adj" fmla="val 2717"/>
            </a:avLst>
          </a:prstGeom>
          <a:solidFill>
            <a:srgbClr val="FFFFFF"/>
          </a:solidFill>
          <a:ln/>
        </p:spPr>
        <p:txBody>
          <a:bodyPr/>
          <a:lstStyle/>
          <a:p>
            <a:endParaRPr lang="en-KE"/>
          </a:p>
        </p:txBody>
      </p:sp>
      <p:sp>
        <p:nvSpPr>
          <p:cNvPr id="43" name="Shape 37"/>
          <p:cNvSpPr/>
          <p:nvPr/>
        </p:nvSpPr>
        <p:spPr>
          <a:xfrm>
            <a:off x="9509770" y="2169120"/>
            <a:ext cx="1869430" cy="2166392"/>
          </a:xfrm>
          <a:custGeom>
            <a:avLst/>
            <a:gdLst/>
            <a:ahLst/>
            <a:cxnLst/>
            <a:rect l="l" t="t" r="r" b="b"/>
            <a:pathLst>
              <a:path w="1869430" h="2166392">
                <a:moveTo>
                  <a:pt x="0" y="50800"/>
                </a:moveTo>
                <a:lnTo>
                  <a:pt x="0" y="50800"/>
                </a:lnTo>
                <a:arcTo wR="50800" hR="50800" stAng="10800000" swAng="5400000"/>
                <a:lnTo>
                  <a:pt x="1818630" y="0"/>
                </a:lnTo>
                <a:arcTo wR="50800" hR="50800" stAng="16200000" swAng="5400000"/>
                <a:lnTo>
                  <a:pt x="1869430" y="50800"/>
                </a:lnTo>
                <a:lnTo>
                  <a:pt x="0" y="50800"/>
                </a:lnTo>
                <a:close/>
              </a:path>
            </a:pathLst>
          </a:custGeom>
          <a:solidFill>
            <a:srgbClr val="6D2637"/>
          </a:solidFill>
          <a:ln/>
        </p:spPr>
        <p:txBody>
          <a:bodyPr/>
          <a:lstStyle/>
          <a:p>
            <a:endParaRPr lang="en-KE"/>
          </a:p>
        </p:txBody>
      </p:sp>
      <p:sp>
        <p:nvSpPr>
          <p:cNvPr id="44" name="Text 38"/>
          <p:cNvSpPr/>
          <p:nvPr/>
        </p:nvSpPr>
        <p:spPr>
          <a:xfrm>
            <a:off x="9624070" y="2334220"/>
            <a:ext cx="169163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D2637"/>
                </a:solidFill>
                <a:latin typeface="Carlito" pitchFamily="34" charset="0"/>
                <a:ea typeface="Carlito" pitchFamily="34" charset="-122"/>
                <a:cs typeface="Carlito" pitchFamily="34" charset="-120"/>
              </a:rPr>
              <a:t>REPORTS</a:t>
            </a:r>
            <a:endParaRPr lang="en-US" sz="1300" dirty="0"/>
          </a:p>
        </p:txBody>
      </p:sp>
      <p:sp>
        <p:nvSpPr>
          <p:cNvPr id="45" name="Text 39"/>
          <p:cNvSpPr/>
          <p:nvPr/>
        </p:nvSpPr>
        <p:spPr>
          <a:xfrm>
            <a:off x="9624070" y="2616150"/>
            <a:ext cx="16916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All modules</a:t>
            </a:r>
            <a:endParaRPr lang="en-US" sz="1200" dirty="0"/>
          </a:p>
        </p:txBody>
      </p:sp>
      <p:sp>
        <p:nvSpPr>
          <p:cNvPr id="46" name="Text 40"/>
          <p:cNvSpPr/>
          <p:nvPr/>
        </p:nvSpPr>
        <p:spPr>
          <a:xfrm>
            <a:off x="9624070" y="2880271"/>
            <a:ext cx="169163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MULTIQC</a:t>
            </a:r>
            <a:endParaRPr lang="en-US" sz="1200" dirty="0"/>
          </a:p>
        </p:txBody>
      </p:sp>
      <p:sp>
        <p:nvSpPr>
          <p:cNvPr id="47" name="Text 41"/>
          <p:cNvSpPr/>
          <p:nvPr/>
        </p:nvSpPr>
        <p:spPr>
          <a:xfrm>
            <a:off x="9624070" y="3129161"/>
            <a:ext cx="169163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pipeline_info: versions, run times</a:t>
            </a:r>
            <a:endParaRPr lang="en-US" sz="1200" dirty="0"/>
          </a:p>
        </p:txBody>
      </p:sp>
      <p:sp>
        <p:nvSpPr>
          <p:cNvPr id="48" name="Text 42"/>
          <p:cNvSpPr/>
          <p:nvPr/>
        </p:nvSpPr>
        <p:spPr>
          <a:xfrm>
            <a:off x="819150" y="4494262"/>
            <a:ext cx="5194300" cy="388590"/>
          </a:xfrm>
          <a:prstGeom prst="roundRect">
            <a:avLst>
              <a:gd name="adj" fmla="val 11439"/>
            </a:avLst>
          </a:prstGeom>
          <a:noFill/>
          <a:ln w="12700">
            <a:solidFill>
              <a:srgbClr val="6B6460"/>
            </a:solidFill>
            <a:prstDash val="dash"/>
          </a:ln>
        </p:spPr>
        <p:txBody>
          <a:bodyPr wrap="square" lIns="120331" tIns="82231" rIns="0" bIns="56831" rtlCol="0" anchor="t">
            <a:normAutofit/>
          </a:bodyPr>
          <a:lstStyle/>
          <a:p>
            <a:pPr marL="0" indent="0" algn="l">
              <a:lnSpc>
                <a:spcPts val="1560"/>
              </a:lnSpc>
              <a:buNone/>
            </a:pPr>
            <a:r>
              <a:rPr lang="en-US" sz="1200" b="1" dirty="0">
                <a:solidFill>
                  <a:srgbClr val="3A322C"/>
                </a:solidFill>
                <a:latin typeface="Carlito" pitchFamily="34" charset="0"/>
                <a:ea typeface="Carlito" pitchFamily="34" charset="-122"/>
                <a:cs typeface="Carlito" pitchFamily="34" charset="-120"/>
              </a:rPr>
              <a:t>Optional:</a:t>
            </a:r>
            <a:r>
              <a:rPr lang="en-US" sz="1200" dirty="0">
                <a:solidFill>
                  <a:srgbClr val="3A322C"/>
                </a:solidFill>
                <a:latin typeface="Carlito" pitchFamily="34" charset="0"/>
                <a:ea typeface="Carlito" pitchFamily="34" charset="-122"/>
                <a:cs typeface="Carlito" pitchFamily="34" charset="-120"/>
              </a:rPr>
              <a:t> PROKKA (--run_prokka), BAKTA (--run_bakta) after assembly</a:t>
            </a:r>
            <a:endParaRPr lang="en-US" sz="1200" dirty="0"/>
          </a:p>
        </p:txBody>
      </p:sp>
      <p:sp>
        <p:nvSpPr>
          <p:cNvPr id="49" name="Text 43"/>
          <p:cNvSpPr/>
          <p:nvPr/>
        </p:nvSpPr>
        <p:spPr>
          <a:xfrm>
            <a:off x="6178550" y="4494262"/>
            <a:ext cx="5194300" cy="388590"/>
          </a:xfrm>
          <a:prstGeom prst="roundRect">
            <a:avLst>
              <a:gd name="adj" fmla="val 11439"/>
            </a:avLst>
          </a:prstGeom>
          <a:noFill/>
          <a:ln w="12700">
            <a:solidFill>
              <a:srgbClr val="6B6460"/>
            </a:solidFill>
            <a:prstDash val="dash"/>
          </a:ln>
        </p:spPr>
        <p:txBody>
          <a:bodyPr wrap="square" lIns="120331" tIns="82231" rIns="0" bIns="56831" rtlCol="0" anchor="t">
            <a:normAutofit/>
          </a:bodyPr>
          <a:lstStyle/>
          <a:p>
            <a:pPr marL="0" indent="0" algn="l">
              <a:lnSpc>
                <a:spcPts val="1560"/>
              </a:lnSpc>
              <a:buNone/>
            </a:pPr>
            <a:r>
              <a:rPr lang="en-US" sz="1200" b="1" dirty="0">
                <a:solidFill>
                  <a:srgbClr val="3A322C"/>
                </a:solidFill>
                <a:latin typeface="Carlito" pitchFamily="34" charset="0"/>
                <a:ea typeface="Carlito" pitchFamily="34" charset="-122"/>
                <a:cs typeface="Carlito" pitchFamily="34" charset="-120"/>
              </a:rPr>
              <a:t>Optional:</a:t>
            </a:r>
            <a:r>
              <a:rPr lang="en-US" sz="1200" dirty="0">
                <a:solidFill>
                  <a:srgbClr val="3A322C"/>
                </a:solidFill>
                <a:latin typeface="Carlito" pitchFamily="34" charset="0"/>
                <a:ea typeface="Carlito" pitchFamily="34" charset="-122"/>
                <a:cs typeface="Carlito" pitchFamily="34" charset="-120"/>
              </a:rPr>
              <a:t> --phylo_method both, then compare_snp_methods.py</a:t>
            </a:r>
            <a:endParaRPr lang="en-US" sz="1200" dirty="0"/>
          </a:p>
        </p:txBody>
      </p:sp>
      <p:pic>
        <p:nvPicPr>
          <p:cNvPr id="50" name="Image 4"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51" name="Text 4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52" name="Text 4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How the pipeline is built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6350000" cy="2702123"/>
          </a:xfrm>
          <a:prstGeom prst="roundRect">
            <a:avLst>
              <a:gd name="adj" fmla="val 2820"/>
            </a:avLst>
          </a:prstGeom>
          <a:solidFill>
            <a:srgbClr val="273003"/>
          </a:solidFill>
          <a:ln/>
        </p:spPr>
        <p:txBody>
          <a:bodyPr wrap="square" lIns="206282" tIns="155482" rIns="29498" bIns="1300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neonatal-amr-nf/</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main.nf                 </a:t>
            </a:r>
            <a:r>
              <a:rPr lang="en-US" sz="1200" dirty="0">
                <a:solidFill>
                  <a:srgbClr val="C2CA6E"/>
                </a:solidFill>
                <a:latin typeface="JetBrains Mono" pitchFamily="49" charset="0"/>
                <a:ea typeface="JetBrains Mono" pitchFamily="49" charset="-122"/>
                <a:cs typeface="JetBrains Mono" pitchFamily="49" charset="-120"/>
              </a:rPr>
              <a:t>entry point</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nextflow.config         </a:t>
            </a:r>
            <a:r>
              <a:rPr lang="en-US" sz="1200" dirty="0">
                <a:solidFill>
                  <a:srgbClr val="C2CA6E"/>
                </a:solidFill>
                <a:latin typeface="JetBrains Mono" pitchFamily="49" charset="0"/>
                <a:ea typeface="JetBrains Mono" pitchFamily="49" charset="-122"/>
                <a:cs typeface="JetBrains Mono" pitchFamily="49" charset="-120"/>
              </a:rPr>
              <a:t>parameters, profiles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conf/modules.config     </a:t>
            </a:r>
            <a:r>
              <a:rPr lang="en-US" sz="1200" dirty="0">
                <a:solidFill>
                  <a:srgbClr val="C2CA6E"/>
                </a:solidFill>
                <a:latin typeface="JetBrains Mono" pitchFamily="49" charset="0"/>
                <a:ea typeface="JetBrains Mono" pitchFamily="49" charset="-122"/>
                <a:cs typeface="JetBrains Mono" pitchFamily="49" charset="-120"/>
              </a:rPr>
              <a:t>tool arguments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workflows/neonatal_amr.nf </a:t>
            </a:r>
            <a:r>
              <a:rPr lang="en-US" sz="1200" dirty="0">
                <a:solidFill>
                  <a:srgbClr val="C2CA6E"/>
                </a:solidFill>
                <a:latin typeface="JetBrains Mono" pitchFamily="49" charset="0"/>
                <a:ea typeface="JetBrains Mono" pitchFamily="49" charset="-122"/>
                <a:cs typeface="JetBrains Mono" pitchFamily="49" charset="-120"/>
              </a:rPr>
              <a:t>the analysis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subworkflows/local/</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read_qc, assembly,</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typing_amr, phylogeny</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modules/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 nf-core/  </a:t>
            </a:r>
            <a:r>
              <a:rPr lang="en-US" sz="1200" dirty="0">
                <a:solidFill>
                  <a:srgbClr val="C2CA6E"/>
                </a:solidFill>
                <a:latin typeface="JetBrains Mono" pitchFamily="49" charset="0"/>
                <a:ea typeface="JetBrains Mono" pitchFamily="49" charset="-122"/>
                <a:cs typeface="JetBrains Mono" pitchFamily="49" charset="-120"/>
              </a:rPr>
              <a:t>community modules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 local/    </a:t>
            </a:r>
            <a:r>
              <a:rPr lang="en-US" sz="1200" dirty="0">
                <a:solidFill>
                  <a:srgbClr val="C2CA6E"/>
                </a:solidFill>
                <a:latin typeface="JetBrains Mono" pitchFamily="49" charset="0"/>
                <a:ea typeface="JetBrains Mono" pitchFamily="49" charset="-122"/>
                <a:cs typeface="JetBrains Mono" pitchFamily="49" charset="-120"/>
              </a:rPr>
              <a:t>the course's own</a:t>
            </a:r>
            <a:endParaRPr lang="en-US" sz="1200" dirty="0"/>
          </a:p>
        </p:txBody>
      </p:sp>
      <p:sp>
        <p:nvSpPr>
          <p:cNvPr id="5" name="Shape 3"/>
          <p:cNvSpPr/>
          <p:nvPr/>
        </p:nvSpPr>
        <p:spPr>
          <a:xfrm>
            <a:off x="7442200" y="1683990"/>
            <a:ext cx="0" cy="725091"/>
          </a:xfrm>
          <a:prstGeom prst="line">
            <a:avLst/>
          </a:prstGeom>
          <a:noFill/>
          <a:ln w="50800">
            <a:solidFill>
              <a:srgbClr val="891F15"/>
            </a:solidFill>
            <a:prstDash val="solid"/>
          </a:ln>
        </p:spPr>
        <p:txBody>
          <a:bodyPr/>
          <a:lstStyle/>
          <a:p>
            <a:endParaRPr lang="en-KE"/>
          </a:p>
        </p:txBody>
      </p:sp>
      <p:sp>
        <p:nvSpPr>
          <p:cNvPr id="6" name="Text 4"/>
          <p:cNvSpPr/>
          <p:nvPr/>
        </p:nvSpPr>
        <p:spPr>
          <a:xfrm>
            <a:off x="7620000" y="1683990"/>
            <a:ext cx="387197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One module = one tool</a:t>
            </a:r>
            <a:endParaRPr lang="en-US" sz="1500" dirty="0"/>
          </a:p>
        </p:txBody>
      </p:sp>
      <p:sp>
        <p:nvSpPr>
          <p:cNvPr id="7" name="Text 5"/>
          <p:cNvSpPr/>
          <p:nvPr/>
        </p:nvSpPr>
        <p:spPr>
          <a:xfrm>
            <a:off x="7620000" y="1963390"/>
            <a:ext cx="3871976"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main.nf</a:t>
            </a:r>
            <a:r>
              <a:rPr lang="en-US" sz="1300" dirty="0">
                <a:solidFill>
                  <a:srgbClr val="3A322C"/>
                </a:solidFill>
                <a:latin typeface="Carlito" pitchFamily="34" charset="0"/>
                <a:ea typeface="Carlito" pitchFamily="34" charset="-122"/>
                <a:cs typeface="Carlito" pitchFamily="34" charset="-120"/>
              </a:rPr>
              <a:t> (the process), </a:t>
            </a:r>
            <a:r>
              <a:rPr lang="en-US" sz="1300" b="1" dirty="0">
                <a:solidFill>
                  <a:srgbClr val="3A322C"/>
                </a:solidFill>
                <a:latin typeface="Carlito" pitchFamily="34" charset="0"/>
                <a:ea typeface="Carlito" pitchFamily="34" charset="-122"/>
                <a:cs typeface="Carlito" pitchFamily="34" charset="-120"/>
              </a:rPr>
              <a:t>meta.yml</a:t>
            </a:r>
            <a:r>
              <a:rPr lang="en-US" sz="1300" dirty="0">
                <a:solidFill>
                  <a:srgbClr val="3A322C"/>
                </a:solidFill>
                <a:latin typeface="Carlito" pitchFamily="34" charset="0"/>
                <a:ea typeface="Carlito" pitchFamily="34" charset="-122"/>
                <a:cs typeface="Carlito" pitchFamily="34" charset="-120"/>
              </a:rPr>
              <a:t> (inputs and outputs), </a:t>
            </a:r>
            <a:r>
              <a:rPr lang="en-US" sz="1300" b="1" dirty="0">
                <a:solidFill>
                  <a:srgbClr val="3A322C"/>
                </a:solidFill>
                <a:latin typeface="Carlito" pitchFamily="34" charset="0"/>
                <a:ea typeface="Carlito" pitchFamily="34" charset="-122"/>
                <a:cs typeface="Carlito" pitchFamily="34" charset="-120"/>
              </a:rPr>
              <a:t>environment.yml</a:t>
            </a:r>
            <a:r>
              <a:rPr lang="en-US" sz="1300" dirty="0">
                <a:solidFill>
                  <a:srgbClr val="3A322C"/>
                </a:solidFill>
                <a:latin typeface="Carlito" pitchFamily="34" charset="0"/>
                <a:ea typeface="Carlito" pitchFamily="34" charset="-122"/>
                <a:cs typeface="Carlito" pitchFamily="34" charset="-120"/>
              </a:rPr>
              <a:t> (exact version).</a:t>
            </a:r>
            <a:endParaRPr lang="en-US" sz="1300" dirty="0"/>
          </a:p>
        </p:txBody>
      </p:sp>
      <p:sp>
        <p:nvSpPr>
          <p:cNvPr id="8" name="Shape 6"/>
          <p:cNvSpPr/>
          <p:nvPr/>
        </p:nvSpPr>
        <p:spPr>
          <a:xfrm>
            <a:off x="7442200" y="2561481"/>
            <a:ext cx="0" cy="502245"/>
          </a:xfrm>
          <a:prstGeom prst="line">
            <a:avLst/>
          </a:prstGeom>
          <a:noFill/>
          <a:ln w="50800">
            <a:solidFill>
              <a:srgbClr val="891F15"/>
            </a:solidFill>
            <a:prstDash val="solid"/>
          </a:ln>
        </p:spPr>
        <p:txBody>
          <a:bodyPr/>
          <a:lstStyle/>
          <a:p>
            <a:endParaRPr lang="en-KE"/>
          </a:p>
        </p:txBody>
      </p:sp>
      <p:sp>
        <p:nvSpPr>
          <p:cNvPr id="9" name="Text 7"/>
          <p:cNvSpPr/>
          <p:nvPr/>
        </p:nvSpPr>
        <p:spPr>
          <a:xfrm>
            <a:off x="7620000" y="2561481"/>
            <a:ext cx="387197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Subworkflows</a:t>
            </a:r>
            <a:endParaRPr lang="en-US" sz="1500" dirty="0"/>
          </a:p>
        </p:txBody>
      </p:sp>
      <p:sp>
        <p:nvSpPr>
          <p:cNvPr id="10" name="Text 8"/>
          <p:cNvSpPr/>
          <p:nvPr/>
        </p:nvSpPr>
        <p:spPr>
          <a:xfrm>
            <a:off x="7620000" y="2840881"/>
            <a:ext cx="387197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Chain modules into the course stages.</a:t>
            </a:r>
            <a:endParaRPr lang="en-US" sz="1300" dirty="0"/>
          </a:p>
        </p:txBody>
      </p:sp>
      <p:sp>
        <p:nvSpPr>
          <p:cNvPr id="11" name="Shape 9"/>
          <p:cNvSpPr/>
          <p:nvPr/>
        </p:nvSpPr>
        <p:spPr>
          <a:xfrm>
            <a:off x="7442200" y="3216126"/>
            <a:ext cx="0" cy="947936"/>
          </a:xfrm>
          <a:prstGeom prst="line">
            <a:avLst/>
          </a:prstGeom>
          <a:noFill/>
          <a:ln w="50800">
            <a:solidFill>
              <a:srgbClr val="273003"/>
            </a:solidFill>
            <a:prstDash val="solid"/>
          </a:ln>
        </p:spPr>
        <p:txBody>
          <a:bodyPr/>
          <a:lstStyle/>
          <a:p>
            <a:endParaRPr lang="en-KE"/>
          </a:p>
        </p:txBody>
      </p:sp>
      <p:sp>
        <p:nvSpPr>
          <p:cNvPr id="12" name="Text 10"/>
          <p:cNvSpPr/>
          <p:nvPr/>
        </p:nvSpPr>
        <p:spPr>
          <a:xfrm>
            <a:off x="7620000" y="3216126"/>
            <a:ext cx="387197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Configuration</a:t>
            </a:r>
            <a:endParaRPr lang="en-US" sz="1500" dirty="0"/>
          </a:p>
        </p:txBody>
      </p:sp>
      <p:sp>
        <p:nvSpPr>
          <p:cNvPr id="13" name="Text 11"/>
          <p:cNvSpPr/>
          <p:nvPr/>
        </p:nvSpPr>
        <p:spPr>
          <a:xfrm>
            <a:off x="7620000" y="3495526"/>
            <a:ext cx="3871976"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Tool settings live in </a:t>
            </a:r>
            <a:r>
              <a:rPr lang="en-US" sz="1300" b="1" dirty="0">
                <a:solidFill>
                  <a:srgbClr val="3A322C"/>
                </a:solidFill>
                <a:latin typeface="Carlito" pitchFamily="34" charset="0"/>
                <a:ea typeface="Carlito" pitchFamily="34" charset="-122"/>
                <a:cs typeface="Carlito" pitchFamily="34" charset="-120"/>
              </a:rPr>
              <a:t>conf/modules.config</a:t>
            </a:r>
            <a:r>
              <a:rPr lang="en-US" sz="1300" dirty="0">
                <a:solidFill>
                  <a:srgbClr val="3A322C"/>
                </a:solidFill>
                <a:latin typeface="Carlito" pitchFamily="34" charset="0"/>
                <a:ea typeface="Carlito" pitchFamily="34" charset="-122"/>
                <a:cs typeface="Carlito" pitchFamily="34" charset="-120"/>
              </a:rPr>
              <a:t>. Change them with your own config file and </a:t>
            </a:r>
            <a:r>
              <a:rPr lang="en-US" sz="1300" b="1" dirty="0">
                <a:solidFill>
                  <a:srgbClr val="3A322C"/>
                </a:solidFill>
                <a:latin typeface="Carlito" pitchFamily="34" charset="0"/>
                <a:ea typeface="Carlito" pitchFamily="34" charset="-122"/>
                <a:cs typeface="Carlito" pitchFamily="34" charset="-120"/>
              </a:rPr>
              <a:t>-c</a:t>
            </a:r>
            <a:r>
              <a:rPr lang="en-US" sz="1300" dirty="0">
                <a:solidFill>
                  <a:srgbClr val="3A322C"/>
                </a:solidFill>
                <a:latin typeface="Carlito" pitchFamily="34" charset="0"/>
                <a:ea typeface="Carlito" pitchFamily="34" charset="-122"/>
                <a:cs typeface="Carlito" pitchFamily="34" charset="-120"/>
              </a:rPr>
              <a:t>, never by editing the pipeline.</a:t>
            </a:r>
            <a:endParaRPr lang="en-US" sz="1300" dirty="0"/>
          </a:p>
        </p:txBody>
      </p:sp>
      <p:pic>
        <p:nvPicPr>
          <p:cNvPr id="14"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5" name="Text 1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6" name="Text 1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software: shared Singularity images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88339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Every tool runs inside an </a:t>
            </a:r>
            <a:r>
              <a:rPr lang="en-US" sz="1500" b="1" dirty="0">
                <a:solidFill>
                  <a:srgbClr val="3A322C"/>
                </a:solidFill>
                <a:latin typeface="Carlito" pitchFamily="34" charset="0"/>
                <a:ea typeface="Carlito" pitchFamily="34" charset="-122"/>
                <a:cs typeface="Carlito" pitchFamily="34" charset="-120"/>
              </a:rPr>
              <a:t>image</a:t>
            </a:r>
            <a:r>
              <a:rPr lang="en-US" sz="1500" dirty="0">
                <a:solidFill>
                  <a:srgbClr val="3A322C"/>
                </a:solidFill>
                <a:latin typeface="Carlito" pitchFamily="34" charset="0"/>
                <a:ea typeface="Carlito" pitchFamily="34" charset="-122"/>
                <a:cs typeface="Carlito" pitchFamily="34" charset="-120"/>
              </a:rPr>
              <a:t>: one file holding the tool at a fixed version. Trainers prepared them in </a:t>
            </a:r>
            <a:r>
              <a:rPr lang="en-US" sz="1500" b="1" dirty="0">
                <a:solidFill>
                  <a:srgbClr val="3A322C"/>
                </a:solidFill>
                <a:latin typeface="Carlito" pitchFamily="34" charset="0"/>
                <a:ea typeface="Carlito" pitchFamily="34" charset="-122"/>
                <a:cs typeface="Carlito" pitchFamily="34" charset="-120"/>
              </a:rPr>
              <a:t>$SHARED/containers/</a:t>
            </a:r>
            <a:r>
              <a:rPr lang="en-US" sz="1500" dirty="0">
                <a:solidFill>
                  <a:srgbClr val="3A322C"/>
                </a:solidFill>
                <a:latin typeface="Carlito" pitchFamily="34" charset="0"/>
                <a:ea typeface="Carlito" pitchFamily="34" charset="-122"/>
                <a:cs typeface="Carlito" pitchFamily="34" charset="-120"/>
              </a:rPr>
              <a:t>, which is </a:t>
            </a:r>
            <a:r>
              <a:rPr lang="en-US" sz="1500" b="1" dirty="0">
                <a:solidFill>
                  <a:srgbClr val="3A322C"/>
                </a:solidFill>
                <a:latin typeface="Carlito" pitchFamily="34" charset="0"/>
                <a:ea typeface="Carlito" pitchFamily="34" charset="-122"/>
                <a:cs typeface="Carlito" pitchFamily="34" charset="-120"/>
              </a:rPr>
              <a:t>read-only</a:t>
            </a:r>
            <a:r>
              <a:rPr lang="en-US" sz="1500" dirty="0">
                <a:solidFill>
                  <a:srgbClr val="3A322C"/>
                </a:solidFill>
                <a:latin typeface="Carlito" pitchFamily="34" charset="0"/>
                <a:ea typeface="Carlito" pitchFamily="34" charset="-122"/>
                <a:cs typeface="Carlito" pitchFamily="34" charset="-120"/>
              </a:rPr>
              <a:t>: you use them, never download or change them.</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39640"/>
          <a:ext cx="10553700" cy="1504950"/>
        </p:xfrm>
        <a:graphic>
          <a:graphicData uri="http://schemas.openxmlformats.org/drawingml/2006/table">
            <a:tbl>
              <a:tblPr/>
              <a:tblGrid>
                <a:gridCol w="3166110">
                  <a:extLst>
                    <a:ext uri="{9D8B030D-6E8A-4147-A177-3AD203B41FA5}">
                      <a16:colId xmlns:a16="http://schemas.microsoft.com/office/drawing/2014/main" val="20000"/>
                    </a:ext>
                  </a:extLst>
                </a:gridCol>
                <a:gridCol w="7387590">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Option</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What it does</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-profile singularity</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Run every tool inside its Singularity image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6794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 $SITE_CONFIG</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This server's settings: where the images are, and which Slurm queue and nodes each step uses</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bl>
          </a:graphicData>
        </a:graphic>
      </p:graphicFrame>
      <p:sp>
        <p:nvSpPr>
          <p:cNvPr id="6" name="Text 3"/>
          <p:cNvSpPr/>
          <p:nvPr/>
        </p:nvSpPr>
        <p:spPr>
          <a:xfrm>
            <a:off x="812800" y="4173190"/>
            <a:ext cx="10566400" cy="731441"/>
          </a:xfrm>
          <a:prstGeom prst="roundRect">
            <a:avLst>
              <a:gd name="adj" fmla="val 10418"/>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ls $SHARED/containers/local</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nextflow run $SHARED/neonatal-amr-nf/main.nf --help    </a:t>
            </a:r>
            <a:r>
              <a:rPr lang="en-US" sz="1200" dirty="0">
                <a:solidFill>
                  <a:srgbClr val="C2CA6E"/>
                </a:solidFill>
                <a:latin typeface="JetBrains Mono" pitchFamily="49" charset="0"/>
                <a:ea typeface="JetBrains Mono" pitchFamily="49" charset="-122"/>
                <a:cs typeface="JetBrains Mono" pitchFamily="49" charset="-120"/>
              </a:rPr>
              <a:t># every option, explained</a:t>
            </a:r>
            <a:endParaRPr lang="en-US" sz="1200" dirty="0"/>
          </a:p>
        </p:txBody>
      </p:sp>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a test run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1848842"/>
          </a:xfrm>
          <a:prstGeom prst="roundRect">
            <a:avLst>
              <a:gd name="adj" fmla="val 4121"/>
            </a:avLst>
          </a:prstGeom>
          <a:solidFill>
            <a:srgbClr val="273003"/>
          </a:solidFill>
          <a:ln/>
        </p:spPr>
        <p:txBody>
          <a:bodyPr wrap="square" lIns="206282" tIns="155482" rIns="0" bIns="1300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use_tools nextflow</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mkdir -p $COURSE/pipeline &amp;&amp; cd $COURSE/pipeline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nextflow run $SHARED/neonatal-amr-nf/main.nf -profile test,singularity -c $SITE_CONFIG -stub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--outdir test_results</a:t>
            </a:r>
            <a:endParaRPr lang="en-US" sz="1200" dirty="0"/>
          </a:p>
          <a:p>
            <a:pPr marL="0" indent="0" algn="l">
              <a:lnSpc>
                <a:spcPts val="1680"/>
              </a:lnSpc>
              <a:buNone/>
            </a:pP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What did it create?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find test_results -maxdepth 2 | sort</a:t>
            </a:r>
            <a:endParaRPr lang="en-US" sz="1200" dirty="0"/>
          </a:p>
        </p:txBody>
      </p:sp>
      <p:sp>
        <p:nvSpPr>
          <p:cNvPr id="5" name="Shape 3"/>
          <p:cNvSpPr/>
          <p:nvPr/>
        </p:nvSpPr>
        <p:spPr>
          <a:xfrm>
            <a:off x="812800" y="3761432"/>
            <a:ext cx="3403600" cy="1014611"/>
          </a:xfrm>
          <a:prstGeom prst="roundRect">
            <a:avLst>
              <a:gd name="adj" fmla="val 5007"/>
            </a:avLst>
          </a:prstGeom>
          <a:solidFill>
            <a:srgbClr val="FFFFFF"/>
          </a:solidFill>
          <a:ln/>
        </p:spPr>
        <p:txBody>
          <a:bodyPr/>
          <a:lstStyle/>
          <a:p>
            <a:endParaRPr lang="en-KE"/>
          </a:p>
        </p:txBody>
      </p:sp>
      <p:sp>
        <p:nvSpPr>
          <p:cNvPr id="6" name="Shape 4"/>
          <p:cNvSpPr/>
          <p:nvPr/>
        </p:nvSpPr>
        <p:spPr>
          <a:xfrm>
            <a:off x="812800" y="3761432"/>
            <a:ext cx="3403600" cy="1014611"/>
          </a:xfrm>
          <a:custGeom>
            <a:avLst/>
            <a:gdLst/>
            <a:ahLst/>
            <a:cxnLst/>
            <a:rect l="l" t="t" r="r" b="b"/>
            <a:pathLst>
              <a:path w="3403600" h="1014611">
                <a:moveTo>
                  <a:pt x="50800" y="1014611"/>
                </a:moveTo>
                <a:lnTo>
                  <a:pt x="50800" y="1014611"/>
                </a:lnTo>
                <a:arcTo wR="50800" hR="50800" stAng="5400000" swAng="5400000"/>
                <a:lnTo>
                  <a:pt x="0" y="50800"/>
                </a:lnTo>
                <a:arcTo wR="50800" hR="50800" stAng="10800000" swAng="5400000"/>
                <a:lnTo>
                  <a:pt x="50800" y="0"/>
                </a:lnTo>
                <a:lnTo>
                  <a:pt x="50800" y="1014611"/>
                </a:lnTo>
                <a:close/>
              </a:path>
            </a:pathLst>
          </a:custGeom>
          <a:solidFill>
            <a:srgbClr val="891F15"/>
          </a:solidFill>
          <a:ln/>
        </p:spPr>
        <p:txBody>
          <a:bodyPr/>
          <a:lstStyle/>
          <a:p>
            <a:endParaRPr lang="en-KE"/>
          </a:p>
        </p:txBody>
      </p:sp>
      <p:sp>
        <p:nvSpPr>
          <p:cNvPr id="7" name="Text 5"/>
          <p:cNvSpPr/>
          <p:nvPr/>
        </p:nvSpPr>
        <p:spPr>
          <a:xfrm>
            <a:off x="1041400" y="3913832"/>
            <a:ext cx="30871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-profile test</a:t>
            </a:r>
            <a:endParaRPr lang="en-US" sz="1400" dirty="0"/>
          </a:p>
        </p:txBody>
      </p:sp>
      <p:sp>
        <p:nvSpPr>
          <p:cNvPr id="8" name="Text 6"/>
          <p:cNvSpPr/>
          <p:nvPr/>
        </p:nvSpPr>
        <p:spPr>
          <a:xfrm>
            <a:off x="1041400" y="4177953"/>
            <a:ext cx="308711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Uses the small test samplesheet that ships with the pipeline.</a:t>
            </a:r>
            <a:endParaRPr lang="en-US" sz="1300" dirty="0"/>
          </a:p>
        </p:txBody>
      </p:sp>
      <p:sp>
        <p:nvSpPr>
          <p:cNvPr id="9" name="Shape 7"/>
          <p:cNvSpPr/>
          <p:nvPr/>
        </p:nvSpPr>
        <p:spPr>
          <a:xfrm>
            <a:off x="4394200" y="3761432"/>
            <a:ext cx="3403600" cy="1014611"/>
          </a:xfrm>
          <a:prstGeom prst="roundRect">
            <a:avLst>
              <a:gd name="adj" fmla="val 5007"/>
            </a:avLst>
          </a:prstGeom>
          <a:solidFill>
            <a:srgbClr val="FFFFFF"/>
          </a:solidFill>
          <a:ln/>
        </p:spPr>
        <p:txBody>
          <a:bodyPr/>
          <a:lstStyle/>
          <a:p>
            <a:endParaRPr lang="en-KE"/>
          </a:p>
        </p:txBody>
      </p:sp>
      <p:sp>
        <p:nvSpPr>
          <p:cNvPr id="10" name="Shape 8"/>
          <p:cNvSpPr/>
          <p:nvPr/>
        </p:nvSpPr>
        <p:spPr>
          <a:xfrm>
            <a:off x="4394200" y="3761432"/>
            <a:ext cx="3403600" cy="1014611"/>
          </a:xfrm>
          <a:custGeom>
            <a:avLst/>
            <a:gdLst/>
            <a:ahLst/>
            <a:cxnLst/>
            <a:rect l="l" t="t" r="r" b="b"/>
            <a:pathLst>
              <a:path w="3403600" h="1014611">
                <a:moveTo>
                  <a:pt x="50800" y="1014611"/>
                </a:moveTo>
                <a:lnTo>
                  <a:pt x="50800" y="1014611"/>
                </a:lnTo>
                <a:arcTo wR="50800" hR="50800" stAng="5400000" swAng="5400000"/>
                <a:lnTo>
                  <a:pt x="0" y="50800"/>
                </a:lnTo>
                <a:arcTo wR="50800" hR="50800" stAng="10800000" swAng="5400000"/>
                <a:lnTo>
                  <a:pt x="50800" y="0"/>
                </a:lnTo>
                <a:lnTo>
                  <a:pt x="50800" y="1014611"/>
                </a:lnTo>
                <a:close/>
              </a:path>
            </a:pathLst>
          </a:custGeom>
          <a:solidFill>
            <a:srgbClr val="891F15"/>
          </a:solidFill>
          <a:ln/>
        </p:spPr>
        <p:txBody>
          <a:bodyPr/>
          <a:lstStyle/>
          <a:p>
            <a:endParaRPr lang="en-KE"/>
          </a:p>
        </p:txBody>
      </p:sp>
      <p:sp>
        <p:nvSpPr>
          <p:cNvPr id="11" name="Text 9"/>
          <p:cNvSpPr/>
          <p:nvPr/>
        </p:nvSpPr>
        <p:spPr>
          <a:xfrm>
            <a:off x="4622800" y="3913832"/>
            <a:ext cx="30871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-stub</a:t>
            </a:r>
            <a:endParaRPr lang="en-US" sz="1400" dirty="0"/>
          </a:p>
        </p:txBody>
      </p:sp>
      <p:sp>
        <p:nvSpPr>
          <p:cNvPr id="12" name="Text 10"/>
          <p:cNvSpPr/>
          <p:nvPr/>
        </p:nvSpPr>
        <p:spPr>
          <a:xfrm>
            <a:off x="4622800" y="4177953"/>
            <a:ext cx="308711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Runs no tools: placeholder files check that every step connects.</a:t>
            </a:r>
            <a:endParaRPr lang="en-US" sz="1300" dirty="0"/>
          </a:p>
        </p:txBody>
      </p:sp>
      <p:sp>
        <p:nvSpPr>
          <p:cNvPr id="13" name="Shape 11"/>
          <p:cNvSpPr/>
          <p:nvPr/>
        </p:nvSpPr>
        <p:spPr>
          <a:xfrm>
            <a:off x="7975600" y="3761432"/>
            <a:ext cx="3403600" cy="1014611"/>
          </a:xfrm>
          <a:prstGeom prst="roundRect">
            <a:avLst>
              <a:gd name="adj" fmla="val 5007"/>
            </a:avLst>
          </a:prstGeom>
          <a:solidFill>
            <a:srgbClr val="FFFFFF"/>
          </a:solidFill>
          <a:ln/>
        </p:spPr>
        <p:txBody>
          <a:bodyPr/>
          <a:lstStyle/>
          <a:p>
            <a:endParaRPr lang="en-KE"/>
          </a:p>
        </p:txBody>
      </p:sp>
      <p:sp>
        <p:nvSpPr>
          <p:cNvPr id="14" name="Shape 12"/>
          <p:cNvSpPr/>
          <p:nvPr/>
        </p:nvSpPr>
        <p:spPr>
          <a:xfrm>
            <a:off x="7975600" y="3761432"/>
            <a:ext cx="3403600" cy="1014611"/>
          </a:xfrm>
          <a:custGeom>
            <a:avLst/>
            <a:gdLst/>
            <a:ahLst/>
            <a:cxnLst/>
            <a:rect l="l" t="t" r="r" b="b"/>
            <a:pathLst>
              <a:path w="3403600" h="1014611">
                <a:moveTo>
                  <a:pt x="50800" y="1014611"/>
                </a:moveTo>
                <a:lnTo>
                  <a:pt x="50800" y="1014611"/>
                </a:lnTo>
                <a:arcTo wR="50800" hR="50800" stAng="5400000" swAng="5400000"/>
                <a:lnTo>
                  <a:pt x="0" y="50800"/>
                </a:lnTo>
                <a:arcTo wR="50800" hR="50800" stAng="10800000" swAng="5400000"/>
                <a:lnTo>
                  <a:pt x="50800" y="0"/>
                </a:lnTo>
                <a:lnTo>
                  <a:pt x="50800" y="1014611"/>
                </a:lnTo>
                <a:close/>
              </a:path>
            </a:pathLst>
          </a:custGeom>
          <a:solidFill>
            <a:srgbClr val="273003"/>
          </a:solidFill>
          <a:ln/>
        </p:spPr>
        <p:txBody>
          <a:bodyPr/>
          <a:lstStyle/>
          <a:p>
            <a:endParaRPr lang="en-KE"/>
          </a:p>
        </p:txBody>
      </p:sp>
      <p:sp>
        <p:nvSpPr>
          <p:cNvPr id="15" name="Text 13"/>
          <p:cNvSpPr/>
          <p:nvPr/>
        </p:nvSpPr>
        <p:spPr>
          <a:xfrm>
            <a:off x="8204200" y="3913832"/>
            <a:ext cx="30871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73003"/>
                </a:solidFill>
                <a:latin typeface="Carlito" pitchFamily="34" charset="0"/>
                <a:ea typeface="Carlito" pitchFamily="34" charset="-122"/>
                <a:cs typeface="Carlito" pitchFamily="34" charset="-120"/>
              </a:rPr>
              <a:t>Seconds, not hours</a:t>
            </a:r>
            <a:endParaRPr lang="en-US" sz="1400" dirty="0"/>
          </a:p>
        </p:txBody>
      </p:sp>
      <p:sp>
        <p:nvSpPr>
          <p:cNvPr id="16" name="Text 14"/>
          <p:cNvSpPr/>
          <p:nvPr/>
        </p:nvSpPr>
        <p:spPr>
          <a:xfrm>
            <a:off x="8204200" y="4177953"/>
            <a:ext cx="308711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A safe first check before any real run.</a:t>
            </a:r>
            <a:endParaRPr lang="en-US" sz="1300" dirty="0"/>
          </a:p>
        </p:txBody>
      </p:sp>
      <p:pic>
        <p:nvPicPr>
          <p:cNvPr id="1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Exercise: change a setting and resume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2702123"/>
          </a:xfrm>
          <a:prstGeom prst="roundRect">
            <a:avLst>
              <a:gd name="adj" fmla="val 2820"/>
            </a:avLst>
          </a:prstGeom>
          <a:solidFill>
            <a:srgbClr val="273003"/>
          </a:solidFill>
          <a:ln/>
        </p:spPr>
        <p:txBody>
          <a:bodyPr wrap="square" lIns="206282" tIns="155482" rIns="0" bIns="130082" rtlCol="0" anchor="t">
            <a:normAutofit/>
          </a:bodyPr>
          <a:lstStyle/>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1. Only the setting you change: fastp minimum read length 50 → 75</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cat &gt; my_settings.config &lt;&lt;'CFG'</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process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withName: 'FASTP'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ext.args = '--qualified_quality_phred 20 --length_required 75'</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CFG</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2. Same test run, plus your config and -resume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nextflow run $SHARED/neonatal-amr-nf/main.nf -profile test,singularity -c $SITE_CONFIG -stub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--outdir test_results -c my_settings.config -resume</a:t>
            </a:r>
            <a:endParaRPr lang="en-US" sz="1200" dirty="0"/>
          </a:p>
        </p:txBody>
      </p:sp>
      <p:sp>
        <p:nvSpPr>
          <p:cNvPr id="5" name="Shape 3"/>
          <p:cNvSpPr/>
          <p:nvPr/>
        </p:nvSpPr>
        <p:spPr>
          <a:xfrm>
            <a:off x="838200" y="4614714"/>
            <a:ext cx="0" cy="375890"/>
          </a:xfrm>
          <a:prstGeom prst="line">
            <a:avLst/>
          </a:prstGeom>
          <a:noFill/>
          <a:ln w="50800">
            <a:solidFill>
              <a:srgbClr val="891F15"/>
            </a:solidFill>
            <a:prstDash val="solid"/>
          </a:ln>
        </p:spPr>
        <p:txBody>
          <a:bodyPr/>
          <a:lstStyle/>
          <a:p>
            <a:endParaRPr lang="en-KE"/>
          </a:p>
        </p:txBody>
      </p:sp>
      <p:sp>
        <p:nvSpPr>
          <p:cNvPr id="6" name="Text 4"/>
          <p:cNvSpPr/>
          <p:nvPr/>
        </p:nvSpPr>
        <p:spPr>
          <a:xfrm>
            <a:off x="1041400" y="4665514"/>
            <a:ext cx="5626261"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Which steps re-ran, and which were reused from the cache? Why?</a:t>
            </a:r>
            <a:endParaRPr lang="en-US" sz="1600" dirty="0"/>
          </a:p>
        </p:txBody>
      </p:sp>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9"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7300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C2CA6E"/>
                </a:solidFill>
                <a:latin typeface="Carlito" pitchFamily="34" charset="0"/>
                <a:ea typeface="Carlito" pitchFamily="34" charset="-122"/>
                <a:cs typeface="Carlito" pitchFamily="34" charset="-120"/>
              </a:rPr>
              <a:t>SESSION 4 · 15:30–17:00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Run it on your country's genomes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2B0"/>
                </a:solidFill>
                <a:latin typeface="Carlito" pitchFamily="34" charset="0"/>
                <a:ea typeface="Carlito" pitchFamily="34" charset="-122"/>
                <a:cs typeface="Carlito" pitchFamily="34" charset="-120"/>
              </a:rPr>
              <a:t>From contigs and metadata to results: one run per country and species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5 · Running the pipeline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Starting from assemblies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607790"/>
            <a:ext cx="10566400" cy="408930"/>
          </a:xfrm>
          <a:prstGeom prst="roundRect">
            <a:avLst>
              <a:gd name="adj" fmla="val 12423"/>
            </a:avLst>
          </a:prstGeom>
          <a:solidFill>
            <a:srgbClr val="273003"/>
          </a:solidFill>
          <a:ln/>
        </p:spPr>
        <p:txBody>
          <a:bodyPr/>
          <a:lstStyle/>
          <a:p>
            <a:endParaRPr lang="en-KE"/>
          </a:p>
        </p:txBody>
      </p:sp>
      <p:sp>
        <p:nvSpPr>
          <p:cNvPr id="5" name="Text 3"/>
          <p:cNvSpPr/>
          <p:nvPr/>
        </p:nvSpPr>
        <p:spPr>
          <a:xfrm>
            <a:off x="990600" y="1705570"/>
            <a:ext cx="104735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YOUR INPUT</a:t>
            </a:r>
            <a:endParaRPr lang="en-US" sz="1200" dirty="0"/>
          </a:p>
        </p:txBody>
      </p:sp>
      <p:sp>
        <p:nvSpPr>
          <p:cNvPr id="6" name="Text 4"/>
          <p:cNvSpPr/>
          <p:nvPr/>
        </p:nvSpPr>
        <p:spPr>
          <a:xfrm>
            <a:off x="2037953" y="1696690"/>
            <a:ext cx="7949267"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9F2EA"/>
                </a:solidFill>
                <a:latin typeface="Carlito" pitchFamily="34" charset="0"/>
                <a:ea typeface="Carlito" pitchFamily="34" charset="-122"/>
                <a:cs typeface="Carlito" pitchFamily="34" charset="-120"/>
              </a:rPr>
              <a:t>Contigs, one FASTA per isolate, listed in an </a:t>
            </a:r>
            <a:r>
              <a:rPr lang="en-US" sz="1300" b="1" dirty="0">
                <a:solidFill>
                  <a:srgbClr val="F9F2EA"/>
                </a:solidFill>
                <a:latin typeface="Carlito" pitchFamily="34" charset="0"/>
                <a:ea typeface="Carlito" pitchFamily="34" charset="-122"/>
                <a:cs typeface="Carlito" pitchFamily="34" charset="-120"/>
              </a:rPr>
              <a:t>assembly samplesheet</a:t>
            </a:r>
            <a:r>
              <a:rPr lang="en-US" sz="1300" dirty="0">
                <a:solidFill>
                  <a:srgbClr val="F9F2EA"/>
                </a:solidFill>
                <a:latin typeface="Carlito" pitchFamily="34" charset="0"/>
                <a:ea typeface="Carlito" pitchFamily="34" charset="-122"/>
                <a:cs typeface="Carlito" pitchFamily="34" charset="-120"/>
              </a:rPr>
              <a:t> (a </a:t>
            </a:r>
            <a:r>
              <a:rPr lang="en-US" sz="1300" b="1" dirty="0">
                <a:solidFill>
                  <a:srgbClr val="F9F2EA"/>
                </a:solidFill>
                <a:latin typeface="Carlito" pitchFamily="34" charset="0"/>
                <a:ea typeface="Carlito" pitchFamily="34" charset="-122"/>
                <a:cs typeface="Carlito" pitchFamily="34" charset="-120"/>
              </a:rPr>
              <a:t>fasta</a:t>
            </a:r>
            <a:r>
              <a:rPr lang="en-US" sz="1300" dirty="0">
                <a:solidFill>
                  <a:srgbClr val="F9F2EA"/>
                </a:solidFill>
                <a:latin typeface="Carlito" pitchFamily="34" charset="0"/>
                <a:ea typeface="Carlito" pitchFamily="34" charset="-122"/>
                <a:cs typeface="Carlito" pitchFamily="34" charset="-120"/>
              </a:rPr>
              <a:t> column instead of reads)</a:t>
            </a:r>
            <a:endParaRPr lang="en-US" sz="1300" dirty="0"/>
          </a:p>
        </p:txBody>
      </p:sp>
      <p:sp>
        <p:nvSpPr>
          <p:cNvPr id="7" name="Shape 5"/>
          <p:cNvSpPr/>
          <p:nvPr/>
        </p:nvSpPr>
        <p:spPr>
          <a:xfrm>
            <a:off x="819150" y="2175470"/>
            <a:ext cx="1877020" cy="1955602"/>
          </a:xfrm>
          <a:prstGeom prst="roundRect">
            <a:avLst>
              <a:gd name="adj" fmla="val 2368"/>
            </a:avLst>
          </a:prstGeom>
          <a:solidFill>
            <a:srgbClr val="EDE5DA"/>
          </a:solidFill>
          <a:ln w="12700">
            <a:solidFill>
              <a:srgbClr val="B3A79A"/>
            </a:solidFill>
            <a:prstDash val="dash"/>
          </a:ln>
        </p:spPr>
        <p:txBody>
          <a:bodyPr/>
          <a:lstStyle/>
          <a:p>
            <a:endParaRPr lang="en-KE"/>
          </a:p>
        </p:txBody>
      </p:sp>
      <p:sp>
        <p:nvSpPr>
          <p:cNvPr id="8" name="Text 6"/>
          <p:cNvSpPr/>
          <p:nvPr/>
        </p:nvSpPr>
        <p:spPr>
          <a:xfrm>
            <a:off x="939800" y="2296120"/>
            <a:ext cx="168652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B6460"/>
                </a:solidFill>
                <a:latin typeface="Carlito" pitchFamily="34" charset="0"/>
                <a:ea typeface="Carlito" pitchFamily="34" charset="-122"/>
                <a:cs typeface="Carlito" pitchFamily="34" charset="-120"/>
              </a:rPr>
              <a:t>READ_QC</a:t>
            </a:r>
            <a:endParaRPr lang="en-US" sz="1300" dirty="0"/>
          </a:p>
        </p:txBody>
      </p:sp>
      <p:sp>
        <p:nvSpPr>
          <p:cNvPr id="9" name="Text 7"/>
          <p:cNvSpPr/>
          <p:nvPr/>
        </p:nvSpPr>
        <p:spPr>
          <a:xfrm>
            <a:off x="939800" y="2578050"/>
            <a:ext cx="16865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1</a:t>
            </a:r>
            <a:endParaRPr lang="en-US" sz="1200" dirty="0"/>
          </a:p>
        </p:txBody>
      </p:sp>
      <p:sp>
        <p:nvSpPr>
          <p:cNvPr id="10" name="Text 8"/>
          <p:cNvSpPr/>
          <p:nvPr/>
        </p:nvSpPr>
        <p:spPr>
          <a:xfrm>
            <a:off x="939800" y="2842171"/>
            <a:ext cx="1686520" cy="421580"/>
          </a:xfrm>
          <a:prstGeom prst="rect">
            <a:avLst/>
          </a:prstGeom>
          <a:noFill/>
          <a:ln/>
        </p:spPr>
        <p:txBody>
          <a:bodyPr wrap="square" lIns="0" tIns="0" rIns="0" bIns="0" rtlCol="0" anchor="t">
            <a:normAutofit/>
          </a:bodyPr>
          <a:lstStyle/>
          <a:p>
            <a:pPr marL="0" indent="0" algn="l">
              <a:lnSpc>
                <a:spcPts val="1560"/>
              </a:lnSpc>
              <a:buNone/>
            </a:pPr>
            <a:r>
              <a:rPr lang="en-US" sz="1200" strike="sngStrike" dirty="0">
                <a:solidFill>
                  <a:srgbClr val="6B6460"/>
                </a:solidFill>
                <a:latin typeface="Carlito" pitchFamily="34" charset="0"/>
                <a:ea typeface="Carlito" pitchFamily="34" charset="-122"/>
                <a:cs typeface="Carlito" pitchFamily="34" charset="-120"/>
              </a:rPr>
              <a:t>FASTP, KRAKEN2, FILTLONG</a:t>
            </a:r>
            <a:endParaRPr lang="en-US" sz="1200" dirty="0"/>
          </a:p>
        </p:txBody>
      </p:sp>
      <p:sp>
        <p:nvSpPr>
          <p:cNvPr id="11" name="Text 9"/>
          <p:cNvSpPr/>
          <p:nvPr/>
        </p:nvSpPr>
        <p:spPr>
          <a:xfrm>
            <a:off x="939800" y="3289151"/>
            <a:ext cx="16865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91F15"/>
                </a:solidFill>
                <a:latin typeface="Carlito" pitchFamily="34" charset="0"/>
                <a:ea typeface="Carlito" pitchFamily="34" charset="-122"/>
                <a:cs typeface="Carlito" pitchFamily="34" charset="-120"/>
              </a:rPr>
              <a:t>Skipped: no reads</a:t>
            </a:r>
            <a:endParaRPr lang="en-US" sz="1200" dirty="0"/>
          </a:p>
        </p:txBody>
      </p:sp>
      <p:pic>
        <p:nvPicPr>
          <p:cNvPr id="12" name="Image 0" descr="arrow-right"/>
          <p:cNvPicPr>
            <a:picLocks noChangeAspect="1"/>
          </p:cNvPicPr>
          <p:nvPr/>
        </p:nvPicPr>
        <p:blipFill>
          <a:blip r:embed="rId3"/>
          <a:srcRect/>
          <a:stretch/>
        </p:blipFill>
        <p:spPr>
          <a:xfrm>
            <a:off x="2753320" y="3089771"/>
            <a:ext cx="203200" cy="127000"/>
          </a:xfrm>
          <a:prstGeom prst="rect">
            <a:avLst/>
          </a:prstGeom>
        </p:spPr>
      </p:pic>
      <p:sp>
        <p:nvSpPr>
          <p:cNvPr id="13" name="Shape 10"/>
          <p:cNvSpPr/>
          <p:nvPr/>
        </p:nvSpPr>
        <p:spPr>
          <a:xfrm>
            <a:off x="3007320" y="2169120"/>
            <a:ext cx="1864370" cy="1968302"/>
          </a:xfrm>
          <a:prstGeom prst="roundRect">
            <a:avLst>
              <a:gd name="adj" fmla="val 2725"/>
            </a:avLst>
          </a:prstGeom>
          <a:solidFill>
            <a:srgbClr val="FFFFFF"/>
          </a:solidFill>
          <a:ln/>
        </p:spPr>
        <p:txBody>
          <a:bodyPr/>
          <a:lstStyle/>
          <a:p>
            <a:endParaRPr lang="en-KE"/>
          </a:p>
        </p:txBody>
      </p:sp>
      <p:sp>
        <p:nvSpPr>
          <p:cNvPr id="14" name="Shape 11"/>
          <p:cNvSpPr/>
          <p:nvPr/>
        </p:nvSpPr>
        <p:spPr>
          <a:xfrm>
            <a:off x="3007320" y="2169120"/>
            <a:ext cx="1864370" cy="1968302"/>
          </a:xfrm>
          <a:custGeom>
            <a:avLst/>
            <a:gdLst/>
            <a:ahLst/>
            <a:cxnLst/>
            <a:rect l="l" t="t" r="r" b="b"/>
            <a:pathLst>
              <a:path w="1864370" h="1968302">
                <a:moveTo>
                  <a:pt x="0" y="50800"/>
                </a:moveTo>
                <a:lnTo>
                  <a:pt x="0" y="50800"/>
                </a:lnTo>
                <a:arcTo wR="50800" hR="50800" stAng="10800000" swAng="5400000"/>
                <a:lnTo>
                  <a:pt x="1813570" y="0"/>
                </a:lnTo>
                <a:arcTo wR="50800" hR="50800" stAng="16200000" swAng="5400000"/>
                <a:lnTo>
                  <a:pt x="1864370" y="50800"/>
                </a:lnTo>
                <a:lnTo>
                  <a:pt x="0" y="50800"/>
                </a:lnTo>
                <a:close/>
              </a:path>
            </a:pathLst>
          </a:custGeom>
          <a:solidFill>
            <a:srgbClr val="273003"/>
          </a:solidFill>
          <a:ln/>
        </p:spPr>
        <p:txBody>
          <a:bodyPr/>
          <a:lstStyle/>
          <a:p>
            <a:endParaRPr lang="en-KE"/>
          </a:p>
        </p:txBody>
      </p:sp>
      <p:sp>
        <p:nvSpPr>
          <p:cNvPr id="15" name="Text 12"/>
          <p:cNvSpPr/>
          <p:nvPr/>
        </p:nvSpPr>
        <p:spPr>
          <a:xfrm>
            <a:off x="3121620" y="2334220"/>
            <a:ext cx="16865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73003"/>
                </a:solidFill>
                <a:latin typeface="Carlito" pitchFamily="34" charset="0"/>
                <a:ea typeface="Carlito" pitchFamily="34" charset="-122"/>
                <a:cs typeface="Carlito" pitchFamily="34" charset="-120"/>
              </a:rPr>
              <a:t>ASSEMBLY</a:t>
            </a:r>
            <a:endParaRPr lang="en-US" sz="1300" dirty="0"/>
          </a:p>
        </p:txBody>
      </p:sp>
      <p:sp>
        <p:nvSpPr>
          <p:cNvPr id="16" name="Text 13"/>
          <p:cNvSpPr/>
          <p:nvPr/>
        </p:nvSpPr>
        <p:spPr>
          <a:xfrm>
            <a:off x="3121620" y="2616150"/>
            <a:ext cx="16865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2</a:t>
            </a:r>
            <a:endParaRPr lang="en-US" sz="1200" dirty="0"/>
          </a:p>
        </p:txBody>
      </p:sp>
      <p:sp>
        <p:nvSpPr>
          <p:cNvPr id="17" name="Text 14"/>
          <p:cNvSpPr/>
          <p:nvPr/>
        </p:nvSpPr>
        <p:spPr>
          <a:xfrm>
            <a:off x="3121620" y="2880271"/>
            <a:ext cx="1686570" cy="223490"/>
          </a:xfrm>
          <a:prstGeom prst="rect">
            <a:avLst/>
          </a:prstGeom>
          <a:noFill/>
          <a:ln/>
        </p:spPr>
        <p:txBody>
          <a:bodyPr wrap="square" lIns="0" tIns="0" rIns="0" bIns="0" rtlCol="0" anchor="t">
            <a:normAutofit/>
          </a:bodyPr>
          <a:lstStyle/>
          <a:p>
            <a:pPr marL="0" indent="0" algn="l">
              <a:lnSpc>
                <a:spcPts val="1560"/>
              </a:lnSpc>
              <a:buNone/>
            </a:pPr>
            <a:r>
              <a:rPr lang="en-US" sz="1200" strike="sngStrike" dirty="0">
                <a:solidFill>
                  <a:srgbClr val="6B6460"/>
                </a:solidFill>
                <a:latin typeface="Carlito" pitchFamily="34" charset="0"/>
                <a:ea typeface="Carlito" pitchFamily="34" charset="-122"/>
                <a:cs typeface="Carlito" pitchFamily="34" charset="-120"/>
              </a:rPr>
              <a:t>SHOVILL, AUTOCYCLER</a:t>
            </a:r>
            <a:endParaRPr lang="en-US" sz="1200" dirty="0"/>
          </a:p>
        </p:txBody>
      </p:sp>
      <p:sp>
        <p:nvSpPr>
          <p:cNvPr id="18" name="Text 15"/>
          <p:cNvSpPr/>
          <p:nvPr/>
        </p:nvSpPr>
        <p:spPr>
          <a:xfrm>
            <a:off x="3121620" y="3129161"/>
            <a:ext cx="1686570" cy="421580"/>
          </a:xfrm>
          <a:prstGeom prst="rect">
            <a:avLst/>
          </a:prstGeom>
          <a:noFill/>
          <a:ln/>
        </p:spPr>
        <p:txBody>
          <a:bodyPr wrap="square" lIns="0" tIns="0" rIns="0" bIns="0" rtlCol="0" anchor="t">
            <a:normAutofit/>
          </a:bodyPr>
          <a:lstStyle/>
          <a:p>
            <a:pPr marL="0" indent="0" algn="l">
              <a:lnSpc>
                <a:spcPts val="1560"/>
              </a:lnSpc>
              <a:buNone/>
            </a:pPr>
            <a:r>
              <a:rPr lang="en-US" sz="1200" b="1" dirty="0">
                <a:solidFill>
                  <a:srgbClr val="3A322C"/>
                </a:solidFill>
                <a:latin typeface="Carlito" pitchFamily="34" charset="0"/>
                <a:ea typeface="Carlito" pitchFamily="34" charset="-122"/>
                <a:cs typeface="Carlito" pitchFamily="34" charset="-120"/>
              </a:rPr>
              <a:t>Your contigs</a:t>
            </a:r>
            <a:r>
              <a:rPr lang="en-US" sz="1200" dirty="0">
                <a:solidFill>
                  <a:srgbClr val="3A322C"/>
                </a:solidFill>
                <a:latin typeface="Carlito" pitchFamily="34" charset="0"/>
                <a:ea typeface="Carlito" pitchFamily="34" charset="-122"/>
                <a:cs typeface="Carlito" pitchFamily="34" charset="-120"/>
              </a:rPr>
              <a:t> are used as given</a:t>
            </a:r>
            <a:endParaRPr lang="en-US" sz="1200" dirty="0"/>
          </a:p>
        </p:txBody>
      </p:sp>
      <p:sp>
        <p:nvSpPr>
          <p:cNvPr id="19" name="Text 16"/>
          <p:cNvSpPr/>
          <p:nvPr/>
        </p:nvSpPr>
        <p:spPr>
          <a:xfrm>
            <a:off x="3121620" y="357614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QUAST</a:t>
            </a:r>
            <a:endParaRPr lang="en-US" sz="1200" dirty="0"/>
          </a:p>
        </p:txBody>
      </p:sp>
      <p:pic>
        <p:nvPicPr>
          <p:cNvPr id="20" name="Image 1" descr="arrow-right"/>
          <p:cNvPicPr>
            <a:picLocks noChangeAspect="1"/>
          </p:cNvPicPr>
          <p:nvPr/>
        </p:nvPicPr>
        <p:blipFill>
          <a:blip r:embed="rId3"/>
          <a:srcRect/>
          <a:stretch/>
        </p:blipFill>
        <p:spPr>
          <a:xfrm>
            <a:off x="4922490" y="3089771"/>
            <a:ext cx="203200" cy="127000"/>
          </a:xfrm>
          <a:prstGeom prst="rect">
            <a:avLst/>
          </a:prstGeom>
        </p:spPr>
      </p:pic>
      <p:sp>
        <p:nvSpPr>
          <p:cNvPr id="21" name="Shape 17"/>
          <p:cNvSpPr/>
          <p:nvPr/>
        </p:nvSpPr>
        <p:spPr>
          <a:xfrm>
            <a:off x="5176490" y="2169120"/>
            <a:ext cx="1864370" cy="1968302"/>
          </a:xfrm>
          <a:prstGeom prst="roundRect">
            <a:avLst>
              <a:gd name="adj" fmla="val 2725"/>
            </a:avLst>
          </a:prstGeom>
          <a:solidFill>
            <a:srgbClr val="FFFFFF"/>
          </a:solidFill>
          <a:ln/>
        </p:spPr>
        <p:txBody>
          <a:bodyPr/>
          <a:lstStyle/>
          <a:p>
            <a:endParaRPr lang="en-KE"/>
          </a:p>
        </p:txBody>
      </p:sp>
      <p:sp>
        <p:nvSpPr>
          <p:cNvPr id="22" name="Shape 18"/>
          <p:cNvSpPr/>
          <p:nvPr/>
        </p:nvSpPr>
        <p:spPr>
          <a:xfrm>
            <a:off x="5176490" y="2169120"/>
            <a:ext cx="1864370" cy="1968302"/>
          </a:xfrm>
          <a:custGeom>
            <a:avLst/>
            <a:gdLst/>
            <a:ahLst/>
            <a:cxnLst/>
            <a:rect l="l" t="t" r="r" b="b"/>
            <a:pathLst>
              <a:path w="1864370" h="1968302">
                <a:moveTo>
                  <a:pt x="0" y="50800"/>
                </a:moveTo>
                <a:lnTo>
                  <a:pt x="0" y="50800"/>
                </a:lnTo>
                <a:arcTo wR="50800" hR="50800" stAng="10800000" swAng="5400000"/>
                <a:lnTo>
                  <a:pt x="1813570" y="0"/>
                </a:lnTo>
                <a:arcTo wR="50800" hR="50800" stAng="16200000" swAng="5400000"/>
                <a:lnTo>
                  <a:pt x="1864370" y="50800"/>
                </a:lnTo>
                <a:lnTo>
                  <a:pt x="0" y="50800"/>
                </a:lnTo>
                <a:close/>
              </a:path>
            </a:pathLst>
          </a:custGeom>
          <a:solidFill>
            <a:srgbClr val="891F15"/>
          </a:solidFill>
          <a:ln/>
        </p:spPr>
        <p:txBody>
          <a:bodyPr/>
          <a:lstStyle/>
          <a:p>
            <a:endParaRPr lang="en-KE"/>
          </a:p>
        </p:txBody>
      </p:sp>
      <p:sp>
        <p:nvSpPr>
          <p:cNvPr id="23" name="Text 19"/>
          <p:cNvSpPr/>
          <p:nvPr/>
        </p:nvSpPr>
        <p:spPr>
          <a:xfrm>
            <a:off x="5290790" y="2334220"/>
            <a:ext cx="16865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91F15"/>
                </a:solidFill>
                <a:latin typeface="Carlito" pitchFamily="34" charset="0"/>
                <a:ea typeface="Carlito" pitchFamily="34" charset="-122"/>
                <a:cs typeface="Carlito" pitchFamily="34" charset="-120"/>
              </a:rPr>
              <a:t>TYPING_AMR</a:t>
            </a:r>
            <a:endParaRPr lang="en-US" sz="1300" dirty="0"/>
          </a:p>
        </p:txBody>
      </p:sp>
      <p:sp>
        <p:nvSpPr>
          <p:cNvPr id="24" name="Text 20"/>
          <p:cNvSpPr/>
          <p:nvPr/>
        </p:nvSpPr>
        <p:spPr>
          <a:xfrm>
            <a:off x="5290790" y="2616150"/>
            <a:ext cx="16865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Modules 3, 4, 5, 7</a:t>
            </a:r>
            <a:endParaRPr lang="en-US" sz="1200" dirty="0"/>
          </a:p>
        </p:txBody>
      </p:sp>
      <p:sp>
        <p:nvSpPr>
          <p:cNvPr id="25" name="Text 21"/>
          <p:cNvSpPr/>
          <p:nvPr/>
        </p:nvSpPr>
        <p:spPr>
          <a:xfrm>
            <a:off x="5290790" y="288027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KLEBORATE, KAPTIVE</a:t>
            </a:r>
            <a:endParaRPr lang="en-US" sz="1200" dirty="0"/>
          </a:p>
        </p:txBody>
      </p:sp>
      <p:sp>
        <p:nvSpPr>
          <p:cNvPr id="26" name="Text 22"/>
          <p:cNvSpPr/>
          <p:nvPr/>
        </p:nvSpPr>
        <p:spPr>
          <a:xfrm>
            <a:off x="5290790" y="3129161"/>
            <a:ext cx="1686570" cy="421580"/>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3A322C"/>
                </a:solidFill>
                <a:latin typeface="Carlito" pitchFamily="34" charset="0"/>
                <a:ea typeface="Carlito" pitchFamily="34" charset="-122"/>
                <a:cs typeface="Carlito" pitchFamily="34" charset="-120"/>
              </a:rPr>
              <a:t>E. coli</a:t>
            </a:r>
            <a:r>
              <a:rPr lang="en-US" sz="1200" dirty="0">
                <a:solidFill>
                  <a:srgbClr val="3A322C"/>
                </a:solidFill>
                <a:latin typeface="Carlito" pitchFamily="34" charset="0"/>
                <a:ea typeface="Carlito" pitchFamily="34" charset="-122"/>
                <a:cs typeface="Carlito" pitchFamily="34" charset="-120"/>
              </a:rPr>
              <a:t>: ECTYPER, EZCLERMONT</a:t>
            </a:r>
            <a:endParaRPr lang="en-US" sz="1200" dirty="0"/>
          </a:p>
        </p:txBody>
      </p:sp>
      <p:sp>
        <p:nvSpPr>
          <p:cNvPr id="27" name="Text 23"/>
          <p:cNvSpPr/>
          <p:nvPr/>
        </p:nvSpPr>
        <p:spPr>
          <a:xfrm>
            <a:off x="5290790" y="357614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AMRFINDERPLUS</a:t>
            </a:r>
            <a:endParaRPr lang="en-US" sz="1200" dirty="0"/>
          </a:p>
        </p:txBody>
      </p:sp>
      <p:sp>
        <p:nvSpPr>
          <p:cNvPr id="28" name="Text 24"/>
          <p:cNvSpPr/>
          <p:nvPr/>
        </p:nvSpPr>
        <p:spPr>
          <a:xfrm>
            <a:off x="5290790" y="3825032"/>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MOBSUITE_RECON</a:t>
            </a:r>
            <a:endParaRPr lang="en-US" sz="1200" dirty="0"/>
          </a:p>
        </p:txBody>
      </p:sp>
      <p:pic>
        <p:nvPicPr>
          <p:cNvPr id="29" name="Image 2" descr="arrow-right"/>
          <p:cNvPicPr>
            <a:picLocks noChangeAspect="1"/>
          </p:cNvPicPr>
          <p:nvPr/>
        </p:nvPicPr>
        <p:blipFill>
          <a:blip r:embed="rId3"/>
          <a:srcRect/>
          <a:stretch/>
        </p:blipFill>
        <p:spPr>
          <a:xfrm>
            <a:off x="7091660" y="3089771"/>
            <a:ext cx="203200" cy="127000"/>
          </a:xfrm>
          <a:prstGeom prst="rect">
            <a:avLst/>
          </a:prstGeom>
        </p:spPr>
      </p:pic>
      <p:sp>
        <p:nvSpPr>
          <p:cNvPr id="30" name="Shape 25"/>
          <p:cNvSpPr/>
          <p:nvPr/>
        </p:nvSpPr>
        <p:spPr>
          <a:xfrm>
            <a:off x="7345660" y="2169120"/>
            <a:ext cx="1864370" cy="1968302"/>
          </a:xfrm>
          <a:prstGeom prst="roundRect">
            <a:avLst>
              <a:gd name="adj" fmla="val 2725"/>
            </a:avLst>
          </a:prstGeom>
          <a:solidFill>
            <a:srgbClr val="FFFFFF"/>
          </a:solidFill>
          <a:ln/>
        </p:spPr>
        <p:txBody>
          <a:bodyPr/>
          <a:lstStyle/>
          <a:p>
            <a:endParaRPr lang="en-KE"/>
          </a:p>
        </p:txBody>
      </p:sp>
      <p:sp>
        <p:nvSpPr>
          <p:cNvPr id="31" name="Shape 26"/>
          <p:cNvSpPr/>
          <p:nvPr/>
        </p:nvSpPr>
        <p:spPr>
          <a:xfrm>
            <a:off x="7345660" y="2169120"/>
            <a:ext cx="1864370" cy="1968302"/>
          </a:xfrm>
          <a:custGeom>
            <a:avLst/>
            <a:gdLst/>
            <a:ahLst/>
            <a:cxnLst/>
            <a:rect l="l" t="t" r="r" b="b"/>
            <a:pathLst>
              <a:path w="1864370" h="1968302">
                <a:moveTo>
                  <a:pt x="0" y="50800"/>
                </a:moveTo>
                <a:lnTo>
                  <a:pt x="0" y="50800"/>
                </a:lnTo>
                <a:arcTo wR="50800" hR="50800" stAng="10800000" swAng="5400000"/>
                <a:lnTo>
                  <a:pt x="1813570" y="0"/>
                </a:lnTo>
                <a:arcTo wR="50800" hR="50800" stAng="16200000" swAng="5400000"/>
                <a:lnTo>
                  <a:pt x="1864370" y="50800"/>
                </a:lnTo>
                <a:lnTo>
                  <a:pt x="0" y="50800"/>
                </a:lnTo>
                <a:close/>
              </a:path>
            </a:pathLst>
          </a:custGeom>
          <a:solidFill>
            <a:srgbClr val="891F15"/>
          </a:solidFill>
          <a:ln/>
        </p:spPr>
        <p:txBody>
          <a:bodyPr/>
          <a:lstStyle/>
          <a:p>
            <a:endParaRPr lang="en-KE"/>
          </a:p>
        </p:txBody>
      </p:sp>
      <p:sp>
        <p:nvSpPr>
          <p:cNvPr id="32" name="Text 27"/>
          <p:cNvSpPr/>
          <p:nvPr/>
        </p:nvSpPr>
        <p:spPr>
          <a:xfrm>
            <a:off x="7459960" y="2334220"/>
            <a:ext cx="16865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891F15"/>
                </a:solidFill>
                <a:latin typeface="Carlito" pitchFamily="34" charset="0"/>
                <a:ea typeface="Carlito" pitchFamily="34" charset="-122"/>
                <a:cs typeface="Carlito" pitchFamily="34" charset="-120"/>
              </a:rPr>
              <a:t>PHYLOGENY</a:t>
            </a:r>
            <a:endParaRPr lang="en-US" sz="1300" dirty="0"/>
          </a:p>
        </p:txBody>
      </p:sp>
      <p:sp>
        <p:nvSpPr>
          <p:cNvPr id="33" name="Text 28"/>
          <p:cNvSpPr/>
          <p:nvPr/>
        </p:nvSpPr>
        <p:spPr>
          <a:xfrm>
            <a:off x="7459960" y="2616150"/>
            <a:ext cx="16865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a:t>
            </a:r>
            <a:endParaRPr lang="en-US" sz="1200" dirty="0"/>
          </a:p>
        </p:txBody>
      </p:sp>
      <p:sp>
        <p:nvSpPr>
          <p:cNvPr id="34" name="Text 29"/>
          <p:cNvSpPr/>
          <p:nvPr/>
        </p:nvSpPr>
        <p:spPr>
          <a:xfrm>
            <a:off x="7459960" y="2880271"/>
            <a:ext cx="168657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SNIPPY_CONTIGS maps the contigs (snippy --ctgs)</a:t>
            </a:r>
            <a:endParaRPr lang="en-US" sz="1200" dirty="0"/>
          </a:p>
        </p:txBody>
      </p:sp>
      <p:sp>
        <p:nvSpPr>
          <p:cNvPr id="35" name="Text 30"/>
          <p:cNvSpPr/>
          <p:nvPr/>
        </p:nvSpPr>
        <p:spPr>
          <a:xfrm>
            <a:off x="7459960" y="332725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GUBBINS → IQTREE</a:t>
            </a:r>
            <a:endParaRPr lang="en-US" sz="1200" dirty="0"/>
          </a:p>
        </p:txBody>
      </p:sp>
      <p:sp>
        <p:nvSpPr>
          <p:cNvPr id="36" name="Text 31"/>
          <p:cNvSpPr/>
          <p:nvPr/>
        </p:nvSpPr>
        <p:spPr>
          <a:xfrm>
            <a:off x="7459960" y="357614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SNPDISTS</a:t>
            </a:r>
            <a:endParaRPr lang="en-US" sz="1200" dirty="0"/>
          </a:p>
        </p:txBody>
      </p:sp>
      <p:pic>
        <p:nvPicPr>
          <p:cNvPr id="37" name="Image 3" descr="arrow-right"/>
          <p:cNvPicPr>
            <a:picLocks noChangeAspect="1"/>
          </p:cNvPicPr>
          <p:nvPr/>
        </p:nvPicPr>
        <p:blipFill>
          <a:blip r:embed="rId3"/>
          <a:srcRect/>
          <a:stretch/>
        </p:blipFill>
        <p:spPr>
          <a:xfrm>
            <a:off x="9260830" y="3089771"/>
            <a:ext cx="203200" cy="127000"/>
          </a:xfrm>
          <a:prstGeom prst="rect">
            <a:avLst/>
          </a:prstGeom>
        </p:spPr>
      </p:pic>
      <p:sp>
        <p:nvSpPr>
          <p:cNvPr id="38" name="Shape 32"/>
          <p:cNvSpPr/>
          <p:nvPr/>
        </p:nvSpPr>
        <p:spPr>
          <a:xfrm>
            <a:off x="9514830" y="2169120"/>
            <a:ext cx="1864370" cy="1968302"/>
          </a:xfrm>
          <a:prstGeom prst="roundRect">
            <a:avLst>
              <a:gd name="adj" fmla="val 2725"/>
            </a:avLst>
          </a:prstGeom>
          <a:solidFill>
            <a:srgbClr val="FFFFFF"/>
          </a:solidFill>
          <a:ln/>
        </p:spPr>
        <p:txBody>
          <a:bodyPr/>
          <a:lstStyle/>
          <a:p>
            <a:endParaRPr lang="en-KE"/>
          </a:p>
        </p:txBody>
      </p:sp>
      <p:sp>
        <p:nvSpPr>
          <p:cNvPr id="39" name="Shape 33"/>
          <p:cNvSpPr/>
          <p:nvPr/>
        </p:nvSpPr>
        <p:spPr>
          <a:xfrm>
            <a:off x="9514830" y="2169120"/>
            <a:ext cx="1864370" cy="1968302"/>
          </a:xfrm>
          <a:custGeom>
            <a:avLst/>
            <a:gdLst/>
            <a:ahLst/>
            <a:cxnLst/>
            <a:rect l="l" t="t" r="r" b="b"/>
            <a:pathLst>
              <a:path w="1864370" h="1968302">
                <a:moveTo>
                  <a:pt x="0" y="50800"/>
                </a:moveTo>
                <a:lnTo>
                  <a:pt x="0" y="50800"/>
                </a:lnTo>
                <a:arcTo wR="50800" hR="50800" stAng="10800000" swAng="5400000"/>
                <a:lnTo>
                  <a:pt x="1813570" y="0"/>
                </a:lnTo>
                <a:arcTo wR="50800" hR="50800" stAng="16200000" swAng="5400000"/>
                <a:lnTo>
                  <a:pt x="1864370" y="50800"/>
                </a:lnTo>
                <a:lnTo>
                  <a:pt x="0" y="50800"/>
                </a:lnTo>
                <a:close/>
              </a:path>
            </a:pathLst>
          </a:custGeom>
          <a:solidFill>
            <a:srgbClr val="6D2637"/>
          </a:solidFill>
          <a:ln/>
        </p:spPr>
        <p:txBody>
          <a:bodyPr/>
          <a:lstStyle/>
          <a:p>
            <a:endParaRPr lang="en-KE"/>
          </a:p>
        </p:txBody>
      </p:sp>
      <p:sp>
        <p:nvSpPr>
          <p:cNvPr id="40" name="Text 34"/>
          <p:cNvSpPr/>
          <p:nvPr/>
        </p:nvSpPr>
        <p:spPr>
          <a:xfrm>
            <a:off x="9629130" y="2334220"/>
            <a:ext cx="168657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D2637"/>
                </a:solidFill>
                <a:latin typeface="Carlito" pitchFamily="34" charset="0"/>
                <a:ea typeface="Carlito" pitchFamily="34" charset="-122"/>
                <a:cs typeface="Carlito" pitchFamily="34" charset="-120"/>
              </a:rPr>
              <a:t>REPORTS</a:t>
            </a:r>
            <a:endParaRPr lang="en-US" sz="1300" dirty="0"/>
          </a:p>
        </p:txBody>
      </p:sp>
      <p:sp>
        <p:nvSpPr>
          <p:cNvPr id="41" name="Text 35"/>
          <p:cNvSpPr/>
          <p:nvPr/>
        </p:nvSpPr>
        <p:spPr>
          <a:xfrm>
            <a:off x="9629130" y="2616150"/>
            <a:ext cx="16865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All modules</a:t>
            </a:r>
            <a:endParaRPr lang="en-US" sz="1200" dirty="0"/>
          </a:p>
        </p:txBody>
      </p:sp>
      <p:sp>
        <p:nvSpPr>
          <p:cNvPr id="42" name="Text 36"/>
          <p:cNvSpPr/>
          <p:nvPr/>
        </p:nvSpPr>
        <p:spPr>
          <a:xfrm>
            <a:off x="9629130" y="288027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MULTIQC</a:t>
            </a:r>
            <a:endParaRPr lang="en-US" sz="1200" dirty="0"/>
          </a:p>
        </p:txBody>
      </p:sp>
      <p:sp>
        <p:nvSpPr>
          <p:cNvPr id="43" name="Text 37"/>
          <p:cNvSpPr/>
          <p:nvPr/>
        </p:nvSpPr>
        <p:spPr>
          <a:xfrm>
            <a:off x="9629130" y="3129161"/>
            <a:ext cx="1686570" cy="22349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3A322C"/>
                </a:solidFill>
                <a:latin typeface="Carlito" pitchFamily="34" charset="0"/>
                <a:ea typeface="Carlito" pitchFamily="34" charset="-122"/>
                <a:cs typeface="Carlito" pitchFamily="34" charset="-120"/>
              </a:rPr>
              <a:t>pipeline_info</a:t>
            </a:r>
            <a:endParaRPr lang="en-US" sz="1200" dirty="0"/>
          </a:p>
        </p:txBody>
      </p:sp>
      <p:sp>
        <p:nvSpPr>
          <p:cNvPr id="44" name="Shape 38"/>
          <p:cNvSpPr/>
          <p:nvPr/>
        </p:nvSpPr>
        <p:spPr>
          <a:xfrm>
            <a:off x="838200" y="4289822"/>
            <a:ext cx="0" cy="290810"/>
          </a:xfrm>
          <a:prstGeom prst="line">
            <a:avLst/>
          </a:prstGeom>
          <a:noFill/>
          <a:ln w="50800">
            <a:solidFill>
              <a:srgbClr val="891F15"/>
            </a:solidFill>
            <a:prstDash val="solid"/>
          </a:ln>
        </p:spPr>
        <p:txBody>
          <a:bodyPr/>
          <a:lstStyle/>
          <a:p>
            <a:endParaRPr lang="en-KE"/>
          </a:p>
        </p:txBody>
      </p:sp>
      <p:sp>
        <p:nvSpPr>
          <p:cNvPr id="45" name="Text 39"/>
          <p:cNvSpPr/>
          <p:nvPr/>
        </p:nvSpPr>
        <p:spPr>
          <a:xfrm>
            <a:off x="1041400" y="4315222"/>
            <a:ext cx="7093019"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One run uses </a:t>
            </a:r>
            <a:r>
              <a:rPr lang="en-US" sz="1400" b="1" dirty="0">
                <a:solidFill>
                  <a:srgbClr val="3A322C"/>
                </a:solidFill>
                <a:latin typeface="Carlito" pitchFamily="34" charset="0"/>
                <a:ea typeface="Carlito" pitchFamily="34" charset="-122"/>
                <a:cs typeface="Carlito" pitchFamily="34" charset="-120"/>
              </a:rPr>
              <a:t>one kind of input</a:t>
            </a:r>
            <a:r>
              <a:rPr lang="en-US" sz="1400" dirty="0">
                <a:solidFill>
                  <a:srgbClr val="3A322C"/>
                </a:solidFill>
                <a:latin typeface="Carlito" pitchFamily="34" charset="0"/>
                <a:ea typeface="Carlito" pitchFamily="34" charset="-122"/>
                <a:cs typeface="Carlito" pitchFamily="34" charset="-120"/>
              </a:rPr>
              <a:t>. The pipeline sees the </a:t>
            </a:r>
            <a:r>
              <a:rPr lang="en-US" sz="1400" b="1" dirty="0">
                <a:solidFill>
                  <a:srgbClr val="3A322C"/>
                </a:solidFill>
                <a:latin typeface="Carlito" pitchFamily="34" charset="0"/>
                <a:ea typeface="Carlito" pitchFamily="34" charset="-122"/>
                <a:cs typeface="Carlito" pitchFamily="34" charset="-120"/>
              </a:rPr>
              <a:t>fasta</a:t>
            </a:r>
            <a:r>
              <a:rPr lang="en-US" sz="1400" dirty="0">
                <a:solidFill>
                  <a:srgbClr val="3A322C"/>
                </a:solidFill>
                <a:latin typeface="Carlito" pitchFamily="34" charset="0"/>
                <a:ea typeface="Carlito" pitchFamily="34" charset="-122"/>
                <a:cs typeface="Carlito" pitchFamily="34" charset="-120"/>
              </a:rPr>
              <a:t> column and switches route by itself.</a:t>
            </a:r>
            <a:endParaRPr lang="en-US" sz="1400" dirty="0"/>
          </a:p>
        </p:txBody>
      </p:sp>
      <p:pic>
        <p:nvPicPr>
          <p:cNvPr id="46" name="Image 4"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47" name="Text 4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48" name="Text 4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One run per country and species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683990"/>
            <a:ext cx="2336800" cy="1010841"/>
          </a:xfrm>
          <a:prstGeom prst="roundRect">
            <a:avLst>
              <a:gd name="adj" fmla="val 7538"/>
            </a:avLst>
          </a:prstGeom>
          <a:solidFill>
            <a:srgbClr val="273003"/>
          </a:solidFill>
          <a:ln/>
        </p:spPr>
        <p:txBody>
          <a:bodyPr/>
          <a:lstStyle/>
          <a:p>
            <a:endParaRPr lang="en-KE"/>
          </a:p>
        </p:txBody>
      </p:sp>
      <p:sp>
        <p:nvSpPr>
          <p:cNvPr id="5" name="Text 3"/>
          <p:cNvSpPr/>
          <p:nvPr/>
        </p:nvSpPr>
        <p:spPr>
          <a:xfrm>
            <a:off x="977900" y="1836390"/>
            <a:ext cx="206679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1 · COUNTRY TEAM</a:t>
            </a:r>
            <a:endParaRPr lang="en-US" sz="1200" dirty="0"/>
          </a:p>
        </p:txBody>
      </p:sp>
      <p:sp>
        <p:nvSpPr>
          <p:cNvPr id="6" name="Text 4"/>
          <p:cNvSpPr/>
          <p:nvPr/>
        </p:nvSpPr>
        <p:spPr>
          <a:xfrm>
            <a:off x="977900" y="2113211"/>
            <a:ext cx="206679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Prepares the contigs and the metadata table</a:t>
            </a:r>
            <a:endParaRPr lang="en-US" sz="1300" dirty="0"/>
          </a:p>
        </p:txBody>
      </p:sp>
      <p:pic>
        <p:nvPicPr>
          <p:cNvPr id="7" name="Image 0" descr="arrow-right"/>
          <p:cNvPicPr>
            <a:picLocks noChangeAspect="1"/>
          </p:cNvPicPr>
          <p:nvPr/>
        </p:nvPicPr>
        <p:blipFill>
          <a:blip r:embed="rId3"/>
          <a:srcRect/>
          <a:stretch/>
        </p:blipFill>
        <p:spPr>
          <a:xfrm>
            <a:off x="3225800" y="2113211"/>
            <a:ext cx="254000" cy="152400"/>
          </a:xfrm>
          <a:prstGeom prst="rect">
            <a:avLst/>
          </a:prstGeom>
        </p:spPr>
      </p:pic>
      <p:sp>
        <p:nvSpPr>
          <p:cNvPr id="8" name="Shape 5"/>
          <p:cNvSpPr/>
          <p:nvPr/>
        </p:nvSpPr>
        <p:spPr>
          <a:xfrm>
            <a:off x="3556000" y="1683990"/>
            <a:ext cx="2336800" cy="1010841"/>
          </a:xfrm>
          <a:prstGeom prst="roundRect">
            <a:avLst>
              <a:gd name="adj" fmla="val 7538"/>
            </a:avLst>
          </a:prstGeom>
          <a:solidFill>
            <a:srgbClr val="273003"/>
          </a:solidFill>
          <a:ln/>
        </p:spPr>
        <p:txBody>
          <a:bodyPr/>
          <a:lstStyle/>
          <a:p>
            <a:endParaRPr lang="en-KE"/>
          </a:p>
        </p:txBody>
      </p:sp>
      <p:sp>
        <p:nvSpPr>
          <p:cNvPr id="9" name="Text 6"/>
          <p:cNvSpPr/>
          <p:nvPr/>
        </p:nvSpPr>
        <p:spPr>
          <a:xfrm>
            <a:off x="3721100" y="1836390"/>
            <a:ext cx="206679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2 · SAMPLESHEETS</a:t>
            </a:r>
            <a:endParaRPr lang="en-US" sz="1200" dirty="0"/>
          </a:p>
        </p:txBody>
      </p:sp>
      <p:sp>
        <p:nvSpPr>
          <p:cNvPr id="10" name="Text 7"/>
          <p:cNvSpPr/>
          <p:nvPr/>
        </p:nvSpPr>
        <p:spPr>
          <a:xfrm>
            <a:off x="3721100" y="2113211"/>
            <a:ext cx="206679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One per species: </a:t>
            </a:r>
            <a:r>
              <a:rPr lang="en-US" sz="1300" i="1" dirty="0">
                <a:solidFill>
                  <a:srgbClr val="F9F2EA"/>
                </a:solidFill>
                <a:latin typeface="Carlito" pitchFamily="34" charset="0"/>
                <a:ea typeface="Carlito" pitchFamily="34" charset="-122"/>
                <a:cs typeface="Carlito" pitchFamily="34" charset="-120"/>
              </a:rPr>
              <a:t>K. pneumoniae</a:t>
            </a:r>
            <a:r>
              <a:rPr lang="en-US" sz="1300" dirty="0">
                <a:solidFill>
                  <a:srgbClr val="F9F2EA"/>
                </a:solidFill>
                <a:latin typeface="Carlito" pitchFamily="34" charset="0"/>
                <a:ea typeface="Carlito" pitchFamily="34" charset="-122"/>
                <a:cs typeface="Carlito" pitchFamily="34" charset="-120"/>
              </a:rPr>
              <a:t>, </a:t>
            </a:r>
            <a:r>
              <a:rPr lang="en-US" sz="1300" i="1" dirty="0">
                <a:solidFill>
                  <a:srgbClr val="F9F2EA"/>
                </a:solidFill>
                <a:latin typeface="Carlito" pitchFamily="34" charset="0"/>
                <a:ea typeface="Carlito" pitchFamily="34" charset="-122"/>
                <a:cs typeface="Carlito" pitchFamily="34" charset="-120"/>
              </a:rPr>
              <a:t>E. coli</a:t>
            </a:r>
            <a:endParaRPr lang="en-US" sz="1300" dirty="0"/>
          </a:p>
        </p:txBody>
      </p:sp>
      <p:pic>
        <p:nvPicPr>
          <p:cNvPr id="11" name="Image 1" descr="arrow-right"/>
          <p:cNvPicPr>
            <a:picLocks noChangeAspect="1"/>
          </p:cNvPicPr>
          <p:nvPr/>
        </p:nvPicPr>
        <p:blipFill>
          <a:blip r:embed="rId3"/>
          <a:srcRect/>
          <a:stretch/>
        </p:blipFill>
        <p:spPr>
          <a:xfrm>
            <a:off x="5969000" y="2113211"/>
            <a:ext cx="254000" cy="152400"/>
          </a:xfrm>
          <a:prstGeom prst="rect">
            <a:avLst/>
          </a:prstGeom>
        </p:spPr>
      </p:pic>
      <p:sp>
        <p:nvSpPr>
          <p:cNvPr id="12" name="Shape 8"/>
          <p:cNvSpPr/>
          <p:nvPr/>
        </p:nvSpPr>
        <p:spPr>
          <a:xfrm>
            <a:off x="6299200" y="1683990"/>
            <a:ext cx="2336800" cy="1010841"/>
          </a:xfrm>
          <a:prstGeom prst="roundRect">
            <a:avLst>
              <a:gd name="adj" fmla="val 7538"/>
            </a:avLst>
          </a:prstGeom>
          <a:solidFill>
            <a:srgbClr val="891F15"/>
          </a:solidFill>
          <a:ln/>
        </p:spPr>
        <p:txBody>
          <a:bodyPr/>
          <a:lstStyle/>
          <a:p>
            <a:endParaRPr lang="en-KE"/>
          </a:p>
        </p:txBody>
      </p:sp>
      <p:sp>
        <p:nvSpPr>
          <p:cNvPr id="13" name="Text 9"/>
          <p:cNvSpPr/>
          <p:nvPr/>
        </p:nvSpPr>
        <p:spPr>
          <a:xfrm>
            <a:off x="6464300" y="1836390"/>
            <a:ext cx="206679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3 · ONE SUBMITTER</a:t>
            </a:r>
            <a:endParaRPr lang="en-US" sz="1200" dirty="0"/>
          </a:p>
        </p:txBody>
      </p:sp>
      <p:sp>
        <p:nvSpPr>
          <p:cNvPr id="14" name="Text 10"/>
          <p:cNvSpPr/>
          <p:nvPr/>
        </p:nvSpPr>
        <p:spPr>
          <a:xfrm>
            <a:off x="6464300" y="2113211"/>
            <a:ext cx="206679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Submits the job to the HPC with sbatch</a:t>
            </a:r>
            <a:endParaRPr lang="en-US" sz="1300" dirty="0"/>
          </a:p>
        </p:txBody>
      </p:sp>
      <p:pic>
        <p:nvPicPr>
          <p:cNvPr id="15" name="Image 2" descr="arrow-right"/>
          <p:cNvPicPr>
            <a:picLocks noChangeAspect="1"/>
          </p:cNvPicPr>
          <p:nvPr/>
        </p:nvPicPr>
        <p:blipFill>
          <a:blip r:embed="rId3"/>
          <a:srcRect/>
          <a:stretch/>
        </p:blipFill>
        <p:spPr>
          <a:xfrm>
            <a:off x="8712200" y="2113211"/>
            <a:ext cx="254000" cy="152400"/>
          </a:xfrm>
          <a:prstGeom prst="rect">
            <a:avLst/>
          </a:prstGeom>
        </p:spPr>
      </p:pic>
      <p:sp>
        <p:nvSpPr>
          <p:cNvPr id="16" name="Shape 11"/>
          <p:cNvSpPr/>
          <p:nvPr/>
        </p:nvSpPr>
        <p:spPr>
          <a:xfrm>
            <a:off x="9042400" y="1683990"/>
            <a:ext cx="2336800" cy="1010841"/>
          </a:xfrm>
          <a:prstGeom prst="roundRect">
            <a:avLst>
              <a:gd name="adj" fmla="val 7538"/>
            </a:avLst>
          </a:prstGeom>
          <a:solidFill>
            <a:srgbClr val="273003"/>
          </a:solidFill>
          <a:ln/>
        </p:spPr>
        <p:txBody>
          <a:bodyPr/>
          <a:lstStyle/>
          <a:p>
            <a:endParaRPr lang="en-KE"/>
          </a:p>
        </p:txBody>
      </p:sp>
      <p:sp>
        <p:nvSpPr>
          <p:cNvPr id="17" name="Text 12"/>
          <p:cNvSpPr/>
          <p:nvPr/>
        </p:nvSpPr>
        <p:spPr>
          <a:xfrm>
            <a:off x="9207500" y="1836390"/>
            <a:ext cx="2066798"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4 · RESULTS</a:t>
            </a:r>
            <a:endParaRPr lang="en-US" sz="1200" dirty="0"/>
          </a:p>
        </p:txBody>
      </p:sp>
      <p:sp>
        <p:nvSpPr>
          <p:cNvPr id="18" name="Text 13"/>
          <p:cNvSpPr/>
          <p:nvPr/>
        </p:nvSpPr>
        <p:spPr>
          <a:xfrm>
            <a:off x="9207500" y="2113211"/>
            <a:ext cx="2066798"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F9F2EA"/>
                </a:solidFill>
                <a:latin typeface="Carlito" pitchFamily="34" charset="0"/>
                <a:ea typeface="Carlito" pitchFamily="34" charset="-122"/>
                <a:cs typeface="Carlito" pitchFamily="34" charset="-120"/>
              </a:rPr>
              <a:t>One output folder per run, back to the country team</a:t>
            </a:r>
            <a:endParaRPr lang="en-US" sz="1300" dirty="0"/>
          </a:p>
        </p:txBody>
      </p:sp>
      <p:sp>
        <p:nvSpPr>
          <p:cNvPr id="19" name="Shape 14"/>
          <p:cNvSpPr/>
          <p:nvPr/>
        </p:nvSpPr>
        <p:spPr>
          <a:xfrm>
            <a:off x="812800" y="2923431"/>
            <a:ext cx="5156200" cy="1459161"/>
          </a:xfrm>
          <a:prstGeom prst="roundRect">
            <a:avLst>
              <a:gd name="adj" fmla="val 3481"/>
            </a:avLst>
          </a:prstGeom>
          <a:solidFill>
            <a:srgbClr val="FFFFFF"/>
          </a:solidFill>
          <a:ln/>
        </p:spPr>
        <p:txBody>
          <a:bodyPr/>
          <a:lstStyle/>
          <a:p>
            <a:endParaRPr lang="en-KE"/>
          </a:p>
        </p:txBody>
      </p:sp>
      <p:sp>
        <p:nvSpPr>
          <p:cNvPr id="20" name="Shape 15"/>
          <p:cNvSpPr/>
          <p:nvPr/>
        </p:nvSpPr>
        <p:spPr>
          <a:xfrm>
            <a:off x="812800" y="2923431"/>
            <a:ext cx="5156200" cy="1459161"/>
          </a:xfrm>
          <a:custGeom>
            <a:avLst/>
            <a:gdLst/>
            <a:ahLst/>
            <a:cxnLst/>
            <a:rect l="l" t="t" r="r" b="b"/>
            <a:pathLst>
              <a:path w="5156200" h="145916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273003"/>
          </a:solidFill>
          <a:ln/>
        </p:spPr>
        <p:txBody>
          <a:bodyPr/>
          <a:lstStyle/>
          <a:p>
            <a:endParaRPr lang="en-KE"/>
          </a:p>
        </p:txBody>
      </p:sp>
      <p:sp>
        <p:nvSpPr>
          <p:cNvPr id="21" name="Text 16"/>
          <p:cNvSpPr/>
          <p:nvPr/>
        </p:nvSpPr>
        <p:spPr>
          <a:xfrm>
            <a:off x="1041400" y="3152031"/>
            <a:ext cx="48399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One participant per country</a:t>
            </a:r>
            <a:endParaRPr lang="en-US" sz="1600" dirty="0"/>
          </a:p>
        </p:txBody>
      </p:sp>
      <p:sp>
        <p:nvSpPr>
          <p:cNvPr id="22" name="Text 17"/>
          <p:cNvSpPr/>
          <p:nvPr/>
        </p:nvSpPr>
        <p:spPr>
          <a:xfrm>
            <a:off x="1041400" y="3484761"/>
            <a:ext cx="48399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Submits from their own account. The team works together on the inputs; only one job per run.</a:t>
            </a:r>
            <a:endParaRPr lang="en-US" sz="1400" dirty="0"/>
          </a:p>
        </p:txBody>
      </p:sp>
      <p:sp>
        <p:nvSpPr>
          <p:cNvPr id="23" name="Shape 18"/>
          <p:cNvSpPr/>
          <p:nvPr/>
        </p:nvSpPr>
        <p:spPr>
          <a:xfrm>
            <a:off x="6223000" y="2923431"/>
            <a:ext cx="5156200" cy="1459161"/>
          </a:xfrm>
          <a:prstGeom prst="roundRect">
            <a:avLst>
              <a:gd name="adj" fmla="val 3481"/>
            </a:avLst>
          </a:prstGeom>
          <a:solidFill>
            <a:srgbClr val="FFFFFF"/>
          </a:solidFill>
          <a:ln/>
        </p:spPr>
        <p:txBody>
          <a:bodyPr/>
          <a:lstStyle/>
          <a:p>
            <a:endParaRPr lang="en-KE"/>
          </a:p>
        </p:txBody>
      </p:sp>
      <p:sp>
        <p:nvSpPr>
          <p:cNvPr id="24" name="Shape 19"/>
          <p:cNvSpPr/>
          <p:nvPr/>
        </p:nvSpPr>
        <p:spPr>
          <a:xfrm>
            <a:off x="6223000" y="2923431"/>
            <a:ext cx="5156200" cy="1459161"/>
          </a:xfrm>
          <a:custGeom>
            <a:avLst/>
            <a:gdLst/>
            <a:ahLst/>
            <a:cxnLst/>
            <a:rect l="l" t="t" r="r" b="b"/>
            <a:pathLst>
              <a:path w="5156200" h="145916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891F15"/>
          </a:solidFill>
          <a:ln/>
        </p:spPr>
        <p:txBody>
          <a:bodyPr/>
          <a:lstStyle/>
          <a:p>
            <a:endParaRPr lang="en-KE"/>
          </a:p>
        </p:txBody>
      </p:sp>
      <p:sp>
        <p:nvSpPr>
          <p:cNvPr id="25" name="Text 20"/>
          <p:cNvSpPr/>
          <p:nvPr/>
        </p:nvSpPr>
        <p:spPr>
          <a:xfrm>
            <a:off x="6451600" y="3152031"/>
            <a:ext cx="48399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Or a trainer, on the country's behalf</a:t>
            </a:r>
            <a:endParaRPr lang="en-US" sz="1600" dirty="0"/>
          </a:p>
        </p:txBody>
      </p:sp>
      <p:sp>
        <p:nvSpPr>
          <p:cNvPr id="26" name="Text 21"/>
          <p:cNvSpPr/>
          <p:nvPr/>
        </p:nvSpPr>
        <p:spPr>
          <a:xfrm>
            <a:off x="6451600" y="3484761"/>
            <a:ext cx="483997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When participant accounts lack the resources. The team hands over the checked samplesheets; the trainer submits and shares the results back.</a:t>
            </a:r>
            <a:endParaRPr lang="en-US" sz="1400" dirty="0"/>
          </a:p>
        </p:txBody>
      </p:sp>
      <p:pic>
        <p:nvPicPr>
          <p:cNvPr id="27" name="Image 3"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8" name="Text 2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29" name="Text 2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What goes in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38561"/>
            <a:ext cx="2540000" cy="1075630"/>
          </a:xfrm>
          <a:prstGeom prst="roundRect">
            <a:avLst>
              <a:gd name="adj" fmla="val 4723"/>
            </a:avLst>
          </a:prstGeom>
          <a:solidFill>
            <a:srgbClr val="FFFFFF"/>
          </a:solidFill>
          <a:ln/>
        </p:spPr>
        <p:txBody>
          <a:bodyPr/>
          <a:lstStyle/>
          <a:p>
            <a:endParaRPr lang="en-KE"/>
          </a:p>
        </p:txBody>
      </p:sp>
      <p:sp>
        <p:nvSpPr>
          <p:cNvPr id="5" name="Shape 3"/>
          <p:cNvSpPr/>
          <p:nvPr/>
        </p:nvSpPr>
        <p:spPr>
          <a:xfrm>
            <a:off x="812800" y="1738561"/>
            <a:ext cx="2540000" cy="1075630"/>
          </a:xfrm>
          <a:custGeom>
            <a:avLst/>
            <a:gdLst/>
            <a:ahLst/>
            <a:cxnLst/>
            <a:rect l="l" t="t" r="r" b="b"/>
            <a:pathLst>
              <a:path w="2540000" h="1075630">
                <a:moveTo>
                  <a:pt x="50800" y="1075630"/>
                </a:moveTo>
                <a:lnTo>
                  <a:pt x="50800" y="1075630"/>
                </a:lnTo>
                <a:arcTo wR="50800" hR="50800" stAng="5400000" swAng="5400000"/>
                <a:lnTo>
                  <a:pt x="0" y="50800"/>
                </a:lnTo>
                <a:arcTo wR="50800" hR="50800" stAng="10800000" swAng="5400000"/>
                <a:lnTo>
                  <a:pt x="50800" y="0"/>
                </a:lnTo>
                <a:lnTo>
                  <a:pt x="50800" y="1075630"/>
                </a:lnTo>
                <a:close/>
              </a:path>
            </a:pathLst>
          </a:custGeom>
          <a:solidFill>
            <a:srgbClr val="273003"/>
          </a:solidFill>
          <a:ln/>
        </p:spPr>
        <p:txBody>
          <a:bodyPr/>
          <a:lstStyle/>
          <a:p>
            <a:endParaRPr lang="en-KE"/>
          </a:p>
        </p:txBody>
      </p:sp>
      <p:sp>
        <p:nvSpPr>
          <p:cNvPr id="6" name="Text 4"/>
          <p:cNvSpPr/>
          <p:nvPr/>
        </p:nvSpPr>
        <p:spPr>
          <a:xfrm>
            <a:off x="1028700" y="1878261"/>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YOU BRING</a:t>
            </a:r>
            <a:endParaRPr lang="en-US" sz="1200" dirty="0"/>
          </a:p>
        </p:txBody>
      </p:sp>
      <p:sp>
        <p:nvSpPr>
          <p:cNvPr id="7" name="Text 5"/>
          <p:cNvSpPr/>
          <p:nvPr/>
        </p:nvSpPr>
        <p:spPr>
          <a:xfrm>
            <a:off x="1028700" y="2142381"/>
            <a:ext cx="22237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22C"/>
                </a:solidFill>
                <a:latin typeface="Carlito" pitchFamily="34" charset="0"/>
                <a:ea typeface="Carlito" pitchFamily="34" charset="-122"/>
                <a:cs typeface="Carlito" pitchFamily="34" charset="-120"/>
              </a:rPr>
              <a:t>Contigs folder</a:t>
            </a:r>
            <a:endParaRPr lang="en-US" sz="1500" dirty="0"/>
          </a:p>
        </p:txBody>
      </p:sp>
      <p:sp>
        <p:nvSpPr>
          <p:cNvPr id="8" name="Text 6"/>
          <p:cNvSpPr/>
          <p:nvPr/>
        </p:nvSpPr>
        <p:spPr>
          <a:xfrm>
            <a:off x="1028700" y="2459881"/>
            <a:ext cx="222377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One FASTA per isolate</a:t>
            </a:r>
            <a:endParaRPr lang="en-US" sz="1300" dirty="0"/>
          </a:p>
        </p:txBody>
      </p:sp>
      <p:sp>
        <p:nvSpPr>
          <p:cNvPr id="9" name="Shape 7"/>
          <p:cNvSpPr/>
          <p:nvPr/>
        </p:nvSpPr>
        <p:spPr>
          <a:xfrm>
            <a:off x="812800" y="2941191"/>
            <a:ext cx="2540000" cy="1075630"/>
          </a:xfrm>
          <a:prstGeom prst="roundRect">
            <a:avLst>
              <a:gd name="adj" fmla="val 4723"/>
            </a:avLst>
          </a:prstGeom>
          <a:solidFill>
            <a:srgbClr val="FFFFFF"/>
          </a:solidFill>
          <a:ln/>
        </p:spPr>
        <p:txBody>
          <a:bodyPr/>
          <a:lstStyle/>
          <a:p>
            <a:endParaRPr lang="en-KE"/>
          </a:p>
        </p:txBody>
      </p:sp>
      <p:sp>
        <p:nvSpPr>
          <p:cNvPr id="10" name="Shape 8"/>
          <p:cNvSpPr/>
          <p:nvPr/>
        </p:nvSpPr>
        <p:spPr>
          <a:xfrm>
            <a:off x="812800" y="2941191"/>
            <a:ext cx="2540000" cy="1075630"/>
          </a:xfrm>
          <a:custGeom>
            <a:avLst/>
            <a:gdLst/>
            <a:ahLst/>
            <a:cxnLst/>
            <a:rect l="l" t="t" r="r" b="b"/>
            <a:pathLst>
              <a:path w="2540000" h="1075630">
                <a:moveTo>
                  <a:pt x="50800" y="1075630"/>
                </a:moveTo>
                <a:lnTo>
                  <a:pt x="50800" y="1075630"/>
                </a:lnTo>
                <a:arcTo wR="50800" hR="50800" stAng="5400000" swAng="5400000"/>
                <a:lnTo>
                  <a:pt x="0" y="50800"/>
                </a:lnTo>
                <a:arcTo wR="50800" hR="50800" stAng="10800000" swAng="5400000"/>
                <a:lnTo>
                  <a:pt x="50800" y="0"/>
                </a:lnTo>
                <a:lnTo>
                  <a:pt x="50800" y="1075630"/>
                </a:lnTo>
                <a:close/>
              </a:path>
            </a:pathLst>
          </a:custGeom>
          <a:solidFill>
            <a:srgbClr val="273003"/>
          </a:solidFill>
          <a:ln/>
        </p:spPr>
        <p:txBody>
          <a:bodyPr/>
          <a:lstStyle/>
          <a:p>
            <a:endParaRPr lang="en-KE"/>
          </a:p>
        </p:txBody>
      </p:sp>
      <p:sp>
        <p:nvSpPr>
          <p:cNvPr id="11" name="Text 9"/>
          <p:cNvSpPr/>
          <p:nvPr/>
        </p:nvSpPr>
        <p:spPr>
          <a:xfrm>
            <a:off x="1028700" y="3080891"/>
            <a:ext cx="222377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YOU BRING</a:t>
            </a:r>
            <a:endParaRPr lang="en-US" sz="1200" dirty="0"/>
          </a:p>
        </p:txBody>
      </p:sp>
      <p:sp>
        <p:nvSpPr>
          <p:cNvPr id="12" name="Text 10"/>
          <p:cNvSpPr/>
          <p:nvPr/>
        </p:nvSpPr>
        <p:spPr>
          <a:xfrm>
            <a:off x="1028700" y="3345011"/>
            <a:ext cx="222377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3A322C"/>
                </a:solidFill>
                <a:latin typeface="Carlito" pitchFamily="34" charset="0"/>
                <a:ea typeface="Carlito" pitchFamily="34" charset="-122"/>
                <a:cs typeface="Carlito" pitchFamily="34" charset="-120"/>
              </a:rPr>
              <a:t>Metadata table</a:t>
            </a:r>
            <a:endParaRPr lang="en-US" sz="1500" dirty="0"/>
          </a:p>
        </p:txBody>
      </p:sp>
      <p:sp>
        <p:nvSpPr>
          <p:cNvPr id="13" name="Text 11"/>
          <p:cNvSpPr/>
          <p:nvPr/>
        </p:nvSpPr>
        <p:spPr>
          <a:xfrm>
            <a:off x="1028700" y="3662511"/>
            <a:ext cx="222377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One row per isolate</a:t>
            </a:r>
            <a:endParaRPr lang="en-US" sz="1300" dirty="0"/>
          </a:p>
        </p:txBody>
      </p:sp>
      <p:pic>
        <p:nvPicPr>
          <p:cNvPr id="14" name="Image 0" descr="arrow-right"/>
          <p:cNvPicPr>
            <a:picLocks noChangeAspect="1"/>
          </p:cNvPicPr>
          <p:nvPr/>
        </p:nvPicPr>
        <p:blipFill>
          <a:blip r:embed="rId3"/>
          <a:srcRect/>
          <a:stretch/>
        </p:blipFill>
        <p:spPr>
          <a:xfrm>
            <a:off x="3479800" y="2776091"/>
            <a:ext cx="355600" cy="203200"/>
          </a:xfrm>
          <a:prstGeom prst="rect">
            <a:avLst/>
          </a:prstGeom>
        </p:spPr>
      </p:pic>
      <p:sp>
        <p:nvSpPr>
          <p:cNvPr id="15" name="Shape 12"/>
          <p:cNvSpPr/>
          <p:nvPr/>
        </p:nvSpPr>
        <p:spPr>
          <a:xfrm>
            <a:off x="3962400" y="2100511"/>
            <a:ext cx="2286000" cy="1554361"/>
          </a:xfrm>
          <a:prstGeom prst="roundRect">
            <a:avLst>
              <a:gd name="adj" fmla="val 4902"/>
            </a:avLst>
          </a:prstGeom>
          <a:solidFill>
            <a:srgbClr val="891F15"/>
          </a:solidFill>
          <a:ln/>
        </p:spPr>
        <p:txBody>
          <a:bodyPr/>
          <a:lstStyle/>
          <a:p>
            <a:endParaRPr lang="en-KE"/>
          </a:p>
        </p:txBody>
      </p:sp>
      <p:sp>
        <p:nvSpPr>
          <p:cNvPr id="16" name="Text 13"/>
          <p:cNvSpPr/>
          <p:nvPr/>
        </p:nvSpPr>
        <p:spPr>
          <a:xfrm>
            <a:off x="4152900" y="2278311"/>
            <a:ext cx="196215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ONE SCRIPT</a:t>
            </a:r>
            <a:endParaRPr lang="en-US" sz="1200" dirty="0"/>
          </a:p>
        </p:txBody>
      </p:sp>
      <p:sp>
        <p:nvSpPr>
          <p:cNvPr id="17" name="Text 14"/>
          <p:cNvSpPr/>
          <p:nvPr/>
        </p:nvSpPr>
        <p:spPr>
          <a:xfrm>
            <a:off x="4152900" y="2555131"/>
            <a:ext cx="196215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make_assembly_ samplesheet.py</a:t>
            </a:r>
            <a:endParaRPr lang="en-US" sz="1400" dirty="0"/>
          </a:p>
        </p:txBody>
      </p:sp>
      <p:sp>
        <p:nvSpPr>
          <p:cNvPr id="18" name="Text 15"/>
          <p:cNvSpPr/>
          <p:nvPr/>
        </p:nvSpPr>
        <p:spPr>
          <a:xfrm>
            <a:off x="4152900" y="3080891"/>
            <a:ext cx="196215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1D3C9"/>
                </a:solidFill>
                <a:latin typeface="Carlito" pitchFamily="34" charset="0"/>
                <a:ea typeface="Carlito" pitchFamily="34" charset="-122"/>
                <a:cs typeface="Carlito" pitchFamily="34" charset="-120"/>
              </a:rPr>
              <a:t>matches IDs to files, sorts by species, reports problems</a:t>
            </a:r>
            <a:endParaRPr lang="en-US" sz="1200" dirty="0"/>
          </a:p>
        </p:txBody>
      </p:sp>
      <p:pic>
        <p:nvPicPr>
          <p:cNvPr id="19" name="Image 1" descr="arrow-right"/>
          <p:cNvPicPr>
            <a:picLocks noChangeAspect="1"/>
          </p:cNvPicPr>
          <p:nvPr/>
        </p:nvPicPr>
        <p:blipFill>
          <a:blip r:embed="rId3"/>
          <a:srcRect/>
          <a:stretch/>
        </p:blipFill>
        <p:spPr>
          <a:xfrm>
            <a:off x="6375400" y="2776091"/>
            <a:ext cx="355600" cy="203200"/>
          </a:xfrm>
          <a:prstGeom prst="rect">
            <a:avLst/>
          </a:prstGeom>
        </p:spPr>
      </p:pic>
      <p:sp>
        <p:nvSpPr>
          <p:cNvPr id="20" name="Shape 16"/>
          <p:cNvSpPr/>
          <p:nvPr/>
        </p:nvSpPr>
        <p:spPr>
          <a:xfrm>
            <a:off x="6858000" y="1709390"/>
            <a:ext cx="4521200" cy="711150"/>
          </a:xfrm>
          <a:prstGeom prst="roundRect">
            <a:avLst>
              <a:gd name="adj" fmla="val 7143"/>
            </a:avLst>
          </a:prstGeom>
          <a:solidFill>
            <a:srgbClr val="273003"/>
          </a:solidFill>
          <a:ln/>
        </p:spPr>
        <p:txBody>
          <a:bodyPr/>
          <a:lstStyle/>
          <a:p>
            <a:endParaRPr lang="en-KE"/>
          </a:p>
        </p:txBody>
      </p:sp>
      <p:sp>
        <p:nvSpPr>
          <p:cNvPr id="21" name="Text 17"/>
          <p:cNvSpPr/>
          <p:nvPr/>
        </p:nvSpPr>
        <p:spPr>
          <a:xfrm>
            <a:off x="7010400" y="1823690"/>
            <a:ext cx="434289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CE00"/>
                </a:solidFill>
                <a:latin typeface="Carlito" pitchFamily="34" charset="0"/>
                <a:ea typeface="Carlito" pitchFamily="34" charset="-122"/>
                <a:cs typeface="Carlito" pitchFamily="34" charset="-120"/>
              </a:rPr>
              <a:t>samplesheet_assemblies_&lt;species&gt;.csv</a:t>
            </a:r>
            <a:endParaRPr lang="en-US" sz="1300" dirty="0"/>
          </a:p>
        </p:txBody>
      </p:sp>
      <p:sp>
        <p:nvSpPr>
          <p:cNvPr id="22" name="Text 18"/>
          <p:cNvSpPr/>
          <p:nvPr/>
        </p:nvSpPr>
        <p:spPr>
          <a:xfrm>
            <a:off x="7010400" y="2092920"/>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9F2EA"/>
                </a:solidFill>
                <a:latin typeface="Carlito" pitchFamily="34" charset="0"/>
                <a:ea typeface="Carlito" pitchFamily="34" charset="-122"/>
                <a:cs typeface="Carlito" pitchFamily="34" charset="-120"/>
              </a:rPr>
              <a:t>→ the pipeline (--input)</a:t>
            </a:r>
            <a:endParaRPr lang="en-US" sz="1200" dirty="0"/>
          </a:p>
        </p:txBody>
      </p:sp>
      <p:sp>
        <p:nvSpPr>
          <p:cNvPr id="23" name="Shape 19"/>
          <p:cNvSpPr/>
          <p:nvPr/>
        </p:nvSpPr>
        <p:spPr>
          <a:xfrm>
            <a:off x="6858000" y="2522141"/>
            <a:ext cx="4521200" cy="711150"/>
          </a:xfrm>
          <a:prstGeom prst="roundRect">
            <a:avLst>
              <a:gd name="adj" fmla="val 7143"/>
            </a:avLst>
          </a:prstGeom>
          <a:solidFill>
            <a:srgbClr val="273003"/>
          </a:solidFill>
          <a:ln/>
        </p:spPr>
        <p:txBody>
          <a:bodyPr/>
          <a:lstStyle/>
          <a:p>
            <a:endParaRPr lang="en-KE"/>
          </a:p>
        </p:txBody>
      </p:sp>
      <p:sp>
        <p:nvSpPr>
          <p:cNvPr id="24" name="Text 20"/>
          <p:cNvSpPr/>
          <p:nvPr/>
        </p:nvSpPr>
        <p:spPr>
          <a:xfrm>
            <a:off x="7010400" y="2636441"/>
            <a:ext cx="434289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FCE00"/>
                </a:solidFill>
                <a:latin typeface="Carlito" pitchFamily="34" charset="0"/>
                <a:ea typeface="Carlito" pitchFamily="34" charset="-122"/>
                <a:cs typeface="Carlito" pitchFamily="34" charset="-120"/>
              </a:rPr>
              <a:t>metadata_assemblies_&lt;species&gt;.tsv</a:t>
            </a:r>
            <a:endParaRPr lang="en-US" sz="1300" dirty="0"/>
          </a:p>
        </p:txBody>
      </p:sp>
      <p:sp>
        <p:nvSpPr>
          <p:cNvPr id="25" name="Text 21"/>
          <p:cNvSpPr/>
          <p:nvPr/>
        </p:nvSpPr>
        <p:spPr>
          <a:xfrm>
            <a:off x="7010400" y="2905671"/>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9F2EA"/>
                </a:solidFill>
                <a:latin typeface="Carlito" pitchFamily="34" charset="0"/>
                <a:ea typeface="Carlito" pitchFamily="34" charset="-122"/>
                <a:cs typeface="Carlito" pitchFamily="34" charset="-120"/>
              </a:rPr>
              <a:t>→ the R scripts: transmission pairs, figures</a:t>
            </a:r>
            <a:endParaRPr lang="en-US" sz="1200" dirty="0"/>
          </a:p>
        </p:txBody>
      </p:sp>
      <p:sp>
        <p:nvSpPr>
          <p:cNvPr id="26" name="Shape 22"/>
          <p:cNvSpPr/>
          <p:nvPr/>
        </p:nvSpPr>
        <p:spPr>
          <a:xfrm>
            <a:off x="6858000" y="3334891"/>
            <a:ext cx="4521200" cy="711150"/>
          </a:xfrm>
          <a:prstGeom prst="roundRect">
            <a:avLst>
              <a:gd name="adj" fmla="val 7143"/>
            </a:avLst>
          </a:prstGeom>
          <a:solidFill>
            <a:srgbClr val="EDE5DA"/>
          </a:solidFill>
          <a:ln/>
        </p:spPr>
        <p:txBody>
          <a:bodyPr/>
          <a:lstStyle/>
          <a:p>
            <a:endParaRPr lang="en-KE"/>
          </a:p>
        </p:txBody>
      </p:sp>
      <p:sp>
        <p:nvSpPr>
          <p:cNvPr id="27" name="Text 23"/>
          <p:cNvSpPr/>
          <p:nvPr/>
        </p:nvSpPr>
        <p:spPr>
          <a:xfrm>
            <a:off x="7010400" y="3449191"/>
            <a:ext cx="434289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3A322C"/>
                </a:solidFill>
                <a:latin typeface="Carlito" pitchFamily="34" charset="0"/>
                <a:ea typeface="Carlito" pitchFamily="34" charset="-122"/>
                <a:cs typeface="Carlito" pitchFamily="34" charset="-120"/>
              </a:rPr>
              <a:t>samplesheet_assemblies_other_species.tsv</a:t>
            </a:r>
            <a:endParaRPr lang="en-US" sz="1300" dirty="0"/>
          </a:p>
        </p:txBody>
      </p:sp>
      <p:sp>
        <p:nvSpPr>
          <p:cNvPr id="28" name="Text 24"/>
          <p:cNvSpPr/>
          <p:nvPr/>
        </p:nvSpPr>
        <p:spPr>
          <a:xfrm>
            <a:off x="7010400" y="3718421"/>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A322C"/>
                </a:solidFill>
                <a:latin typeface="Carlito" pitchFamily="34" charset="0"/>
                <a:ea typeface="Carlito" pitchFamily="34" charset="-122"/>
                <a:cs typeface="Carlito" pitchFamily="34" charset="-120"/>
              </a:rPr>
              <a:t>isolates not typed, for the record</a:t>
            </a:r>
            <a:endParaRPr lang="en-US" sz="1200" dirty="0"/>
          </a:p>
        </p:txBody>
      </p:sp>
      <p:pic>
        <p:nvPicPr>
          <p:cNvPr id="29" name="Image 2"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30" name="Text 2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31" name="Text 2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Input 1: the contigs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564956"/>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Rule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Works</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Fails or is left out</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One file per isolate, named by its sample ID</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ETH001_contigs.fasta</a:t>
                      </a:r>
                      <a:endParaRPr lang="en-US" sz="1400" dirty="0">
                        <a:latin typeface="Carlito" charset="0"/>
                        <a:ea typeface="Carlito" charset="0"/>
                        <a:cs typeface="Carlito" charset="0"/>
                      </a:endParaRPr>
                    </a:p>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ETH001.fasta</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contigs.fasta in a folder per isolate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Uncompressed FASTA</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.fasta .fa .fna</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.fasta.gz</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Sample ID: letters, digits, _ . - and unique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ETH-001</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ETH 001, ETH/001</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K. pneumoniae complex or E. coli</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Klebsiella pneumoniae</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Acinetobacter: listed, not run</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On the HPC, readable by whoever submits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/var/scratch/global/…</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a laptop or USB drive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2800" y="4541044"/>
            <a:ext cx="10566400" cy="584200"/>
          </a:xfrm>
          <a:prstGeom prst="roundRect">
            <a:avLst>
              <a:gd name="adj" fmla="val 13043"/>
            </a:avLst>
          </a:prstGeom>
          <a:solidFill>
            <a:srgbClr val="273003"/>
          </a:solidFill>
          <a:ln/>
        </p:spPr>
        <p:txBody>
          <a:bodyPr/>
          <a:lstStyle/>
          <a:p>
            <a:endParaRPr lang="en-KE"/>
          </a:p>
        </p:txBody>
      </p:sp>
      <p:pic>
        <p:nvPicPr>
          <p:cNvPr id="6" name="Image 0" descr="Lightbulb"/>
          <p:cNvPicPr>
            <a:picLocks noChangeAspect="1"/>
          </p:cNvPicPr>
          <p:nvPr/>
        </p:nvPicPr>
        <p:blipFill>
          <a:blip r:embed="rId3"/>
          <a:srcRect/>
          <a:stretch/>
        </p:blipFill>
        <p:spPr>
          <a:xfrm>
            <a:off x="1041400" y="4693444"/>
            <a:ext cx="279400" cy="279400"/>
          </a:xfrm>
          <a:prstGeom prst="rect">
            <a:avLst/>
          </a:prstGeom>
        </p:spPr>
      </p:pic>
      <p:sp>
        <p:nvSpPr>
          <p:cNvPr id="7" name="Text 3"/>
          <p:cNvSpPr/>
          <p:nvPr/>
        </p:nvSpPr>
        <p:spPr>
          <a:xfrm>
            <a:off x="1473200" y="4713139"/>
            <a:ext cx="8464987"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Shovill and SPAdes call every output </a:t>
            </a:r>
            <a:r>
              <a:rPr lang="en-US" sz="1400" b="1" dirty="0">
                <a:solidFill>
                  <a:srgbClr val="F9F2EA"/>
                </a:solidFill>
                <a:latin typeface="Carlito" pitchFamily="34" charset="0"/>
                <a:ea typeface="Carlito" pitchFamily="34" charset="-122"/>
                <a:cs typeface="Carlito" pitchFamily="34" charset="-120"/>
              </a:rPr>
              <a:t>contigs.fa</a:t>
            </a:r>
            <a:r>
              <a:rPr lang="en-US" sz="1400" dirty="0">
                <a:solidFill>
                  <a:srgbClr val="F9F2EA"/>
                </a:solidFill>
                <a:latin typeface="Carlito" pitchFamily="34" charset="0"/>
                <a:ea typeface="Carlito" pitchFamily="34" charset="-122"/>
                <a:cs typeface="Carlito" pitchFamily="34" charset="-120"/>
              </a:rPr>
              <a:t>: copy each to </a:t>
            </a:r>
            <a:r>
              <a:rPr lang="en-US" sz="1400" b="1" dirty="0">
                <a:solidFill>
                  <a:srgbClr val="F9F2EA"/>
                </a:solidFill>
                <a:latin typeface="Carlito" pitchFamily="34" charset="0"/>
                <a:ea typeface="Carlito" pitchFamily="34" charset="-122"/>
                <a:cs typeface="Carlito" pitchFamily="34" charset="-120"/>
              </a:rPr>
              <a:t>&lt;ID&gt;_contigs.fasta</a:t>
            </a:r>
            <a:r>
              <a:rPr lang="en-US" sz="1400" dirty="0">
                <a:solidFill>
                  <a:srgbClr val="F9F2EA"/>
                </a:solidFill>
                <a:latin typeface="Carlito" pitchFamily="34" charset="0"/>
                <a:ea typeface="Carlito" pitchFamily="34" charset="-122"/>
                <a:cs typeface="Carlito" pitchFamily="34" charset="-120"/>
              </a:rPr>
              <a:t> in one folder first.</a:t>
            </a:r>
            <a:endParaRPr lang="en-US" sz="1400" dirty="0"/>
          </a:p>
        </p:txBody>
      </p:sp>
      <p:pic>
        <p:nvPicPr>
          <p:cNvPr id="8"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Input 2: the metadata table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88339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6B6460"/>
                </a:solidFill>
                <a:latin typeface="Carlito" pitchFamily="34" charset="0"/>
                <a:ea typeface="Carlito" pitchFamily="34" charset="-122"/>
                <a:cs typeface="Carlito" pitchFamily="34" charset="-120"/>
              </a:rPr>
              <a:t>Tab-delimited (or .csv), one row per isolate. Example rows, with the script's default column names: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089100"/>
          <a:ext cx="10553700" cy="1437284"/>
        </p:xfrm>
        <a:graphic>
          <a:graphicData uri="http://schemas.openxmlformats.org/drawingml/2006/table">
            <a:tbl>
              <a:tblPr/>
              <a:tblGrid>
                <a:gridCol w="2321814">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1055370">
                  <a:extLst>
                    <a:ext uri="{9D8B030D-6E8A-4147-A177-3AD203B41FA5}">
                      <a16:colId xmlns:a16="http://schemas.microsoft.com/office/drawing/2014/main" val="20002"/>
                    </a:ext>
                  </a:extLst>
                </a:gridCol>
                <a:gridCol w="1055370">
                  <a:extLst>
                    <a:ext uri="{9D8B030D-6E8A-4147-A177-3AD203B41FA5}">
                      <a16:colId xmlns:a16="http://schemas.microsoft.com/office/drawing/2014/main" val="20003"/>
                    </a:ext>
                  </a:extLst>
                </a:gridCol>
                <a:gridCol w="1055370">
                  <a:extLst>
                    <a:ext uri="{9D8B030D-6E8A-4147-A177-3AD203B41FA5}">
                      <a16:colId xmlns:a16="http://schemas.microsoft.com/office/drawing/2014/main" val="20004"/>
                    </a:ext>
                  </a:extLst>
                </a:gridCol>
                <a:gridCol w="2110740">
                  <a:extLst>
                    <a:ext uri="{9D8B030D-6E8A-4147-A177-3AD203B41FA5}">
                      <a16:colId xmlns:a16="http://schemas.microsoft.com/office/drawing/2014/main" val="20005"/>
                    </a:ext>
                  </a:extLst>
                </a:gridCol>
              </a:tblGrid>
              <a:tr h="359321">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entity:Ethiopia_sample_id</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Organism_detected_ phenotypically</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Year</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Month</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Day</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Site</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ETH001</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K. pneumoniae</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2023</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Mar</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14</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NICU</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ETH002</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Escherichia coli</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2023</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4</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Neonatal ward</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ETH003</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Acinetobacter baumannii</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2023</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Apr</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NICU</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812800" y="3729583"/>
            <a:ext cx="2565400" cy="876201"/>
          </a:xfrm>
          <a:prstGeom prst="roundRect">
            <a:avLst>
              <a:gd name="adj" fmla="val 5798"/>
            </a:avLst>
          </a:prstGeom>
          <a:solidFill>
            <a:srgbClr val="273003"/>
          </a:solidFill>
          <a:ln/>
        </p:spPr>
        <p:txBody>
          <a:bodyPr/>
          <a:lstStyle/>
          <a:p>
            <a:endParaRPr lang="en-KE"/>
          </a:p>
        </p:txBody>
      </p:sp>
      <p:sp>
        <p:nvSpPr>
          <p:cNvPr id="7" name="Text 4"/>
          <p:cNvSpPr/>
          <p:nvPr/>
        </p:nvSpPr>
        <p:spPr>
          <a:xfrm>
            <a:off x="952500" y="3843883"/>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sample</a:t>
            </a:r>
            <a:endParaRPr lang="en-US" sz="1200" dirty="0"/>
          </a:p>
        </p:txBody>
      </p:sp>
      <p:sp>
        <p:nvSpPr>
          <p:cNvPr id="8" name="Text 5"/>
          <p:cNvSpPr/>
          <p:nvPr/>
        </p:nvSpPr>
        <p:spPr>
          <a:xfrm>
            <a:off x="952500" y="4095304"/>
            <a:ext cx="235458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9F2EA"/>
                </a:solidFill>
                <a:latin typeface="Carlito" pitchFamily="34" charset="0"/>
                <a:ea typeface="Carlito" pitchFamily="34" charset="-122"/>
                <a:cs typeface="Carlito" pitchFamily="34" charset="-120"/>
              </a:rPr>
              <a:t>from the ID column; matches the contigs file. </a:t>
            </a:r>
            <a:r>
              <a:rPr lang="en-US" sz="1200" b="1" dirty="0">
                <a:solidFill>
                  <a:srgbClr val="F9F2EA"/>
                </a:solidFill>
                <a:latin typeface="Carlito" pitchFamily="34" charset="0"/>
                <a:ea typeface="Carlito" pitchFamily="34" charset="-122"/>
                <a:cs typeface="Carlito" pitchFamily="34" charset="-120"/>
              </a:rPr>
              <a:t>Required</a:t>
            </a:r>
            <a:endParaRPr lang="en-US" sz="1200" dirty="0"/>
          </a:p>
        </p:txBody>
      </p:sp>
      <p:sp>
        <p:nvSpPr>
          <p:cNvPr id="9" name="Shape 6"/>
          <p:cNvSpPr/>
          <p:nvPr/>
        </p:nvSpPr>
        <p:spPr>
          <a:xfrm>
            <a:off x="3479800" y="3729583"/>
            <a:ext cx="2565400" cy="876201"/>
          </a:xfrm>
          <a:prstGeom prst="roundRect">
            <a:avLst>
              <a:gd name="adj" fmla="val 5798"/>
            </a:avLst>
          </a:prstGeom>
          <a:solidFill>
            <a:srgbClr val="273003"/>
          </a:solidFill>
          <a:ln/>
        </p:spPr>
        <p:txBody>
          <a:bodyPr/>
          <a:lstStyle/>
          <a:p>
            <a:endParaRPr lang="en-KE"/>
          </a:p>
        </p:txBody>
      </p:sp>
      <p:sp>
        <p:nvSpPr>
          <p:cNvPr id="10" name="Text 7"/>
          <p:cNvSpPr/>
          <p:nvPr/>
        </p:nvSpPr>
        <p:spPr>
          <a:xfrm>
            <a:off x="3619500" y="3843883"/>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species</a:t>
            </a:r>
            <a:endParaRPr lang="en-US" sz="1200" dirty="0"/>
          </a:p>
        </p:txBody>
      </p:sp>
      <p:sp>
        <p:nvSpPr>
          <p:cNvPr id="11" name="Text 8"/>
          <p:cNvSpPr/>
          <p:nvPr/>
        </p:nvSpPr>
        <p:spPr>
          <a:xfrm>
            <a:off x="3619500" y="4095304"/>
            <a:ext cx="235458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9F2EA"/>
                </a:solidFill>
                <a:latin typeface="Carlito" pitchFamily="34" charset="0"/>
                <a:ea typeface="Carlito" pitchFamily="34" charset="-122"/>
                <a:cs typeface="Carlito" pitchFamily="34" charset="-120"/>
              </a:rPr>
              <a:t>from the organism: kpneumoniae, ecoli, or left out. </a:t>
            </a:r>
            <a:r>
              <a:rPr lang="en-US" sz="1200" b="1" dirty="0">
                <a:solidFill>
                  <a:srgbClr val="F9F2EA"/>
                </a:solidFill>
                <a:latin typeface="Carlito" pitchFamily="34" charset="0"/>
                <a:ea typeface="Carlito" pitchFamily="34" charset="-122"/>
                <a:cs typeface="Carlito" pitchFamily="34" charset="-120"/>
              </a:rPr>
              <a:t>Required</a:t>
            </a:r>
            <a:endParaRPr lang="en-US" sz="1200" dirty="0"/>
          </a:p>
        </p:txBody>
      </p:sp>
      <p:sp>
        <p:nvSpPr>
          <p:cNvPr id="12" name="Shape 9"/>
          <p:cNvSpPr/>
          <p:nvPr/>
        </p:nvSpPr>
        <p:spPr>
          <a:xfrm>
            <a:off x="6146800" y="3729583"/>
            <a:ext cx="2565400" cy="876201"/>
          </a:xfrm>
          <a:prstGeom prst="roundRect">
            <a:avLst>
              <a:gd name="adj" fmla="val 5798"/>
            </a:avLst>
          </a:prstGeom>
          <a:solidFill>
            <a:srgbClr val="891F15"/>
          </a:solidFill>
          <a:ln/>
        </p:spPr>
        <p:txBody>
          <a:bodyPr/>
          <a:lstStyle/>
          <a:p>
            <a:endParaRPr lang="en-KE"/>
          </a:p>
        </p:txBody>
      </p:sp>
      <p:sp>
        <p:nvSpPr>
          <p:cNvPr id="13" name="Text 10"/>
          <p:cNvSpPr/>
          <p:nvPr/>
        </p:nvSpPr>
        <p:spPr>
          <a:xfrm>
            <a:off x="6286500" y="3843883"/>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collection_date, _year</a:t>
            </a:r>
            <a:endParaRPr lang="en-US" sz="1200" dirty="0"/>
          </a:p>
        </p:txBody>
      </p:sp>
      <p:sp>
        <p:nvSpPr>
          <p:cNvPr id="14" name="Text 11"/>
          <p:cNvSpPr/>
          <p:nvPr/>
        </p:nvSpPr>
        <p:spPr>
          <a:xfrm>
            <a:off x="6286500" y="4095304"/>
            <a:ext cx="235458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9F2EA"/>
                </a:solidFill>
                <a:latin typeface="Carlito" pitchFamily="34" charset="0"/>
                <a:ea typeface="Carlito" pitchFamily="34" charset="-122"/>
                <a:cs typeface="Carlito" pitchFamily="34" charset="-120"/>
              </a:rPr>
              <a:t>from Year, Month, Day (or one date column). For trees and transmission</a:t>
            </a:r>
            <a:endParaRPr lang="en-US" sz="1200" dirty="0"/>
          </a:p>
        </p:txBody>
      </p:sp>
      <p:sp>
        <p:nvSpPr>
          <p:cNvPr id="15" name="Shape 12"/>
          <p:cNvSpPr/>
          <p:nvPr/>
        </p:nvSpPr>
        <p:spPr>
          <a:xfrm>
            <a:off x="8813800" y="3729583"/>
            <a:ext cx="2565400" cy="876201"/>
          </a:xfrm>
          <a:prstGeom prst="roundRect">
            <a:avLst>
              <a:gd name="adj" fmla="val 5798"/>
            </a:avLst>
          </a:prstGeom>
          <a:solidFill>
            <a:srgbClr val="891F15"/>
          </a:solidFill>
          <a:ln/>
        </p:spPr>
        <p:txBody>
          <a:bodyPr/>
          <a:lstStyle/>
          <a:p>
            <a:endParaRPr lang="en-KE"/>
          </a:p>
        </p:txBody>
      </p:sp>
      <p:sp>
        <p:nvSpPr>
          <p:cNvPr id="16" name="Text 13"/>
          <p:cNvSpPr/>
          <p:nvPr/>
        </p:nvSpPr>
        <p:spPr>
          <a:xfrm>
            <a:off x="8953500" y="3843883"/>
            <a:ext cx="235458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FCE00"/>
                </a:solidFill>
                <a:latin typeface="Carlito" pitchFamily="34" charset="0"/>
                <a:ea typeface="Carlito" pitchFamily="34" charset="-122"/>
                <a:cs typeface="Carlito" pitchFamily="34" charset="-120"/>
              </a:rPr>
              <a:t>ward</a:t>
            </a:r>
            <a:endParaRPr lang="en-US" sz="1200" dirty="0"/>
          </a:p>
        </p:txBody>
      </p:sp>
      <p:sp>
        <p:nvSpPr>
          <p:cNvPr id="17" name="Text 14"/>
          <p:cNvSpPr/>
          <p:nvPr/>
        </p:nvSpPr>
        <p:spPr>
          <a:xfrm>
            <a:off x="8953500" y="4095304"/>
            <a:ext cx="2354580" cy="42158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F9F2EA"/>
                </a:solidFill>
                <a:latin typeface="Carlito" pitchFamily="34" charset="0"/>
                <a:ea typeface="Carlito" pitchFamily="34" charset="-122"/>
                <a:cs typeface="Carlito" pitchFamily="34" charset="-120"/>
              </a:rPr>
              <a:t>from Site. For transmission pairs and figures</a:t>
            </a:r>
            <a:endParaRPr lang="en-US" sz="1200" dirty="0"/>
          </a:p>
        </p:txBody>
      </p:sp>
      <p:sp>
        <p:nvSpPr>
          <p:cNvPr id="18" name="Text 15"/>
          <p:cNvSpPr/>
          <p:nvPr/>
        </p:nvSpPr>
        <p:spPr>
          <a:xfrm>
            <a:off x="812800" y="4808984"/>
            <a:ext cx="1088339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Different column names? Tell the script: </a:t>
            </a:r>
            <a:r>
              <a:rPr lang="en-US" sz="1300" b="1" dirty="0">
                <a:solidFill>
                  <a:srgbClr val="3A322C"/>
                </a:solidFill>
                <a:latin typeface="Carlito" pitchFamily="34" charset="0"/>
                <a:ea typeface="Carlito" pitchFamily="34" charset="-122"/>
                <a:cs typeface="Carlito" pitchFamily="34" charset="-120"/>
              </a:rPr>
              <a:t>--id-col --species-col --year-col --month-col --day-col --date-col --ward-col</a:t>
            </a:r>
            <a:endParaRPr lang="en-US" sz="1300" dirty="0"/>
          </a:p>
        </p:txBody>
      </p:sp>
      <p:pic>
        <p:nvPicPr>
          <p:cNvPr id="1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build the samplesheets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2438003"/>
          </a:xfrm>
          <a:prstGeom prst="roundRect">
            <a:avLst>
              <a:gd name="adj" fmla="val 3126"/>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COUNTRY=kenya                               </a:t>
            </a:r>
            <a:r>
              <a:rPr lang="en-US" sz="1200" dirty="0">
                <a:solidFill>
                  <a:srgbClr val="C2CA6E"/>
                </a:solidFill>
                <a:latin typeface="JetBrains Mono" pitchFamily="49" charset="0"/>
                <a:ea typeface="JetBrains Mono" pitchFamily="49" charset="-122"/>
                <a:cs typeface="JetBrains Mono" pitchFamily="49" charset="-120"/>
              </a:rPr>
              <a:t># your country, lower case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mkdir -p $COURSE/$COUNTRY &amp;&amp; cd $COURSE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python3 $SHARED/neonatal-amr-nf/bin/make_assembly_samplesheet.py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--metadata    $COUNTRY/metadata.tsv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--contigs-dir /var/scratch/global/$USER/$COUNTRY/contigs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--id-col sample_id --species-col organism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--date-col collection_date --ward-col ward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--out $COUNTRY/samplesheet_assemblies.csv --split-by-species</a:t>
            </a:r>
            <a:endParaRPr lang="en-US" sz="1200" dirty="0"/>
          </a:p>
          <a:p>
            <a:pPr marL="0" indent="0" algn="l">
              <a:lnSpc>
                <a:spcPts val="1680"/>
              </a:lnSpc>
              <a:buNone/>
            </a:pP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ls $COUNTRY/</a:t>
            </a:r>
            <a:endParaRPr lang="en-US" sz="1200" dirty="0"/>
          </a:p>
        </p:txBody>
      </p:sp>
      <p:sp>
        <p:nvSpPr>
          <p:cNvPr id="5" name="Text 3"/>
          <p:cNvSpPr/>
          <p:nvPr/>
        </p:nvSpPr>
        <p:spPr>
          <a:xfrm>
            <a:off x="812800" y="429979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The </a:t>
            </a:r>
            <a:r>
              <a:rPr lang="en-US" sz="1300" b="1" dirty="0">
                <a:solidFill>
                  <a:srgbClr val="3A322C"/>
                </a:solidFill>
                <a:latin typeface="Carlito" pitchFamily="34" charset="0"/>
                <a:ea typeface="Carlito" pitchFamily="34" charset="-122"/>
                <a:cs typeface="Carlito" pitchFamily="34" charset="-120"/>
              </a:rPr>
              <a:t>--…-col</a:t>
            </a:r>
            <a:r>
              <a:rPr lang="en-US" sz="1300" dirty="0">
                <a:solidFill>
                  <a:srgbClr val="3A322C"/>
                </a:solidFill>
                <a:latin typeface="Carlito" pitchFamily="34" charset="0"/>
                <a:ea typeface="Carlito" pitchFamily="34" charset="-122"/>
                <a:cs typeface="Carlito" pitchFamily="34" charset="-120"/>
              </a:rPr>
              <a:t> options name </a:t>
            </a:r>
            <a:r>
              <a:rPr lang="en-US" sz="1300" b="1" dirty="0">
                <a:solidFill>
                  <a:srgbClr val="3A322C"/>
                </a:solidFill>
                <a:latin typeface="Carlito" pitchFamily="34" charset="0"/>
                <a:ea typeface="Carlito" pitchFamily="34" charset="-122"/>
                <a:cs typeface="Carlito" pitchFamily="34" charset="-120"/>
              </a:rPr>
              <a:t>your</a:t>
            </a:r>
            <a:r>
              <a:rPr lang="en-US" sz="1300" dirty="0">
                <a:solidFill>
                  <a:srgbClr val="3A322C"/>
                </a:solidFill>
                <a:latin typeface="Carlito" pitchFamily="34" charset="0"/>
                <a:ea typeface="Carlito" pitchFamily="34" charset="-122"/>
                <a:cs typeface="Carlito" pitchFamily="34" charset="-120"/>
              </a:rPr>
              <a:t> columns; leave out any whose default already fits</a:t>
            </a:r>
            <a:endParaRPr lang="en-US" sz="1300" dirty="0"/>
          </a:p>
        </p:txBody>
      </p:sp>
      <p:sp>
        <p:nvSpPr>
          <p:cNvPr id="6" name="Shape 4"/>
          <p:cNvSpPr/>
          <p:nvPr/>
        </p:nvSpPr>
        <p:spPr>
          <a:xfrm>
            <a:off x="812800" y="429979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7" name="Text 5"/>
          <p:cNvSpPr/>
          <p:nvPr/>
        </p:nvSpPr>
        <p:spPr>
          <a:xfrm>
            <a:off x="4394200" y="429979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--split-by-species</a:t>
            </a:r>
            <a:r>
              <a:rPr lang="en-US" sz="1300" dirty="0">
                <a:solidFill>
                  <a:srgbClr val="3A322C"/>
                </a:solidFill>
                <a:latin typeface="Carlito" pitchFamily="34" charset="0"/>
                <a:ea typeface="Carlito" pitchFamily="34" charset="-122"/>
                <a:cs typeface="Carlito" pitchFamily="34" charset="-120"/>
              </a:rPr>
              <a:t>: one samplesheet and one metadata table per species</a:t>
            </a:r>
            <a:endParaRPr lang="en-US" sz="1300" dirty="0"/>
          </a:p>
        </p:txBody>
      </p:sp>
      <p:sp>
        <p:nvSpPr>
          <p:cNvPr id="8" name="Shape 6"/>
          <p:cNvSpPr/>
          <p:nvPr/>
        </p:nvSpPr>
        <p:spPr>
          <a:xfrm>
            <a:off x="4394200" y="429979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9" name="Text 7"/>
          <p:cNvSpPr/>
          <p:nvPr/>
        </p:nvSpPr>
        <p:spPr>
          <a:xfrm>
            <a:off x="7975600" y="429979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Read the messages</a:t>
            </a:r>
            <a:r>
              <a:rPr lang="en-US" sz="1300" dirty="0">
                <a:solidFill>
                  <a:srgbClr val="3A322C"/>
                </a:solidFill>
                <a:latin typeface="Carlito" pitchFamily="34" charset="0"/>
                <a:ea typeface="Carlito" pitchFamily="34" charset="-122"/>
                <a:cs typeface="Carlito" pitchFamily="34" charset="-120"/>
              </a:rPr>
              <a:t>: missing or zipped contigs and IDs without metadata are listed</a:t>
            </a:r>
            <a:endParaRPr lang="en-US" sz="1300" dirty="0"/>
          </a:p>
        </p:txBody>
      </p:sp>
      <p:sp>
        <p:nvSpPr>
          <p:cNvPr id="10" name="Shape 8"/>
          <p:cNvSpPr/>
          <p:nvPr/>
        </p:nvSpPr>
        <p:spPr>
          <a:xfrm>
            <a:off x="7975600" y="429979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273003"/>
          </a:solidFill>
          <a:ln/>
        </p:spPr>
        <p:txBody>
          <a:bodyPr/>
          <a:lstStyle/>
          <a:p>
            <a:endParaRPr lang="en-KE"/>
          </a:p>
        </p:txBody>
      </p:sp>
      <p:pic>
        <p:nvPicPr>
          <p:cNvPr id="11"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What the script writes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73003"/>
                </a:solidFill>
                <a:latin typeface="Carlito" pitchFamily="34" charset="0"/>
                <a:ea typeface="Carlito" pitchFamily="34" charset="-122"/>
                <a:cs typeface="Carlito" pitchFamily="34" charset="-120"/>
              </a:rPr>
              <a:t>kenya/samplesheet_assemblies_kpneumoniae.csv </a:t>
            </a:r>
            <a:r>
              <a:rPr lang="en-US" sz="1400" b="1" dirty="0">
                <a:solidFill>
                  <a:srgbClr val="6B6460"/>
                </a:solidFill>
                <a:latin typeface="Carlito" pitchFamily="34" charset="0"/>
                <a:ea typeface="Carlito" pitchFamily="34" charset="-122"/>
                <a:cs typeface="Carlito" pitchFamily="34" charset="-120"/>
              </a:rPr>
              <a:t>→ the pipeline</a:t>
            </a:r>
            <a:endParaRPr lang="en-US" sz="1400" dirty="0"/>
          </a:p>
        </p:txBody>
      </p:sp>
      <p:sp>
        <p:nvSpPr>
          <p:cNvPr id="5" name="Text 3"/>
          <p:cNvSpPr/>
          <p:nvPr/>
        </p:nvSpPr>
        <p:spPr>
          <a:xfrm>
            <a:off x="812800" y="2009080"/>
            <a:ext cx="10566400" cy="919361"/>
          </a:xfrm>
          <a:prstGeom prst="roundRect">
            <a:avLst>
              <a:gd name="adj" fmla="val 8288"/>
            </a:avLst>
          </a:prstGeom>
          <a:solidFill>
            <a:srgbClr val="273003"/>
          </a:solidFill>
          <a:ln/>
        </p:spPr>
        <p:txBody>
          <a:bodyPr wrap="square" lIns="206282" tIns="117382" rIns="0" bIns="919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sample,species,fasta,phylo_group</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KEN001,kpneumoniae,/var/scratch/global/…/kenya/contigs/KEN001_contigs.fasta,</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KEN004,kpneumoniae,/var/scratch/global/…/kenya/contigs/KEN004_contigs.fasta,</a:t>
            </a:r>
            <a:endParaRPr lang="en-US" sz="1200" dirty="0"/>
          </a:p>
        </p:txBody>
      </p:sp>
      <p:sp>
        <p:nvSpPr>
          <p:cNvPr id="6" name="Text 4"/>
          <p:cNvSpPr/>
          <p:nvPr/>
        </p:nvSpPr>
        <p:spPr>
          <a:xfrm>
            <a:off x="812800" y="315704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73003"/>
                </a:solidFill>
                <a:latin typeface="Carlito" pitchFamily="34" charset="0"/>
                <a:ea typeface="Carlito" pitchFamily="34" charset="-122"/>
                <a:cs typeface="Carlito" pitchFamily="34" charset="-120"/>
              </a:rPr>
              <a:t>kenya/metadata_assemblies_kpneumoniae.tsv </a:t>
            </a:r>
            <a:r>
              <a:rPr lang="en-US" sz="1400" b="1" dirty="0">
                <a:solidFill>
                  <a:srgbClr val="6B6460"/>
                </a:solidFill>
                <a:latin typeface="Carlito" pitchFamily="34" charset="0"/>
                <a:ea typeface="Carlito" pitchFamily="34" charset="-122"/>
                <a:cs typeface="Carlito" pitchFamily="34" charset="-120"/>
              </a:rPr>
              <a:t>→ the R scripts</a:t>
            </a:r>
            <a:endParaRPr lang="en-US" sz="1400" dirty="0"/>
          </a:p>
        </p:txBody>
      </p:sp>
      <p:sp>
        <p:nvSpPr>
          <p:cNvPr id="7" name="Text 5"/>
          <p:cNvSpPr/>
          <p:nvPr/>
        </p:nvSpPr>
        <p:spPr>
          <a:xfrm>
            <a:off x="812800" y="3482132"/>
            <a:ext cx="10566400" cy="706041"/>
          </a:xfrm>
          <a:prstGeom prst="roundRect">
            <a:avLst>
              <a:gd name="adj" fmla="val 10793"/>
            </a:avLst>
          </a:prstGeom>
          <a:solidFill>
            <a:srgbClr val="273003"/>
          </a:solidFill>
          <a:ln/>
        </p:spPr>
        <p:txBody>
          <a:bodyPr wrap="square" lIns="206282" tIns="117382" rIns="0" bIns="919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sample  collection_year  collection_date  ward    </a:t>
            </a:r>
            <a:r>
              <a:rPr lang="en-US" sz="1200" dirty="0">
                <a:solidFill>
                  <a:srgbClr val="C2CA6E"/>
                </a:solidFill>
                <a:latin typeface="JetBrains Mono" pitchFamily="49" charset="0"/>
                <a:ea typeface="JetBrains Mono" pitchFamily="49" charset="-122"/>
                <a:cs typeface="JetBrains Mono" pitchFamily="49" charset="-120"/>
              </a:rPr>
              <a:t>+ all your original columns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KEN001  2023           2023-03-14       NICU</a:t>
            </a:r>
            <a:endParaRPr lang="en-US" sz="1200" dirty="0"/>
          </a:p>
        </p:txBody>
      </p:sp>
      <p:sp>
        <p:nvSpPr>
          <p:cNvPr id="8" name="Text 6"/>
          <p:cNvSpPr/>
          <p:nvPr/>
        </p:nvSpPr>
        <p:spPr>
          <a:xfrm>
            <a:off x="812800" y="4416772"/>
            <a:ext cx="10883392"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phylo_group</a:t>
            </a:r>
            <a:r>
              <a:rPr lang="en-US" sz="1400" dirty="0">
                <a:solidFill>
                  <a:srgbClr val="3A322C"/>
                </a:solidFill>
                <a:latin typeface="Carlito" pitchFamily="34" charset="0"/>
                <a:ea typeface="Carlito" pitchFamily="34" charset="-122"/>
                <a:cs typeface="Carlito" pitchFamily="34" charset="-120"/>
              </a:rPr>
              <a:t> stays empty: by default the pipeline groups isolates by the species and ST that Kleborate finds.</a:t>
            </a:r>
            <a:endParaRPr lang="en-US" sz="1400" dirty="0"/>
          </a:p>
        </p:txBody>
      </p:sp>
      <p:pic>
        <p:nvPicPr>
          <p:cNvPr id="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Submit the run (one person per country)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2011363"/>
          </a:xfrm>
          <a:prstGeom prst="roundRect">
            <a:avLst>
              <a:gd name="adj" fmla="val 3788"/>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mkdir -p $COURSE/pipeline/logs &amp;&amp; cd $COURSE/pipeline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cp $SHARED/neonatal-amr-nf/submit_neonatal_amr_assemblies.sbatch .</a:t>
            </a:r>
            <a:endParaRPr lang="en-US" sz="1200" dirty="0"/>
          </a:p>
          <a:p>
            <a:pPr marL="0" indent="0" algn="l">
              <a:lnSpc>
                <a:spcPts val="1680"/>
              </a:lnSpc>
              <a:buNone/>
            </a:pP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export PIPELINE_DIR=$SHARED/neonatal-amr-nf</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export SPECIES=kpneumoniae                      </a:t>
            </a:r>
            <a:r>
              <a:rPr lang="en-US" sz="1200" dirty="0">
                <a:solidFill>
                  <a:srgbClr val="C2CA6E"/>
                </a:solidFill>
                <a:latin typeface="JetBrains Mono" pitchFamily="49" charset="0"/>
                <a:ea typeface="JetBrains Mono" pitchFamily="49" charset="-122"/>
                <a:cs typeface="JetBrains Mono" pitchFamily="49" charset="-120"/>
              </a:rPr>
              <a:t># then again with ecoli</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export RUN_NAME=${COUNTRY}_${SPECIES}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export INPUT=$COURSE/$COUNTRY/samplesheet_assemblies_${SPECIES}.csv</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sbatch --export=ALL --mail-user=you@example.org submit_neonatal_amr_assemblies.sbatch</a:t>
            </a:r>
            <a:endParaRPr lang="en-US" sz="1200" dirty="0"/>
          </a:p>
        </p:txBody>
      </p:sp>
      <p:sp>
        <p:nvSpPr>
          <p:cNvPr id="5" name="Text 3"/>
          <p:cNvSpPr/>
          <p:nvPr/>
        </p:nvSpPr>
        <p:spPr>
          <a:xfrm>
            <a:off x="812800" y="387315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The job runs only Nextflow; Nextflow sends </a:t>
            </a:r>
            <a:r>
              <a:rPr lang="en-US" sz="1300" b="1" dirty="0">
                <a:solidFill>
                  <a:srgbClr val="3A322C"/>
                </a:solidFill>
                <a:latin typeface="Carlito" pitchFamily="34" charset="0"/>
                <a:ea typeface="Carlito" pitchFamily="34" charset="-122"/>
                <a:cs typeface="Carlito" pitchFamily="34" charset="-120"/>
              </a:rPr>
              <a:t>each step as its own Slurm job</a:t>
            </a:r>
            <a:endParaRPr lang="en-US" sz="1300" dirty="0"/>
          </a:p>
        </p:txBody>
      </p:sp>
      <p:sp>
        <p:nvSpPr>
          <p:cNvPr id="6" name="Shape 4"/>
          <p:cNvSpPr/>
          <p:nvPr/>
        </p:nvSpPr>
        <p:spPr>
          <a:xfrm>
            <a:off x="812800" y="387315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7" name="Text 5"/>
          <p:cNvSpPr/>
          <p:nvPr/>
        </p:nvSpPr>
        <p:spPr>
          <a:xfrm>
            <a:off x="4394200" y="387315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It </a:t>
            </a:r>
            <a:r>
              <a:rPr lang="en-US" sz="1300" b="1" dirty="0">
                <a:solidFill>
                  <a:srgbClr val="3A322C"/>
                </a:solidFill>
                <a:latin typeface="Carlito" pitchFamily="34" charset="0"/>
                <a:ea typeface="Carlito" pitchFamily="34" charset="-122"/>
                <a:cs typeface="Carlito" pitchFamily="34" charset="-120"/>
              </a:rPr>
              <a:t>checks first</a:t>
            </a:r>
            <a:r>
              <a:rPr lang="en-US" sz="1300" dirty="0">
                <a:solidFill>
                  <a:srgbClr val="3A322C"/>
                </a:solidFill>
                <a:latin typeface="Carlito" pitchFamily="34" charset="0"/>
                <a:ea typeface="Carlito" pitchFamily="34" charset="-122"/>
                <a:cs typeface="Carlito" pitchFamily="34" charset="-120"/>
              </a:rPr>
              <a:t>: every contigs file exists, and the samplesheet has a fasta column</a:t>
            </a:r>
            <a:endParaRPr lang="en-US" sz="1300" dirty="0"/>
          </a:p>
        </p:txBody>
      </p:sp>
      <p:sp>
        <p:nvSpPr>
          <p:cNvPr id="8" name="Shape 6"/>
          <p:cNvSpPr/>
          <p:nvPr/>
        </p:nvSpPr>
        <p:spPr>
          <a:xfrm>
            <a:off x="4394200" y="387315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9" name="Text 7"/>
          <p:cNvSpPr/>
          <p:nvPr/>
        </p:nvSpPr>
        <p:spPr>
          <a:xfrm>
            <a:off x="7975600" y="387315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Results: </a:t>
            </a:r>
            <a:r>
              <a:rPr lang="en-US" sz="1300" b="1" dirty="0">
                <a:solidFill>
                  <a:srgbClr val="3A322C"/>
                </a:solidFill>
                <a:latin typeface="Carlito" pitchFamily="34" charset="0"/>
                <a:ea typeface="Carlito" pitchFamily="34" charset="-122"/>
                <a:cs typeface="Carlito" pitchFamily="34" charset="-120"/>
              </a:rPr>
              <a:t>…/neonatal-amr/outdir_&lt;RUN_NAME&gt;</a:t>
            </a:r>
            <a:r>
              <a:rPr lang="en-US" sz="1300" dirty="0">
                <a:solidFill>
                  <a:srgbClr val="3A322C"/>
                </a:solidFill>
                <a:latin typeface="Carlito" pitchFamily="34" charset="0"/>
                <a:ea typeface="Carlito" pitchFamily="34" charset="-122"/>
                <a:cs typeface="Carlito" pitchFamily="34" charset="-120"/>
              </a:rPr>
              <a:t> on scratch</a:t>
            </a:r>
            <a:endParaRPr lang="en-US" sz="1300" dirty="0"/>
          </a:p>
        </p:txBody>
      </p:sp>
      <p:sp>
        <p:nvSpPr>
          <p:cNvPr id="10" name="Shape 8"/>
          <p:cNvSpPr/>
          <p:nvPr/>
        </p:nvSpPr>
        <p:spPr>
          <a:xfrm>
            <a:off x="7975600" y="387315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273003"/>
          </a:solidFill>
          <a:ln/>
        </p:spPr>
        <p:txBody>
          <a:bodyPr/>
          <a:lstStyle/>
          <a:p>
            <a:endParaRPr lang="en-KE"/>
          </a:p>
        </p:txBody>
      </p:sp>
      <p:pic>
        <p:nvPicPr>
          <p:cNvPr id="11"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Follow, stop and resume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10553700" cy="1930055"/>
        </p:xfrm>
        <a:graphic>
          <a:graphicData uri="http://schemas.openxmlformats.org/drawingml/2006/table">
            <a:tbl>
              <a:tblPr/>
              <a:tblGrid>
                <a:gridCol w="2532888">
                  <a:extLst>
                    <a:ext uri="{9D8B030D-6E8A-4147-A177-3AD203B41FA5}">
                      <a16:colId xmlns:a16="http://schemas.microsoft.com/office/drawing/2014/main" val="20000"/>
                    </a:ext>
                  </a:extLst>
                </a:gridCol>
                <a:gridCol w="8020812">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To</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Run</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See your jobs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squeue -u $USER</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Watch progress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tail -f logs/${USER}_assemblies_&lt;jobid&gt;.txt</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Stop the run</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scancel &lt;jobid&gt; (its step jobs stop too)</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Continue after a stop</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Submit the same command again: same RUN_NAME → -resume reuses finished steps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3855343"/>
            <a:ext cx="10566400" cy="660400"/>
          </a:xfrm>
          <a:prstGeom prst="roundRect">
            <a:avLst>
              <a:gd name="adj" fmla="val 11538"/>
            </a:avLst>
          </a:prstGeom>
          <a:solidFill>
            <a:srgbClr val="273003"/>
          </a:solidFill>
          <a:ln/>
        </p:spPr>
        <p:txBody>
          <a:bodyPr/>
          <a:lstStyle/>
          <a:p>
            <a:endParaRPr lang="en-KE"/>
          </a:p>
        </p:txBody>
      </p:sp>
      <p:pic>
        <p:nvPicPr>
          <p:cNvPr id="6" name="Image 0" descr="Search"/>
          <p:cNvPicPr>
            <a:picLocks noChangeAspect="1"/>
          </p:cNvPicPr>
          <p:nvPr/>
        </p:nvPicPr>
        <p:blipFill>
          <a:blip r:embed="rId3"/>
          <a:srcRect/>
          <a:stretch/>
        </p:blipFill>
        <p:spPr>
          <a:xfrm>
            <a:off x="1066800" y="4033143"/>
            <a:ext cx="304800" cy="304800"/>
          </a:xfrm>
          <a:prstGeom prst="rect">
            <a:avLst/>
          </a:prstGeom>
        </p:spPr>
      </p:pic>
      <p:sp>
        <p:nvSpPr>
          <p:cNvPr id="7" name="Text 3"/>
          <p:cNvSpPr/>
          <p:nvPr/>
        </p:nvSpPr>
        <p:spPr>
          <a:xfrm>
            <a:off x="1524000" y="4065538"/>
            <a:ext cx="914251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At the end, the log lists </a:t>
            </a:r>
            <a:r>
              <a:rPr lang="en-US" sz="1400" b="1" dirty="0">
                <a:solidFill>
                  <a:srgbClr val="F9F2EA"/>
                </a:solidFill>
                <a:latin typeface="Carlito" pitchFamily="34" charset="0"/>
                <a:ea typeface="Carlito" pitchFamily="34" charset="-122"/>
                <a:cs typeface="Carlito" pitchFamily="34" charset="-120"/>
              </a:rPr>
              <a:t>tasks by status</a:t>
            </a:r>
            <a:r>
              <a:rPr lang="en-US" sz="1400" dirty="0">
                <a:solidFill>
                  <a:srgbClr val="F9F2EA"/>
                </a:solidFill>
                <a:latin typeface="Carlito" pitchFamily="34" charset="0"/>
                <a:ea typeface="Carlito" pitchFamily="34" charset="-122"/>
                <a:cs typeface="Carlito" pitchFamily="34" charset="-120"/>
              </a:rPr>
              <a:t> and, for any failed step, its </a:t>
            </a:r>
            <a:r>
              <a:rPr lang="en-US" sz="1400" b="1" dirty="0">
                <a:solidFill>
                  <a:srgbClr val="F9F2EA"/>
                </a:solidFill>
                <a:latin typeface="Carlito" pitchFamily="34" charset="0"/>
                <a:ea typeface="Carlito" pitchFamily="34" charset="-122"/>
                <a:cs typeface="Carlito" pitchFamily="34" charset="-120"/>
              </a:rPr>
              <a:t>work folder</a:t>
            </a:r>
            <a:r>
              <a:rPr lang="en-US" sz="1400" dirty="0">
                <a:solidFill>
                  <a:srgbClr val="F9F2EA"/>
                </a:solidFill>
                <a:latin typeface="Carlito" pitchFamily="34" charset="0"/>
                <a:ea typeface="Carlito" pitchFamily="34" charset="-122"/>
                <a:cs typeface="Carlito" pitchFamily="34" charset="-120"/>
              </a:rPr>
              <a:t>. Read </a:t>
            </a:r>
            <a:r>
              <a:rPr lang="en-US" sz="1400" b="1" dirty="0">
                <a:solidFill>
                  <a:srgbClr val="F9F2EA"/>
                </a:solidFill>
                <a:latin typeface="Carlito" pitchFamily="34" charset="0"/>
                <a:ea typeface="Carlito" pitchFamily="34" charset="-122"/>
                <a:cs typeface="Carlito" pitchFamily="34" charset="-120"/>
              </a:rPr>
              <a:t>.command.err</a:t>
            </a:r>
            <a:r>
              <a:rPr lang="en-US" sz="1400" dirty="0">
                <a:solidFill>
                  <a:srgbClr val="F9F2EA"/>
                </a:solidFill>
                <a:latin typeface="Carlito" pitchFamily="34" charset="0"/>
                <a:ea typeface="Carlito" pitchFamily="34" charset="-122"/>
                <a:cs typeface="Carlito" pitchFamily="34" charset="-120"/>
              </a:rPr>
              <a:t> there.</a:t>
            </a:r>
            <a:endParaRPr lang="en-US" sz="1400" dirty="0"/>
          </a:p>
        </p:txBody>
      </p:sp>
      <p:pic>
        <p:nvPicPr>
          <p:cNvPr id="8"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No reads, so check the genomes</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34790"/>
            <a:ext cx="10883392"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Without reads there is no read QC and no Kraken2 contamination check. Before trusting a genome, look at:</a:t>
            </a:r>
            <a:endParaRPr lang="en-US" sz="1600" dirty="0"/>
          </a:p>
        </p:txBody>
      </p:sp>
      <p:sp>
        <p:nvSpPr>
          <p:cNvPr id="5" name="Text 3"/>
          <p:cNvSpPr/>
          <p:nvPr/>
        </p:nvSpPr>
        <p:spPr>
          <a:xfrm>
            <a:off x="812800" y="2288480"/>
            <a:ext cx="3488233"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QUAST</a:t>
            </a:r>
            <a:endParaRPr lang="en-US" sz="2400" dirty="0"/>
          </a:p>
        </p:txBody>
      </p:sp>
      <p:sp>
        <p:nvSpPr>
          <p:cNvPr id="6" name="Text 4"/>
          <p:cNvSpPr/>
          <p:nvPr/>
        </p:nvSpPr>
        <p:spPr>
          <a:xfrm>
            <a:off x="812800" y="2791371"/>
            <a:ext cx="3488233"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Total length, number of contigs, N50. An odd size can mean a </a:t>
            </a:r>
            <a:r>
              <a:rPr lang="en-US" sz="1400" b="1" dirty="0">
                <a:solidFill>
                  <a:srgbClr val="F9F2EA"/>
                </a:solidFill>
                <a:latin typeface="Carlito" pitchFamily="34" charset="0"/>
                <a:ea typeface="Carlito" pitchFamily="34" charset="-122"/>
                <a:cs typeface="Carlito" pitchFamily="34" charset="-120"/>
              </a:rPr>
              <a:t>mixed culture</a:t>
            </a:r>
            <a:r>
              <a:rPr lang="en-US" sz="1400" dirty="0">
                <a:solidFill>
                  <a:srgbClr val="F9F2EA"/>
                </a:solidFill>
                <a:latin typeface="Carlito" pitchFamily="34" charset="0"/>
                <a:ea typeface="Carlito" pitchFamily="34" charset="-122"/>
                <a:cs typeface="Carlito" pitchFamily="34" charset="-120"/>
              </a:rPr>
              <a:t>; thousands of short contigs, a </a:t>
            </a:r>
            <a:r>
              <a:rPr lang="en-US" sz="1400" b="1" dirty="0">
                <a:solidFill>
                  <a:srgbClr val="F9F2EA"/>
                </a:solidFill>
                <a:latin typeface="Carlito" pitchFamily="34" charset="0"/>
                <a:ea typeface="Carlito" pitchFamily="34" charset="-122"/>
                <a:cs typeface="Carlito" pitchFamily="34" charset="-120"/>
              </a:rPr>
              <a:t>poor assembly</a:t>
            </a:r>
            <a:r>
              <a:rPr lang="en-US" sz="1400" dirty="0">
                <a:solidFill>
                  <a:srgbClr val="F9F2EA"/>
                </a:solidFill>
                <a:latin typeface="Carlito" pitchFamily="34" charset="0"/>
                <a:ea typeface="Carlito" pitchFamily="34" charset="-122"/>
                <a:cs typeface="Carlito" pitchFamily="34" charset="-120"/>
              </a:rPr>
              <a:t>.</a:t>
            </a:r>
            <a:endParaRPr lang="en-US" sz="1400" dirty="0"/>
          </a:p>
        </p:txBody>
      </p:sp>
      <p:sp>
        <p:nvSpPr>
          <p:cNvPr id="7" name="Text 5"/>
          <p:cNvSpPr/>
          <p:nvPr/>
        </p:nvSpPr>
        <p:spPr>
          <a:xfrm>
            <a:off x="4402634" y="2288480"/>
            <a:ext cx="3488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Kleborate</a:t>
            </a:r>
            <a:endParaRPr lang="en-US" sz="2400" dirty="0"/>
          </a:p>
        </p:txBody>
      </p:sp>
      <p:sp>
        <p:nvSpPr>
          <p:cNvPr id="8" name="Text 6"/>
          <p:cNvSpPr/>
          <p:nvPr/>
        </p:nvSpPr>
        <p:spPr>
          <a:xfrm>
            <a:off x="4402634" y="2791371"/>
            <a:ext cx="3488284"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Species and match strength, contig statistics and </a:t>
            </a:r>
            <a:r>
              <a:rPr lang="en-US" sz="1400" b="1" dirty="0">
                <a:solidFill>
                  <a:srgbClr val="F9F2EA"/>
                </a:solidFill>
                <a:latin typeface="Carlito" pitchFamily="34" charset="0"/>
                <a:ea typeface="Carlito" pitchFamily="34" charset="-122"/>
                <a:cs typeface="Carlito" pitchFamily="34" charset="-120"/>
              </a:rPr>
              <a:t>QC warnings</a:t>
            </a:r>
            <a:r>
              <a:rPr lang="en-US" sz="1400" dirty="0">
                <a:solidFill>
                  <a:srgbClr val="F9F2EA"/>
                </a:solidFill>
                <a:latin typeface="Carlito" pitchFamily="34" charset="0"/>
                <a:ea typeface="Carlito" pitchFamily="34" charset="-122"/>
                <a:cs typeface="Carlito" pitchFamily="34" charset="-120"/>
              </a:rPr>
              <a:t>. Does the species agree with the lab?</a:t>
            </a:r>
            <a:endParaRPr lang="en-US" sz="1400" dirty="0"/>
          </a:p>
        </p:txBody>
      </p:sp>
      <p:sp>
        <p:nvSpPr>
          <p:cNvPr id="9" name="Text 7"/>
          <p:cNvSpPr/>
          <p:nvPr/>
        </p:nvSpPr>
        <p:spPr>
          <a:xfrm>
            <a:off x="7992517" y="2288480"/>
            <a:ext cx="3488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MultiQC</a:t>
            </a:r>
            <a:endParaRPr lang="en-US" sz="2400" dirty="0"/>
          </a:p>
        </p:txBody>
      </p:sp>
      <p:sp>
        <p:nvSpPr>
          <p:cNvPr id="10" name="Text 8"/>
          <p:cNvSpPr/>
          <p:nvPr/>
        </p:nvSpPr>
        <p:spPr>
          <a:xfrm>
            <a:off x="7992517" y="2791371"/>
            <a:ext cx="348828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All isolates side by side: spot the outliers quickly.</a:t>
            </a:r>
            <a:endParaRPr lang="en-US" sz="1400" dirty="0"/>
          </a:p>
        </p:txBody>
      </p:sp>
      <p:sp>
        <p:nvSpPr>
          <p:cNvPr id="11" name="Text 9"/>
          <p:cNvSpPr/>
          <p:nvPr/>
        </p:nvSpPr>
        <p:spPr>
          <a:xfrm>
            <a:off x="812800" y="3790801"/>
            <a:ext cx="10566400" cy="544810"/>
          </a:xfrm>
          <a:prstGeom prst="roundRect">
            <a:avLst>
              <a:gd name="adj" fmla="val 13987"/>
            </a:avLst>
          </a:prstGeom>
          <a:solidFill>
            <a:srgbClr val="FFCE00"/>
          </a:solidFill>
          <a:ln/>
        </p:spPr>
        <p:txBody>
          <a:bodyPr wrap="square" lIns="231682" tIns="130082" rIns="0" bIns="104682"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SNPs called from contigs are only as good as the assemblies: flag weak genomes before reading the trees.</a:t>
            </a:r>
            <a:endParaRPr lang="en-US" sz="14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5 · Running the pipeline | Day 5</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Reading the outputs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10553700" cy="3474099"/>
        </p:xfrm>
        <a:graphic>
          <a:graphicData uri="http://schemas.openxmlformats.org/drawingml/2006/table">
            <a:tbl>
              <a:tblPr/>
              <a:tblGrid>
                <a:gridCol w="2321814">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Folder</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From your assemblies</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By hand on day</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01_qc/</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Nothing: no reads to check</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1</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02_assembly/</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QUAST on your contigs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03_typing/</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Kleborate, Kaptive; E. coli: ECTyper, EzClermont</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3, 8</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04_amr/</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AMRFinderPlus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3–4</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05_plasmids/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MOB-suite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4–5</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06_phylogeny/</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One tree and SNP-distance matrix per ST group (3+ isolates)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6–7</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6"/>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multiqc/</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Summary report</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7"/>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pipeline_info/</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Software versions, run time per step</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8"/>
                  </a:ext>
                </a:extLst>
              </a:tr>
            </a:tbl>
          </a:graphicData>
        </a:graphic>
      </p:graphicFrame>
      <p:pic>
        <p:nvPicPr>
          <p:cNvPr id="5"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6" name="Text 2"/>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7" name="Text 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Your country's results in the rest of the course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3386634" cy="1415951"/>
          </a:xfrm>
          <a:prstGeom prst="roundRect">
            <a:avLst>
              <a:gd name="adj" fmla="val 3588"/>
            </a:avLst>
          </a:prstGeom>
          <a:solidFill>
            <a:srgbClr val="FFFFFF"/>
          </a:solidFill>
          <a:ln/>
        </p:spPr>
        <p:txBody>
          <a:bodyPr/>
          <a:lstStyle/>
          <a:p>
            <a:endParaRPr lang="en-KE"/>
          </a:p>
        </p:txBody>
      </p:sp>
      <p:sp>
        <p:nvSpPr>
          <p:cNvPr id="5" name="Shape 3"/>
          <p:cNvSpPr/>
          <p:nvPr/>
        </p:nvSpPr>
        <p:spPr>
          <a:xfrm>
            <a:off x="812800" y="1709390"/>
            <a:ext cx="3386634" cy="1415951"/>
          </a:xfrm>
          <a:custGeom>
            <a:avLst/>
            <a:gdLst/>
            <a:ahLst/>
            <a:cxnLst/>
            <a:rect l="l" t="t" r="r" b="b"/>
            <a:pathLst>
              <a:path w="3386634" h="1415951">
                <a:moveTo>
                  <a:pt x="0" y="50800"/>
                </a:moveTo>
                <a:lnTo>
                  <a:pt x="0" y="50800"/>
                </a:lnTo>
                <a:arcTo wR="50800" hR="50800" stAng="10800000" swAng="5400000"/>
                <a:lnTo>
                  <a:pt x="3335834" y="0"/>
                </a:lnTo>
                <a:arcTo wR="50800" hR="50800" stAng="16200000" swAng="5400000"/>
                <a:lnTo>
                  <a:pt x="3386634" y="50800"/>
                </a:lnTo>
                <a:lnTo>
                  <a:pt x="0" y="50800"/>
                </a:lnTo>
                <a:close/>
              </a:path>
            </a:pathLst>
          </a:custGeom>
          <a:solidFill>
            <a:srgbClr val="273003"/>
          </a:solidFill>
          <a:ln/>
        </p:spPr>
        <p:txBody>
          <a:bodyPr/>
          <a:lstStyle/>
          <a:p>
            <a:endParaRPr lang="en-KE"/>
          </a:p>
        </p:txBody>
      </p:sp>
      <p:sp>
        <p:nvSpPr>
          <p:cNvPr id="6" name="Text 4"/>
          <p:cNvSpPr/>
          <p:nvPr/>
        </p:nvSpPr>
        <p:spPr>
          <a:xfrm>
            <a:off x="1016000" y="1937990"/>
            <a:ext cx="306964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DAYS 6–7 · MODULE 6</a:t>
            </a:r>
            <a:endParaRPr lang="en-US" sz="1200" dirty="0"/>
          </a:p>
        </p:txBody>
      </p:sp>
      <p:sp>
        <p:nvSpPr>
          <p:cNvPr id="7" name="Text 5"/>
          <p:cNvSpPr/>
          <p:nvPr/>
        </p:nvSpPr>
        <p:spPr>
          <a:xfrm>
            <a:off x="1016000" y="2227511"/>
            <a:ext cx="3069641"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Trees and SNP distances per ST; </a:t>
            </a:r>
            <a:r>
              <a:rPr lang="en-US" sz="1400" b="1" dirty="0">
                <a:solidFill>
                  <a:srgbClr val="3A322C"/>
                </a:solidFill>
                <a:latin typeface="Carlito" pitchFamily="34" charset="0"/>
                <a:ea typeface="Carlito" pitchFamily="34" charset="-122"/>
                <a:cs typeface="Carlito" pitchFamily="34" charset="-120"/>
              </a:rPr>
              <a:t>transmission pairs</a:t>
            </a:r>
            <a:r>
              <a:rPr lang="en-US" sz="1400" dirty="0">
                <a:solidFill>
                  <a:srgbClr val="3A322C"/>
                </a:solidFill>
                <a:latin typeface="Carlito" pitchFamily="34" charset="0"/>
                <a:ea typeface="Carlito" pitchFamily="34" charset="-122"/>
                <a:cs typeface="Carlito" pitchFamily="34" charset="-120"/>
              </a:rPr>
              <a:t> need the dates and wards from your metadata.</a:t>
            </a:r>
            <a:endParaRPr lang="en-US" sz="1400" dirty="0"/>
          </a:p>
        </p:txBody>
      </p:sp>
      <p:sp>
        <p:nvSpPr>
          <p:cNvPr id="8" name="Shape 6"/>
          <p:cNvSpPr/>
          <p:nvPr/>
        </p:nvSpPr>
        <p:spPr>
          <a:xfrm>
            <a:off x="4402634" y="1709390"/>
            <a:ext cx="3386683" cy="1415951"/>
          </a:xfrm>
          <a:prstGeom prst="roundRect">
            <a:avLst>
              <a:gd name="adj" fmla="val 3588"/>
            </a:avLst>
          </a:prstGeom>
          <a:solidFill>
            <a:srgbClr val="FFFFFF"/>
          </a:solidFill>
          <a:ln/>
        </p:spPr>
        <p:txBody>
          <a:bodyPr/>
          <a:lstStyle/>
          <a:p>
            <a:endParaRPr lang="en-KE"/>
          </a:p>
        </p:txBody>
      </p:sp>
      <p:sp>
        <p:nvSpPr>
          <p:cNvPr id="9" name="Shape 7"/>
          <p:cNvSpPr/>
          <p:nvPr/>
        </p:nvSpPr>
        <p:spPr>
          <a:xfrm>
            <a:off x="4402634" y="1709390"/>
            <a:ext cx="3386683" cy="1415951"/>
          </a:xfrm>
          <a:custGeom>
            <a:avLst/>
            <a:gdLst/>
            <a:ahLst/>
            <a:cxnLst/>
            <a:rect l="l" t="t" r="r" b="b"/>
            <a:pathLst>
              <a:path w="3386683" h="1415951">
                <a:moveTo>
                  <a:pt x="0" y="50800"/>
                </a:moveTo>
                <a:lnTo>
                  <a:pt x="0" y="50800"/>
                </a:lnTo>
                <a:arcTo wR="50800" hR="50800" stAng="10800000" swAng="5400000"/>
                <a:lnTo>
                  <a:pt x="3335883" y="0"/>
                </a:lnTo>
                <a:arcTo wR="50800" hR="50800" stAng="16200000" swAng="5400000"/>
                <a:lnTo>
                  <a:pt x="3386683" y="50800"/>
                </a:lnTo>
                <a:lnTo>
                  <a:pt x="0" y="50800"/>
                </a:lnTo>
                <a:close/>
              </a:path>
            </a:pathLst>
          </a:custGeom>
          <a:solidFill>
            <a:srgbClr val="891F15"/>
          </a:solidFill>
          <a:ln/>
        </p:spPr>
        <p:txBody>
          <a:bodyPr/>
          <a:lstStyle/>
          <a:p>
            <a:endParaRPr lang="en-KE"/>
          </a:p>
        </p:txBody>
      </p:sp>
      <p:sp>
        <p:nvSpPr>
          <p:cNvPr id="10" name="Text 8"/>
          <p:cNvSpPr/>
          <p:nvPr/>
        </p:nvSpPr>
        <p:spPr>
          <a:xfrm>
            <a:off x="4605834" y="1937990"/>
            <a:ext cx="30696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91F15"/>
                </a:solidFill>
                <a:latin typeface="Carlito" pitchFamily="34" charset="0"/>
                <a:ea typeface="Carlito" pitchFamily="34" charset="-122"/>
                <a:cs typeface="Carlito" pitchFamily="34" charset="-120"/>
              </a:rPr>
              <a:t>DAY 8 · MODULES 7–8</a:t>
            </a:r>
            <a:endParaRPr lang="en-US" sz="1200" dirty="0"/>
          </a:p>
        </p:txBody>
      </p:sp>
      <p:sp>
        <p:nvSpPr>
          <p:cNvPr id="11" name="Text 9"/>
          <p:cNvSpPr/>
          <p:nvPr/>
        </p:nvSpPr>
        <p:spPr>
          <a:xfrm>
            <a:off x="4605834" y="2227511"/>
            <a:ext cx="30696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Capsule and O types; </a:t>
            </a:r>
            <a:r>
              <a:rPr lang="en-US" sz="1400" b="1" dirty="0">
                <a:solidFill>
                  <a:srgbClr val="3A322C"/>
                </a:solidFill>
                <a:latin typeface="Carlito" pitchFamily="34" charset="0"/>
                <a:ea typeface="Carlito" pitchFamily="34" charset="-122"/>
                <a:cs typeface="Carlito" pitchFamily="34" charset="-120"/>
              </a:rPr>
              <a:t>figures</a:t>
            </a:r>
            <a:r>
              <a:rPr lang="en-US" sz="1400" dirty="0">
                <a:solidFill>
                  <a:srgbClr val="3A322C"/>
                </a:solidFill>
                <a:latin typeface="Carlito" pitchFamily="34" charset="0"/>
                <a:ea typeface="Carlito" pitchFamily="34" charset="-122"/>
                <a:cs typeface="Carlito" pitchFamily="34" charset="-120"/>
              </a:rPr>
              <a:t> that join typing, AMR, plasmids and metadata.</a:t>
            </a:r>
            <a:endParaRPr lang="en-US" sz="1400" dirty="0"/>
          </a:p>
        </p:txBody>
      </p:sp>
      <p:sp>
        <p:nvSpPr>
          <p:cNvPr id="12" name="Shape 10"/>
          <p:cNvSpPr/>
          <p:nvPr/>
        </p:nvSpPr>
        <p:spPr>
          <a:xfrm>
            <a:off x="7992517" y="1709390"/>
            <a:ext cx="3386683" cy="1415951"/>
          </a:xfrm>
          <a:prstGeom prst="roundRect">
            <a:avLst>
              <a:gd name="adj" fmla="val 3588"/>
            </a:avLst>
          </a:prstGeom>
          <a:solidFill>
            <a:srgbClr val="FFFFFF"/>
          </a:solidFill>
          <a:ln/>
        </p:spPr>
        <p:txBody>
          <a:bodyPr/>
          <a:lstStyle/>
          <a:p>
            <a:endParaRPr lang="en-KE"/>
          </a:p>
        </p:txBody>
      </p:sp>
      <p:sp>
        <p:nvSpPr>
          <p:cNvPr id="13" name="Shape 11"/>
          <p:cNvSpPr/>
          <p:nvPr/>
        </p:nvSpPr>
        <p:spPr>
          <a:xfrm>
            <a:off x="7992517" y="1709390"/>
            <a:ext cx="3386683" cy="1415951"/>
          </a:xfrm>
          <a:custGeom>
            <a:avLst/>
            <a:gdLst/>
            <a:ahLst/>
            <a:cxnLst/>
            <a:rect l="l" t="t" r="r" b="b"/>
            <a:pathLst>
              <a:path w="3386683" h="1415951">
                <a:moveTo>
                  <a:pt x="0" y="50800"/>
                </a:moveTo>
                <a:lnTo>
                  <a:pt x="0" y="50800"/>
                </a:lnTo>
                <a:arcTo wR="50800" hR="50800" stAng="10800000" swAng="5400000"/>
                <a:lnTo>
                  <a:pt x="3335883" y="0"/>
                </a:lnTo>
                <a:arcTo wR="50800" hR="50800" stAng="16200000" swAng="5400000"/>
                <a:lnTo>
                  <a:pt x="3386683" y="50800"/>
                </a:lnTo>
                <a:lnTo>
                  <a:pt x="0" y="50800"/>
                </a:lnTo>
                <a:close/>
              </a:path>
            </a:pathLst>
          </a:custGeom>
          <a:solidFill>
            <a:srgbClr val="6D2637"/>
          </a:solidFill>
          <a:ln/>
        </p:spPr>
        <p:txBody>
          <a:bodyPr/>
          <a:lstStyle/>
          <a:p>
            <a:endParaRPr lang="en-KE"/>
          </a:p>
        </p:txBody>
      </p:sp>
      <p:sp>
        <p:nvSpPr>
          <p:cNvPr id="14" name="Text 12"/>
          <p:cNvSpPr/>
          <p:nvPr/>
        </p:nvSpPr>
        <p:spPr>
          <a:xfrm>
            <a:off x="8195717" y="1937990"/>
            <a:ext cx="30696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2637"/>
                </a:solidFill>
                <a:latin typeface="Carlito" pitchFamily="34" charset="0"/>
                <a:ea typeface="Carlito" pitchFamily="34" charset="-122"/>
                <a:cs typeface="Carlito" pitchFamily="34" charset="-120"/>
              </a:rPr>
              <a:t>DAY 9 · MODULE 8</a:t>
            </a:r>
            <a:endParaRPr lang="en-US" sz="1200" dirty="0"/>
          </a:p>
        </p:txBody>
      </p:sp>
      <p:sp>
        <p:nvSpPr>
          <p:cNvPr id="15" name="Text 13"/>
          <p:cNvSpPr/>
          <p:nvPr/>
        </p:nvSpPr>
        <p:spPr>
          <a:xfrm>
            <a:off x="8195717" y="2227511"/>
            <a:ext cx="30696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one-page </a:t>
            </a:r>
            <a:r>
              <a:rPr lang="en-US" sz="1400" b="1" dirty="0">
                <a:solidFill>
                  <a:srgbClr val="3A322C"/>
                </a:solidFill>
                <a:latin typeface="Carlito" pitchFamily="34" charset="0"/>
                <a:ea typeface="Carlito" pitchFamily="34" charset="-122"/>
                <a:cs typeface="Carlito" pitchFamily="34" charset="-120"/>
              </a:rPr>
              <a:t>country brief</a:t>
            </a:r>
            <a:r>
              <a:rPr lang="en-US" sz="1400" dirty="0">
                <a:solidFill>
                  <a:srgbClr val="3A322C"/>
                </a:solidFill>
                <a:latin typeface="Carlito" pitchFamily="34" charset="0"/>
                <a:ea typeface="Carlito" pitchFamily="34" charset="-122"/>
                <a:cs typeface="Carlito" pitchFamily="34" charset="-120"/>
              </a:rPr>
              <a:t>, and what can be shared publicly.</a:t>
            </a:r>
            <a:endParaRPr lang="en-US" sz="1400" dirty="0"/>
          </a:p>
        </p:txBody>
      </p:sp>
      <p:sp>
        <p:nvSpPr>
          <p:cNvPr id="16" name="Shape 14"/>
          <p:cNvSpPr/>
          <p:nvPr/>
        </p:nvSpPr>
        <p:spPr>
          <a:xfrm>
            <a:off x="812800" y="3379341"/>
            <a:ext cx="10566400" cy="660400"/>
          </a:xfrm>
          <a:prstGeom prst="roundRect">
            <a:avLst>
              <a:gd name="adj" fmla="val 11538"/>
            </a:avLst>
          </a:prstGeom>
          <a:solidFill>
            <a:srgbClr val="273003"/>
          </a:solidFill>
          <a:ln/>
        </p:spPr>
        <p:txBody>
          <a:bodyPr/>
          <a:lstStyle/>
          <a:p>
            <a:endParaRPr lang="en-KE"/>
          </a:p>
        </p:txBody>
      </p:sp>
      <p:pic>
        <p:nvPicPr>
          <p:cNvPr id="17" name="Image 0" descr="Database"/>
          <p:cNvPicPr>
            <a:picLocks noChangeAspect="1"/>
          </p:cNvPicPr>
          <p:nvPr/>
        </p:nvPicPr>
        <p:blipFill>
          <a:blip r:embed="rId3"/>
          <a:srcRect/>
          <a:stretch/>
        </p:blipFill>
        <p:spPr>
          <a:xfrm>
            <a:off x="1066800" y="3557141"/>
            <a:ext cx="304800" cy="304800"/>
          </a:xfrm>
          <a:prstGeom prst="rect">
            <a:avLst/>
          </a:prstGeom>
        </p:spPr>
      </p:pic>
      <p:sp>
        <p:nvSpPr>
          <p:cNvPr id="18" name="Text 15"/>
          <p:cNvSpPr/>
          <p:nvPr/>
        </p:nvSpPr>
        <p:spPr>
          <a:xfrm>
            <a:off x="1524000" y="3589536"/>
            <a:ext cx="98552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For the R scripts: </a:t>
            </a:r>
            <a:r>
              <a:rPr lang="en-US" sz="1400" b="1" dirty="0">
                <a:solidFill>
                  <a:srgbClr val="F9F2EA"/>
                </a:solidFill>
                <a:latin typeface="Carlito" pitchFamily="34" charset="0"/>
                <a:ea typeface="Carlito" pitchFamily="34" charset="-122"/>
                <a:cs typeface="Carlito" pitchFamily="34" charset="-120"/>
              </a:rPr>
              <a:t>RESULTS</a:t>
            </a:r>
            <a:r>
              <a:rPr lang="en-US" sz="1400" dirty="0">
                <a:solidFill>
                  <a:srgbClr val="F9F2EA"/>
                </a:solidFill>
                <a:latin typeface="Carlito" pitchFamily="34" charset="0"/>
                <a:ea typeface="Carlito" pitchFamily="34" charset="-122"/>
                <a:cs typeface="Carlito" pitchFamily="34" charset="-120"/>
              </a:rPr>
              <a:t> = your output folder, </a:t>
            </a:r>
            <a:r>
              <a:rPr lang="en-US" sz="1400" b="1" dirty="0">
                <a:solidFill>
                  <a:srgbClr val="F9F2EA"/>
                </a:solidFill>
                <a:latin typeface="Carlito" pitchFamily="34" charset="0"/>
                <a:ea typeface="Carlito" pitchFamily="34" charset="-122"/>
                <a:cs typeface="Carlito" pitchFamily="34" charset="-120"/>
              </a:rPr>
              <a:t>METADATA</a:t>
            </a:r>
            <a:r>
              <a:rPr lang="en-US" sz="1400" dirty="0">
                <a:solidFill>
                  <a:srgbClr val="F9F2EA"/>
                </a:solidFill>
                <a:latin typeface="Carlito" pitchFamily="34" charset="0"/>
                <a:ea typeface="Carlito" pitchFamily="34" charset="-122"/>
                <a:cs typeface="Carlito" pitchFamily="34" charset="-120"/>
              </a:rPr>
              <a:t> = metadata_assemblies_&lt;species&gt;.tsv, </a:t>
            </a:r>
            <a:r>
              <a:rPr lang="en-US" sz="1400" b="1" dirty="0">
                <a:solidFill>
                  <a:srgbClr val="F9F2EA"/>
                </a:solidFill>
                <a:latin typeface="Carlito" pitchFamily="34" charset="0"/>
                <a:ea typeface="Carlito" pitchFamily="34" charset="-122"/>
                <a:cs typeface="Carlito" pitchFamily="34" charset="-120"/>
              </a:rPr>
              <a:t>AST</a:t>
            </a:r>
            <a:r>
              <a:rPr lang="en-US" sz="1400" dirty="0">
                <a:solidFill>
                  <a:srgbClr val="F9F2EA"/>
                </a:solidFill>
                <a:latin typeface="Carlito" pitchFamily="34" charset="0"/>
                <a:ea typeface="Carlito" pitchFamily="34" charset="-122"/>
                <a:cs typeface="Carlito" pitchFamily="34" charset="-120"/>
              </a:rPr>
              <a:t> = "" if you have no AST table.</a:t>
            </a:r>
            <a:endParaRPr lang="en-US" sz="1400" dirty="0"/>
          </a:p>
        </p:txBody>
      </p:sp>
      <p:pic>
        <p:nvPicPr>
          <p:cNvPr id="19"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Each country's data stays its own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147540"/>
            <a:ext cx="10566400" cy="0"/>
          </a:xfrm>
          <a:prstGeom prst="line">
            <a:avLst/>
          </a:prstGeom>
          <a:noFill/>
          <a:ln w="12700">
            <a:solidFill>
              <a:srgbClr val="D9CDBF"/>
            </a:solidFill>
            <a:prstDash val="solid"/>
          </a:ln>
        </p:spPr>
        <p:txBody>
          <a:bodyPr/>
          <a:lstStyle/>
          <a:p>
            <a:endParaRPr lang="en-KE"/>
          </a:p>
        </p:txBody>
      </p:sp>
      <p:pic>
        <p:nvPicPr>
          <p:cNvPr id="5" name="Image 0" descr="Lock"/>
          <p:cNvPicPr>
            <a:picLocks noChangeAspect="1"/>
          </p:cNvPicPr>
          <p:nvPr/>
        </p:nvPicPr>
        <p:blipFill>
          <a:blip r:embed="rId3"/>
          <a:srcRect/>
          <a:stretch/>
        </p:blipFill>
        <p:spPr>
          <a:xfrm>
            <a:off x="812800" y="1709390"/>
            <a:ext cx="304800" cy="304800"/>
          </a:xfrm>
          <a:prstGeom prst="rect">
            <a:avLst/>
          </a:prstGeom>
        </p:spPr>
      </p:pic>
      <p:sp>
        <p:nvSpPr>
          <p:cNvPr id="6" name="Text 3"/>
          <p:cNvSpPr/>
          <p:nvPr/>
        </p:nvSpPr>
        <p:spPr>
          <a:xfrm>
            <a:off x="1295400" y="1729730"/>
            <a:ext cx="83977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One output folder per country and species; no country's results mixed with another's</a:t>
            </a:r>
            <a:endParaRPr lang="en-US" sz="1600" dirty="0"/>
          </a:p>
        </p:txBody>
      </p:sp>
      <p:sp>
        <p:nvSpPr>
          <p:cNvPr id="7" name="Shape 4"/>
          <p:cNvSpPr/>
          <p:nvPr/>
        </p:nvSpPr>
        <p:spPr>
          <a:xfrm>
            <a:off x="812800" y="2731740"/>
            <a:ext cx="10566400" cy="0"/>
          </a:xfrm>
          <a:prstGeom prst="line">
            <a:avLst/>
          </a:prstGeom>
          <a:noFill/>
          <a:ln w="12700">
            <a:solidFill>
              <a:srgbClr val="D9CDBF"/>
            </a:solidFill>
            <a:prstDash val="solid"/>
          </a:ln>
        </p:spPr>
        <p:txBody>
          <a:bodyPr/>
          <a:lstStyle/>
          <a:p>
            <a:endParaRPr lang="en-KE"/>
          </a:p>
        </p:txBody>
      </p:sp>
      <p:pic>
        <p:nvPicPr>
          <p:cNvPr id="8" name="Image 1" descr="Users"/>
          <p:cNvPicPr>
            <a:picLocks noChangeAspect="1"/>
          </p:cNvPicPr>
          <p:nvPr/>
        </p:nvPicPr>
        <p:blipFill>
          <a:blip r:embed="rId4"/>
          <a:srcRect/>
          <a:stretch/>
        </p:blipFill>
        <p:spPr>
          <a:xfrm>
            <a:off x="812800" y="2293590"/>
            <a:ext cx="304800" cy="304800"/>
          </a:xfrm>
          <a:prstGeom prst="rect">
            <a:avLst/>
          </a:prstGeom>
        </p:spPr>
      </p:pic>
      <p:sp>
        <p:nvSpPr>
          <p:cNvPr id="9" name="Text 5"/>
          <p:cNvSpPr/>
          <p:nvPr/>
        </p:nvSpPr>
        <p:spPr>
          <a:xfrm>
            <a:off x="1295400" y="2313930"/>
            <a:ext cx="1008380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A trainer who submits for a country only runs the job, and hands the results back to that country's team</a:t>
            </a:r>
            <a:endParaRPr lang="en-US" sz="1600" dirty="0"/>
          </a:p>
        </p:txBody>
      </p:sp>
      <p:sp>
        <p:nvSpPr>
          <p:cNvPr id="10" name="Shape 6"/>
          <p:cNvSpPr/>
          <p:nvPr/>
        </p:nvSpPr>
        <p:spPr>
          <a:xfrm>
            <a:off x="812800" y="3315940"/>
            <a:ext cx="10566400" cy="0"/>
          </a:xfrm>
          <a:prstGeom prst="line">
            <a:avLst/>
          </a:prstGeom>
          <a:noFill/>
          <a:ln w="12700">
            <a:solidFill>
              <a:srgbClr val="D9CDBF"/>
            </a:solidFill>
            <a:prstDash val="solid"/>
          </a:ln>
        </p:spPr>
        <p:txBody>
          <a:bodyPr/>
          <a:lstStyle/>
          <a:p>
            <a:endParaRPr lang="en-KE"/>
          </a:p>
        </p:txBody>
      </p:sp>
      <p:pic>
        <p:nvPicPr>
          <p:cNvPr id="11" name="Image 2" descr="Warning"/>
          <p:cNvPicPr>
            <a:picLocks noChangeAspect="1"/>
          </p:cNvPicPr>
          <p:nvPr/>
        </p:nvPicPr>
        <p:blipFill>
          <a:blip r:embed="rId5"/>
          <a:srcRect/>
          <a:stretch/>
        </p:blipFill>
        <p:spPr>
          <a:xfrm>
            <a:off x="812800" y="2877790"/>
            <a:ext cx="304800" cy="304800"/>
          </a:xfrm>
          <a:prstGeom prst="rect">
            <a:avLst/>
          </a:prstGeom>
        </p:spPr>
      </p:pic>
      <p:sp>
        <p:nvSpPr>
          <p:cNvPr id="12" name="Text 7"/>
          <p:cNvSpPr/>
          <p:nvPr/>
        </p:nvSpPr>
        <p:spPr>
          <a:xfrm>
            <a:off x="1295400" y="2898130"/>
            <a:ext cx="5843230"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No patient names or record numbers in the metadata table</a:t>
            </a:r>
            <a:endParaRPr lang="en-US" sz="1600" dirty="0"/>
          </a:p>
        </p:txBody>
      </p:sp>
      <p:pic>
        <p:nvPicPr>
          <p:cNvPr id="13" name="Image 3" descr="Globe"/>
          <p:cNvPicPr>
            <a:picLocks noChangeAspect="1"/>
          </p:cNvPicPr>
          <p:nvPr/>
        </p:nvPicPr>
        <p:blipFill>
          <a:blip r:embed="rId6"/>
          <a:srcRect/>
          <a:stretch/>
        </p:blipFill>
        <p:spPr>
          <a:xfrm>
            <a:off x="812800" y="3461990"/>
            <a:ext cx="304800" cy="304800"/>
          </a:xfrm>
          <a:prstGeom prst="rect">
            <a:avLst/>
          </a:prstGeom>
        </p:spPr>
      </p:pic>
      <p:sp>
        <p:nvSpPr>
          <p:cNvPr id="14" name="Text 8"/>
          <p:cNvSpPr/>
          <p:nvPr/>
        </p:nvSpPr>
        <p:spPr>
          <a:xfrm>
            <a:off x="1295400" y="3482330"/>
            <a:ext cx="10490716"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Sharing beyond the team follows your country's rules: country and year, not exact dates and wards (Day 9)</a:t>
            </a:r>
            <a:endParaRPr lang="en-US" sz="1600" dirty="0"/>
          </a:p>
        </p:txBody>
      </p:sp>
      <p:pic>
        <p:nvPicPr>
          <p:cNvPr id="15" name="Image 4" descr="ILRI and CGIAR logos"/>
          <p:cNvPicPr>
            <a:picLocks noChangeAspect="1"/>
          </p:cNvPicPr>
          <p:nvPr/>
        </p:nvPicPr>
        <p:blipFill>
          <a:blip r:embed="rId7"/>
          <a:srcRect l="-56" r="-56"/>
          <a:stretch/>
        </p:blipFill>
        <p:spPr>
          <a:xfrm>
            <a:off x="10033000" y="254000"/>
            <a:ext cx="1346200" cy="381000"/>
          </a:xfrm>
          <a:prstGeom prst="rect">
            <a:avLst/>
          </a:prstGeom>
        </p:spPr>
      </p:pic>
      <p:sp>
        <p:nvSpPr>
          <p:cNvPr id="16"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17"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09390"/>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Your run starts from contigs. Which checks replace read QC and Kraken2?</a:t>
            </a:r>
            <a:endParaRPr lang="en-US" sz="1600" dirty="0"/>
          </a:p>
        </p:txBody>
      </p:sp>
      <p:sp>
        <p:nvSpPr>
          <p:cNvPr id="6" name="Text 4"/>
          <p:cNvSpPr/>
          <p:nvPr/>
        </p:nvSpPr>
        <p:spPr>
          <a:xfrm>
            <a:off x="60960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6402884" y="1709390"/>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An isolate's organism is </a:t>
            </a:r>
            <a:r>
              <a:rPr lang="en-US" sz="1600" i="1" dirty="0">
                <a:solidFill>
                  <a:srgbClr val="F9F2EA"/>
                </a:solidFill>
                <a:latin typeface="Carlito" pitchFamily="34" charset="0"/>
                <a:ea typeface="Carlito" pitchFamily="34" charset="-122"/>
                <a:cs typeface="Carlito" pitchFamily="34" charset="-120"/>
              </a:rPr>
              <a:t>Acinetobacter baumannii</a:t>
            </a:r>
            <a:r>
              <a:rPr lang="en-US" sz="1600" dirty="0">
                <a:solidFill>
                  <a:srgbClr val="F9F2EA"/>
                </a:solidFill>
                <a:latin typeface="Carlito" pitchFamily="34" charset="0"/>
                <a:ea typeface="Carlito" pitchFamily="34" charset="-122"/>
                <a:cs typeface="Carlito" pitchFamily="34" charset="-120"/>
              </a:rPr>
              <a:t>. What happens to it?</a:t>
            </a:r>
            <a:endParaRPr lang="en-US" sz="1600" dirty="0"/>
          </a:p>
        </p:txBody>
      </p:sp>
      <p:sp>
        <p:nvSpPr>
          <p:cNvPr id="8" name="Text 6"/>
          <p:cNvSpPr/>
          <p:nvPr/>
        </p:nvSpPr>
        <p:spPr>
          <a:xfrm>
            <a:off x="812800" y="225797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2257971"/>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The job stopped after 10 hours. How do you finish without repeating the steps that are done?</a:t>
            </a:r>
            <a:endParaRPr lang="en-US" sz="1600" dirty="0"/>
          </a:p>
        </p:txBody>
      </p:sp>
      <p:sp>
        <p:nvSpPr>
          <p:cNvPr id="10" name="Text 8"/>
          <p:cNvSpPr/>
          <p:nvPr/>
        </p:nvSpPr>
        <p:spPr>
          <a:xfrm>
            <a:off x="6096000" y="225797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1" name="Text 9"/>
          <p:cNvSpPr/>
          <p:nvPr/>
        </p:nvSpPr>
        <p:spPr>
          <a:xfrm>
            <a:off x="6402884" y="2257971"/>
            <a:ext cx="5685830"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Why one submitter per country, and one run per species?</a:t>
            </a:r>
            <a:endParaRPr lang="en-US" sz="16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5 · Running the pipeline | Day 5</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End-of-day checklist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071340"/>
            <a:ext cx="10566400" cy="0"/>
          </a:xfrm>
          <a:prstGeom prst="line">
            <a:avLst/>
          </a:prstGeom>
          <a:noFill/>
          <a:ln w="12700">
            <a:solidFill>
              <a:srgbClr val="D9CDBF"/>
            </a:solidFill>
            <a:prstDash val="solid"/>
          </a:ln>
        </p:spPr>
        <p:txBody>
          <a:bodyPr/>
          <a:lstStyle/>
          <a:p>
            <a:endParaRPr lang="en-KE"/>
          </a:p>
        </p:txBody>
      </p:sp>
      <p:pic>
        <p:nvPicPr>
          <p:cNvPr id="5" name="Image 0" descr="CheckCircle"/>
          <p:cNvPicPr>
            <a:picLocks noChangeAspect="1"/>
          </p:cNvPicPr>
          <p:nvPr/>
        </p:nvPicPr>
        <p:blipFill>
          <a:blip r:embed="rId3"/>
          <a:srcRect/>
          <a:stretch/>
        </p:blipFill>
        <p:spPr>
          <a:xfrm>
            <a:off x="812800" y="1683990"/>
            <a:ext cx="279400" cy="279400"/>
          </a:xfrm>
          <a:prstGeom prst="rect">
            <a:avLst/>
          </a:prstGeom>
        </p:spPr>
      </p:pic>
      <p:sp>
        <p:nvSpPr>
          <p:cNvPr id="6" name="Text 3"/>
          <p:cNvSpPr/>
          <p:nvPr/>
        </p:nvSpPr>
        <p:spPr>
          <a:xfrm>
            <a:off x="1270000" y="1699865"/>
            <a:ext cx="5692497"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3A322C"/>
                </a:solidFill>
                <a:latin typeface="Carlito" pitchFamily="34" charset="0"/>
                <a:ea typeface="Carlito" pitchFamily="34" charset="-122"/>
                <a:cs typeface="Carlito" pitchFamily="34" charset="-120"/>
              </a:rPr>
              <a:t>Test (stub) run completed, and you can find each result folder</a:t>
            </a:r>
            <a:endParaRPr lang="en-US" sz="1500" dirty="0"/>
          </a:p>
        </p:txBody>
      </p:sp>
      <p:sp>
        <p:nvSpPr>
          <p:cNvPr id="7" name="Shape 4"/>
          <p:cNvSpPr/>
          <p:nvPr/>
        </p:nvSpPr>
        <p:spPr>
          <a:xfrm>
            <a:off x="812800" y="2579340"/>
            <a:ext cx="10566400" cy="0"/>
          </a:xfrm>
          <a:prstGeom prst="line">
            <a:avLst/>
          </a:prstGeom>
          <a:noFill/>
          <a:ln w="12700">
            <a:solidFill>
              <a:srgbClr val="D9CDBF"/>
            </a:solidFill>
            <a:prstDash val="solid"/>
          </a:ln>
        </p:spPr>
        <p:txBody>
          <a:bodyPr/>
          <a:lstStyle/>
          <a:p>
            <a:endParaRPr lang="en-KE"/>
          </a:p>
        </p:txBody>
      </p:sp>
      <p:pic>
        <p:nvPicPr>
          <p:cNvPr id="8" name="Image 1" descr="CheckCircle"/>
          <p:cNvPicPr>
            <a:picLocks noChangeAspect="1"/>
          </p:cNvPicPr>
          <p:nvPr/>
        </p:nvPicPr>
        <p:blipFill>
          <a:blip r:embed="rId3"/>
          <a:srcRect/>
          <a:stretch/>
        </p:blipFill>
        <p:spPr>
          <a:xfrm>
            <a:off x="812800" y="2191990"/>
            <a:ext cx="279400" cy="279400"/>
          </a:xfrm>
          <a:prstGeom prst="rect">
            <a:avLst/>
          </a:prstGeom>
        </p:spPr>
      </p:pic>
      <p:sp>
        <p:nvSpPr>
          <p:cNvPr id="9" name="Text 5"/>
          <p:cNvSpPr/>
          <p:nvPr/>
        </p:nvSpPr>
        <p:spPr>
          <a:xfrm>
            <a:off x="1270000" y="2207865"/>
            <a:ext cx="6393835"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3A322C"/>
                </a:solidFill>
                <a:latin typeface="Carlito" pitchFamily="34" charset="0"/>
                <a:ea typeface="Carlito" pitchFamily="34" charset="-122"/>
                <a:cs typeface="Carlito" pitchFamily="34" charset="-120"/>
              </a:rPr>
              <a:t>Your country's contigs on the HPC, one </a:t>
            </a:r>
            <a:r>
              <a:rPr lang="en-US" sz="1500" b="1" dirty="0">
                <a:solidFill>
                  <a:srgbClr val="3A322C"/>
                </a:solidFill>
                <a:latin typeface="Carlito" pitchFamily="34" charset="0"/>
                <a:ea typeface="Carlito" pitchFamily="34" charset="-122"/>
                <a:cs typeface="Carlito" pitchFamily="34" charset="-120"/>
              </a:rPr>
              <a:t>&lt;ID&gt;_contigs.fasta</a:t>
            </a:r>
            <a:r>
              <a:rPr lang="en-US" sz="1500" dirty="0">
                <a:solidFill>
                  <a:srgbClr val="3A322C"/>
                </a:solidFill>
                <a:latin typeface="Carlito" pitchFamily="34" charset="0"/>
                <a:ea typeface="Carlito" pitchFamily="34" charset="-122"/>
                <a:cs typeface="Carlito" pitchFamily="34" charset="-120"/>
              </a:rPr>
              <a:t> per isolate</a:t>
            </a:r>
            <a:endParaRPr lang="en-US" sz="1500" dirty="0"/>
          </a:p>
        </p:txBody>
      </p:sp>
      <p:sp>
        <p:nvSpPr>
          <p:cNvPr id="10" name="Shape 6"/>
          <p:cNvSpPr/>
          <p:nvPr/>
        </p:nvSpPr>
        <p:spPr>
          <a:xfrm>
            <a:off x="812800" y="3087340"/>
            <a:ext cx="10566400" cy="0"/>
          </a:xfrm>
          <a:prstGeom prst="line">
            <a:avLst/>
          </a:prstGeom>
          <a:noFill/>
          <a:ln w="12700">
            <a:solidFill>
              <a:srgbClr val="D9CDBF"/>
            </a:solidFill>
            <a:prstDash val="solid"/>
          </a:ln>
        </p:spPr>
        <p:txBody>
          <a:bodyPr/>
          <a:lstStyle/>
          <a:p>
            <a:endParaRPr lang="en-KE"/>
          </a:p>
        </p:txBody>
      </p:sp>
      <p:pic>
        <p:nvPicPr>
          <p:cNvPr id="11" name="Image 2" descr="CheckCircle"/>
          <p:cNvPicPr>
            <a:picLocks noChangeAspect="1"/>
          </p:cNvPicPr>
          <p:nvPr/>
        </p:nvPicPr>
        <p:blipFill>
          <a:blip r:embed="rId3"/>
          <a:srcRect/>
          <a:stretch/>
        </p:blipFill>
        <p:spPr>
          <a:xfrm>
            <a:off x="812800" y="2699990"/>
            <a:ext cx="279400" cy="279400"/>
          </a:xfrm>
          <a:prstGeom prst="rect">
            <a:avLst/>
          </a:prstGeom>
        </p:spPr>
      </p:pic>
      <p:sp>
        <p:nvSpPr>
          <p:cNvPr id="12" name="Text 7"/>
          <p:cNvSpPr/>
          <p:nvPr/>
        </p:nvSpPr>
        <p:spPr>
          <a:xfrm>
            <a:off x="1270000" y="2715865"/>
            <a:ext cx="7639824"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3A322C"/>
                </a:solidFill>
                <a:latin typeface="Carlito" pitchFamily="34" charset="0"/>
                <a:ea typeface="Carlito" pitchFamily="34" charset="-122"/>
                <a:cs typeface="Carlito" pitchFamily="34" charset="-120"/>
              </a:rPr>
              <a:t>Samplesheets and metadata per species built; the script's messages read and fixed</a:t>
            </a:r>
            <a:endParaRPr lang="en-US" sz="1500" dirty="0"/>
          </a:p>
        </p:txBody>
      </p:sp>
      <p:sp>
        <p:nvSpPr>
          <p:cNvPr id="13" name="Shape 8"/>
          <p:cNvSpPr/>
          <p:nvPr/>
        </p:nvSpPr>
        <p:spPr>
          <a:xfrm>
            <a:off x="812800" y="3595340"/>
            <a:ext cx="10566400" cy="0"/>
          </a:xfrm>
          <a:prstGeom prst="line">
            <a:avLst/>
          </a:prstGeom>
          <a:noFill/>
          <a:ln w="12700">
            <a:solidFill>
              <a:srgbClr val="D9CDBF"/>
            </a:solidFill>
            <a:prstDash val="solid"/>
          </a:ln>
        </p:spPr>
        <p:txBody>
          <a:bodyPr/>
          <a:lstStyle/>
          <a:p>
            <a:endParaRPr lang="en-KE"/>
          </a:p>
        </p:txBody>
      </p:sp>
      <p:pic>
        <p:nvPicPr>
          <p:cNvPr id="14" name="Image 3" descr="CheckCircle"/>
          <p:cNvPicPr>
            <a:picLocks noChangeAspect="1"/>
          </p:cNvPicPr>
          <p:nvPr/>
        </p:nvPicPr>
        <p:blipFill>
          <a:blip r:embed="rId3"/>
          <a:srcRect/>
          <a:stretch/>
        </p:blipFill>
        <p:spPr>
          <a:xfrm>
            <a:off x="812800" y="3207990"/>
            <a:ext cx="279400" cy="279400"/>
          </a:xfrm>
          <a:prstGeom prst="rect">
            <a:avLst/>
          </a:prstGeom>
        </p:spPr>
      </p:pic>
      <p:sp>
        <p:nvSpPr>
          <p:cNvPr id="15" name="Text 9"/>
          <p:cNvSpPr/>
          <p:nvPr/>
        </p:nvSpPr>
        <p:spPr>
          <a:xfrm>
            <a:off x="1270000" y="3223865"/>
            <a:ext cx="6596063"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3A322C"/>
                </a:solidFill>
                <a:latin typeface="Carlito" pitchFamily="34" charset="0"/>
                <a:ea typeface="Carlito" pitchFamily="34" charset="-122"/>
                <a:cs typeface="Carlito" pitchFamily="34" charset="-120"/>
              </a:rPr>
              <a:t>One run per species submitted, by your country's submitter or a trainer</a:t>
            </a:r>
            <a:endParaRPr lang="en-US" sz="1500" dirty="0"/>
          </a:p>
        </p:txBody>
      </p:sp>
      <p:pic>
        <p:nvPicPr>
          <p:cNvPr id="16" name="Image 4" descr="CheckCircle"/>
          <p:cNvPicPr>
            <a:picLocks noChangeAspect="1"/>
          </p:cNvPicPr>
          <p:nvPr/>
        </p:nvPicPr>
        <p:blipFill>
          <a:blip r:embed="rId3"/>
          <a:srcRect/>
          <a:stretch/>
        </p:blipFill>
        <p:spPr>
          <a:xfrm>
            <a:off x="812800" y="3715990"/>
            <a:ext cx="279400" cy="279400"/>
          </a:xfrm>
          <a:prstGeom prst="rect">
            <a:avLst/>
          </a:prstGeom>
        </p:spPr>
      </p:pic>
      <p:sp>
        <p:nvSpPr>
          <p:cNvPr id="17" name="Text 10"/>
          <p:cNvSpPr/>
          <p:nvPr/>
        </p:nvSpPr>
        <p:spPr>
          <a:xfrm>
            <a:off x="1270000" y="3731865"/>
            <a:ext cx="6635889" cy="273050"/>
          </a:xfrm>
          <a:prstGeom prst="rect">
            <a:avLst/>
          </a:prstGeom>
          <a:noFill/>
          <a:ln/>
        </p:spPr>
        <p:txBody>
          <a:bodyPr wrap="square" lIns="0" tIns="0" rIns="0" bIns="0" rtlCol="0" anchor="t">
            <a:normAutofit/>
          </a:bodyPr>
          <a:lstStyle/>
          <a:p>
            <a:pPr marL="0" indent="0" algn="l">
              <a:lnSpc>
                <a:spcPts val="1950"/>
              </a:lnSpc>
              <a:buNone/>
            </a:pPr>
            <a:r>
              <a:rPr lang="en-US" sz="1500" dirty="0">
                <a:solidFill>
                  <a:srgbClr val="3A322C"/>
                </a:solidFill>
                <a:latin typeface="Carlito" pitchFamily="34" charset="0"/>
                <a:ea typeface="Carlito" pitchFamily="34" charset="-122"/>
                <a:cs typeface="Carlito" pitchFamily="34" charset="-120"/>
              </a:rPr>
              <a:t>When it finishes: QUAST and Kleborate checked, weak genomes flagged</a:t>
            </a:r>
            <a:endParaRPr lang="en-US" sz="1500" dirty="0"/>
          </a:p>
        </p:txBody>
      </p:sp>
      <p:pic>
        <p:nvPicPr>
          <p:cNvPr id="18" name="Image 5"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9"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20"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F2EA"/>
        </a:solidFill>
        <a:effectLst/>
      </p:bgPr>
    </p:bg>
    <p:spTree>
      <p:nvGrpSpPr>
        <p:cNvPr id="1" name=""/>
        <p:cNvGrpSpPr/>
        <p:nvPr/>
      </p:nvGrpSpPr>
      <p:grpSpPr>
        <a:xfrm>
          <a:off x="0" y="0"/>
          <a:ext cx="0" cy="0"/>
          <a:chOff x="0" y="0"/>
          <a:chExt cx="0" cy="0"/>
        </a:xfrm>
      </p:grpSpPr>
      <p:pic>
        <p:nvPicPr>
          <p:cNvPr id="2" name="Image 0" descr="ILRI and CGIAR logos"/>
          <p:cNvPicPr>
            <a:picLocks noChangeAspect="1"/>
          </p:cNvPicPr>
          <p:nvPr/>
        </p:nvPicPr>
        <p:blipFill>
          <a:blip r:embed="rId3"/>
          <a:srcRect t="-63" b="-63"/>
          <a:stretch/>
        </p:blipFill>
        <p:spPr>
          <a:xfrm>
            <a:off x="425450" y="393700"/>
            <a:ext cx="1790700" cy="508000"/>
          </a:xfrm>
          <a:prstGeom prst="rect">
            <a:avLst/>
          </a:prstGeom>
        </p:spPr>
      </p:pic>
      <p:sp>
        <p:nvSpPr>
          <p:cNvPr id="3" name="Text 0"/>
          <p:cNvSpPr>
            <a:spLocks noGrp="1"/>
          </p:cNvSpPr>
          <p:nvPr>
            <p:ph type="title"/>
          </p:nvPr>
        </p:nvSpPr>
        <p:spPr>
          <a:xfrm>
            <a:off x="812800" y="25400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txBody>
          <a:bodyPr/>
          <a:lstStyle/>
          <a:p>
            <a:endParaRPr lang="en-KE"/>
          </a:p>
        </p:txBody>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6</a:t>
            </a:r>
            <a:r>
              <a:rPr lang="en-US" sz="2000" dirty="0">
                <a:solidFill>
                  <a:srgbClr val="3A322C"/>
                </a:solidFill>
                <a:latin typeface="Carlito" pitchFamily="34" charset="0"/>
                <a:ea typeface="Carlito" pitchFamily="34" charset="-122"/>
                <a:cs typeface="Carlito" pitchFamily="34" charset="-120"/>
              </a:rPr>
              <a:t> · Core SNPs, recombination and trees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5 · Running the pipeline | Day 5</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26</a:t>
            </a:r>
            <a:endParaRPr lang="en-US" sz="1200" dirty="0"/>
          </a:p>
        </p:txBody>
      </p:sp>
    </p:spTree>
  </p:cSld>
  <p:clrMapOvr>
    <a:masterClrMapping/>
  </p:clrMapOvr>
</p:sld>
</file>

<file path=ppt/theme/theme1.xml><?xml version="1.0" encoding="utf-8"?>
<a:theme xmlns:a="http://schemas.openxmlformats.org/drawingml/2006/main" name="Module 5: Running the pipeline on your country's genomes">
  <a:themeElements>
    <a:clrScheme name="Module 5: Running the pipeline on your country's genomes">
      <a:dk1>
        <a:srgbClr val="6D2637"/>
      </a:dk1>
      <a:lt1>
        <a:srgbClr val="F9F2EA"/>
      </a:lt1>
      <a:dk2>
        <a:srgbClr val="905964"/>
      </a:dk2>
      <a:lt2>
        <a:srgbClr val="EBDED8"/>
      </a:lt2>
      <a:accent1>
        <a:srgbClr val="273003"/>
      </a:accent1>
      <a:accent2>
        <a:srgbClr val="FFCE00"/>
      </a:accent2>
      <a:accent3>
        <a:srgbClr val="891F15"/>
      </a:accent3>
      <a:accent4>
        <a:srgbClr val="B9C08A"/>
      </a:accent4>
      <a:accent5>
        <a:srgbClr val="F1D3C9"/>
      </a:accent5>
      <a:accent6>
        <a:srgbClr val="E3B5A8"/>
      </a:accent6>
      <a:hlink>
        <a:srgbClr val="0563C1"/>
      </a:hlink>
      <a:folHlink>
        <a:srgbClr val="954F72"/>
      </a:folHlink>
    </a:clrScheme>
    <a:fontScheme name="Module 5: Running the pipeline on your country's genomes">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4604</Words>
  <Application>Microsoft Macintosh PowerPoint</Application>
  <PresentationFormat>Widescreen</PresentationFormat>
  <Paragraphs>448</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Carlito</vt:lpstr>
      <vt:lpstr>JetBrains Mono</vt:lpstr>
      <vt:lpstr>Module 5: Running the pipeline on your country's genomes</vt:lpstr>
      <vt:lpstr>Running the pipeline</vt:lpstr>
      <vt:lpstr>Day 5 afternoon at a glance</vt:lpstr>
      <vt:lpstr>By the end of today you can</vt:lpstr>
      <vt:lpstr>The course pipeline</vt:lpstr>
      <vt:lpstr>The workflow</vt:lpstr>
      <vt:lpstr>How the pipeline is built</vt:lpstr>
      <vt:lpstr>The software: shared Singularity images</vt:lpstr>
      <vt:lpstr>Hands-on: a test run</vt:lpstr>
      <vt:lpstr>Exercise: change a setting and resume</vt:lpstr>
      <vt:lpstr>Run it on your country's genomes</vt:lpstr>
      <vt:lpstr>Starting from assemblies</vt:lpstr>
      <vt:lpstr>One run per country and species</vt:lpstr>
      <vt:lpstr>What goes in</vt:lpstr>
      <vt:lpstr>Input 1: the contigs</vt:lpstr>
      <vt:lpstr>Input 2: the metadata table</vt:lpstr>
      <vt:lpstr>Hands-on: build the samplesheets</vt:lpstr>
      <vt:lpstr>What the script writes</vt:lpstr>
      <vt:lpstr>Submit the run (one person per country)</vt:lpstr>
      <vt:lpstr>Follow, stop and resume</vt:lpstr>
      <vt:lpstr>No reads, so check the genomes</vt:lpstr>
      <vt:lpstr>Reading the outputs</vt:lpstr>
      <vt:lpstr>Your country's results in the rest of the course</vt:lpstr>
      <vt:lpstr>Each country's data stays its own</vt:lpstr>
      <vt:lpstr>Check your understanding</vt:lpstr>
      <vt:lpstr>End-of-day checklist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Running the pipeline on your country's genomes</dc:title>
  <dc:subject/>
  <dc:creator/>
  <cp:lastModifiedBy>Juma, John (ILRI)</cp:lastModifiedBy>
  <cp:revision>2</cp:revision>
  <dcterms:created xsi:type="dcterms:W3CDTF">2026-10-16T11:03:41Z</dcterms:created>
  <dcterms:modified xsi:type="dcterms:W3CDTF">2026-10-23T06:18:28Z</dcterms:modified>
</cp:coreProperties>
</file>