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59769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3. Yesterday every isolate got one best assembly. Today we ask two questions of those assemblies. Morning, Module 3: what species and lineage is each isolate? Afternoon, the detection part of Module 4: which resistance and virulence genes does it carry? Tomorrow we compare these genotypes with the lab's antibiotic susceptibility results.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Morning: Module 3, species and lineage. Afternoon: the detection half of Module 4, resistance and virulence genes. Everything today starts from the best assembly per isolate in $COURSE/best, made at the end of Day 2.</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and 2 are Module 3 (this morning); 3 and 4 are the detection part of Module 4 (this afternoon).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WHO figure lists what WGS is used for in AMR surveillance, from international to local surveillance, tracing transmission and identifying high-risk clones and resistance mechanisms, and the data each application needs. Today covers two of those inputs: strain typing and the reference databases of resistance genes.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Every isolate in this study arrived labelled K. pneumoniae. The genome lets us check that, and Kleborate does it in the same run as typing, resistance and virulence screening.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the exercise, from the study's published typing (metadata_compact.tsv, column published_species): 1013757 is K. variicola subsp. variicola (one of the three hybrid isolates); CAAYXM is K. variicola subsp. variicola; CAAQN6 is K. quasipneumoniae subsp. similipneumoniae. All three belong to the KpSC, which is why Kleborate types them too.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KlebNET-GSP brings together the tools built for Klebsiella genomic surveillance: Kleborate for genotyping on the command line, Pathogenwatch for web-based analysis and global context, BIGSdb-Pasteur for curated nomenclature, and Kaptive for capsule and O-antigen typing. Kleborate is what we run today, and its AMR and virulence schemes are also used in BIGSdb-Pasteur and Pathogenwatch. The three goals: monitor which lineages cause disease in different settings (hospital- or community-acquired), track how they acquire resistance and virulence, and assess K and O antigen diversity, which matters for vaccine design (Day 8).</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 kpsc runs the K. pneumoniae species complex preset. The output table is very wide, so use the pick function from the Day 1 setup. Answer: 1013757 and CAAYXM are K. variicola subsp. variicola; CAAQN6 is K. quasipneumoniae subsp. similipneumoniae.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Species is not enough for surveillance: within K. pneumoniae, a few lineages (high-risk clones) cause most of the resistant infections. Typing tells us which lineage each isolate belongs to.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Typing answers "are these isolates the same strain?" at different resolutions. Serological typing used to need antisera; for Klebsiella, Kaptive now predicts capsule and O types from the genome, which we cover on Day 8. This session focuses on MLST, the standard nomenclature for lineages.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MLST is unambiguous and portable: ST39 means the same thing in every lab, which is why it is the common language for lineages. Answer to the question: ST14-1LV means the allele profile matches ST14 at all but one of the seven genes, a single-locus variant. It is closely related to ST14 but not an exact match to a defined ST, perhaps because the allele is new or the gene sits at a contig break.</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pyramid ranks typing methods by discriminatory power. MLST and rMLST at the base are good for species and long-term evolution. cgMLST in the middle is suited to global nomenclature and surveillance: it is species-specific and its allele numbers are shareable. wgMLST alleles and SNPs at the top separate isolates within an outbreak. Key point for this course: two isolates of the same ST can differ by hundreds of SNPs and be years apart, so ST alone never proves transmission. That needs whole-genome resolution, which we do on Day 6.</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databases you will meet. PubMLST (Oxford) hosts typing schemes for many species and does gene-by-gene analysis of deposited genomes. BIGSdb is the software behind PubMLST; the Institut Pasteur runs its own instance, BIGSdb-Pasteur, which hosts the Klebsiella MLST and cgMLST nomenclature that Kleborate uses. EnteroBase (Warwick) is the main resource for Salmonella and Escherichia/Shigella, including E. coli MLST and cgMLST with hierarchical clustering (HierCC). Since 2025, BIGSdb-Pasteur requires registration to access data curated after 1 January 2025.</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ST39 (12 of 29), then ST35 (6). But this is not a fair estimate: the training set was chosen to contain two clusters, so those STs are over-represented on purpose. Prevalence must come from a representative sample (all isolates, or a random subset), never from a hand-picked one. This is the most common error in genomic surveillance reports. The one-page lineage summary you write today must say this.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Pathogenwatch is part of the KlebNET-GSP toolkit: it runs Kleborate and cgMLST on uploaded genomes and places them among public genomes from around the world. LIN codes are a hierarchical cgMLST-based nomenclature for Klebsiella. Remind participants about data-sharing agreements before they upload anything of their own.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starts Module 4. We search each assembly against curated databases of resistance genes and mutations, compare two tools, and separate the genes every Klebsiella carries from the ones it acquired.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assembly branch from yesterday's workflow figure, continued: the contigs are searched against a reference database of resistance genes. A tool is only as good as its database, and the database is only as good as the phenotypic evidence behind each entry. That is why tomorrow we compare the genes we find today with the lab's AST results.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isolates, assembly is cheap and gives genomic context, which we need for plasmid work on Days 4 and 5: is the gene on the chromosome or a plasmid, and what mobile elements surround it? Read-based approaches matter more for metagenomes, where assembly is hard.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widely used tools, each tied to its own curated database. ResFinder is quick and has a web interface, but its single nucleotide threshold can call the wrong allele. RGI uses CARD and its antibiotic resistance ontology. AMRFinderPlus, which we use, combines BLAST and hidden Markov models with curated cut-offs, reports partial and interrupted genes explicitly, and with --organism also checks species-specific point mutations. NCBI's MicroBIGG-E browser holds AMRFinderPlus results for public isolates.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Always record the database version: results change as the database grows, and two runs are only comparable with the same version. The course uses one shared database for everyone. For E. coli isolates use --organism Escherichia instead.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published Kleborate results: CTX-M-15 in 21 of 29 isolates. NDM-1 in 2 isolates, BHB7VE (ST39) and CES1C7 (ST45). Acquired aminoglycoside resistance genes in 27 of 29; 23 carry an aac(3) gene, which typically confers gentamicin resistance. Counts from AMRFinderPlus may differ slightly: the two tools use different databases and versions.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 is the Kleborate output table from this morning. The four reasons cover most disagreements. Contig breaks are common in short-read assemblies because resistance genes often sit next to IS elements (Day 2). Hybrid isolates should show fewer differences.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link between today's gene lists and patient care. Because ampicillin resistance is intrinsic, a K. pneumoniae isolate with an acquired aac(3) gene is effectively untreatable with the first-line regimen. In this training set 23 of 29 isolates carry an aac(3) gene (published Kleborate results). We return to this on Day 4 with the AST data.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4. Resistance limits treatment; virulence makes infections more severe. Kleborate scores both, and the combination, a convergent strain, is what surveillance must flag immediately.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Kleborate's virulence score summarises these loci: siderophores help the bacteria take iron from the host, and rmp genes make the capsule hypermucoid. Aerobactin and rmp are the markers of hypervirulent K. pneumoniae.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Neither isolate carries a carbapenemase, so neither is convergent. Two points to discuss: in CAAUM3 the aerobactin genes are truncated, so does a broken locus still count towards hypervirulence? And 1013757 is a hybrid isolate with closed plasmids: on Day 4 you can find which plasmid carries iuc 5.</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a single-locus variant: the profile matches ST14 at six of the seven genes. 2: MLST looks at seven genes; isolates of one ST can differ by hundreds of SNPs across the genome and be years apart, so transmission needs whole-genome resolution (Day 6). 3: the training set was chosen to contain two clusters, so ST39 and ST35 are over-represented on purpose; prevalence needs a representative sample. 4: ampicillin resistance is intrinsic (chromosomal SHV or LEN), so ampicillin plus gentamicin relies on gentamicin alone; an acquired aac(3) gene removes it.</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Tomorrow, Day 4, compares these genotypes with the lab's antibiotic susceptibility results and then starts plasmid reconstruction.</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every isolate now has a species, a lineage, and a list of resistance and virulence genes. Tomorrow we test whether those genes explain the lab's susceptibility results.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9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6D2637"/>
                </a:solidFill>
                <a:latin typeface="Carlito" pitchFamily="34" charset="0"/>
                <a:ea typeface="Carlito" pitchFamily="34" charset="-122"/>
                <a:cs typeface="Carlito"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6D2637"/>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2E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6D2637"/>
                </a:solidFill>
                <a:latin typeface="Carlito" pitchFamily="34" charset="0"/>
                <a:ea typeface="Carlito" pitchFamily="34" charset="-122"/>
                <a:cs typeface="Carlito"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6D2637"/>
                </a:solidFill>
                <a:latin typeface="Carlito" pitchFamily="34" charset="0"/>
                <a:ea typeface="Carlito" pitchFamily="34" charset="-122"/>
                <a:cs typeface="Carlito"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www.who.int/publications/i/item/9789240011007"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kiepczi.github.io/MLST_MicroSoc/"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pathogen.watch"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s://doi.org/10.1038/s41576-019-0108-4"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9.png"/></Relationships>
</file>

<file path=ppt/slides/_rels/slide29.xml.rels><?xml version="1.0" encoding="UTF-8" standalone="yes"?>
<Relationships xmlns="http://schemas.openxmlformats.org/package/2006/relationships"><Relationship Id="rId8" Type="http://schemas.openxmlformats.org/officeDocument/2006/relationships/hyperlink" Target="https://pubmlst.org" TargetMode="External"/><Relationship Id="rId3" Type="http://schemas.openxmlformats.org/officeDocument/2006/relationships/hyperlink" Target="https://www.who.int/publications/i/item/9789240011007" TargetMode="External"/><Relationship Id="rId7" Type="http://schemas.openxmlformats.org/officeDocument/2006/relationships/hyperlink" Target="https://pathogen.watch"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hyperlink" Target="https://github.com/ncbi/amr/wiki" TargetMode="External"/><Relationship Id="rId11" Type="http://schemas.openxmlformats.org/officeDocument/2006/relationships/image" Target="../media/image3.png"/><Relationship Id="rId5" Type="http://schemas.openxmlformats.org/officeDocument/2006/relationships/hyperlink" Target="https://github.com/klebgenomics/Kleborate" TargetMode="External"/><Relationship Id="rId10" Type="http://schemas.openxmlformats.org/officeDocument/2006/relationships/hyperlink" Target="https://enterobase.warwick.ac.uk" TargetMode="External"/><Relationship Id="rId4" Type="http://schemas.openxmlformats.org/officeDocument/2006/relationships/hyperlink" Target="https://kiepczi.github.io/MLST_MicroSoc/" TargetMode="External"/><Relationship Id="rId9" Type="http://schemas.openxmlformats.org/officeDocument/2006/relationships/hyperlink" Target="https://bigsdb.pasteur.fr"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891F15"/>
        </a:solidFill>
        <a:effectLst/>
      </p:bgPr>
    </p:bg>
    <p:spTree>
      <p:nvGrpSpPr>
        <p:cNvPr id="1" name=""/>
        <p:cNvGrpSpPr/>
        <p:nvPr/>
      </p:nvGrpSpPr>
      <p:grpSpPr>
        <a:xfrm>
          <a:off x="0" y="0"/>
          <a:ext cx="0" cy="0"/>
          <a:chOff x="0" y="0"/>
          <a:chExt cx="0" cy="0"/>
        </a:xfrm>
      </p:grpSpPr>
      <p:pic>
        <p:nvPicPr>
          <p:cNvPr id="2" name="Image 0" descr="Pastoralists walking with their cattle at dawn"/>
          <p:cNvPicPr>
            <a:picLocks noChangeAspect="1"/>
          </p:cNvPicPr>
          <p:nvPr/>
        </p:nvPicPr>
        <p:blipFill>
          <a:blip r:embed="rId3"/>
          <a:srcRect/>
          <a:stretch/>
        </p:blipFill>
        <p:spPr>
          <a:xfrm>
            <a:off x="6096000" y="0"/>
            <a:ext cx="6096000" cy="6858000"/>
          </a:xfrm>
          <a:prstGeom prst="rect">
            <a:avLst/>
          </a:prstGeom>
        </p:spPr>
      </p:pic>
      <p:pic>
        <p:nvPicPr>
          <p:cNvPr id="3" name="Image 1" descr="ILRI and CGIAR logos"/>
          <p:cNvPicPr>
            <a:picLocks noChangeAspect="1"/>
          </p:cNvPicPr>
          <p:nvPr/>
        </p:nvPicPr>
        <p:blipFill>
          <a:blip r:embed="rId4"/>
          <a:srcRect l="-36" r="-36"/>
          <a:stretch/>
        </p:blipFill>
        <p:spPr>
          <a:xfrm>
            <a:off x="368300" y="336550"/>
            <a:ext cx="2984500" cy="806450"/>
          </a:xfrm>
          <a:prstGeom prst="rect">
            <a:avLst/>
          </a:prstGeom>
        </p:spPr>
      </p:pic>
      <p:sp>
        <p:nvSpPr>
          <p:cNvPr id="4" name="Text 0"/>
          <p:cNvSpPr/>
          <p:nvPr/>
        </p:nvSpPr>
        <p:spPr>
          <a:xfrm>
            <a:off x="203200" y="219462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FFCE00"/>
                </a:solidFill>
                <a:latin typeface="Carlito" pitchFamily="34" charset="0"/>
                <a:ea typeface="Carlito" pitchFamily="34" charset="-122"/>
                <a:cs typeface="Carlito" pitchFamily="34" charset="-120"/>
              </a:rPr>
              <a:t>MODULE 3 · DAY 3</a:t>
            </a:r>
            <a:endParaRPr lang="en-US" sz="1600" dirty="0"/>
          </a:p>
        </p:txBody>
      </p:sp>
      <p:sp>
        <p:nvSpPr>
          <p:cNvPr id="5" name="Text 1"/>
          <p:cNvSpPr>
            <a:spLocks noGrp="1"/>
          </p:cNvSpPr>
          <p:nvPr>
            <p:ph type="title"/>
          </p:nvPr>
        </p:nvSpPr>
        <p:spPr>
          <a:xfrm>
            <a:off x="203200" y="2682280"/>
            <a:ext cx="5659120" cy="1229320"/>
          </a:xfrm>
          <a:prstGeom prst="rect">
            <a:avLst/>
          </a:prstGeom>
          <a:noFill/>
          <a:ln/>
        </p:spPr>
        <p:txBody>
          <a:bodyPr wrap="square" lIns="0" tIns="0" rIns="0" bIns="0" rtlCol="0" anchor="t">
            <a:normAutofit fontScale="90000"/>
          </a:bodyPr>
          <a:lstStyle/>
          <a:p>
            <a:pPr marL="0" indent="0" algn="l">
              <a:lnSpc>
                <a:spcPts val="5880"/>
              </a:lnSpc>
              <a:buNone/>
            </a:pPr>
            <a:r>
              <a:rPr lang="en-US" sz="5600" b="1" i="0" dirty="0">
                <a:solidFill>
                  <a:srgbClr val="F9F2EA"/>
                </a:solidFill>
                <a:latin typeface="Carlito" pitchFamily="34" charset="0"/>
                <a:ea typeface="Carlito" pitchFamily="34" charset="-122"/>
                <a:cs typeface="Carlito" pitchFamily="34" charset="-120"/>
              </a:rPr>
              <a:t>Typing and resistance genes</a:t>
            </a:r>
            <a:endParaRPr lang="en-US" sz="5600" dirty="0"/>
          </a:p>
        </p:txBody>
      </p:sp>
      <p:sp>
        <p:nvSpPr>
          <p:cNvPr id="6" name="Text 2"/>
          <p:cNvSpPr/>
          <p:nvPr/>
        </p:nvSpPr>
        <p:spPr>
          <a:xfrm>
            <a:off x="203200" y="4622700"/>
            <a:ext cx="5892800" cy="309860"/>
          </a:xfrm>
          <a:prstGeom prst="rect">
            <a:avLst/>
          </a:prstGeom>
          <a:noFill/>
          <a:ln/>
        </p:spPr>
        <p:txBody>
          <a:bodyPr wrap="square" lIns="0" tIns="0" rIns="0" bIns="0" rtlCol="0" anchor="t">
            <a:normAutofit fontScale="85000" lnSpcReduction="10000"/>
          </a:bodyPr>
          <a:lstStyle/>
          <a:p>
            <a:pPr marL="0" indent="0" algn="l">
              <a:lnSpc>
                <a:spcPts val="2600"/>
              </a:lnSpc>
              <a:buNone/>
            </a:pPr>
            <a:r>
              <a:rPr lang="en-US" sz="2000" dirty="0">
                <a:solidFill>
                  <a:srgbClr val="F9F2EA"/>
                </a:solidFill>
                <a:latin typeface="Carlito" pitchFamily="34" charset="0"/>
                <a:ea typeface="Carlito" pitchFamily="34" charset="-122"/>
                <a:cs typeface="Carlito" pitchFamily="34" charset="-120"/>
              </a:rPr>
              <a:t>Who is causing infection, and what resistance do they carry?</a:t>
            </a:r>
            <a:endParaRPr lang="en-US" sz="2000" dirty="0"/>
          </a:p>
        </p:txBody>
      </p:sp>
      <p:sp>
        <p:nvSpPr>
          <p:cNvPr id="7" name="Text 3"/>
          <p:cNvSpPr/>
          <p:nvPr/>
        </p:nvSpPr>
        <p:spPr>
          <a:xfrm>
            <a:off x="203200" y="5283200"/>
            <a:ext cx="12557760"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1D3C9"/>
                </a:solidFill>
                <a:latin typeface="Carlito" pitchFamily="34" charset="0"/>
                <a:ea typeface="Carlito" pitchFamily="34" charset="-122"/>
                <a:cs typeface="Carlito" pitchFamily="34" charset="-120"/>
              </a:rPr>
              <a:t>Neonatal AMR genomic surveillance of </a:t>
            </a:r>
            <a:r>
              <a:rPr lang="en-US" sz="1400" i="1" dirty="0">
                <a:solidFill>
                  <a:srgbClr val="F1D3C9"/>
                </a:solidFill>
                <a:latin typeface="Carlito" pitchFamily="34" charset="0"/>
                <a:ea typeface="Carlito" pitchFamily="34" charset="-122"/>
                <a:cs typeface="Carlito" pitchFamily="34" charset="-120"/>
              </a:rPr>
              <a:t>K. pneumoniae</a:t>
            </a:r>
            <a:r>
              <a:rPr lang="en-US" sz="1400" dirty="0">
                <a:solidFill>
                  <a:srgbClr val="F1D3C9"/>
                </a:solidFill>
                <a:latin typeface="Carlito" pitchFamily="34" charset="0"/>
                <a:ea typeface="Carlito" pitchFamily="34" charset="-122"/>
                <a:cs typeface="Carlito" pitchFamily="34" charset="-120"/>
              </a:rPr>
              <a:t> and </a:t>
            </a:r>
            <a:r>
              <a:rPr lang="en-US" sz="1400" i="1" dirty="0">
                <a:solidFill>
                  <a:srgbClr val="F1D3C9"/>
                </a:solidFill>
                <a:latin typeface="Carlito" pitchFamily="34" charset="0"/>
                <a:ea typeface="Carlito" pitchFamily="34" charset="-122"/>
                <a:cs typeface="Carlito" pitchFamily="34" charset="-120"/>
              </a:rPr>
              <a:t>E. coli</a:t>
            </a:r>
            <a:endParaRPr lang="en-US" sz="1400" dirty="0"/>
          </a:p>
          <a:p>
            <a:pPr marL="0" indent="0" algn="l">
              <a:lnSpc>
                <a:spcPts val="1960"/>
              </a:lnSpc>
              <a:buNone/>
            </a:pPr>
            <a:r>
              <a:rPr lang="en-US" sz="1400" dirty="0">
                <a:solidFill>
                  <a:srgbClr val="F1D3C9"/>
                </a:solidFill>
                <a:latin typeface="Carlito" pitchFamily="34" charset="0"/>
                <a:ea typeface="Carlito" pitchFamily="34" charset="-122"/>
                <a:cs typeface="Carlito" pitchFamily="34" charset="-120"/>
              </a:rPr>
              <a:t>KlebGen training · Africa CDC and ILRI</a:t>
            </a:r>
            <a:endParaRPr lang="en-US" sz="1400" dirty="0"/>
          </a:p>
        </p:txBody>
      </p:sp>
      <p:sp>
        <p:nvSpPr>
          <p:cNvPr id="8" name="Text 4"/>
          <p:cNvSpPr/>
          <p:nvPr/>
        </p:nvSpPr>
        <p:spPr>
          <a:xfrm>
            <a:off x="425450" y="6289080"/>
            <a:ext cx="45783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B5A8"/>
                </a:solidFill>
                <a:latin typeface="Carlito" pitchFamily="34" charset="0"/>
                <a:ea typeface="Carlito" pitchFamily="34" charset="-122"/>
                <a:cs typeface="Carlito" pitchFamily="34" charset="-120"/>
              </a:rPr>
              <a:t>Module 3 · Typing and AMR genes | Day 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Day 3 at a glance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22090"/>
          <a:ext cx="10553700" cy="2196705"/>
        </p:xfrm>
        <a:graphic>
          <a:graphicData uri="http://schemas.openxmlformats.org/drawingml/2006/table">
            <a:tbl>
              <a:tblPr/>
              <a:tblGrid>
                <a:gridCol w="1266444">
                  <a:extLst>
                    <a:ext uri="{9D8B030D-6E8A-4147-A177-3AD203B41FA5}">
                      <a16:colId xmlns:a16="http://schemas.microsoft.com/office/drawing/2014/main" val="20000"/>
                    </a:ext>
                  </a:extLst>
                </a:gridCol>
                <a:gridCol w="2110740">
                  <a:extLst>
                    <a:ext uri="{9D8B030D-6E8A-4147-A177-3AD203B41FA5}">
                      <a16:colId xmlns:a16="http://schemas.microsoft.com/office/drawing/2014/main" val="20001"/>
                    </a:ext>
                  </a:extLst>
                </a:gridCol>
                <a:gridCol w="5698998">
                  <a:extLst>
                    <a:ext uri="{9D8B030D-6E8A-4147-A177-3AD203B41FA5}">
                      <a16:colId xmlns:a16="http://schemas.microsoft.com/office/drawing/2014/main" val="20002"/>
                    </a:ext>
                  </a:extLst>
                </a:gridCol>
                <a:gridCol w="1477518">
                  <a:extLst>
                    <a:ext uri="{9D8B030D-6E8A-4147-A177-3AD203B41FA5}">
                      <a16:colId xmlns:a16="http://schemas.microsoft.com/office/drawing/2014/main" val="20003"/>
                    </a:ext>
                  </a:extLst>
                </a:gridCol>
              </a:tblGrid>
              <a:tr h="439341">
                <a:tc>
                  <a:txBody>
                    <a:bodyPr/>
                    <a:lstStyle/>
                    <a:p>
                      <a:pPr marL="0" indent="0">
                        <a:lnSpc>
                          <a:spcPts val="2240"/>
                        </a:lnSpc>
                        <a:buNone/>
                      </a:pPr>
                      <a:r>
                        <a:rPr lang="en-US" sz="1600" b="1" dirty="0">
                          <a:solidFill>
                            <a:srgbClr val="3A322C"/>
                          </a:solidFill>
                          <a:latin typeface="Carlito" pitchFamily="34" charset="0"/>
                          <a:ea typeface="Carlito" pitchFamily="34" charset="-122"/>
                          <a:cs typeface="Carlito" pitchFamily="34" charset="-120"/>
                        </a:rPr>
                        <a:t>Session</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2240"/>
                        </a:lnSpc>
                        <a:buNone/>
                      </a:pPr>
                      <a:r>
                        <a:rPr lang="en-US" sz="1600" b="1" dirty="0">
                          <a:solidFill>
                            <a:srgbClr val="3A322C"/>
                          </a:solidFill>
                          <a:latin typeface="Carlito" pitchFamily="34" charset="0"/>
                          <a:ea typeface="Carlito" pitchFamily="34" charset="-122"/>
                          <a:cs typeface="Carlito" pitchFamily="34" charset="-120"/>
                        </a:rPr>
                        <a:t>Time</a:t>
                      </a:r>
                      <a:endParaRPr lang="en-US" sz="1600" dirty="0">
                        <a:latin typeface="Carlito" charset="0"/>
                        <a:ea typeface="Carlito" charset="0"/>
                        <a:cs typeface="Carlito" charset="0"/>
                      </a:endParaRPr>
                    </a:p>
                  </a:txBody>
                  <a:tcPr marL="71120" marR="71120" marT="71120" marB="7112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2240"/>
                        </a:lnSpc>
                        <a:buNone/>
                      </a:pPr>
                      <a:r>
                        <a:rPr lang="en-US" sz="1600" b="1" dirty="0">
                          <a:solidFill>
                            <a:srgbClr val="3A322C"/>
                          </a:solidFill>
                          <a:latin typeface="Carlito" pitchFamily="34" charset="0"/>
                          <a:ea typeface="Carlito" pitchFamily="34" charset="-122"/>
                          <a:cs typeface="Carlito" pitchFamily="34" charset="-120"/>
                        </a:rPr>
                        <a:t>Topic</a:t>
                      </a:r>
                      <a:endParaRPr lang="en-US" sz="1600" dirty="0">
                        <a:latin typeface="Carlito" charset="0"/>
                        <a:ea typeface="Carlito" charset="0"/>
                        <a:cs typeface="Carlito" charset="0"/>
                      </a:endParaRPr>
                    </a:p>
                  </a:txBody>
                  <a:tcPr marL="71120" marR="71120" marT="71120" marB="7112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tc>
                  <a:txBody>
                    <a:bodyPr/>
                    <a:lstStyle/>
                    <a:p>
                      <a:pPr marL="0" indent="0">
                        <a:lnSpc>
                          <a:spcPts val="2240"/>
                        </a:lnSpc>
                        <a:buNone/>
                      </a:pPr>
                      <a:r>
                        <a:rPr lang="en-US" sz="1600" b="1" dirty="0">
                          <a:solidFill>
                            <a:srgbClr val="3A322C"/>
                          </a:solidFill>
                          <a:latin typeface="Carlito" pitchFamily="34" charset="0"/>
                          <a:ea typeface="Carlito" pitchFamily="34" charset="-122"/>
                          <a:cs typeface="Carlito" pitchFamily="34" charset="-120"/>
                        </a:rPr>
                        <a:t>Module</a:t>
                      </a:r>
                      <a:endParaRPr lang="en-US" sz="1600" dirty="0">
                        <a:latin typeface="Carlito" charset="0"/>
                        <a:ea typeface="Carlito" charset="0"/>
                        <a:cs typeface="Carlito" charset="0"/>
                      </a:endParaRPr>
                    </a:p>
                  </a:txBody>
                  <a:tcPr marL="71120" marR="71120" marT="71120" marB="71120">
                    <a:lnL w="12700" cap="flat" cmpd="sng" algn="ctr">
                      <a:solidFill>
                        <a:srgbClr val="B9B3AD"/>
                      </a:solidFill>
                      <a:prstDash val="solid"/>
                      <a:round/>
                      <a:headEnd type="none" w="med" len="med"/>
                      <a:tailEnd type="none" w="med" len="med"/>
                    </a:lnL>
                    <a:lnR w="12700" cap="flat" cmpd="sng" algn="ctr">
                      <a:solidFill>
                        <a:srgbClr val="B9B3AD"/>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B9B3AD"/>
                      </a:solidFill>
                      <a:prstDash val="solid"/>
                      <a:round/>
                      <a:headEnd type="none" w="med" len="med"/>
                      <a:tailEnd type="none" w="med" len="med"/>
                    </a:lnB>
                    <a:solidFill>
                      <a:srgbClr val="E7E0D9"/>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1</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09:00–10:30</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Species identification within the K. pneumoniae species complex</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3</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B9B3AD"/>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2</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11:00–12:30</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MLST, high-risk clones, global context in Pathogenwatch</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3</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2"/>
                  </a:ext>
                </a:extLst>
              </a:tr>
              <a:tr h="439341">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3</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13:30–15:00</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AMR gene detection with AMRFinderPlus and Kleborate</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4</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r h="439341">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4</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15:30–17:00</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Virulence loci and convergent strains</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240"/>
                        </a:lnSpc>
                        <a:buNone/>
                      </a:pPr>
                      <a:r>
                        <a:rPr lang="en-US" sz="1600" dirty="0">
                          <a:solidFill>
                            <a:srgbClr val="3A322C"/>
                          </a:solidFill>
                          <a:latin typeface="Carlito" pitchFamily="34" charset="0"/>
                          <a:ea typeface="Carlito" pitchFamily="34" charset="-122"/>
                          <a:cs typeface="Carlito" pitchFamily="34" charset="-120"/>
                        </a:rPr>
                        <a:t>4</a:t>
                      </a:r>
                      <a:endParaRPr lang="en-US" sz="1600" dirty="0">
                        <a:latin typeface="Carlito" charset="0"/>
                        <a:ea typeface="Carlito" charset="0"/>
                        <a:cs typeface="Carlito" charset="0"/>
                      </a:endParaRPr>
                    </a:p>
                  </a:txBody>
                  <a:tcPr marL="71120" marR="71120" marT="71120" marB="7112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Shape 2"/>
          <p:cNvSpPr/>
          <p:nvPr/>
        </p:nvSpPr>
        <p:spPr>
          <a:xfrm>
            <a:off x="812800" y="4172793"/>
            <a:ext cx="10566400" cy="690860"/>
          </a:xfrm>
          <a:prstGeom prst="roundRect">
            <a:avLst>
              <a:gd name="adj" fmla="val 11030"/>
            </a:avLst>
          </a:prstGeom>
          <a:solidFill>
            <a:srgbClr val="273003"/>
          </a:solidFill>
          <a:ln/>
        </p:spPr>
        <p:txBody>
          <a:bodyPr/>
          <a:lstStyle/>
          <a:p>
            <a:endParaRPr lang="en-KE"/>
          </a:p>
        </p:txBody>
      </p:sp>
      <p:sp>
        <p:nvSpPr>
          <p:cNvPr id="6" name="Text 3"/>
          <p:cNvSpPr/>
          <p:nvPr/>
        </p:nvSpPr>
        <p:spPr>
          <a:xfrm>
            <a:off x="1066800" y="4375993"/>
            <a:ext cx="1444724" cy="309860"/>
          </a:xfrm>
          <a:prstGeom prst="rect">
            <a:avLst/>
          </a:prstGeom>
          <a:noFill/>
          <a:ln/>
        </p:spPr>
        <p:txBody>
          <a:bodyPr wrap="none" lIns="0" tIns="0" rIns="0" bIns="0" rtlCol="0" anchor="t">
            <a:normAutofit/>
          </a:bodyPr>
          <a:lstStyle/>
          <a:p>
            <a:pPr marL="0" indent="0" algn="l">
              <a:lnSpc>
                <a:spcPts val="2240"/>
              </a:lnSpc>
              <a:buNone/>
            </a:pPr>
            <a:r>
              <a:rPr lang="en-US" sz="1600" b="1" dirty="0">
                <a:solidFill>
                  <a:srgbClr val="FFCE00"/>
                </a:solidFill>
                <a:latin typeface="Carlito" pitchFamily="34" charset="0"/>
                <a:ea typeface="Carlito" pitchFamily="34" charset="-122"/>
                <a:cs typeface="Carlito" pitchFamily="34" charset="-120"/>
              </a:rPr>
              <a:t>You will produce</a:t>
            </a:r>
            <a:endParaRPr lang="en-US" sz="1600" dirty="0"/>
          </a:p>
        </p:txBody>
      </p:sp>
      <p:sp>
        <p:nvSpPr>
          <p:cNvPr id="7" name="Text 4"/>
          <p:cNvSpPr/>
          <p:nvPr/>
        </p:nvSpPr>
        <p:spPr>
          <a:xfrm>
            <a:off x="2613124" y="4375993"/>
            <a:ext cx="6672977"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9F2EA"/>
                </a:solidFill>
                <a:latin typeface="Carlito" pitchFamily="34" charset="0"/>
                <a:ea typeface="Carlito" pitchFamily="34" charset="-122"/>
                <a:cs typeface="Carlito" pitchFamily="34" charset="-120"/>
              </a:rPr>
              <a:t>a one-page lineage summary, and a gene-by-isolate resistance table</a:t>
            </a:r>
            <a:endParaRPr lang="en-US" sz="1600" dirty="0"/>
          </a:p>
        </p:txBody>
      </p:sp>
      <p:pic>
        <p:nvPicPr>
          <p:cNvPr id="8"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9" name="Text 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0" name="Text 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9F2EA"/>
        </a:solidFill>
        <a:effectLst/>
      </p:bgPr>
    </p:bg>
    <p:spTree>
      <p:nvGrpSpPr>
        <p:cNvPr id="1" name=""/>
        <p:cNvGrpSpPr/>
        <p:nvPr/>
      </p:nvGrpSpPr>
      <p:grpSpPr>
        <a:xfrm>
          <a:off x="0" y="0"/>
          <a:ext cx="0" cy="0"/>
          <a:chOff x="0" y="0"/>
          <a:chExt cx="0" cy="0"/>
        </a:xfrm>
      </p:grpSpPr>
      <p:sp>
        <p:nvSpPr>
          <p:cNvPr id="2" name="Shape 0"/>
          <p:cNvSpPr/>
          <p:nvPr/>
        </p:nvSpPr>
        <p:spPr>
          <a:xfrm>
            <a:off x="336550" y="692150"/>
            <a:ext cx="10656570" cy="1083865"/>
          </a:xfrm>
          <a:prstGeom prst="rect">
            <a:avLst/>
          </a:prstGeom>
          <a:solidFill>
            <a:srgbClr val="273003"/>
          </a:solidFill>
          <a:ln/>
        </p:spPr>
        <p:txBody>
          <a:bodyPr/>
          <a:lstStyle/>
          <a:p>
            <a:endParaRPr lang="en-KE"/>
          </a:p>
        </p:txBody>
      </p:sp>
      <p:sp>
        <p:nvSpPr>
          <p:cNvPr id="3" name="Text 1"/>
          <p:cNvSpPr>
            <a:spLocks noGrp="1"/>
          </p:cNvSpPr>
          <p:nvPr>
            <p:ph type="title"/>
          </p:nvPr>
        </p:nvSpPr>
        <p:spPr>
          <a:xfrm>
            <a:off x="573185" y="982464"/>
            <a:ext cx="5769610" cy="518715"/>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9F2EA"/>
                </a:solidFill>
                <a:latin typeface="Carlito" pitchFamily="34" charset="0"/>
                <a:ea typeface="Carlito" pitchFamily="34" charset="-122"/>
                <a:cs typeface="Carlito" pitchFamily="34" charset="-120"/>
              </a:rPr>
              <a:t>By the end of today you can</a:t>
            </a:r>
            <a:endParaRPr lang="en-US" sz="3600" dirty="0"/>
          </a:p>
        </p:txBody>
      </p:sp>
      <p:sp>
        <p:nvSpPr>
          <p:cNvPr id="5" name="Shape 3"/>
          <p:cNvSpPr/>
          <p:nvPr/>
        </p:nvSpPr>
        <p:spPr>
          <a:xfrm>
            <a:off x="0" y="2644180"/>
            <a:ext cx="12192000" cy="0"/>
          </a:xfrm>
          <a:prstGeom prst="line">
            <a:avLst/>
          </a:prstGeom>
          <a:noFill/>
          <a:ln w="12700">
            <a:solidFill>
              <a:srgbClr val="D9CDBF"/>
            </a:solidFill>
            <a:prstDash val="solid"/>
          </a:ln>
        </p:spPr>
        <p:txBody>
          <a:bodyPr/>
          <a:lstStyle/>
          <a:p>
            <a:endParaRPr lang="en-KE"/>
          </a:p>
        </p:txBody>
      </p:sp>
      <p:sp>
        <p:nvSpPr>
          <p:cNvPr id="6" name="Text 4"/>
          <p:cNvSpPr/>
          <p:nvPr/>
        </p:nvSpPr>
        <p:spPr>
          <a:xfrm>
            <a:off x="0" y="2094309"/>
            <a:ext cx="19243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891F15"/>
                </a:solidFill>
                <a:latin typeface="Carlito" pitchFamily="34" charset="0"/>
                <a:ea typeface="Carlito" pitchFamily="34" charset="-122"/>
                <a:cs typeface="Carlito" pitchFamily="34" charset="-120"/>
              </a:rPr>
              <a:t>1</a:t>
            </a:r>
            <a:endParaRPr lang="en-US" sz="2200" dirty="0"/>
          </a:p>
        </p:txBody>
      </p:sp>
      <p:sp>
        <p:nvSpPr>
          <p:cNvPr id="7" name="Text 5"/>
          <p:cNvSpPr/>
          <p:nvPr/>
        </p:nvSpPr>
        <p:spPr>
          <a:xfrm>
            <a:off x="319435" y="2094309"/>
            <a:ext cx="11872565"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Confirm species within the </a:t>
            </a:r>
            <a:r>
              <a:rPr lang="en-US" sz="1500" i="1" dirty="0">
                <a:solidFill>
                  <a:srgbClr val="3A322C"/>
                </a:solidFill>
                <a:latin typeface="Carlito" pitchFamily="34" charset="0"/>
                <a:ea typeface="Carlito" pitchFamily="34" charset="-122"/>
                <a:cs typeface="Carlito" pitchFamily="34" charset="-120"/>
              </a:rPr>
              <a:t>K. pneumoniae</a:t>
            </a:r>
            <a:r>
              <a:rPr lang="en-US" sz="1500" dirty="0">
                <a:solidFill>
                  <a:srgbClr val="3A322C"/>
                </a:solidFill>
                <a:latin typeface="Carlito" pitchFamily="34" charset="0"/>
                <a:ea typeface="Carlito" pitchFamily="34" charset="-122"/>
                <a:cs typeface="Carlito" pitchFamily="34" charset="-120"/>
              </a:rPr>
              <a:t> species complex (KpSC), and explain why lab methods often miss </a:t>
            </a:r>
            <a:r>
              <a:rPr lang="en-US" sz="1500" i="1" dirty="0">
                <a:solidFill>
                  <a:srgbClr val="3A322C"/>
                </a:solidFill>
                <a:latin typeface="Carlito" pitchFamily="34" charset="0"/>
                <a:ea typeface="Carlito" pitchFamily="34" charset="-122"/>
                <a:cs typeface="Carlito" pitchFamily="34" charset="-120"/>
              </a:rPr>
              <a:t>K. quasipneumoniae</a:t>
            </a:r>
            <a:r>
              <a:rPr lang="en-US" sz="1500" dirty="0">
                <a:solidFill>
                  <a:srgbClr val="3A322C"/>
                </a:solidFill>
                <a:latin typeface="Carlito" pitchFamily="34" charset="0"/>
                <a:ea typeface="Carlito" pitchFamily="34" charset="-122"/>
                <a:cs typeface="Carlito" pitchFamily="34" charset="-120"/>
              </a:rPr>
              <a:t> and </a:t>
            </a:r>
            <a:r>
              <a:rPr lang="en-US" sz="1500" i="1" dirty="0">
                <a:solidFill>
                  <a:srgbClr val="3A322C"/>
                </a:solidFill>
                <a:latin typeface="Carlito" pitchFamily="34" charset="0"/>
                <a:ea typeface="Carlito" pitchFamily="34" charset="-122"/>
                <a:cs typeface="Carlito" pitchFamily="34" charset="-120"/>
              </a:rPr>
              <a:t>K. variicola</a:t>
            </a:r>
            <a:r>
              <a:rPr lang="en-US" sz="1500" dirty="0">
                <a:solidFill>
                  <a:srgbClr val="3A322C"/>
                </a:solidFill>
                <a:latin typeface="Carlito" pitchFamily="34" charset="0"/>
                <a:ea typeface="Carlito" pitchFamily="34" charset="-122"/>
                <a:cs typeface="Carlito" pitchFamily="34" charset="-120"/>
              </a:rPr>
              <a:t>.</a:t>
            </a:r>
            <a:endParaRPr lang="en-US" sz="1500" dirty="0"/>
          </a:p>
        </p:txBody>
      </p:sp>
      <p:sp>
        <p:nvSpPr>
          <p:cNvPr id="8" name="Shape 6"/>
          <p:cNvSpPr/>
          <p:nvPr/>
        </p:nvSpPr>
        <p:spPr>
          <a:xfrm>
            <a:off x="0" y="3352800"/>
            <a:ext cx="12192000" cy="0"/>
          </a:xfrm>
          <a:prstGeom prst="line">
            <a:avLst/>
          </a:prstGeom>
          <a:noFill/>
          <a:ln w="12700">
            <a:solidFill>
              <a:srgbClr val="D9CDBF"/>
            </a:solidFill>
            <a:prstDash val="solid"/>
          </a:ln>
        </p:spPr>
        <p:txBody>
          <a:bodyPr/>
          <a:lstStyle/>
          <a:p>
            <a:endParaRPr lang="en-KE"/>
          </a:p>
        </p:txBody>
      </p:sp>
      <p:sp>
        <p:nvSpPr>
          <p:cNvPr id="9" name="Text 7"/>
          <p:cNvSpPr/>
          <p:nvPr/>
        </p:nvSpPr>
        <p:spPr>
          <a:xfrm>
            <a:off x="0" y="2802930"/>
            <a:ext cx="19243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891F15"/>
                </a:solidFill>
                <a:latin typeface="Carlito" pitchFamily="34" charset="0"/>
                <a:ea typeface="Carlito" pitchFamily="34" charset="-122"/>
                <a:cs typeface="Carlito" pitchFamily="34" charset="-120"/>
              </a:rPr>
              <a:t>2</a:t>
            </a:r>
            <a:endParaRPr lang="en-US" sz="2200" dirty="0"/>
          </a:p>
        </p:txBody>
      </p:sp>
      <p:sp>
        <p:nvSpPr>
          <p:cNvPr id="10" name="Text 8"/>
          <p:cNvSpPr/>
          <p:nvPr/>
        </p:nvSpPr>
        <p:spPr>
          <a:xfrm>
            <a:off x="319435" y="2802930"/>
            <a:ext cx="6013073"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Assign MLST sequence types (STs) and recognise high-risk clones.</a:t>
            </a:r>
            <a:endParaRPr lang="en-US" sz="1500" dirty="0"/>
          </a:p>
        </p:txBody>
      </p:sp>
      <p:sp>
        <p:nvSpPr>
          <p:cNvPr id="11" name="Shape 9"/>
          <p:cNvSpPr/>
          <p:nvPr/>
        </p:nvSpPr>
        <p:spPr>
          <a:xfrm>
            <a:off x="0" y="4061420"/>
            <a:ext cx="12192000" cy="0"/>
          </a:xfrm>
          <a:prstGeom prst="line">
            <a:avLst/>
          </a:prstGeom>
          <a:noFill/>
          <a:ln w="12700">
            <a:solidFill>
              <a:srgbClr val="D9CDBF"/>
            </a:solidFill>
            <a:prstDash val="solid"/>
          </a:ln>
        </p:spPr>
        <p:txBody>
          <a:bodyPr/>
          <a:lstStyle/>
          <a:p>
            <a:endParaRPr lang="en-KE"/>
          </a:p>
        </p:txBody>
      </p:sp>
      <p:sp>
        <p:nvSpPr>
          <p:cNvPr id="12" name="Text 10"/>
          <p:cNvSpPr/>
          <p:nvPr/>
        </p:nvSpPr>
        <p:spPr>
          <a:xfrm>
            <a:off x="0" y="3511550"/>
            <a:ext cx="19243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891F15"/>
                </a:solidFill>
                <a:latin typeface="Carlito" pitchFamily="34" charset="0"/>
                <a:ea typeface="Carlito" pitchFamily="34" charset="-122"/>
                <a:cs typeface="Carlito" pitchFamily="34" charset="-120"/>
              </a:rPr>
              <a:t>3</a:t>
            </a:r>
            <a:endParaRPr lang="en-US" sz="2200" dirty="0"/>
          </a:p>
        </p:txBody>
      </p:sp>
      <p:sp>
        <p:nvSpPr>
          <p:cNvPr id="13" name="Text 11"/>
          <p:cNvSpPr/>
          <p:nvPr/>
        </p:nvSpPr>
        <p:spPr>
          <a:xfrm>
            <a:off x="319435" y="3511550"/>
            <a:ext cx="987302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Detect acquired resistance genes and chromosomal mutations, and tell intrinsic genes from acquired ones.</a:t>
            </a:r>
            <a:endParaRPr lang="en-US" sz="1500" dirty="0"/>
          </a:p>
        </p:txBody>
      </p:sp>
      <p:sp>
        <p:nvSpPr>
          <p:cNvPr id="14" name="Text 12"/>
          <p:cNvSpPr/>
          <p:nvPr/>
        </p:nvSpPr>
        <p:spPr>
          <a:xfrm>
            <a:off x="0" y="4220170"/>
            <a:ext cx="19243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891F15"/>
                </a:solidFill>
                <a:latin typeface="Carlito" pitchFamily="34" charset="0"/>
                <a:ea typeface="Carlito" pitchFamily="34" charset="-122"/>
                <a:cs typeface="Carlito" pitchFamily="34" charset="-120"/>
              </a:rPr>
              <a:t>4</a:t>
            </a:r>
            <a:endParaRPr lang="en-US" sz="2200" dirty="0"/>
          </a:p>
        </p:txBody>
      </p:sp>
      <p:sp>
        <p:nvSpPr>
          <p:cNvPr id="15" name="Text 13"/>
          <p:cNvSpPr/>
          <p:nvPr/>
        </p:nvSpPr>
        <p:spPr>
          <a:xfrm>
            <a:off x="319435" y="4220170"/>
            <a:ext cx="9893320" cy="28257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Read Kleborate's resistance and virulence scores, and spot convergent (resistant and hypervirulent) strains.</a:t>
            </a:r>
            <a:endParaRPr lang="en-US" sz="1500" dirty="0"/>
          </a:p>
        </p:txBody>
      </p:sp>
      <p:sp>
        <p:nvSpPr>
          <p:cNvPr id="16" name="Text 14"/>
          <p:cNvSpPr/>
          <p:nvPr/>
        </p:nvSpPr>
        <p:spPr>
          <a:xfrm>
            <a:off x="812800" y="6238280"/>
            <a:ext cx="340106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7" name="Text 15"/>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3</a:t>
            </a:r>
            <a:endParaRPr lang="en-US" sz="1200" dirty="0"/>
          </a:p>
        </p:txBody>
      </p:sp>
      <p:sp>
        <p:nvSpPr>
          <p:cNvPr id="18" name="Shape 0">
            <a:extLst>
              <a:ext uri="{FF2B5EF4-FFF2-40B4-BE49-F238E27FC236}">
                <a16:creationId xmlns:a16="http://schemas.microsoft.com/office/drawing/2014/main" id="{6814E25C-D395-CEBA-9437-F058AE2F5688}"/>
              </a:ext>
            </a:extLst>
          </p:cNvPr>
          <p:cNvSpPr/>
          <p:nvPr/>
        </p:nvSpPr>
        <p:spPr>
          <a:xfrm>
            <a:off x="319435" y="4791671"/>
            <a:ext cx="10656570" cy="1083865"/>
          </a:xfrm>
          <a:prstGeom prst="rect">
            <a:avLst/>
          </a:prstGeom>
          <a:solidFill>
            <a:srgbClr val="273003"/>
          </a:solidFill>
          <a:ln/>
        </p:spPr>
        <p:txBody>
          <a:bodyPr/>
          <a:lstStyle/>
          <a:p>
            <a:endParaRPr lang="en-KE"/>
          </a:p>
        </p:txBody>
      </p:sp>
      <p:sp>
        <p:nvSpPr>
          <p:cNvPr id="4" name="Text 2"/>
          <p:cNvSpPr/>
          <p:nvPr/>
        </p:nvSpPr>
        <p:spPr>
          <a:xfrm>
            <a:off x="573185" y="5072013"/>
            <a:ext cx="475398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2CA6E"/>
                </a:solidFill>
                <a:latin typeface="Carlito" pitchFamily="34" charset="0"/>
                <a:ea typeface="Carlito" pitchFamily="34" charset="-122"/>
                <a:cs typeface="Carlito" pitchFamily="34" charset="-120"/>
              </a:rPr>
              <a:t>Today's input: the best assembly per isolate, in </a:t>
            </a:r>
            <a:r>
              <a:rPr lang="en-US" sz="1400" dirty="0">
                <a:solidFill>
                  <a:srgbClr val="C2CA6E"/>
                </a:solidFill>
                <a:latin typeface="Consolas" panose="020B0609020204030204" pitchFamily="49" charset="0"/>
                <a:ea typeface="Carlito" pitchFamily="34" charset="-122"/>
                <a:cs typeface="Consolas" panose="020B0609020204030204" pitchFamily="49" charset="0"/>
              </a:rPr>
              <a:t>$COURSE/best</a:t>
            </a:r>
            <a:r>
              <a:rPr lang="en-US" sz="1400" dirty="0">
                <a:solidFill>
                  <a:srgbClr val="C2CA6E"/>
                </a:solidFill>
                <a:latin typeface="Carlito" pitchFamily="34" charset="0"/>
                <a:ea typeface="Carlito" pitchFamily="34" charset="-122"/>
                <a:cs typeface="Carlito" pitchFamily="34" charset="-120"/>
              </a:rPr>
              <a: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Applications of WGS in AMR surveillance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2236490"/>
            <a:ext cx="5219319" cy="619720"/>
          </a:xfrm>
          <a:prstGeom prst="rect">
            <a:avLst/>
          </a:prstGeom>
          <a:noFill/>
          <a:ln/>
        </p:spPr>
        <p:txBody>
          <a:bodyPr wrap="square" lIns="0" tIns="0" rIns="0" bIns="0" rtlCol="0" anchor="t">
            <a:normAutofit/>
          </a:bodyPr>
          <a:lstStyle/>
          <a:p>
            <a:pPr marL="0" indent="0" algn="l">
              <a:lnSpc>
                <a:spcPts val="2340"/>
              </a:lnSpc>
              <a:buNone/>
            </a:pPr>
            <a:r>
              <a:rPr lang="en-US" sz="1800" b="1" dirty="0">
                <a:solidFill>
                  <a:srgbClr val="273003"/>
                </a:solidFill>
                <a:latin typeface="Carlito" pitchFamily="34" charset="0"/>
                <a:ea typeface="Carlito" pitchFamily="34" charset="-122"/>
                <a:cs typeface="Carlito" pitchFamily="34" charset="-120"/>
              </a:rPr>
              <a:t>Every application needs a bioinformatic pipeline, and most need a reference database.</a:t>
            </a:r>
            <a:endParaRPr lang="en-US" sz="1800" dirty="0"/>
          </a:p>
        </p:txBody>
      </p:sp>
      <p:sp>
        <p:nvSpPr>
          <p:cNvPr id="5" name="Shape 3"/>
          <p:cNvSpPr/>
          <p:nvPr/>
        </p:nvSpPr>
        <p:spPr>
          <a:xfrm>
            <a:off x="812800" y="3008610"/>
            <a:ext cx="5067300" cy="1064220"/>
          </a:xfrm>
          <a:prstGeom prst="roundRect">
            <a:avLst>
              <a:gd name="adj" fmla="val 4773"/>
            </a:avLst>
          </a:prstGeom>
          <a:solidFill>
            <a:srgbClr val="FFFFFF"/>
          </a:solidFill>
          <a:ln/>
        </p:spPr>
        <p:txBody>
          <a:bodyPr/>
          <a:lstStyle/>
          <a:p>
            <a:endParaRPr lang="en-KE"/>
          </a:p>
        </p:txBody>
      </p:sp>
      <p:sp>
        <p:nvSpPr>
          <p:cNvPr id="6" name="Shape 4"/>
          <p:cNvSpPr/>
          <p:nvPr/>
        </p:nvSpPr>
        <p:spPr>
          <a:xfrm>
            <a:off x="812800" y="3008610"/>
            <a:ext cx="5067300" cy="1064220"/>
          </a:xfrm>
          <a:custGeom>
            <a:avLst/>
            <a:gdLst/>
            <a:ahLst/>
            <a:cxnLst/>
            <a:rect l="l" t="t" r="r" b="b"/>
            <a:pathLst>
              <a:path w="5067300" h="1064220">
                <a:moveTo>
                  <a:pt x="50800" y="1064220"/>
                </a:moveTo>
                <a:lnTo>
                  <a:pt x="50800" y="1064220"/>
                </a:lnTo>
                <a:arcTo wR="50800" hR="50800" stAng="5400000" swAng="5400000"/>
                <a:lnTo>
                  <a:pt x="0" y="50800"/>
                </a:lnTo>
                <a:arcTo wR="50800" hR="50800" stAng="10800000" swAng="5400000"/>
                <a:lnTo>
                  <a:pt x="50800" y="0"/>
                </a:lnTo>
                <a:lnTo>
                  <a:pt x="50800" y="1064220"/>
                </a:lnTo>
                <a:close/>
              </a:path>
            </a:pathLst>
          </a:custGeom>
          <a:solidFill>
            <a:srgbClr val="891F15"/>
          </a:solidFill>
          <a:ln/>
        </p:spPr>
        <p:txBody>
          <a:bodyPr/>
          <a:lstStyle/>
          <a:p>
            <a:endParaRPr lang="en-KE"/>
          </a:p>
        </p:txBody>
      </p:sp>
      <p:sp>
        <p:nvSpPr>
          <p:cNvPr id="7" name="Text 5"/>
          <p:cNvSpPr/>
          <p:nvPr/>
        </p:nvSpPr>
        <p:spPr>
          <a:xfrm>
            <a:off x="1041400" y="3161010"/>
            <a:ext cx="48007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91F15"/>
                </a:solidFill>
                <a:latin typeface="Carlito" pitchFamily="34" charset="0"/>
                <a:ea typeface="Carlito" pitchFamily="34" charset="-122"/>
                <a:cs typeface="Carlito" pitchFamily="34" charset="-120"/>
              </a:rPr>
              <a:t>Today</a:t>
            </a:r>
            <a:endParaRPr lang="en-US" sz="1500" dirty="0"/>
          </a:p>
        </p:txBody>
      </p:sp>
      <p:sp>
        <p:nvSpPr>
          <p:cNvPr id="8" name="Text 6"/>
          <p:cNvSpPr/>
          <p:nvPr/>
        </p:nvSpPr>
        <p:spPr>
          <a:xfrm>
            <a:off x="1041400" y="3440410"/>
            <a:ext cx="4800727"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Strain typing to identify high-risk clones, and reference databases to find the genes behind resistance.</a:t>
            </a:r>
            <a:endParaRPr lang="en-US" sz="1400" dirty="0"/>
          </a:p>
        </p:txBody>
      </p:sp>
      <p:sp>
        <p:nvSpPr>
          <p:cNvPr id="9" name="Shape 7"/>
          <p:cNvSpPr/>
          <p:nvPr/>
        </p:nvSpPr>
        <p:spPr>
          <a:xfrm>
            <a:off x="812800" y="4250630"/>
            <a:ext cx="5067300" cy="1064220"/>
          </a:xfrm>
          <a:prstGeom prst="roundRect">
            <a:avLst>
              <a:gd name="adj" fmla="val 4773"/>
            </a:avLst>
          </a:prstGeom>
          <a:solidFill>
            <a:srgbClr val="FFFFFF"/>
          </a:solidFill>
          <a:ln/>
        </p:spPr>
        <p:txBody>
          <a:bodyPr/>
          <a:lstStyle/>
          <a:p>
            <a:endParaRPr lang="en-KE"/>
          </a:p>
        </p:txBody>
      </p:sp>
      <p:sp>
        <p:nvSpPr>
          <p:cNvPr id="10" name="Shape 8"/>
          <p:cNvSpPr/>
          <p:nvPr/>
        </p:nvSpPr>
        <p:spPr>
          <a:xfrm>
            <a:off x="812800" y="4250630"/>
            <a:ext cx="5067300" cy="1064220"/>
          </a:xfrm>
          <a:custGeom>
            <a:avLst/>
            <a:gdLst/>
            <a:ahLst/>
            <a:cxnLst/>
            <a:rect l="l" t="t" r="r" b="b"/>
            <a:pathLst>
              <a:path w="5067300" h="1064220">
                <a:moveTo>
                  <a:pt x="50800" y="1064220"/>
                </a:moveTo>
                <a:lnTo>
                  <a:pt x="50800" y="1064220"/>
                </a:lnTo>
                <a:arcTo wR="50800" hR="50800" stAng="5400000" swAng="5400000"/>
                <a:lnTo>
                  <a:pt x="0" y="50800"/>
                </a:lnTo>
                <a:arcTo wR="50800" hR="50800" stAng="10800000" swAng="5400000"/>
                <a:lnTo>
                  <a:pt x="50800" y="0"/>
                </a:lnTo>
                <a:lnTo>
                  <a:pt x="50800" y="1064220"/>
                </a:lnTo>
                <a:close/>
              </a:path>
            </a:pathLst>
          </a:custGeom>
          <a:solidFill>
            <a:srgbClr val="273003"/>
          </a:solidFill>
          <a:ln/>
        </p:spPr>
        <p:txBody>
          <a:bodyPr/>
          <a:lstStyle/>
          <a:p>
            <a:endParaRPr lang="en-KE"/>
          </a:p>
        </p:txBody>
      </p:sp>
      <p:sp>
        <p:nvSpPr>
          <p:cNvPr id="11" name="Text 9"/>
          <p:cNvSpPr/>
          <p:nvPr/>
        </p:nvSpPr>
        <p:spPr>
          <a:xfrm>
            <a:off x="1041400" y="4403030"/>
            <a:ext cx="480072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73003"/>
                </a:solidFill>
                <a:latin typeface="Carlito" pitchFamily="34" charset="0"/>
                <a:ea typeface="Carlito" pitchFamily="34" charset="-122"/>
                <a:cs typeface="Carlito" pitchFamily="34" charset="-120"/>
              </a:rPr>
              <a:t>Later in the course</a:t>
            </a:r>
            <a:endParaRPr lang="en-US" sz="1500" dirty="0"/>
          </a:p>
        </p:txBody>
      </p:sp>
      <p:sp>
        <p:nvSpPr>
          <p:cNvPr id="12" name="Text 10"/>
          <p:cNvSpPr/>
          <p:nvPr/>
        </p:nvSpPr>
        <p:spPr>
          <a:xfrm>
            <a:off x="1041400" y="4682430"/>
            <a:ext cx="4800727"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AST data (Day 4), phylogenetics and transmission chains (Days 6–7).</a:t>
            </a:r>
            <a:endParaRPr lang="en-US" sz="1400" dirty="0"/>
          </a:p>
        </p:txBody>
      </p:sp>
      <p:sp>
        <p:nvSpPr>
          <p:cNvPr id="13" name="Shape 11"/>
          <p:cNvSpPr/>
          <p:nvPr/>
        </p:nvSpPr>
        <p:spPr>
          <a:xfrm>
            <a:off x="6235700" y="1709390"/>
            <a:ext cx="5143500" cy="3848546"/>
          </a:xfrm>
          <a:prstGeom prst="roundRect">
            <a:avLst>
              <a:gd name="adj" fmla="val 1980"/>
            </a:avLst>
          </a:prstGeom>
          <a:solidFill>
            <a:srgbClr val="FFFFFF"/>
          </a:solidFill>
          <a:ln/>
        </p:spPr>
        <p:txBody>
          <a:bodyPr/>
          <a:lstStyle/>
          <a:p>
            <a:endParaRPr lang="en-KE"/>
          </a:p>
        </p:txBody>
      </p:sp>
      <p:pic>
        <p:nvPicPr>
          <p:cNvPr id="14" name="Image 0" descr="WHO figure: general uses of WGS in AMR surveillance, from international to local surveillance, outbreak tracing, high-risk clones and AMR mechanisms, with the data each requires"/>
          <p:cNvPicPr>
            <a:picLocks noChangeAspect="1"/>
          </p:cNvPicPr>
          <p:nvPr/>
        </p:nvPicPr>
        <p:blipFill>
          <a:blip r:embed="rId3"/>
          <a:stretch>
            <a:fillRect/>
          </a:stretch>
        </p:blipFill>
        <p:spPr>
          <a:xfrm>
            <a:off x="6301301" y="1709390"/>
            <a:ext cx="5012298" cy="3848546"/>
          </a:xfrm>
          <a:custGeom>
            <a:avLst/>
            <a:gdLst/>
            <a:ahLst/>
            <a:cxnLst/>
            <a:rect l="l" t="t" r="r" b="b"/>
            <a:pathLst>
              <a:path w="5012298" h="3848546">
                <a:moveTo>
                  <a:pt x="0" y="741"/>
                </a:moveTo>
                <a:arcTo wR="76200" hR="76200" stAng="15720274" swAng="479726"/>
                <a:lnTo>
                  <a:pt x="5001699" y="0"/>
                </a:lnTo>
                <a:arcTo wR="76200" hR="76200" stAng="16200000" swAng="479726"/>
                <a:lnTo>
                  <a:pt x="5012298" y="3847806"/>
                </a:lnTo>
                <a:arcTo wR="76200" hR="76200" stAng="4920274" swAng="479726"/>
                <a:lnTo>
                  <a:pt x="10599" y="3848546"/>
                </a:lnTo>
                <a:arcTo wR="76200" hR="76200" stAng="5400000" swAng="479726"/>
                <a:close/>
              </a:path>
            </a:pathLst>
          </a:custGeom>
        </p:spPr>
      </p:pic>
      <p:sp>
        <p:nvSpPr>
          <p:cNvPr id="15" name="Text 12"/>
          <p:cNvSpPr/>
          <p:nvPr/>
        </p:nvSpPr>
        <p:spPr>
          <a:xfrm>
            <a:off x="6235700" y="5634137"/>
            <a:ext cx="5297805" cy="233263"/>
          </a:xfrm>
          <a:prstGeom prst="rect">
            <a:avLst/>
          </a:prstGeom>
          <a:noFill/>
          <a:ln/>
        </p:spPr>
        <p:txBody>
          <a:bodyPr wrap="square" lIns="0" tIns="0" rIns="0" bIns="0" rtlCol="0" anchor="t">
            <a:normAutofit/>
          </a:bodyPr>
          <a:lstStyle/>
          <a:p>
            <a:pPr marL="0" indent="0" algn="l">
              <a:lnSpc>
                <a:spcPts val="1675"/>
              </a:lnSpc>
              <a:buNone/>
            </a:pPr>
            <a:r>
              <a:rPr lang="en-US" sz="1196" dirty="0">
                <a:solidFill>
                  <a:srgbClr val="6B6460"/>
                </a:solidFill>
                <a:latin typeface="Carlito" pitchFamily="34" charset="0"/>
                <a:ea typeface="Carlito" pitchFamily="34" charset="-122"/>
                <a:cs typeface="Carlito" pitchFamily="34" charset="-120"/>
              </a:rPr>
              <a:t>World Health Organization. </a:t>
            </a:r>
            <a:r>
              <a:rPr lang="en-US" sz="1196" u="sng" dirty="0">
                <a:solidFill>
                  <a:srgbClr val="6B6460"/>
                </a:solidFill>
                <a:latin typeface="Carlito" pitchFamily="34" charset="0"/>
                <a:ea typeface="Carlito" pitchFamily="34" charset="-122"/>
                <a:cs typeface="Carlito" pitchFamily="34" charset="-120"/>
                <a:hlinkClick r:id="rId4">
                  <a:extLst>
                    <a:ext uri="{A12FA001-AC4F-418D-AE19-62706E023703}">
                      <ahyp:hlinkClr xmlns:ahyp="http://schemas.microsoft.com/office/drawing/2018/hyperlinkcolor" val="tx"/>
                    </a:ext>
                  </a:extLst>
                </a:hlinkClick>
              </a:rPr>
              <a:t>who.int/publications/i/item/9789240011007</a:t>
            </a:r>
            <a:endParaRPr lang="en-US" sz="1196" dirty="0"/>
          </a:p>
        </p:txBody>
      </p:sp>
      <p:pic>
        <p:nvPicPr>
          <p:cNvPr id="16" name="Image 1" descr="ILRI and CGIAR logos"/>
          <p:cNvPicPr>
            <a:picLocks noChangeAspect="1"/>
          </p:cNvPicPr>
          <p:nvPr/>
        </p:nvPicPr>
        <p:blipFill>
          <a:blip r:embed="rId5"/>
          <a:srcRect l="-56" r="-56"/>
          <a:stretch/>
        </p:blipFill>
        <p:spPr>
          <a:xfrm>
            <a:off x="10033000" y="254000"/>
            <a:ext cx="1346200" cy="381000"/>
          </a:xfrm>
          <a:prstGeom prst="rect">
            <a:avLst/>
          </a:prstGeom>
        </p:spPr>
      </p:pic>
      <p:sp>
        <p:nvSpPr>
          <p:cNvPr id="17" name="Text 1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8" name="Text 1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891F1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410700" y="704850"/>
            <a:ext cx="2781300" cy="5448300"/>
          </a:xfrm>
          <a:prstGeom prst="rect">
            <a:avLst/>
          </a:prstGeom>
        </p:spPr>
      </p:pic>
      <p:sp>
        <p:nvSpPr>
          <p:cNvPr id="3" name="Text 0"/>
          <p:cNvSpPr/>
          <p:nvPr/>
        </p:nvSpPr>
        <p:spPr>
          <a:xfrm>
            <a:off x="254000" y="262384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FFCE00"/>
                </a:solidFill>
                <a:latin typeface="Carlito" pitchFamily="34" charset="0"/>
                <a:ea typeface="Carlito" pitchFamily="34" charset="-122"/>
                <a:cs typeface="Carlito" pitchFamily="34" charset="-120"/>
              </a:rPr>
              <a:t>SESSION 1 · 09:00–10:30</a:t>
            </a:r>
            <a:endParaRPr lang="en-US" sz="1600" dirty="0"/>
          </a:p>
        </p:txBody>
      </p:sp>
      <p:sp>
        <p:nvSpPr>
          <p:cNvPr id="4" name="Text 1"/>
          <p:cNvSpPr>
            <a:spLocks noGrp="1"/>
          </p:cNvSpPr>
          <p:nvPr>
            <p:ph type="title"/>
          </p:nvPr>
        </p:nvSpPr>
        <p:spPr>
          <a:xfrm>
            <a:off x="254000" y="3096270"/>
            <a:ext cx="12557760"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9F2EA"/>
                </a:solidFill>
                <a:latin typeface="Carlito" pitchFamily="34" charset="0"/>
                <a:ea typeface="Carlito" pitchFamily="34" charset="-122"/>
                <a:cs typeface="Carlito" pitchFamily="34" charset="-120"/>
              </a:rPr>
              <a:t>Which species is it?</a:t>
            </a:r>
            <a:endParaRPr lang="en-US" sz="4800" dirty="0"/>
          </a:p>
        </p:txBody>
      </p:sp>
      <p:sp>
        <p:nvSpPr>
          <p:cNvPr id="5" name="Text 2"/>
          <p:cNvSpPr/>
          <p:nvPr/>
        </p:nvSpPr>
        <p:spPr>
          <a:xfrm>
            <a:off x="254000" y="3924300"/>
            <a:ext cx="125577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1D3C9"/>
                </a:solidFill>
                <a:latin typeface="Carlito" pitchFamily="34" charset="0"/>
                <a:ea typeface="Carlito" pitchFamily="34" charset="-122"/>
                <a:cs typeface="Carlito" pitchFamily="34" charset="-120"/>
              </a:rPr>
              <a:t>The </a:t>
            </a:r>
            <a:r>
              <a:rPr lang="en-US" sz="2000" i="1" dirty="0">
                <a:solidFill>
                  <a:srgbClr val="F1D3C9"/>
                </a:solidFill>
                <a:latin typeface="Carlito" pitchFamily="34" charset="0"/>
                <a:ea typeface="Carlito" pitchFamily="34" charset="-122"/>
                <a:cs typeface="Carlito" pitchFamily="34" charset="-120"/>
              </a:rPr>
              <a:t>K. pneumoniae</a:t>
            </a:r>
            <a:r>
              <a:rPr lang="en-US" sz="2000" dirty="0">
                <a:solidFill>
                  <a:srgbClr val="F1D3C9"/>
                </a:solidFill>
                <a:latin typeface="Carlito" pitchFamily="34" charset="0"/>
                <a:ea typeface="Carlito" pitchFamily="34" charset="-122"/>
                <a:cs typeface="Carlito" pitchFamily="34" charset="-120"/>
              </a:rPr>
              <a:t> species complex, and genotyping with Kleborate</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B5A8"/>
                </a:solidFill>
                <a:latin typeface="Carlito" pitchFamily="34" charset="0"/>
                <a:ea typeface="Carlito" pitchFamily="34" charset="-122"/>
                <a:cs typeface="Carlito" pitchFamily="34" charset="-120"/>
              </a:rPr>
              <a:t>Module 3 · Typing and AMR genes | Day 3</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E3B5A8"/>
                </a:solidFill>
                <a:latin typeface="Carlito" pitchFamily="34" charset="0"/>
                <a:ea typeface="Carlito" pitchFamily="34" charset="-122"/>
                <a:cs typeface="Carlito"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The </a:t>
            </a:r>
            <a:r>
              <a:rPr lang="en-US" sz="3600" b="1" i="1" dirty="0">
                <a:solidFill>
                  <a:srgbClr val="6D2637"/>
                </a:solidFill>
                <a:latin typeface="Carlito" pitchFamily="34" charset="0"/>
                <a:ea typeface="Carlito" pitchFamily="34" charset="-122"/>
                <a:cs typeface="Carlito" pitchFamily="34" charset="-120"/>
              </a:rPr>
              <a:t>K. pneumoniae</a:t>
            </a:r>
            <a:r>
              <a:rPr lang="en-US" sz="3600" b="1" i="0" dirty="0">
                <a:solidFill>
                  <a:srgbClr val="6D2637"/>
                </a:solidFill>
                <a:latin typeface="Carlito" pitchFamily="34" charset="0"/>
                <a:ea typeface="Carlito" pitchFamily="34" charset="-122"/>
                <a:cs typeface="Carlito" pitchFamily="34" charset="-120"/>
              </a:rPr>
              <a:t> species complex</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709390"/>
            <a:ext cx="5938774" cy="586680"/>
          </a:xfrm>
          <a:prstGeom prst="rect">
            <a:avLst/>
          </a:prstGeom>
          <a:noFill/>
          <a:ln/>
        </p:spPr>
        <p:txBody>
          <a:bodyPr wrap="square" lIns="0" tIns="0" rIns="0" bIns="0" rtlCol="0" anchor="t">
            <a:normAutofit/>
          </a:bodyPr>
          <a:lstStyle/>
          <a:p>
            <a:pPr marL="0" indent="0" algn="l">
              <a:lnSpc>
                <a:spcPts val="2210"/>
              </a:lnSpc>
              <a:buNone/>
            </a:pPr>
            <a:r>
              <a:rPr lang="en-US" sz="1700" b="1" dirty="0">
                <a:solidFill>
                  <a:srgbClr val="273003"/>
                </a:solidFill>
                <a:latin typeface="Carlito" pitchFamily="34" charset="0"/>
                <a:ea typeface="Carlito" pitchFamily="34" charset="-122"/>
                <a:cs typeface="Carlito" pitchFamily="34" charset="-120"/>
              </a:rPr>
              <a:t>Several closely related species that the lab usually reports as "</a:t>
            </a:r>
            <a:r>
              <a:rPr lang="en-US" sz="1700" b="1" i="1" dirty="0">
                <a:solidFill>
                  <a:srgbClr val="273003"/>
                </a:solidFill>
                <a:latin typeface="Carlito" pitchFamily="34" charset="0"/>
                <a:ea typeface="Carlito" pitchFamily="34" charset="-122"/>
                <a:cs typeface="Carlito" pitchFamily="34" charset="-120"/>
              </a:rPr>
              <a:t>K. pneumoniae</a:t>
            </a:r>
            <a:r>
              <a:rPr lang="en-US" sz="1700" b="1" dirty="0">
                <a:solidFill>
                  <a:srgbClr val="273003"/>
                </a:solidFill>
                <a:latin typeface="Carlito" pitchFamily="34" charset="0"/>
                <a:ea typeface="Carlito" pitchFamily="34" charset="-122"/>
                <a:cs typeface="Carlito" pitchFamily="34" charset="-120"/>
              </a:rPr>
              <a:t>"</a:t>
            </a:r>
            <a:endParaRPr lang="en-US" sz="1700" dirty="0"/>
          </a:p>
        </p:txBody>
      </p:sp>
      <p:sp>
        <p:nvSpPr>
          <p:cNvPr id="5" name="Text 3"/>
          <p:cNvSpPr/>
          <p:nvPr/>
        </p:nvSpPr>
        <p:spPr>
          <a:xfrm>
            <a:off x="890270" y="2423071"/>
            <a:ext cx="5853684" cy="1092200"/>
          </a:xfrm>
          <a:prstGeom prst="rect">
            <a:avLst/>
          </a:prstGeom>
          <a:noFill/>
          <a:ln/>
        </p:spPr>
        <p:txBody>
          <a:bodyPr wrap="square" lIns="0" tIns="0" rIns="0" bIns="0" rtlCol="0" anchor="t">
            <a:normAutofit/>
          </a:bodyPr>
          <a:lstStyle/>
          <a:p>
            <a:pPr marL="176530" indent="-176530" algn="l">
              <a:lnSpc>
                <a:spcPts val="2100"/>
              </a:lnSpc>
              <a:buSzPct val="100000"/>
              <a:buChar char="•"/>
            </a:pPr>
            <a:r>
              <a:rPr lang="en-US" sz="1500" i="1" dirty="0">
                <a:solidFill>
                  <a:srgbClr val="3A322C"/>
                </a:solidFill>
                <a:latin typeface="Carlito" pitchFamily="34" charset="0"/>
                <a:ea typeface="Carlito" pitchFamily="34" charset="-122"/>
                <a:cs typeface="Carlito" pitchFamily="34" charset="-120"/>
              </a:rPr>
              <a:t>K. pneumoniae</a:t>
            </a:r>
            <a:endParaRPr lang="en-US" sz="1500" dirty="0"/>
          </a:p>
          <a:p>
            <a:pPr marL="176530" indent="-176530" algn="l">
              <a:lnSpc>
                <a:spcPts val="2100"/>
              </a:lnSpc>
              <a:buSzPct val="100000"/>
              <a:buChar char="•"/>
            </a:pPr>
            <a:r>
              <a:rPr lang="en-US" sz="1500" i="1" dirty="0">
                <a:solidFill>
                  <a:srgbClr val="3A322C"/>
                </a:solidFill>
                <a:latin typeface="Carlito" pitchFamily="34" charset="0"/>
                <a:ea typeface="Carlito" pitchFamily="34" charset="-122"/>
                <a:cs typeface="Carlito" pitchFamily="34" charset="-120"/>
              </a:rPr>
              <a:t>K. quasipneumoniae</a:t>
            </a:r>
            <a:r>
              <a:rPr lang="en-US" sz="1500" dirty="0">
                <a:solidFill>
                  <a:srgbClr val="3A322C"/>
                </a:solidFill>
                <a:latin typeface="Carlito" pitchFamily="34" charset="0"/>
                <a:ea typeface="Carlito" pitchFamily="34" charset="-122"/>
                <a:cs typeface="Carlito" pitchFamily="34" charset="-120"/>
              </a:rPr>
              <a:t> (subsp. </a:t>
            </a:r>
            <a:r>
              <a:rPr lang="en-US" sz="1500" i="1" dirty="0">
                <a:solidFill>
                  <a:srgbClr val="3A322C"/>
                </a:solidFill>
                <a:latin typeface="Carlito" pitchFamily="34" charset="0"/>
                <a:ea typeface="Carlito" pitchFamily="34" charset="-122"/>
                <a:cs typeface="Carlito" pitchFamily="34" charset="-120"/>
              </a:rPr>
              <a:t>quasipneumoniae</a:t>
            </a:r>
            <a:r>
              <a:rPr lang="en-US" sz="1500" dirty="0">
                <a:solidFill>
                  <a:srgbClr val="3A322C"/>
                </a:solidFill>
                <a:latin typeface="Carlito" pitchFamily="34" charset="0"/>
                <a:ea typeface="Carlito" pitchFamily="34" charset="-122"/>
                <a:cs typeface="Carlito" pitchFamily="34" charset="-120"/>
              </a:rPr>
              <a:t>, </a:t>
            </a:r>
            <a:r>
              <a:rPr lang="en-US" sz="1500" i="1" dirty="0">
                <a:solidFill>
                  <a:srgbClr val="3A322C"/>
                </a:solidFill>
                <a:latin typeface="Carlito" pitchFamily="34" charset="0"/>
                <a:ea typeface="Carlito" pitchFamily="34" charset="-122"/>
                <a:cs typeface="Carlito" pitchFamily="34" charset="-120"/>
              </a:rPr>
              <a:t>similipneumoniae</a:t>
            </a:r>
            <a:r>
              <a:rPr lang="en-US" sz="1500" dirty="0">
                <a:solidFill>
                  <a:srgbClr val="3A322C"/>
                </a:solidFill>
                <a:latin typeface="Carlito" pitchFamily="34" charset="0"/>
                <a:ea typeface="Carlito" pitchFamily="34" charset="-122"/>
                <a:cs typeface="Carlito" pitchFamily="34" charset="-120"/>
              </a:rPr>
              <a:t>)</a:t>
            </a:r>
            <a:endParaRPr lang="en-US" sz="1500" dirty="0"/>
          </a:p>
          <a:p>
            <a:pPr marL="176530" indent="-176530" algn="l">
              <a:lnSpc>
                <a:spcPts val="2100"/>
              </a:lnSpc>
              <a:buSzPct val="100000"/>
              <a:buChar char="•"/>
            </a:pPr>
            <a:r>
              <a:rPr lang="en-US" sz="1500" i="1" dirty="0">
                <a:solidFill>
                  <a:srgbClr val="3A322C"/>
                </a:solidFill>
                <a:latin typeface="Carlito" pitchFamily="34" charset="0"/>
                <a:ea typeface="Carlito" pitchFamily="34" charset="-122"/>
                <a:cs typeface="Carlito" pitchFamily="34" charset="-120"/>
              </a:rPr>
              <a:t>K. variicola</a:t>
            </a:r>
            <a:r>
              <a:rPr lang="en-US" sz="1500" dirty="0">
                <a:solidFill>
                  <a:srgbClr val="3A322C"/>
                </a:solidFill>
                <a:latin typeface="Carlito" pitchFamily="34" charset="0"/>
                <a:ea typeface="Carlito" pitchFamily="34" charset="-122"/>
                <a:cs typeface="Carlito" pitchFamily="34" charset="-120"/>
              </a:rPr>
              <a:t> (subsp. </a:t>
            </a:r>
            <a:r>
              <a:rPr lang="en-US" sz="1500" i="1" dirty="0">
                <a:solidFill>
                  <a:srgbClr val="3A322C"/>
                </a:solidFill>
                <a:latin typeface="Carlito" pitchFamily="34" charset="0"/>
                <a:ea typeface="Carlito" pitchFamily="34" charset="-122"/>
                <a:cs typeface="Carlito" pitchFamily="34" charset="-120"/>
              </a:rPr>
              <a:t>variicola</a:t>
            </a:r>
            <a:r>
              <a:rPr lang="en-US" sz="1500" dirty="0">
                <a:solidFill>
                  <a:srgbClr val="3A322C"/>
                </a:solidFill>
                <a:latin typeface="Carlito" pitchFamily="34" charset="0"/>
                <a:ea typeface="Carlito" pitchFamily="34" charset="-122"/>
                <a:cs typeface="Carlito" pitchFamily="34" charset="-120"/>
              </a:rPr>
              <a:t>, </a:t>
            </a:r>
            <a:r>
              <a:rPr lang="en-US" sz="1500" i="1" dirty="0">
                <a:solidFill>
                  <a:srgbClr val="3A322C"/>
                </a:solidFill>
                <a:latin typeface="Carlito" pitchFamily="34" charset="0"/>
                <a:ea typeface="Carlito" pitchFamily="34" charset="-122"/>
                <a:cs typeface="Carlito" pitchFamily="34" charset="-120"/>
              </a:rPr>
              <a:t>tropica</a:t>
            </a:r>
            <a:r>
              <a:rPr lang="en-US" sz="1500" dirty="0">
                <a:solidFill>
                  <a:srgbClr val="3A322C"/>
                </a:solidFill>
                <a:latin typeface="Carlito" pitchFamily="34" charset="0"/>
                <a:ea typeface="Carlito" pitchFamily="34" charset="-122"/>
                <a:cs typeface="Carlito" pitchFamily="34" charset="-120"/>
              </a:rPr>
              <a:t>)</a:t>
            </a:r>
            <a:endParaRPr lang="en-US" sz="1500" dirty="0"/>
          </a:p>
          <a:p>
            <a:pPr marL="176530" indent="-176530" algn="l">
              <a:lnSpc>
                <a:spcPts val="2100"/>
              </a:lnSpc>
              <a:buSzPct val="100000"/>
              <a:buChar char="•"/>
            </a:pPr>
            <a:r>
              <a:rPr lang="en-US" sz="1500" i="1" dirty="0">
                <a:solidFill>
                  <a:srgbClr val="3A322C"/>
                </a:solidFill>
                <a:latin typeface="Carlito" pitchFamily="34" charset="0"/>
                <a:ea typeface="Carlito" pitchFamily="34" charset="-122"/>
                <a:cs typeface="Carlito" pitchFamily="34" charset="-120"/>
              </a:rPr>
              <a:t>K. quasivariicola</a:t>
            </a:r>
            <a:r>
              <a:rPr lang="en-US" sz="1500" dirty="0">
                <a:solidFill>
                  <a:srgbClr val="3A322C"/>
                </a:solidFill>
                <a:latin typeface="Carlito" pitchFamily="34" charset="0"/>
                <a:ea typeface="Carlito" pitchFamily="34" charset="-122"/>
                <a:cs typeface="Carlito" pitchFamily="34" charset="-120"/>
              </a:rPr>
              <a:t>, </a:t>
            </a:r>
            <a:r>
              <a:rPr lang="en-US" sz="1500" i="1" dirty="0">
                <a:solidFill>
                  <a:srgbClr val="3A322C"/>
                </a:solidFill>
                <a:latin typeface="Carlito" pitchFamily="34" charset="0"/>
                <a:ea typeface="Carlito" pitchFamily="34" charset="-122"/>
                <a:cs typeface="Carlito" pitchFamily="34" charset="-120"/>
              </a:rPr>
              <a:t>K. africana</a:t>
            </a:r>
            <a:endParaRPr lang="en-US" sz="1500" dirty="0"/>
          </a:p>
        </p:txBody>
      </p:sp>
      <p:sp>
        <p:nvSpPr>
          <p:cNvPr id="6" name="Text 4"/>
          <p:cNvSpPr/>
          <p:nvPr/>
        </p:nvSpPr>
        <p:spPr>
          <a:xfrm>
            <a:off x="812800" y="3642271"/>
            <a:ext cx="5938774"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4038"/>
                </a:solidFill>
                <a:latin typeface="Carlito" pitchFamily="34" charset="0"/>
                <a:ea typeface="Carlito" pitchFamily="34" charset="-122"/>
                <a:cs typeface="Carlito" pitchFamily="34" charset="-120"/>
              </a:rPr>
              <a:t>MALDI-TOF and biochemical tests often cannot tell them apart. The genome can.</a:t>
            </a:r>
            <a:endParaRPr lang="en-US" sz="1400" dirty="0"/>
          </a:p>
        </p:txBody>
      </p:sp>
      <p:sp>
        <p:nvSpPr>
          <p:cNvPr id="7" name="Shape 5"/>
          <p:cNvSpPr/>
          <p:nvPr/>
        </p:nvSpPr>
        <p:spPr>
          <a:xfrm>
            <a:off x="6934200" y="1709390"/>
            <a:ext cx="4445000" cy="1115020"/>
          </a:xfrm>
          <a:prstGeom prst="roundRect">
            <a:avLst>
              <a:gd name="adj" fmla="val 4556"/>
            </a:avLst>
          </a:prstGeom>
          <a:solidFill>
            <a:srgbClr val="FFFFFF"/>
          </a:solidFill>
          <a:ln/>
        </p:spPr>
        <p:txBody>
          <a:bodyPr/>
          <a:lstStyle/>
          <a:p>
            <a:endParaRPr lang="en-KE"/>
          </a:p>
        </p:txBody>
      </p:sp>
      <p:sp>
        <p:nvSpPr>
          <p:cNvPr id="8" name="Shape 6"/>
          <p:cNvSpPr/>
          <p:nvPr/>
        </p:nvSpPr>
        <p:spPr>
          <a:xfrm>
            <a:off x="6934200" y="1709390"/>
            <a:ext cx="4445000" cy="1115020"/>
          </a:xfrm>
          <a:custGeom>
            <a:avLst/>
            <a:gdLst/>
            <a:ahLst/>
            <a:cxnLst/>
            <a:rect l="l" t="t" r="r" b="b"/>
            <a:pathLst>
              <a:path w="4445000" h="1115020">
                <a:moveTo>
                  <a:pt x="50800" y="1115020"/>
                </a:moveTo>
                <a:lnTo>
                  <a:pt x="50800" y="1115020"/>
                </a:lnTo>
                <a:arcTo wR="50800" hR="50800" stAng="5400000" swAng="5400000"/>
                <a:lnTo>
                  <a:pt x="0" y="50800"/>
                </a:lnTo>
                <a:arcTo wR="50800" hR="50800" stAng="10800000" swAng="5400000"/>
                <a:lnTo>
                  <a:pt x="50800" y="0"/>
                </a:lnTo>
                <a:lnTo>
                  <a:pt x="50800" y="1115020"/>
                </a:lnTo>
                <a:close/>
              </a:path>
            </a:pathLst>
          </a:custGeom>
          <a:solidFill>
            <a:srgbClr val="891F15"/>
          </a:solidFill>
          <a:ln/>
        </p:spPr>
        <p:txBody>
          <a:bodyPr/>
          <a:lstStyle/>
          <a:p>
            <a:endParaRPr lang="en-KE"/>
          </a:p>
        </p:txBody>
      </p:sp>
      <p:sp>
        <p:nvSpPr>
          <p:cNvPr id="9" name="Text 7"/>
          <p:cNvSpPr/>
          <p:nvPr/>
        </p:nvSpPr>
        <p:spPr>
          <a:xfrm>
            <a:off x="7188200" y="1887190"/>
            <a:ext cx="410743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91F15"/>
                </a:solidFill>
                <a:latin typeface="Carlito" pitchFamily="34" charset="0"/>
                <a:ea typeface="Carlito" pitchFamily="34" charset="-122"/>
                <a:cs typeface="Carlito" pitchFamily="34" charset="-120"/>
              </a:rPr>
              <a:t>Why it matters for surveillance</a:t>
            </a:r>
            <a:endParaRPr lang="en-US" sz="1500" dirty="0"/>
          </a:p>
        </p:txBody>
      </p:sp>
      <p:sp>
        <p:nvSpPr>
          <p:cNvPr id="10" name="Text 8"/>
          <p:cNvSpPr/>
          <p:nvPr/>
        </p:nvSpPr>
        <p:spPr>
          <a:xfrm>
            <a:off x="7188200" y="2166590"/>
            <a:ext cx="410743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Species counts in reports are wrong if the complex is lumped together.</a:t>
            </a:r>
            <a:endParaRPr lang="en-US" sz="1400" dirty="0"/>
          </a:p>
        </p:txBody>
      </p:sp>
      <p:sp>
        <p:nvSpPr>
          <p:cNvPr id="11" name="Shape 9"/>
          <p:cNvSpPr/>
          <p:nvPr/>
        </p:nvSpPr>
        <p:spPr>
          <a:xfrm>
            <a:off x="6934200" y="2951411"/>
            <a:ext cx="4445000" cy="1115020"/>
          </a:xfrm>
          <a:prstGeom prst="roundRect">
            <a:avLst>
              <a:gd name="adj" fmla="val 4556"/>
            </a:avLst>
          </a:prstGeom>
          <a:solidFill>
            <a:srgbClr val="FFFFFF"/>
          </a:solidFill>
          <a:ln/>
        </p:spPr>
        <p:txBody>
          <a:bodyPr/>
          <a:lstStyle/>
          <a:p>
            <a:endParaRPr lang="en-KE"/>
          </a:p>
        </p:txBody>
      </p:sp>
      <p:sp>
        <p:nvSpPr>
          <p:cNvPr id="12" name="Shape 10"/>
          <p:cNvSpPr/>
          <p:nvPr/>
        </p:nvSpPr>
        <p:spPr>
          <a:xfrm>
            <a:off x="6934200" y="2951411"/>
            <a:ext cx="4445000" cy="1115020"/>
          </a:xfrm>
          <a:custGeom>
            <a:avLst/>
            <a:gdLst/>
            <a:ahLst/>
            <a:cxnLst/>
            <a:rect l="l" t="t" r="r" b="b"/>
            <a:pathLst>
              <a:path w="4445000" h="1115020">
                <a:moveTo>
                  <a:pt x="50800" y="1115020"/>
                </a:moveTo>
                <a:lnTo>
                  <a:pt x="50800" y="1115020"/>
                </a:lnTo>
                <a:arcTo wR="50800" hR="50800" stAng="5400000" swAng="5400000"/>
                <a:lnTo>
                  <a:pt x="0" y="50800"/>
                </a:lnTo>
                <a:arcTo wR="50800" hR="50800" stAng="10800000" swAng="5400000"/>
                <a:lnTo>
                  <a:pt x="50800" y="0"/>
                </a:lnTo>
                <a:lnTo>
                  <a:pt x="50800" y="1115020"/>
                </a:lnTo>
                <a:close/>
              </a:path>
            </a:pathLst>
          </a:custGeom>
          <a:solidFill>
            <a:srgbClr val="891F15"/>
          </a:solidFill>
          <a:ln/>
        </p:spPr>
        <p:txBody>
          <a:bodyPr/>
          <a:lstStyle/>
          <a:p>
            <a:endParaRPr lang="en-KE"/>
          </a:p>
        </p:txBody>
      </p:sp>
      <p:sp>
        <p:nvSpPr>
          <p:cNvPr id="13" name="Text 11"/>
          <p:cNvSpPr/>
          <p:nvPr/>
        </p:nvSpPr>
        <p:spPr>
          <a:xfrm>
            <a:off x="7188200" y="3129211"/>
            <a:ext cx="4107434"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91F15"/>
                </a:solidFill>
                <a:latin typeface="Carlito" pitchFamily="34" charset="0"/>
                <a:ea typeface="Carlito" pitchFamily="34" charset="-122"/>
                <a:cs typeface="Carlito" pitchFamily="34" charset="-120"/>
              </a:rPr>
              <a:t>Why it matters for resistance</a:t>
            </a:r>
            <a:endParaRPr lang="en-US" sz="1500" dirty="0"/>
          </a:p>
        </p:txBody>
      </p:sp>
      <p:sp>
        <p:nvSpPr>
          <p:cNvPr id="14" name="Text 12"/>
          <p:cNvSpPr/>
          <p:nvPr/>
        </p:nvSpPr>
        <p:spPr>
          <a:xfrm>
            <a:off x="7188200" y="3408611"/>
            <a:ext cx="4107434"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The intrinsic beta-lactamase differs: SHV in </a:t>
            </a:r>
            <a:r>
              <a:rPr lang="en-US" sz="1400" i="1" dirty="0">
                <a:solidFill>
                  <a:srgbClr val="3A322C"/>
                </a:solidFill>
                <a:latin typeface="Carlito" pitchFamily="34" charset="0"/>
                <a:ea typeface="Carlito" pitchFamily="34" charset="-122"/>
                <a:cs typeface="Carlito" pitchFamily="34" charset="-120"/>
              </a:rPr>
              <a:t>K. pneumoniae</a:t>
            </a:r>
            <a:r>
              <a:rPr lang="en-US" sz="1400" dirty="0">
                <a:solidFill>
                  <a:srgbClr val="3A322C"/>
                </a:solidFill>
                <a:latin typeface="Carlito" pitchFamily="34" charset="0"/>
                <a:ea typeface="Carlito" pitchFamily="34" charset="-122"/>
                <a:cs typeface="Carlito" pitchFamily="34" charset="-120"/>
              </a:rPr>
              <a:t>, LEN in </a:t>
            </a:r>
            <a:r>
              <a:rPr lang="en-US" sz="1400" i="1" dirty="0">
                <a:solidFill>
                  <a:srgbClr val="3A322C"/>
                </a:solidFill>
                <a:latin typeface="Carlito" pitchFamily="34" charset="0"/>
                <a:ea typeface="Carlito" pitchFamily="34" charset="-122"/>
                <a:cs typeface="Carlito" pitchFamily="34" charset="-120"/>
              </a:rPr>
              <a:t>K. variicola</a:t>
            </a:r>
            <a:r>
              <a:rPr lang="en-US" sz="1400" dirty="0">
                <a:solidFill>
                  <a:srgbClr val="3A322C"/>
                </a:solidFill>
                <a:latin typeface="Carlito" pitchFamily="34" charset="0"/>
                <a:ea typeface="Carlito" pitchFamily="34" charset="-122"/>
                <a:cs typeface="Carlito" pitchFamily="34" charset="-120"/>
              </a:rPr>
              <a:t>.</a:t>
            </a:r>
            <a:endParaRPr lang="en-US" sz="1400" dirty="0"/>
          </a:p>
        </p:txBody>
      </p:sp>
      <p:sp>
        <p:nvSpPr>
          <p:cNvPr id="15" name="Shape 13"/>
          <p:cNvSpPr/>
          <p:nvPr/>
        </p:nvSpPr>
        <p:spPr>
          <a:xfrm>
            <a:off x="6934200" y="4193431"/>
            <a:ext cx="4445000" cy="1115020"/>
          </a:xfrm>
          <a:prstGeom prst="roundRect">
            <a:avLst>
              <a:gd name="adj" fmla="val 4556"/>
            </a:avLst>
          </a:prstGeom>
          <a:solidFill>
            <a:srgbClr val="273003"/>
          </a:solidFill>
          <a:ln/>
        </p:spPr>
        <p:txBody>
          <a:bodyPr/>
          <a:lstStyle/>
          <a:p>
            <a:endParaRPr lang="en-KE"/>
          </a:p>
        </p:txBody>
      </p:sp>
      <p:sp>
        <p:nvSpPr>
          <p:cNvPr id="16" name="Text 14"/>
          <p:cNvSpPr/>
          <p:nvPr/>
        </p:nvSpPr>
        <p:spPr>
          <a:xfrm>
            <a:off x="7137400" y="4371231"/>
            <a:ext cx="415975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CE00"/>
                </a:solidFill>
                <a:latin typeface="Carlito" pitchFamily="34" charset="0"/>
                <a:ea typeface="Carlito" pitchFamily="34" charset="-122"/>
                <a:cs typeface="Carlito" pitchFamily="34" charset="-120"/>
              </a:rPr>
              <a:t>Exercise</a:t>
            </a:r>
            <a:endParaRPr lang="en-US" sz="1500" dirty="0"/>
          </a:p>
        </p:txBody>
      </p:sp>
      <p:sp>
        <p:nvSpPr>
          <p:cNvPr id="17" name="Text 15"/>
          <p:cNvSpPr/>
          <p:nvPr/>
        </p:nvSpPr>
        <p:spPr>
          <a:xfrm>
            <a:off x="7137400" y="4650631"/>
            <a:ext cx="4159758"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All 29 training isolates were labelled </a:t>
            </a:r>
            <a:r>
              <a:rPr lang="en-US" sz="1400" i="1" dirty="0">
                <a:solidFill>
                  <a:srgbClr val="F9F2EA"/>
                </a:solidFill>
                <a:latin typeface="Carlito" pitchFamily="34" charset="0"/>
                <a:ea typeface="Carlito" pitchFamily="34" charset="-122"/>
                <a:cs typeface="Carlito" pitchFamily="34" charset="-120"/>
              </a:rPr>
              <a:t>K. pneumoniae</a:t>
            </a:r>
            <a:r>
              <a:rPr lang="en-US" sz="1400" dirty="0">
                <a:solidFill>
                  <a:srgbClr val="F9F2EA"/>
                </a:solidFill>
                <a:latin typeface="Carlito" pitchFamily="34" charset="0"/>
                <a:ea typeface="Carlito" pitchFamily="34" charset="-122"/>
                <a:cs typeface="Carlito" pitchFamily="34" charset="-120"/>
              </a:rPr>
              <a:t>. Which are not?</a:t>
            </a:r>
            <a:endParaRPr lang="en-US" sz="1400" dirty="0"/>
          </a:p>
        </p:txBody>
      </p:sp>
      <p:pic>
        <p:nvPicPr>
          <p:cNvPr id="18"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9" name="Text 1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20" name="Text 17"/>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Pathogen-specific tools: KlebNET-GSP</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09390"/>
            <a:ext cx="5588000" cy="3194050"/>
          </a:xfrm>
          <a:prstGeom prst="roundRect">
            <a:avLst>
              <a:gd name="adj" fmla="val 2386"/>
            </a:avLst>
          </a:prstGeom>
          <a:solidFill>
            <a:srgbClr val="FFFFFF"/>
          </a:solidFill>
          <a:ln/>
        </p:spPr>
        <p:txBody>
          <a:bodyPr/>
          <a:lstStyle/>
          <a:p>
            <a:endParaRPr lang="en-KE"/>
          </a:p>
        </p:txBody>
      </p:sp>
      <p:pic>
        <p:nvPicPr>
          <p:cNvPr id="5" name="Image 0" descr="KlebNET-GSP tools page: Kleborate, Pathogenwatch, BIGSdb-Pasteur and Kaptive"/>
          <p:cNvPicPr>
            <a:picLocks noChangeAspect="1"/>
          </p:cNvPicPr>
          <p:nvPr/>
        </p:nvPicPr>
        <p:blipFill>
          <a:blip r:embed="rId3"/>
          <a:srcRect t="-14" b="-14"/>
          <a:stretch/>
        </p:blipFill>
        <p:spPr>
          <a:xfrm>
            <a:off x="812800" y="1709390"/>
            <a:ext cx="5588000" cy="3194050"/>
          </a:xfrm>
          <a:prstGeom prst="roundRect">
            <a:avLst>
              <a:gd name="adj" fmla="val 2386"/>
            </a:avLst>
          </a:prstGeom>
        </p:spPr>
      </p:pic>
      <p:sp>
        <p:nvSpPr>
          <p:cNvPr id="6" name="Text 3"/>
          <p:cNvSpPr/>
          <p:nvPr/>
        </p:nvSpPr>
        <p:spPr>
          <a:xfrm>
            <a:off x="812800" y="4979640"/>
            <a:ext cx="57556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KlebNET-GSP: a harmonised platform for global genomic surveillance of </a:t>
            </a:r>
            <a:r>
              <a:rPr lang="en-US" sz="1200" i="1" dirty="0">
                <a:solidFill>
                  <a:srgbClr val="6B6460"/>
                </a:solidFill>
                <a:latin typeface="Carlito" pitchFamily="34" charset="0"/>
                <a:ea typeface="Carlito" pitchFamily="34" charset="-122"/>
                <a:cs typeface="Carlito" pitchFamily="34" charset="-120"/>
              </a:rPr>
              <a:t>K. pneumoniae</a:t>
            </a:r>
            <a:endParaRPr lang="en-US" sz="1200" dirty="0"/>
          </a:p>
        </p:txBody>
      </p:sp>
      <p:sp>
        <p:nvSpPr>
          <p:cNvPr id="7" name="Text 4"/>
          <p:cNvSpPr/>
          <p:nvPr/>
        </p:nvSpPr>
        <p:spPr>
          <a:xfrm>
            <a:off x="6756400" y="1709390"/>
            <a:ext cx="4761484"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273003"/>
                </a:solidFill>
                <a:latin typeface="Carlito" pitchFamily="34" charset="0"/>
                <a:ea typeface="Carlito" pitchFamily="34" charset="-122"/>
                <a:cs typeface="Carlito" pitchFamily="34" charset="-120"/>
              </a:rPr>
              <a:t>Kleborate screens an assembly in one run for:</a:t>
            </a:r>
            <a:endParaRPr lang="en-US" sz="1500" dirty="0"/>
          </a:p>
        </p:txBody>
      </p:sp>
      <p:sp>
        <p:nvSpPr>
          <p:cNvPr id="8" name="Text 5"/>
          <p:cNvSpPr/>
          <p:nvPr/>
        </p:nvSpPr>
        <p:spPr>
          <a:xfrm>
            <a:off x="6840982" y="2103090"/>
            <a:ext cx="4669282" cy="1269851"/>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3A322C"/>
                </a:solidFill>
                <a:latin typeface="Carlito" pitchFamily="34" charset="0"/>
                <a:ea typeface="Carlito" pitchFamily="34" charset="-122"/>
                <a:cs typeface="Carlito" pitchFamily="34" charset="-120"/>
              </a:rPr>
              <a:t>species</a:t>
            </a:r>
            <a:endParaRPr lang="en-US" sz="1400" dirty="0"/>
          </a:p>
          <a:p>
            <a:pPr marL="169418" indent="-169418" algn="l">
              <a:lnSpc>
                <a:spcPts val="1960"/>
              </a:lnSpc>
              <a:buSzPct val="100000"/>
              <a:buChar char="•"/>
            </a:pPr>
            <a:r>
              <a:rPr lang="en-US" sz="1400" dirty="0">
                <a:solidFill>
                  <a:srgbClr val="3A322C"/>
                </a:solidFill>
                <a:latin typeface="Carlito" pitchFamily="34" charset="0"/>
                <a:ea typeface="Carlito" pitchFamily="34" charset="-122"/>
                <a:cs typeface="Carlito" pitchFamily="34" charset="-120"/>
              </a:rPr>
              <a:t>MLST sequence type</a:t>
            </a:r>
            <a:endParaRPr lang="en-US" sz="1400" dirty="0"/>
          </a:p>
          <a:p>
            <a:pPr marL="169418" indent="-169418" algn="l">
              <a:lnSpc>
                <a:spcPts val="1960"/>
              </a:lnSpc>
              <a:buSzPct val="100000"/>
              <a:buChar char="•"/>
            </a:pPr>
            <a:r>
              <a:rPr lang="en-US" sz="1400" dirty="0">
                <a:solidFill>
                  <a:srgbClr val="3A322C"/>
                </a:solidFill>
                <a:latin typeface="Carlito" pitchFamily="34" charset="0"/>
                <a:ea typeface="Carlito" pitchFamily="34" charset="-122"/>
                <a:cs typeface="Carlito" pitchFamily="34" charset="-120"/>
              </a:rPr>
              <a:t>resistance genes and mutations</a:t>
            </a:r>
            <a:endParaRPr lang="en-US" sz="1400" dirty="0"/>
          </a:p>
          <a:p>
            <a:pPr marL="169418" indent="-169418" algn="l">
              <a:lnSpc>
                <a:spcPts val="1960"/>
              </a:lnSpc>
              <a:buSzPct val="100000"/>
              <a:buChar char="•"/>
            </a:pPr>
            <a:r>
              <a:rPr lang="en-US" sz="1400" dirty="0">
                <a:solidFill>
                  <a:srgbClr val="3A322C"/>
                </a:solidFill>
                <a:latin typeface="Carlito" pitchFamily="34" charset="0"/>
                <a:ea typeface="Carlito" pitchFamily="34" charset="-122"/>
                <a:cs typeface="Carlito" pitchFamily="34" charset="-120"/>
              </a:rPr>
              <a:t>virulence loci</a:t>
            </a:r>
            <a:endParaRPr lang="en-US" sz="1400" dirty="0"/>
          </a:p>
          <a:p>
            <a:pPr marL="169418" indent="-169418" algn="l">
              <a:lnSpc>
                <a:spcPts val="1960"/>
              </a:lnSpc>
              <a:buSzPct val="100000"/>
              <a:buChar char="•"/>
            </a:pPr>
            <a:r>
              <a:rPr lang="en-US" sz="1400" dirty="0">
                <a:solidFill>
                  <a:srgbClr val="3A322C"/>
                </a:solidFill>
                <a:latin typeface="Carlito" pitchFamily="34" charset="0"/>
                <a:ea typeface="Carlito" pitchFamily="34" charset="-122"/>
                <a:cs typeface="Carlito" pitchFamily="34" charset="-120"/>
              </a:rPr>
              <a:t>capsule (K) and O-antigen types (Kaptive)</a:t>
            </a:r>
            <a:endParaRPr lang="en-US" sz="1400" dirty="0"/>
          </a:p>
        </p:txBody>
      </p:sp>
      <p:sp>
        <p:nvSpPr>
          <p:cNvPr id="9" name="Text 6"/>
          <p:cNvSpPr/>
          <p:nvPr/>
        </p:nvSpPr>
        <p:spPr>
          <a:xfrm>
            <a:off x="6756400" y="3474541"/>
            <a:ext cx="476148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038"/>
                </a:solidFill>
                <a:latin typeface="Carlito" pitchFamily="34" charset="0"/>
                <a:ea typeface="Carlito" pitchFamily="34" charset="-122"/>
                <a:cs typeface="Carlito" pitchFamily="34" charset="-120"/>
              </a:rPr>
              <a:t>Used to monitor which lineages cause disease, how they acquire resistance and virulence, and K and O antigen diversity for vaccines.</a:t>
            </a:r>
            <a:endParaRPr lang="en-US" sz="1300" dirty="0"/>
          </a:p>
        </p:txBody>
      </p:sp>
      <p:pic>
        <p:nvPicPr>
          <p:cNvPr id="10" name="Image 1"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11" name="Text 7"/>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2" name="Text 8"/>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Hands-on: Kleborate on all 29 isolates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709390"/>
            <a:ext cx="10566400" cy="2611487"/>
          </a:xfrm>
          <a:prstGeom prst="roundRect">
            <a:avLst>
              <a:gd name="adj" fmla="val 2918"/>
            </a:avLst>
          </a:prstGeom>
          <a:solidFill>
            <a:srgbClr val="273003"/>
          </a:solidFill>
          <a:ln/>
        </p:spPr>
        <p:txBody>
          <a:bodyPr wrap="square" lIns="257082" tIns="206282" rIns="0" bIns="180882" rtlCol="0" anchor="t">
            <a:normAutofit/>
          </a:bodyPr>
          <a:lstStyle/>
          <a:p>
            <a:pPr marL="0" indent="0" algn="l">
              <a:lnSpc>
                <a:spcPts val="1885"/>
              </a:lnSpc>
              <a:buNone/>
            </a:pPr>
            <a:r>
              <a:rPr lang="en-US" sz="1300" dirty="0">
                <a:solidFill>
                  <a:srgbClr val="F3EEDF"/>
                </a:solidFill>
                <a:latin typeface="Consolas" panose="020B0609020204030204" pitchFamily="49" charset="0"/>
                <a:ea typeface="JetBrains Mono" pitchFamily="49" charset="-122"/>
                <a:cs typeface="Consolas" panose="020B0609020204030204" pitchFamily="49" charset="0"/>
              </a:rPr>
              <a:t>use_tools typing</a:t>
            </a:r>
            <a:endParaRPr lang="en-US" sz="1300" dirty="0">
              <a:latin typeface="Consolas" panose="020B0609020204030204" pitchFamily="49" charset="0"/>
              <a:cs typeface="Consolas" panose="020B0609020204030204" pitchFamily="49" charset="0"/>
            </a:endParaRPr>
          </a:p>
          <a:p>
            <a:pPr marL="0" indent="0" algn="l">
              <a:lnSpc>
                <a:spcPts val="1885"/>
              </a:lnSpc>
              <a:buNone/>
            </a:pPr>
            <a:r>
              <a:rPr lang="en-US" sz="1300" dirty="0">
                <a:solidFill>
                  <a:srgbClr val="F3EEDF"/>
                </a:solidFill>
                <a:latin typeface="Consolas" panose="020B0609020204030204" pitchFamily="49" charset="0"/>
                <a:ea typeface="JetBrains Mono" pitchFamily="49" charset="-122"/>
                <a:cs typeface="Consolas" panose="020B0609020204030204" pitchFamily="49" charset="0"/>
              </a:rPr>
              <a:t>kleborate --version</a:t>
            </a:r>
            <a:endParaRPr lang="en-US" sz="1300" dirty="0">
              <a:latin typeface="Consolas" panose="020B0609020204030204" pitchFamily="49" charset="0"/>
              <a:cs typeface="Consolas" panose="020B0609020204030204" pitchFamily="49" charset="0"/>
            </a:endParaRPr>
          </a:p>
          <a:p>
            <a:pPr marL="0" indent="0" algn="l">
              <a:lnSpc>
                <a:spcPts val="1885"/>
              </a:lnSpc>
              <a:buNone/>
            </a:pPr>
            <a:r>
              <a:rPr lang="en-US" sz="1300" dirty="0">
                <a:solidFill>
                  <a:srgbClr val="F3EEDF"/>
                </a:solidFill>
                <a:latin typeface="Consolas" panose="020B0609020204030204" pitchFamily="49" charset="0"/>
                <a:ea typeface="JetBrains Mono" pitchFamily="49" charset="-122"/>
                <a:cs typeface="Consolas" panose="020B0609020204030204" pitchFamily="49" charset="0"/>
              </a:rPr>
              <a:t>mkdir -p $RESULTS/03_typing</a:t>
            </a:r>
            <a:endParaRPr lang="en-US" sz="1300" dirty="0">
              <a:latin typeface="Consolas" panose="020B0609020204030204" pitchFamily="49" charset="0"/>
              <a:cs typeface="Consolas" panose="020B0609020204030204" pitchFamily="49" charset="0"/>
            </a:endParaRPr>
          </a:p>
          <a:p>
            <a:pPr marL="0" indent="0" algn="l">
              <a:lnSpc>
                <a:spcPts val="1885"/>
              </a:lnSpc>
              <a:buNone/>
            </a:pPr>
            <a:r>
              <a:rPr lang="en-US" sz="1300" dirty="0">
                <a:solidFill>
                  <a:srgbClr val="F3EEDF"/>
                </a:solidFill>
                <a:latin typeface="Consolas" panose="020B0609020204030204" pitchFamily="49" charset="0"/>
                <a:ea typeface="JetBrains Mono" pitchFamily="49" charset="-122"/>
                <a:cs typeface="Consolas" panose="020B0609020204030204" pitchFamily="49" charset="0"/>
              </a:rPr>
              <a:t>kleborate -a $COURSE/best/*.fasta -o $RESULTS/03_typing/kleborate -p kpsc</a:t>
            </a:r>
            <a:endParaRPr lang="en-US" sz="1300" dirty="0">
              <a:latin typeface="Consolas" panose="020B0609020204030204" pitchFamily="49" charset="0"/>
              <a:cs typeface="Consolas" panose="020B0609020204030204" pitchFamily="49" charset="0"/>
            </a:endParaRPr>
          </a:p>
          <a:p>
            <a:pPr marL="0" indent="0" algn="l">
              <a:lnSpc>
                <a:spcPts val="1885"/>
              </a:lnSpc>
              <a:buNone/>
            </a:pPr>
            <a:endParaRPr lang="en-US" sz="1300" dirty="0"/>
          </a:p>
          <a:p>
            <a:pPr marL="0" indent="0" algn="l">
              <a:lnSpc>
                <a:spcPts val="1885"/>
              </a:lnSpc>
              <a:buNone/>
            </a:pPr>
            <a:r>
              <a:rPr lang="en-US" sz="1300" dirty="0">
                <a:solidFill>
                  <a:srgbClr val="C2CA6E"/>
                </a:solidFill>
                <a:latin typeface="JetBrains Mono" pitchFamily="49" charset="0"/>
                <a:ea typeface="JetBrains Mono" pitchFamily="49" charset="-122"/>
                <a:cs typeface="JetBrains Mono" pitchFamily="49" charset="-120"/>
              </a:rPr>
              <a:t># One wide table: pick prints only the columns that match a pattern</a:t>
            </a:r>
            <a:endParaRPr lang="en-US" sz="1300" dirty="0"/>
          </a:p>
          <a:p>
            <a:pPr marL="0" indent="0" algn="l">
              <a:lnSpc>
                <a:spcPts val="1885"/>
              </a:lnSpc>
              <a:buNone/>
            </a:pPr>
            <a:r>
              <a:rPr lang="en-US" sz="1300" dirty="0">
                <a:solidFill>
                  <a:srgbClr val="F3EEDF"/>
                </a:solidFill>
                <a:latin typeface="Consolas" panose="020B0609020204030204" pitchFamily="49" charset="0"/>
                <a:ea typeface="JetBrains Mono" pitchFamily="49" charset="-122"/>
                <a:cs typeface="Consolas" panose="020B0609020204030204" pitchFamily="49" charset="0"/>
              </a:rPr>
              <a:t>K=$RESULTS/03_typing/kleborate/klebsiella_pneumo_complex_output.txt</a:t>
            </a:r>
            <a:endParaRPr lang="en-US" sz="1300" dirty="0">
              <a:latin typeface="Consolas" panose="020B0609020204030204" pitchFamily="49" charset="0"/>
              <a:cs typeface="Consolas" panose="020B0609020204030204" pitchFamily="49" charset="0"/>
            </a:endParaRPr>
          </a:p>
          <a:p>
            <a:pPr marL="0" indent="0" algn="l">
              <a:lnSpc>
                <a:spcPts val="1885"/>
              </a:lnSpc>
              <a:buNone/>
            </a:pPr>
            <a:r>
              <a:rPr lang="en-US" sz="1300" dirty="0">
                <a:solidFill>
                  <a:srgbClr val="F3EEDF"/>
                </a:solidFill>
                <a:latin typeface="Consolas" panose="020B0609020204030204" pitchFamily="49" charset="0"/>
                <a:ea typeface="JetBrains Mono" pitchFamily="49" charset="-122"/>
                <a:cs typeface="Consolas" panose="020B0609020204030204" pitchFamily="49" charset="0"/>
              </a:rPr>
              <a:t>head -1 $K | tr '\t' '\n' | head -30   </a:t>
            </a:r>
            <a:r>
              <a:rPr lang="en-US" sz="1300" dirty="0">
                <a:solidFill>
                  <a:srgbClr val="C2CA6E"/>
                </a:solidFill>
                <a:latin typeface="Consolas" panose="020B0609020204030204" pitchFamily="49" charset="0"/>
                <a:ea typeface="JetBrains Mono" pitchFamily="49" charset="-122"/>
                <a:cs typeface="Consolas" panose="020B0609020204030204" pitchFamily="49" charset="0"/>
              </a:rPr>
              <a:t># list the column names</a:t>
            </a:r>
            <a:endParaRPr lang="en-US" sz="1300" dirty="0">
              <a:latin typeface="Consolas" panose="020B0609020204030204" pitchFamily="49" charset="0"/>
              <a:cs typeface="Consolas" panose="020B0609020204030204" pitchFamily="49" charset="0"/>
            </a:endParaRPr>
          </a:p>
          <a:p>
            <a:pPr marL="0" indent="0" algn="l">
              <a:lnSpc>
                <a:spcPts val="1885"/>
              </a:lnSpc>
              <a:buNone/>
            </a:pPr>
            <a:r>
              <a:rPr lang="en-US" sz="1300" dirty="0">
                <a:solidFill>
                  <a:srgbClr val="F3EEDF"/>
                </a:solidFill>
                <a:latin typeface="Consolas" panose="020B0609020204030204" pitchFamily="49" charset="0"/>
                <a:ea typeface="JetBrains Mono" pitchFamily="49" charset="-122"/>
                <a:cs typeface="Consolas" panose="020B0609020204030204" pitchFamily="49" charset="0"/>
              </a:rPr>
              <a:t>pick 'species$|__ST$' $K</a:t>
            </a:r>
            <a:endParaRPr lang="en-US" sz="1300" dirty="0">
              <a:latin typeface="Consolas" panose="020B0609020204030204" pitchFamily="49" charset="0"/>
              <a:cs typeface="Consolas" panose="020B0609020204030204" pitchFamily="49" charset="0"/>
            </a:endParaRPr>
          </a:p>
        </p:txBody>
      </p:sp>
      <p:sp>
        <p:nvSpPr>
          <p:cNvPr id="5" name="Shape 3"/>
          <p:cNvSpPr/>
          <p:nvPr/>
        </p:nvSpPr>
        <p:spPr>
          <a:xfrm>
            <a:off x="812800" y="4574877"/>
            <a:ext cx="10566400" cy="660400"/>
          </a:xfrm>
          <a:prstGeom prst="roundRect">
            <a:avLst>
              <a:gd name="adj" fmla="val 7692"/>
            </a:avLst>
          </a:prstGeom>
          <a:solidFill>
            <a:srgbClr val="FFF6CC"/>
          </a:solidFill>
          <a:ln/>
        </p:spPr>
        <p:txBody>
          <a:bodyPr/>
          <a:lstStyle/>
          <a:p>
            <a:endParaRPr lang="en-KE"/>
          </a:p>
        </p:txBody>
      </p:sp>
      <p:sp>
        <p:nvSpPr>
          <p:cNvPr id="6" name="Shape 4"/>
          <p:cNvSpPr/>
          <p:nvPr/>
        </p:nvSpPr>
        <p:spPr>
          <a:xfrm>
            <a:off x="812800" y="4574877"/>
            <a:ext cx="10566400" cy="660400"/>
          </a:xfrm>
          <a:custGeom>
            <a:avLst/>
            <a:gdLst/>
            <a:ahLst/>
            <a:cxnLst/>
            <a:rect l="l" t="t" r="r" b="b"/>
            <a:pathLst>
              <a:path w="10566400" h="660400">
                <a:moveTo>
                  <a:pt x="50800" y="660400"/>
                </a:moveTo>
                <a:lnTo>
                  <a:pt x="50800" y="660400"/>
                </a:lnTo>
                <a:arcTo wR="50800" hR="50800" stAng="5400000" swAng="5400000"/>
                <a:lnTo>
                  <a:pt x="0" y="50800"/>
                </a:lnTo>
                <a:arcTo wR="50800" hR="50800" stAng="10800000" swAng="5400000"/>
                <a:lnTo>
                  <a:pt x="50800" y="0"/>
                </a:lnTo>
                <a:lnTo>
                  <a:pt x="50800" y="660400"/>
                </a:lnTo>
                <a:close/>
              </a:path>
            </a:pathLst>
          </a:custGeom>
          <a:solidFill>
            <a:srgbClr val="FFCE00"/>
          </a:solidFill>
          <a:ln/>
        </p:spPr>
        <p:txBody>
          <a:bodyPr/>
          <a:lstStyle/>
          <a:p>
            <a:endParaRPr lang="en-KE"/>
          </a:p>
        </p:txBody>
      </p:sp>
      <p:pic>
        <p:nvPicPr>
          <p:cNvPr id="7" name="Image 0" descr="Search"/>
          <p:cNvPicPr>
            <a:picLocks noChangeAspect="1"/>
          </p:cNvPicPr>
          <p:nvPr/>
        </p:nvPicPr>
        <p:blipFill>
          <a:blip r:embed="rId3"/>
          <a:srcRect/>
          <a:stretch/>
        </p:blipFill>
        <p:spPr>
          <a:xfrm>
            <a:off x="1092200" y="4752677"/>
            <a:ext cx="304800" cy="304800"/>
          </a:xfrm>
          <a:prstGeom prst="rect">
            <a:avLst/>
          </a:prstGeom>
        </p:spPr>
      </p:pic>
      <p:sp>
        <p:nvSpPr>
          <p:cNvPr id="8" name="Text 5"/>
          <p:cNvSpPr/>
          <p:nvPr/>
        </p:nvSpPr>
        <p:spPr>
          <a:xfrm>
            <a:off x="1574800" y="4771727"/>
            <a:ext cx="980440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A322C"/>
                </a:solidFill>
                <a:latin typeface="Carlito" pitchFamily="34" charset="0"/>
                <a:ea typeface="Carlito" pitchFamily="34" charset="-122"/>
                <a:cs typeface="Carlito" pitchFamily="34" charset="-120"/>
              </a:rPr>
              <a:t>Compare Kleborate's species call with the label each isolate arrived with. Which three are not </a:t>
            </a:r>
            <a:r>
              <a:rPr lang="en-US" sz="1500" i="1" dirty="0">
                <a:solidFill>
                  <a:srgbClr val="3A322C"/>
                </a:solidFill>
                <a:latin typeface="Carlito" pitchFamily="34" charset="0"/>
                <a:ea typeface="Carlito" pitchFamily="34" charset="-122"/>
                <a:cs typeface="Carlito" pitchFamily="34" charset="-120"/>
              </a:rPr>
              <a:t>K. pneumoniae</a:t>
            </a:r>
            <a:r>
              <a:rPr lang="en-US" sz="1500" dirty="0">
                <a:solidFill>
                  <a:srgbClr val="3A322C"/>
                </a:solidFill>
                <a:latin typeface="Carlito" pitchFamily="34" charset="0"/>
                <a:ea typeface="Carlito" pitchFamily="34" charset="-122"/>
                <a:cs typeface="Carlito" pitchFamily="34" charset="-120"/>
              </a:rPr>
              <a:t>?</a:t>
            </a:r>
            <a:endParaRPr lang="en-US" sz="1500" dirty="0"/>
          </a:p>
        </p:txBody>
      </p:sp>
      <p:pic>
        <p:nvPicPr>
          <p:cNvPr id="9" name="Image 1"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10" name="Text 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1" name="Text 7"/>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73003"/>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448800" y="609600"/>
            <a:ext cx="2743200" cy="5600700"/>
          </a:xfrm>
          <a:prstGeom prst="rect">
            <a:avLst/>
          </a:prstGeom>
        </p:spPr>
      </p:pic>
      <p:sp>
        <p:nvSpPr>
          <p:cNvPr id="3" name="Text 0"/>
          <p:cNvSpPr/>
          <p:nvPr/>
        </p:nvSpPr>
        <p:spPr>
          <a:xfrm>
            <a:off x="420370" y="262384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C2CA6E"/>
                </a:solidFill>
                <a:latin typeface="Carlito" pitchFamily="34" charset="0"/>
                <a:ea typeface="Carlito" pitchFamily="34" charset="-122"/>
                <a:cs typeface="Carlito" pitchFamily="34" charset="-120"/>
              </a:rPr>
              <a:t>SESSION 2 · 11:00–12:30</a:t>
            </a:r>
            <a:endParaRPr lang="en-US" sz="1600" dirty="0"/>
          </a:p>
        </p:txBody>
      </p:sp>
      <p:sp>
        <p:nvSpPr>
          <p:cNvPr id="4" name="Text 1"/>
          <p:cNvSpPr>
            <a:spLocks noGrp="1"/>
          </p:cNvSpPr>
          <p:nvPr>
            <p:ph type="title"/>
          </p:nvPr>
        </p:nvSpPr>
        <p:spPr>
          <a:xfrm>
            <a:off x="420370" y="3086100"/>
            <a:ext cx="12557760"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9F2EA"/>
                </a:solidFill>
                <a:latin typeface="Carlito" pitchFamily="34" charset="0"/>
                <a:ea typeface="Carlito" pitchFamily="34" charset="-122"/>
                <a:cs typeface="Carlito" pitchFamily="34" charset="-120"/>
              </a:rPr>
              <a:t>Which lineage is it?</a:t>
            </a:r>
            <a:endParaRPr lang="en-US" sz="4800" dirty="0"/>
          </a:p>
        </p:txBody>
      </p:sp>
      <p:sp>
        <p:nvSpPr>
          <p:cNvPr id="5" name="Text 2"/>
          <p:cNvSpPr/>
          <p:nvPr/>
        </p:nvSpPr>
        <p:spPr>
          <a:xfrm>
            <a:off x="420370" y="3924301"/>
            <a:ext cx="125577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DDE2B0"/>
                </a:solidFill>
                <a:latin typeface="Carlito" pitchFamily="34" charset="0"/>
                <a:ea typeface="Carlito" pitchFamily="34" charset="-122"/>
                <a:cs typeface="Carlito" pitchFamily="34" charset="-120"/>
              </a:rPr>
              <a:t>MLST, higher-resolution typing, high-risk clones and global context</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8A"/>
                </a:solidFill>
                <a:latin typeface="Carlito" pitchFamily="34" charset="0"/>
                <a:ea typeface="Carlito" pitchFamily="34" charset="-122"/>
                <a:cs typeface="Carlito" pitchFamily="34" charset="-120"/>
              </a:rPr>
              <a:t>Module 3 · Typing and AMR genes | Day 3</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08A"/>
                </a:solidFill>
                <a:latin typeface="Carlito" pitchFamily="34" charset="0"/>
                <a:ea typeface="Carlito" pitchFamily="34" charset="-122"/>
                <a:cs typeface="Carlito"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Bacterial sequence typing</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760190"/>
            <a:ext cx="10883392" cy="75178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273003"/>
                </a:solidFill>
                <a:latin typeface="Carlito" pitchFamily="34" charset="0"/>
                <a:ea typeface="Carlito" pitchFamily="34" charset="-122"/>
                <a:cs typeface="Carlito" pitchFamily="34" charset="-120"/>
              </a:rPr>
              <a:t>Typing gives each isolate </a:t>
            </a:r>
            <a:r>
              <a:rPr lang="en-US" sz="2200" b="1" dirty="0">
                <a:solidFill>
                  <a:srgbClr val="273003"/>
                </a:solidFill>
                <a:latin typeface="Carlito" pitchFamily="34" charset="0"/>
                <a:ea typeface="Carlito" pitchFamily="34" charset="-122"/>
                <a:cs typeface="Carlito" pitchFamily="34" charset="-120"/>
              </a:rPr>
              <a:t>geno- or phenotypic characters</a:t>
            </a:r>
            <a:r>
              <a:rPr lang="en-US" sz="2200" dirty="0">
                <a:solidFill>
                  <a:srgbClr val="273003"/>
                </a:solidFill>
                <a:latin typeface="Carlito" pitchFamily="34" charset="0"/>
                <a:ea typeface="Carlito" pitchFamily="34" charset="-122"/>
                <a:cs typeface="Carlito" pitchFamily="34" charset="-120"/>
              </a:rPr>
              <a:t> that reveal the </a:t>
            </a:r>
            <a:r>
              <a:rPr lang="en-US" sz="2200" b="1" dirty="0">
                <a:solidFill>
                  <a:srgbClr val="273003"/>
                </a:solidFill>
                <a:latin typeface="Carlito" pitchFamily="34" charset="0"/>
                <a:ea typeface="Carlito" pitchFamily="34" charset="-122"/>
                <a:cs typeface="Carlito" pitchFamily="34" charset="-120"/>
              </a:rPr>
              <a:t>sources and routes of spread</a:t>
            </a:r>
            <a:r>
              <a:rPr lang="en-US" sz="2200" dirty="0">
                <a:solidFill>
                  <a:srgbClr val="273003"/>
                </a:solidFill>
                <a:latin typeface="Carlito" pitchFamily="34" charset="0"/>
                <a:ea typeface="Carlito" pitchFamily="34" charset="-122"/>
                <a:cs typeface="Carlito" pitchFamily="34" charset="-120"/>
              </a:rPr>
              <a:t> of bacteria, and flag </a:t>
            </a:r>
            <a:r>
              <a:rPr lang="en-US" sz="2200" b="1" dirty="0">
                <a:solidFill>
                  <a:srgbClr val="273003"/>
                </a:solidFill>
                <a:latin typeface="Carlito" pitchFamily="34" charset="0"/>
                <a:ea typeface="Carlito" pitchFamily="34" charset="-122"/>
                <a:cs typeface="Carlito" pitchFamily="34" charset="-120"/>
              </a:rPr>
              <a:t>emerging pathogenic strains or clones</a:t>
            </a:r>
            <a:r>
              <a:rPr lang="en-US" sz="2200" dirty="0">
                <a:solidFill>
                  <a:srgbClr val="273003"/>
                </a:solidFill>
                <a:latin typeface="Carlito" pitchFamily="34" charset="0"/>
                <a:ea typeface="Carlito" pitchFamily="34" charset="-122"/>
                <a:cs typeface="Carlito" pitchFamily="34" charset="-120"/>
              </a:rPr>
              <a:t> within a species.</a:t>
            </a:r>
            <a:endParaRPr lang="en-US" sz="2200" dirty="0"/>
          </a:p>
        </p:txBody>
      </p:sp>
      <p:sp>
        <p:nvSpPr>
          <p:cNvPr id="5" name="Shape 3"/>
          <p:cNvSpPr/>
          <p:nvPr/>
        </p:nvSpPr>
        <p:spPr>
          <a:xfrm>
            <a:off x="812800" y="2791371"/>
            <a:ext cx="5194300" cy="1206450"/>
          </a:xfrm>
          <a:prstGeom prst="roundRect">
            <a:avLst>
              <a:gd name="adj" fmla="val 4211"/>
            </a:avLst>
          </a:prstGeom>
          <a:solidFill>
            <a:srgbClr val="FFFFFF"/>
          </a:solidFill>
          <a:ln/>
        </p:spPr>
        <p:txBody>
          <a:bodyPr/>
          <a:lstStyle/>
          <a:p>
            <a:endParaRPr lang="en-KE"/>
          </a:p>
        </p:txBody>
      </p:sp>
      <p:sp>
        <p:nvSpPr>
          <p:cNvPr id="6" name="Shape 4"/>
          <p:cNvSpPr/>
          <p:nvPr/>
        </p:nvSpPr>
        <p:spPr>
          <a:xfrm>
            <a:off x="812800" y="2791371"/>
            <a:ext cx="5194300" cy="1206450"/>
          </a:xfrm>
          <a:custGeom>
            <a:avLst/>
            <a:gdLst/>
            <a:ahLst/>
            <a:cxnLst/>
            <a:rect l="l" t="t" r="r" b="b"/>
            <a:pathLst>
              <a:path w="5194300" h="1206450">
                <a:moveTo>
                  <a:pt x="0" y="50800"/>
                </a:moveTo>
                <a:lnTo>
                  <a:pt x="0" y="50800"/>
                </a:lnTo>
                <a:arcTo wR="50800" hR="50800" stAng="10800000" swAng="5400000"/>
                <a:lnTo>
                  <a:pt x="5143500" y="0"/>
                </a:lnTo>
                <a:arcTo wR="50800" hR="50800" stAng="16200000" swAng="5400000"/>
                <a:lnTo>
                  <a:pt x="5194300" y="50800"/>
                </a:lnTo>
                <a:lnTo>
                  <a:pt x="0" y="50800"/>
                </a:lnTo>
                <a:close/>
              </a:path>
            </a:pathLst>
          </a:custGeom>
          <a:solidFill>
            <a:srgbClr val="891F15"/>
          </a:solidFill>
          <a:ln/>
        </p:spPr>
        <p:txBody>
          <a:bodyPr/>
          <a:lstStyle/>
          <a:p>
            <a:endParaRPr lang="en-KE"/>
          </a:p>
        </p:txBody>
      </p:sp>
      <p:sp>
        <p:nvSpPr>
          <p:cNvPr id="7" name="Text 5"/>
          <p:cNvSpPr/>
          <p:nvPr/>
        </p:nvSpPr>
        <p:spPr>
          <a:xfrm>
            <a:off x="1016000" y="3019971"/>
            <a:ext cx="493153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91F15"/>
                </a:solidFill>
                <a:latin typeface="Carlito" pitchFamily="34" charset="0"/>
                <a:ea typeface="Carlito" pitchFamily="34" charset="-122"/>
                <a:cs typeface="Carlito" pitchFamily="34" charset="-120"/>
              </a:rPr>
              <a:t>Molecular</a:t>
            </a:r>
            <a:endParaRPr lang="en-US" sz="1600" dirty="0"/>
          </a:p>
        </p:txBody>
      </p:sp>
      <p:sp>
        <p:nvSpPr>
          <p:cNvPr id="8" name="Text 6"/>
          <p:cNvSpPr/>
          <p:nvPr/>
        </p:nvSpPr>
        <p:spPr>
          <a:xfrm>
            <a:off x="1016000" y="3340001"/>
            <a:ext cx="4931537"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Multi-locus sequence typing (MLST), and higher-resolution cgMLST, wgMLST and SNPs</a:t>
            </a:r>
            <a:endParaRPr lang="en-US" sz="1400" dirty="0"/>
          </a:p>
        </p:txBody>
      </p:sp>
      <p:sp>
        <p:nvSpPr>
          <p:cNvPr id="9" name="Shape 7"/>
          <p:cNvSpPr/>
          <p:nvPr/>
        </p:nvSpPr>
        <p:spPr>
          <a:xfrm>
            <a:off x="6184900" y="2791371"/>
            <a:ext cx="5194300" cy="1206450"/>
          </a:xfrm>
          <a:prstGeom prst="roundRect">
            <a:avLst>
              <a:gd name="adj" fmla="val 4211"/>
            </a:avLst>
          </a:prstGeom>
          <a:solidFill>
            <a:srgbClr val="FFFFFF"/>
          </a:solidFill>
          <a:ln/>
        </p:spPr>
        <p:txBody>
          <a:bodyPr/>
          <a:lstStyle/>
          <a:p>
            <a:endParaRPr lang="en-KE"/>
          </a:p>
        </p:txBody>
      </p:sp>
      <p:sp>
        <p:nvSpPr>
          <p:cNvPr id="10" name="Shape 8"/>
          <p:cNvSpPr/>
          <p:nvPr/>
        </p:nvSpPr>
        <p:spPr>
          <a:xfrm>
            <a:off x="6184900" y="2791371"/>
            <a:ext cx="5194300" cy="1206450"/>
          </a:xfrm>
          <a:custGeom>
            <a:avLst/>
            <a:gdLst/>
            <a:ahLst/>
            <a:cxnLst/>
            <a:rect l="l" t="t" r="r" b="b"/>
            <a:pathLst>
              <a:path w="5194300" h="1206450">
                <a:moveTo>
                  <a:pt x="0" y="50800"/>
                </a:moveTo>
                <a:lnTo>
                  <a:pt x="0" y="50800"/>
                </a:lnTo>
                <a:arcTo wR="50800" hR="50800" stAng="10800000" swAng="5400000"/>
                <a:lnTo>
                  <a:pt x="5143500" y="0"/>
                </a:lnTo>
                <a:arcTo wR="50800" hR="50800" stAng="16200000" swAng="5400000"/>
                <a:lnTo>
                  <a:pt x="5194300" y="50800"/>
                </a:lnTo>
                <a:lnTo>
                  <a:pt x="0" y="50800"/>
                </a:lnTo>
                <a:close/>
              </a:path>
            </a:pathLst>
          </a:custGeom>
          <a:solidFill>
            <a:srgbClr val="891F15"/>
          </a:solidFill>
          <a:ln/>
        </p:spPr>
        <p:txBody>
          <a:bodyPr/>
          <a:lstStyle/>
          <a:p>
            <a:endParaRPr lang="en-KE"/>
          </a:p>
        </p:txBody>
      </p:sp>
      <p:sp>
        <p:nvSpPr>
          <p:cNvPr id="11" name="Text 9"/>
          <p:cNvSpPr/>
          <p:nvPr/>
        </p:nvSpPr>
        <p:spPr>
          <a:xfrm>
            <a:off x="6388100" y="3019971"/>
            <a:ext cx="493153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91F15"/>
                </a:solidFill>
                <a:latin typeface="Carlito" pitchFamily="34" charset="0"/>
                <a:ea typeface="Carlito" pitchFamily="34" charset="-122"/>
                <a:cs typeface="Carlito" pitchFamily="34" charset="-120"/>
              </a:rPr>
              <a:t>Serological</a:t>
            </a:r>
            <a:endParaRPr lang="en-US" sz="1600" dirty="0"/>
          </a:p>
        </p:txBody>
      </p:sp>
      <p:sp>
        <p:nvSpPr>
          <p:cNvPr id="12" name="Text 10"/>
          <p:cNvSpPr/>
          <p:nvPr/>
        </p:nvSpPr>
        <p:spPr>
          <a:xfrm>
            <a:off x="6388100" y="3340001"/>
            <a:ext cx="4931537"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Serogrouping and serotyping, now predicted from the genome: e.g. Kaptive for capsule (K) and O antigens</a:t>
            </a:r>
            <a:endParaRPr lang="en-US" sz="1400" dirty="0"/>
          </a:p>
        </p:txBody>
      </p:sp>
      <p:pic>
        <p:nvPicPr>
          <p:cNvPr id="13"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4"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5" name="Text 12"/>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Multilocus sequence typing (MLST)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90270" y="1709390"/>
            <a:ext cx="4807204" cy="1358900"/>
          </a:xfrm>
          <a:prstGeom prst="rect">
            <a:avLst/>
          </a:prstGeom>
          <a:noFill/>
          <a:ln/>
        </p:spPr>
        <p:txBody>
          <a:bodyPr wrap="square" lIns="0" tIns="0" rIns="0" bIns="0" rtlCol="0" anchor="t">
            <a:normAutofit/>
          </a:bodyPr>
          <a:lstStyle/>
          <a:p>
            <a:pPr marL="176530" indent="-176530" algn="l">
              <a:lnSpc>
                <a:spcPts val="2100"/>
              </a:lnSpc>
              <a:buSzPct val="100000"/>
              <a:buChar char="•"/>
            </a:pPr>
            <a:r>
              <a:rPr lang="en-US" sz="1500" dirty="0">
                <a:solidFill>
                  <a:srgbClr val="3A322C"/>
                </a:solidFill>
                <a:latin typeface="Carlito" pitchFamily="34" charset="0"/>
                <a:ea typeface="Carlito" pitchFamily="34" charset="-122"/>
                <a:cs typeface="Carlito" pitchFamily="34" charset="-120"/>
              </a:rPr>
              <a:t>Internal fragments of (usually) </a:t>
            </a:r>
            <a:r>
              <a:rPr lang="en-US" sz="1500" b="1" dirty="0">
                <a:solidFill>
                  <a:srgbClr val="3A322C"/>
                </a:solidFill>
                <a:latin typeface="Carlito" pitchFamily="34" charset="0"/>
                <a:ea typeface="Carlito" pitchFamily="34" charset="-122"/>
                <a:cs typeface="Carlito" pitchFamily="34" charset="-120"/>
              </a:rPr>
              <a:t>seven housekeeping genes</a:t>
            </a:r>
            <a:r>
              <a:rPr lang="en-US" sz="1500" dirty="0">
                <a:solidFill>
                  <a:srgbClr val="3A322C"/>
                </a:solidFill>
                <a:latin typeface="Carlito" pitchFamily="34" charset="0"/>
                <a:ea typeface="Carlito" pitchFamily="34" charset="-122"/>
                <a:cs typeface="Carlito" pitchFamily="34" charset="-120"/>
              </a:rPr>
              <a:t>, about 450–500 bp each</a:t>
            </a:r>
            <a:endParaRPr lang="en-US" sz="1500" dirty="0"/>
          </a:p>
          <a:p>
            <a:pPr marL="176530" indent="-176530" algn="l">
              <a:lnSpc>
                <a:spcPts val="2100"/>
              </a:lnSpc>
              <a:buSzPct val="100000"/>
              <a:buChar char="•"/>
            </a:pPr>
            <a:r>
              <a:rPr lang="en-US" sz="1500" dirty="0">
                <a:solidFill>
                  <a:srgbClr val="3A322C"/>
                </a:solidFill>
                <a:latin typeface="Carlito" pitchFamily="34" charset="0"/>
                <a:ea typeface="Carlito" pitchFamily="34" charset="-122"/>
                <a:cs typeface="Carlito" pitchFamily="34" charset="-120"/>
              </a:rPr>
              <a:t>Each distinct sequence of a gene is an </a:t>
            </a:r>
            <a:r>
              <a:rPr lang="en-US" sz="1500" b="1" dirty="0">
                <a:solidFill>
                  <a:srgbClr val="3A322C"/>
                </a:solidFill>
                <a:latin typeface="Carlito" pitchFamily="34" charset="0"/>
                <a:ea typeface="Carlito" pitchFamily="34" charset="-122"/>
                <a:cs typeface="Carlito" pitchFamily="34" charset="-120"/>
              </a:rPr>
              <a:t>allele</a:t>
            </a:r>
            <a:r>
              <a:rPr lang="en-US" sz="1500" dirty="0">
                <a:solidFill>
                  <a:srgbClr val="3A322C"/>
                </a:solidFill>
                <a:latin typeface="Carlito" pitchFamily="34" charset="0"/>
                <a:ea typeface="Carlito" pitchFamily="34" charset="-122"/>
                <a:cs typeface="Carlito" pitchFamily="34" charset="-120"/>
              </a:rPr>
              <a:t> number</a:t>
            </a:r>
            <a:endParaRPr lang="en-US" sz="1500" dirty="0"/>
          </a:p>
          <a:p>
            <a:pPr marL="176530" indent="-176530" algn="l">
              <a:lnSpc>
                <a:spcPts val="2100"/>
              </a:lnSpc>
              <a:buSzPct val="100000"/>
              <a:buChar char="•"/>
            </a:pPr>
            <a:r>
              <a:rPr lang="en-US" sz="1500" dirty="0">
                <a:solidFill>
                  <a:srgbClr val="3A322C"/>
                </a:solidFill>
                <a:latin typeface="Carlito" pitchFamily="34" charset="0"/>
                <a:ea typeface="Carlito" pitchFamily="34" charset="-122"/>
                <a:cs typeface="Carlito" pitchFamily="34" charset="-120"/>
              </a:rPr>
              <a:t>Each unique combination of the seven alleles is a </a:t>
            </a:r>
            <a:r>
              <a:rPr lang="en-US" sz="1500" b="1" dirty="0">
                <a:solidFill>
                  <a:srgbClr val="3A322C"/>
                </a:solidFill>
                <a:latin typeface="Carlito" pitchFamily="34" charset="0"/>
                <a:ea typeface="Carlito" pitchFamily="34" charset="-122"/>
                <a:cs typeface="Carlito" pitchFamily="34" charset="-120"/>
              </a:rPr>
              <a:t>sequence type (ST)</a:t>
            </a:r>
            <a:endParaRPr lang="en-US" sz="1500" dirty="0"/>
          </a:p>
        </p:txBody>
      </p:sp>
      <p:sp>
        <p:nvSpPr>
          <p:cNvPr id="5" name="Shape 3"/>
          <p:cNvSpPr/>
          <p:nvPr/>
        </p:nvSpPr>
        <p:spPr>
          <a:xfrm>
            <a:off x="812800" y="3195290"/>
            <a:ext cx="4749800" cy="875010"/>
          </a:xfrm>
          <a:prstGeom prst="roundRect">
            <a:avLst>
              <a:gd name="adj" fmla="val 5806"/>
            </a:avLst>
          </a:prstGeom>
          <a:solidFill>
            <a:srgbClr val="273003"/>
          </a:solidFill>
          <a:ln/>
        </p:spPr>
        <p:txBody>
          <a:bodyPr/>
          <a:lstStyle/>
          <a:p>
            <a:endParaRPr lang="en-KE"/>
          </a:p>
        </p:txBody>
      </p:sp>
      <p:sp>
        <p:nvSpPr>
          <p:cNvPr id="6" name="Text 4"/>
          <p:cNvSpPr/>
          <p:nvPr/>
        </p:nvSpPr>
        <p:spPr>
          <a:xfrm>
            <a:off x="1016000" y="3373090"/>
            <a:ext cx="447370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CE00"/>
                </a:solidFill>
                <a:latin typeface="Carlito" pitchFamily="34" charset="0"/>
                <a:ea typeface="Carlito" pitchFamily="34" charset="-122"/>
                <a:cs typeface="Carlito" pitchFamily="34" charset="-120"/>
              </a:rPr>
              <a:t>Question</a:t>
            </a:r>
            <a:endParaRPr lang="en-US" sz="1500" dirty="0"/>
          </a:p>
        </p:txBody>
      </p:sp>
      <p:sp>
        <p:nvSpPr>
          <p:cNvPr id="7" name="Text 5"/>
          <p:cNvSpPr/>
          <p:nvPr/>
        </p:nvSpPr>
        <p:spPr>
          <a:xfrm>
            <a:off x="1016000" y="3652490"/>
            <a:ext cx="447370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9F2EA"/>
                </a:solidFill>
                <a:latin typeface="Carlito" pitchFamily="34" charset="0"/>
                <a:ea typeface="Carlito" pitchFamily="34" charset="-122"/>
                <a:cs typeface="Carlito" pitchFamily="34" charset="-120"/>
              </a:rPr>
              <a:t>Kleborate reports </a:t>
            </a:r>
            <a:r>
              <a:rPr lang="en-US" sz="1400" b="1" dirty="0">
                <a:solidFill>
                  <a:srgbClr val="F9F2EA"/>
                </a:solidFill>
                <a:latin typeface="Carlito" pitchFamily="34" charset="0"/>
                <a:ea typeface="Carlito" pitchFamily="34" charset="-122"/>
                <a:cs typeface="Carlito" pitchFamily="34" charset="-120"/>
              </a:rPr>
              <a:t>ST14-1LV</a:t>
            </a:r>
            <a:r>
              <a:rPr lang="en-US" sz="1400" dirty="0">
                <a:solidFill>
                  <a:srgbClr val="F9F2EA"/>
                </a:solidFill>
                <a:latin typeface="Carlito" pitchFamily="34" charset="0"/>
                <a:ea typeface="Carlito" pitchFamily="34" charset="-122"/>
                <a:cs typeface="Carlito" pitchFamily="34" charset="-120"/>
              </a:rPr>
              <a:t>. What does the suffix mean?</a:t>
            </a:r>
            <a:endParaRPr lang="en-US" sz="1400" dirty="0"/>
          </a:p>
        </p:txBody>
      </p:sp>
      <p:sp>
        <p:nvSpPr>
          <p:cNvPr id="8" name="Shape 6"/>
          <p:cNvSpPr/>
          <p:nvPr/>
        </p:nvSpPr>
        <p:spPr>
          <a:xfrm>
            <a:off x="5918200" y="1709390"/>
            <a:ext cx="5461000" cy="2628900"/>
          </a:xfrm>
          <a:prstGeom prst="roundRect">
            <a:avLst>
              <a:gd name="adj" fmla="val 2899"/>
            </a:avLst>
          </a:prstGeom>
          <a:solidFill>
            <a:srgbClr val="FFFFFF"/>
          </a:solidFill>
          <a:ln/>
        </p:spPr>
        <p:txBody>
          <a:bodyPr/>
          <a:lstStyle/>
          <a:p>
            <a:endParaRPr lang="en-KE"/>
          </a:p>
        </p:txBody>
      </p:sp>
      <p:pic>
        <p:nvPicPr>
          <p:cNvPr id="9" name="Image 0" descr="MLST example: strain A has the same seven alleles as the known sequence (ST 1); strain B differs at four genes and is a new allele profile (ST 2)"/>
          <p:cNvPicPr>
            <a:picLocks noChangeAspect="1"/>
          </p:cNvPicPr>
          <p:nvPr/>
        </p:nvPicPr>
        <p:blipFill>
          <a:blip r:embed="rId3"/>
          <a:srcRect l="-15" r="-15"/>
          <a:stretch/>
        </p:blipFill>
        <p:spPr>
          <a:xfrm>
            <a:off x="5918200" y="1709390"/>
            <a:ext cx="5461000" cy="2628900"/>
          </a:xfrm>
          <a:prstGeom prst="roundRect">
            <a:avLst>
              <a:gd name="adj" fmla="val 2899"/>
            </a:avLst>
          </a:prstGeom>
        </p:spPr>
      </p:pic>
      <p:sp>
        <p:nvSpPr>
          <p:cNvPr id="10" name="Text 7"/>
          <p:cNvSpPr/>
          <p:nvPr/>
        </p:nvSpPr>
        <p:spPr>
          <a:xfrm>
            <a:off x="5918200" y="4414490"/>
            <a:ext cx="562483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Adapted from </a:t>
            </a:r>
            <a:r>
              <a:rPr lang="en-US" sz="1200" u="sng" dirty="0">
                <a:solidFill>
                  <a:srgbClr val="6B6460"/>
                </a:solidFill>
                <a:latin typeface="Carlito" pitchFamily="34" charset="0"/>
                <a:ea typeface="Carlito" pitchFamily="34" charset="-122"/>
                <a:cs typeface="Carlito" pitchFamily="34" charset="-120"/>
                <a:hlinkClick r:id="rId4">
                  <a:extLst>
                    <a:ext uri="{A12FA001-AC4F-418D-AE19-62706E023703}">
                      <ahyp:hlinkClr xmlns:ahyp="http://schemas.microsoft.com/office/drawing/2018/hyperlinkcolor" val="tx"/>
                    </a:ext>
                  </a:extLst>
                </a:hlinkClick>
              </a:rPr>
              <a:t>kiepczi.github.io/MLST_MicroSoc</a:t>
            </a:r>
            <a:endParaRPr lang="en-US" sz="1200" dirty="0"/>
          </a:p>
        </p:txBody>
      </p:sp>
      <p:pic>
        <p:nvPicPr>
          <p:cNvPr id="11" name="Image 1" descr="ILRI and CGIAR logos"/>
          <p:cNvPicPr>
            <a:picLocks noChangeAspect="1"/>
          </p:cNvPicPr>
          <p:nvPr/>
        </p:nvPicPr>
        <p:blipFill>
          <a:blip r:embed="rId5"/>
          <a:srcRect l="-56" r="-56"/>
          <a:stretch/>
        </p:blipFill>
        <p:spPr>
          <a:xfrm>
            <a:off x="10033000" y="254000"/>
            <a:ext cx="1346200" cy="381000"/>
          </a:xfrm>
          <a:prstGeom prst="rect">
            <a:avLst/>
          </a:prstGeom>
        </p:spPr>
      </p:pic>
      <p:sp>
        <p:nvSpPr>
          <p:cNvPr id="12" name="Text 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3" name="Text 9"/>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Beyond seven genes: cgMLST and wgMLST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09390"/>
            <a:ext cx="5588000" cy="3384550"/>
          </a:xfrm>
          <a:prstGeom prst="roundRect">
            <a:avLst>
              <a:gd name="adj" fmla="val 2251"/>
            </a:avLst>
          </a:prstGeom>
          <a:solidFill>
            <a:srgbClr val="FFFFFF"/>
          </a:solidFill>
          <a:ln/>
        </p:spPr>
        <p:txBody>
          <a:bodyPr/>
          <a:lstStyle/>
          <a:p>
            <a:endParaRPr lang="en-KE"/>
          </a:p>
        </p:txBody>
      </p:sp>
      <p:pic>
        <p:nvPicPr>
          <p:cNvPr id="5" name="Image 0" descr="Pyramid of discriminatory power: MLST and rMLST for speciation and evolutionary analysis at the base, cgMLST for global nomenclature and surveillance in the middle, wgMLST alleles and SNPs for local outbreak investigation at the top"/>
          <p:cNvPicPr>
            <a:picLocks noChangeAspect="1"/>
          </p:cNvPicPr>
          <p:nvPr/>
        </p:nvPicPr>
        <p:blipFill>
          <a:blip r:embed="rId3"/>
          <a:srcRect l="-124" r="-124"/>
          <a:stretch/>
        </p:blipFill>
        <p:spPr>
          <a:xfrm>
            <a:off x="812800" y="1709390"/>
            <a:ext cx="5588000" cy="3384550"/>
          </a:xfrm>
          <a:prstGeom prst="roundRect">
            <a:avLst>
              <a:gd name="adj" fmla="val 2251"/>
            </a:avLst>
          </a:prstGeom>
        </p:spPr>
      </p:pic>
      <p:sp>
        <p:nvSpPr>
          <p:cNvPr id="6" name="Shape 3"/>
          <p:cNvSpPr/>
          <p:nvPr/>
        </p:nvSpPr>
        <p:spPr>
          <a:xfrm>
            <a:off x="6756400" y="2767806"/>
            <a:ext cx="4622800" cy="0"/>
          </a:xfrm>
          <a:prstGeom prst="line">
            <a:avLst/>
          </a:prstGeom>
          <a:noFill/>
          <a:ln w="12700">
            <a:solidFill>
              <a:srgbClr val="D9CDBF"/>
            </a:solidFill>
            <a:prstDash val="solid"/>
          </a:ln>
        </p:spPr>
        <p:txBody>
          <a:bodyPr/>
          <a:lstStyle/>
          <a:p>
            <a:endParaRPr lang="en-KE"/>
          </a:p>
        </p:txBody>
      </p:sp>
      <p:sp>
        <p:nvSpPr>
          <p:cNvPr id="7" name="Text 4"/>
          <p:cNvSpPr/>
          <p:nvPr/>
        </p:nvSpPr>
        <p:spPr>
          <a:xfrm>
            <a:off x="6756400" y="1709390"/>
            <a:ext cx="47614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91F15"/>
                </a:solidFill>
                <a:latin typeface="Carlito" pitchFamily="34" charset="0"/>
                <a:ea typeface="Carlito" pitchFamily="34" charset="-122"/>
                <a:cs typeface="Carlito" pitchFamily="34" charset="-120"/>
              </a:rPr>
              <a:t>cgMLST</a:t>
            </a:r>
            <a:endParaRPr lang="en-US" sz="1600" dirty="0"/>
          </a:p>
        </p:txBody>
      </p:sp>
      <p:sp>
        <p:nvSpPr>
          <p:cNvPr id="8" name="Text 5"/>
          <p:cNvSpPr/>
          <p:nvPr/>
        </p:nvSpPr>
        <p:spPr>
          <a:xfrm>
            <a:off x="6756400" y="1991320"/>
            <a:ext cx="4761484"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Alleles of hundreds to thousands of core genes, e.g. 1,861 loci for </a:t>
            </a:r>
            <a:r>
              <a:rPr lang="en-US" sz="1300" i="1" dirty="0">
                <a:solidFill>
                  <a:srgbClr val="3A322C"/>
                </a:solidFill>
                <a:latin typeface="Carlito" pitchFamily="34" charset="0"/>
                <a:ea typeface="Carlito" pitchFamily="34" charset="-122"/>
                <a:cs typeface="Carlito" pitchFamily="34" charset="-120"/>
              </a:rPr>
              <a:t>S. aureus</a:t>
            </a:r>
            <a:r>
              <a:rPr lang="en-US" sz="1300" dirty="0">
                <a:solidFill>
                  <a:srgbClr val="3A322C"/>
                </a:solidFill>
                <a:latin typeface="Carlito" pitchFamily="34" charset="0"/>
                <a:ea typeface="Carlito" pitchFamily="34" charset="-122"/>
                <a:cs typeface="Carlito" pitchFamily="34" charset="-120"/>
              </a:rPr>
              <a:t> against 7 for MLST. The core genome shrinks as the sample set grows more diverse.</a:t>
            </a:r>
            <a:endParaRPr lang="en-US" sz="1300" dirty="0"/>
          </a:p>
        </p:txBody>
      </p:sp>
      <p:sp>
        <p:nvSpPr>
          <p:cNvPr id="9" name="Shape 6"/>
          <p:cNvSpPr/>
          <p:nvPr/>
        </p:nvSpPr>
        <p:spPr>
          <a:xfrm>
            <a:off x="6756400" y="3736727"/>
            <a:ext cx="4622800" cy="0"/>
          </a:xfrm>
          <a:prstGeom prst="line">
            <a:avLst/>
          </a:prstGeom>
          <a:noFill/>
          <a:ln w="12700">
            <a:solidFill>
              <a:srgbClr val="D9CDBF"/>
            </a:solidFill>
            <a:prstDash val="solid"/>
          </a:ln>
        </p:spPr>
        <p:txBody>
          <a:bodyPr/>
          <a:lstStyle/>
          <a:p>
            <a:endParaRPr lang="en-KE"/>
          </a:p>
        </p:txBody>
      </p:sp>
      <p:sp>
        <p:nvSpPr>
          <p:cNvPr id="10" name="Text 7"/>
          <p:cNvSpPr/>
          <p:nvPr/>
        </p:nvSpPr>
        <p:spPr>
          <a:xfrm>
            <a:off x="6756400" y="2901156"/>
            <a:ext cx="47614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91F15"/>
                </a:solidFill>
                <a:latin typeface="Carlito" pitchFamily="34" charset="0"/>
                <a:ea typeface="Carlito" pitchFamily="34" charset="-122"/>
                <a:cs typeface="Carlito" pitchFamily="34" charset="-120"/>
              </a:rPr>
              <a:t>wgMLST</a:t>
            </a:r>
            <a:endParaRPr lang="en-US" sz="1600" dirty="0"/>
          </a:p>
        </p:txBody>
      </p:sp>
      <p:sp>
        <p:nvSpPr>
          <p:cNvPr id="11" name="Text 8"/>
          <p:cNvSpPr/>
          <p:nvPr/>
        </p:nvSpPr>
        <p:spPr>
          <a:xfrm>
            <a:off x="6756400" y="3183086"/>
            <a:ext cx="476148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Core plus accessory loci: higher resolution for closely linked outbreak clusters.</a:t>
            </a:r>
            <a:endParaRPr lang="en-US" sz="1300" dirty="0"/>
          </a:p>
        </p:txBody>
      </p:sp>
      <p:sp>
        <p:nvSpPr>
          <p:cNvPr id="12" name="Text 9"/>
          <p:cNvSpPr/>
          <p:nvPr/>
        </p:nvSpPr>
        <p:spPr>
          <a:xfrm>
            <a:off x="6756400" y="3870077"/>
            <a:ext cx="47614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73003"/>
                </a:solidFill>
                <a:latin typeface="Carlito" pitchFamily="34" charset="0"/>
                <a:ea typeface="Carlito" pitchFamily="34" charset="-122"/>
                <a:cs typeface="Carlito" pitchFamily="34" charset="-120"/>
              </a:rPr>
              <a:t>Why it matters</a:t>
            </a:r>
            <a:endParaRPr lang="en-US" sz="1600" dirty="0"/>
          </a:p>
        </p:txBody>
      </p:sp>
      <p:sp>
        <p:nvSpPr>
          <p:cNvPr id="13" name="Text 10"/>
          <p:cNvSpPr/>
          <p:nvPr/>
        </p:nvSpPr>
        <p:spPr>
          <a:xfrm>
            <a:off x="6756400" y="4152007"/>
            <a:ext cx="4761484"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Isolate-specific genotypes make it possible to detect transmission, e.g. prospective surveillance of multidrug-resistant bacteria in a hospital.</a:t>
            </a:r>
            <a:endParaRPr lang="en-US" sz="1300" dirty="0"/>
          </a:p>
        </p:txBody>
      </p:sp>
      <p:pic>
        <p:nvPicPr>
          <p:cNvPr id="14" name="Image 1"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15"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6" name="Text 12"/>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Typing databases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09390"/>
            <a:ext cx="3384550" cy="1778000"/>
          </a:xfrm>
          <a:prstGeom prst="roundRect">
            <a:avLst>
              <a:gd name="adj" fmla="val 2857"/>
            </a:avLst>
          </a:prstGeom>
          <a:solidFill>
            <a:srgbClr val="FFFFFF"/>
          </a:solidFill>
          <a:ln/>
        </p:spPr>
        <p:txBody>
          <a:bodyPr/>
          <a:lstStyle/>
          <a:p>
            <a:endParaRPr lang="en-KE"/>
          </a:p>
        </p:txBody>
      </p:sp>
      <p:pic>
        <p:nvPicPr>
          <p:cNvPr id="5" name="Image 0" descr="PubMLST home page"/>
          <p:cNvPicPr>
            <a:picLocks noChangeAspect="1"/>
          </p:cNvPicPr>
          <p:nvPr/>
        </p:nvPicPr>
        <p:blipFill>
          <a:blip r:embed="rId3"/>
          <a:stretch>
            <a:fillRect/>
          </a:stretch>
        </p:blipFill>
        <p:spPr>
          <a:xfrm>
            <a:off x="812800" y="1937345"/>
            <a:ext cx="3384550" cy="1322090"/>
          </a:xfrm>
          <a:prstGeom prst="rect">
            <a:avLst/>
          </a:prstGeom>
        </p:spPr>
      </p:pic>
      <p:sp>
        <p:nvSpPr>
          <p:cNvPr id="6" name="Text 3"/>
          <p:cNvSpPr/>
          <p:nvPr/>
        </p:nvSpPr>
        <p:spPr>
          <a:xfrm>
            <a:off x="812800" y="3588990"/>
            <a:ext cx="348823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91F15"/>
                </a:solidFill>
                <a:latin typeface="Carlito" pitchFamily="34" charset="0"/>
                <a:ea typeface="Carlito" pitchFamily="34" charset="-122"/>
                <a:cs typeface="Carlito" pitchFamily="34" charset="-120"/>
              </a:rPr>
              <a:t>PubMLST</a:t>
            </a:r>
            <a:endParaRPr lang="en-US" sz="1600" dirty="0"/>
          </a:p>
        </p:txBody>
      </p:sp>
      <p:sp>
        <p:nvSpPr>
          <p:cNvPr id="7" name="Text 4"/>
          <p:cNvSpPr/>
          <p:nvPr/>
        </p:nvSpPr>
        <p:spPr>
          <a:xfrm>
            <a:off x="812800" y="3934420"/>
            <a:ext cx="3488233" cy="91678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Open-access, curated databases for over 140 species and genera: population sequence data with provenance and phenotype. MLST, cgMLST and wgMLST schemes.</a:t>
            </a:r>
            <a:endParaRPr lang="en-US" sz="1300" dirty="0"/>
          </a:p>
        </p:txBody>
      </p:sp>
      <p:sp>
        <p:nvSpPr>
          <p:cNvPr id="8" name="Shape 5"/>
          <p:cNvSpPr/>
          <p:nvPr/>
        </p:nvSpPr>
        <p:spPr>
          <a:xfrm>
            <a:off x="4402634" y="1709390"/>
            <a:ext cx="3384550" cy="1778000"/>
          </a:xfrm>
          <a:prstGeom prst="roundRect">
            <a:avLst>
              <a:gd name="adj" fmla="val 2857"/>
            </a:avLst>
          </a:prstGeom>
          <a:solidFill>
            <a:srgbClr val="FFFFFF"/>
          </a:solidFill>
          <a:ln/>
        </p:spPr>
        <p:txBody>
          <a:bodyPr/>
          <a:lstStyle/>
          <a:p>
            <a:endParaRPr lang="en-KE"/>
          </a:p>
        </p:txBody>
      </p:sp>
      <p:pic>
        <p:nvPicPr>
          <p:cNvPr id="9" name="Image 1" descr="BIGSdb-Pasteur home page listing hosted databases including the Klebsiella pneumoniae species complex"/>
          <p:cNvPicPr>
            <a:picLocks noChangeAspect="1"/>
          </p:cNvPicPr>
          <p:nvPr/>
        </p:nvPicPr>
        <p:blipFill>
          <a:blip r:embed="rId4"/>
          <a:stretch>
            <a:fillRect/>
          </a:stretch>
        </p:blipFill>
        <p:spPr>
          <a:xfrm>
            <a:off x="4402634" y="1773406"/>
            <a:ext cx="3384550" cy="1649968"/>
          </a:xfrm>
          <a:prstGeom prst="rect">
            <a:avLst/>
          </a:prstGeom>
        </p:spPr>
      </p:pic>
      <p:sp>
        <p:nvSpPr>
          <p:cNvPr id="10" name="Text 6"/>
          <p:cNvSpPr/>
          <p:nvPr/>
        </p:nvSpPr>
        <p:spPr>
          <a:xfrm>
            <a:off x="4402634" y="3588990"/>
            <a:ext cx="34882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91F15"/>
                </a:solidFill>
                <a:latin typeface="Carlito" pitchFamily="34" charset="0"/>
                <a:ea typeface="Carlito" pitchFamily="34" charset="-122"/>
                <a:cs typeface="Carlito" pitchFamily="34" charset="-120"/>
              </a:rPr>
              <a:t>BIGSdb-Pasteur</a:t>
            </a:r>
            <a:endParaRPr lang="en-US" sz="1600" dirty="0"/>
          </a:p>
        </p:txBody>
      </p:sp>
      <p:sp>
        <p:nvSpPr>
          <p:cNvPr id="11" name="Text 7"/>
          <p:cNvSpPr/>
          <p:nvPr/>
        </p:nvSpPr>
        <p:spPr>
          <a:xfrm>
            <a:off x="4402634" y="3934420"/>
            <a:ext cx="3488284" cy="91678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BIGSdb software stores and analyses isolate sequences, from a few loci to whole genomes, and groups loci into schemes. Hosts the </a:t>
            </a:r>
            <a:r>
              <a:rPr lang="en-US" sz="1300" i="1" dirty="0">
                <a:solidFill>
                  <a:srgbClr val="3A322C"/>
                </a:solidFill>
                <a:latin typeface="Carlito" pitchFamily="34" charset="0"/>
                <a:ea typeface="Carlito" pitchFamily="34" charset="-122"/>
                <a:cs typeface="Carlito" pitchFamily="34" charset="-120"/>
              </a:rPr>
              <a:t>Klebsiella</a:t>
            </a:r>
            <a:r>
              <a:rPr lang="en-US" sz="1300" dirty="0">
                <a:solidFill>
                  <a:srgbClr val="3A322C"/>
                </a:solidFill>
                <a:latin typeface="Carlito" pitchFamily="34" charset="0"/>
                <a:ea typeface="Carlito" pitchFamily="34" charset="-122"/>
                <a:cs typeface="Carlito" pitchFamily="34" charset="-120"/>
              </a:rPr>
              <a:t> nomenclature.</a:t>
            </a:r>
            <a:endParaRPr lang="en-US" sz="1300" dirty="0"/>
          </a:p>
        </p:txBody>
      </p:sp>
      <p:sp>
        <p:nvSpPr>
          <p:cNvPr id="12" name="Shape 8"/>
          <p:cNvSpPr/>
          <p:nvPr/>
        </p:nvSpPr>
        <p:spPr>
          <a:xfrm>
            <a:off x="7992517" y="1709390"/>
            <a:ext cx="3384550" cy="1778000"/>
          </a:xfrm>
          <a:prstGeom prst="roundRect">
            <a:avLst>
              <a:gd name="adj" fmla="val 2857"/>
            </a:avLst>
          </a:prstGeom>
          <a:solidFill>
            <a:srgbClr val="FFFFFF"/>
          </a:solidFill>
          <a:ln/>
        </p:spPr>
        <p:txBody>
          <a:bodyPr/>
          <a:lstStyle/>
          <a:p>
            <a:endParaRPr lang="en-KE"/>
          </a:p>
        </p:txBody>
      </p:sp>
      <p:pic>
        <p:nvPicPr>
          <p:cNvPr id="13" name="Image 2" descr="EnteroBase home page with Salmonella, Escherichia/Shigella and other databases"/>
          <p:cNvPicPr>
            <a:picLocks noChangeAspect="1"/>
          </p:cNvPicPr>
          <p:nvPr/>
        </p:nvPicPr>
        <p:blipFill>
          <a:blip r:embed="rId5"/>
          <a:stretch>
            <a:fillRect/>
          </a:stretch>
        </p:blipFill>
        <p:spPr>
          <a:xfrm>
            <a:off x="8100727" y="1709390"/>
            <a:ext cx="3168129" cy="1778000"/>
          </a:xfrm>
          <a:prstGeom prst="rect">
            <a:avLst/>
          </a:prstGeom>
        </p:spPr>
      </p:pic>
      <p:sp>
        <p:nvSpPr>
          <p:cNvPr id="14" name="Text 9"/>
          <p:cNvSpPr/>
          <p:nvPr/>
        </p:nvSpPr>
        <p:spPr>
          <a:xfrm>
            <a:off x="7992517" y="3588990"/>
            <a:ext cx="3488284"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91F15"/>
                </a:solidFill>
                <a:latin typeface="Carlito" pitchFamily="34" charset="0"/>
                <a:ea typeface="Carlito" pitchFamily="34" charset="-122"/>
                <a:cs typeface="Carlito" pitchFamily="34" charset="-120"/>
              </a:rPr>
              <a:t>EnteroBase</a:t>
            </a:r>
            <a:endParaRPr lang="en-US" sz="1600" dirty="0"/>
          </a:p>
        </p:txBody>
      </p:sp>
      <p:sp>
        <p:nvSpPr>
          <p:cNvPr id="15" name="Text 10"/>
          <p:cNvSpPr/>
          <p:nvPr/>
        </p:nvSpPr>
        <p:spPr>
          <a:xfrm>
            <a:off x="7992517" y="3934420"/>
            <a:ext cx="3488284" cy="693936"/>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Assembles, analyses and interprets genomes of </a:t>
            </a:r>
            <a:r>
              <a:rPr lang="en-US" sz="1300" i="1" dirty="0">
                <a:solidFill>
                  <a:srgbClr val="3A322C"/>
                </a:solidFill>
                <a:latin typeface="Carlito" pitchFamily="34" charset="0"/>
                <a:ea typeface="Carlito" pitchFamily="34" charset="-122"/>
                <a:cs typeface="Carlito" pitchFamily="34" charset="-120"/>
              </a:rPr>
              <a:t>Salmonella</a:t>
            </a:r>
            <a:r>
              <a:rPr lang="en-US" sz="1300" dirty="0">
                <a:solidFill>
                  <a:srgbClr val="3A322C"/>
                </a:solidFill>
                <a:latin typeface="Carlito" pitchFamily="34" charset="0"/>
                <a:ea typeface="Carlito" pitchFamily="34" charset="-122"/>
                <a:cs typeface="Carlito" pitchFamily="34" charset="-120"/>
              </a:rPr>
              <a:t>, </a:t>
            </a:r>
            <a:r>
              <a:rPr lang="en-US" sz="1300" i="1" dirty="0">
                <a:solidFill>
                  <a:srgbClr val="3A322C"/>
                </a:solidFill>
                <a:latin typeface="Carlito" pitchFamily="34" charset="0"/>
                <a:ea typeface="Carlito" pitchFamily="34" charset="-122"/>
                <a:cs typeface="Carlito" pitchFamily="34" charset="-120"/>
              </a:rPr>
              <a:t>Escherichia</a:t>
            </a:r>
            <a:r>
              <a:rPr lang="en-US" sz="1300" dirty="0">
                <a:solidFill>
                  <a:srgbClr val="3A322C"/>
                </a:solidFill>
                <a:latin typeface="Carlito" pitchFamily="34" charset="0"/>
                <a:ea typeface="Carlito" pitchFamily="34" charset="-122"/>
                <a:cs typeface="Carlito" pitchFamily="34" charset="-120"/>
              </a:rPr>
              <a:t>/</a:t>
            </a:r>
            <a:r>
              <a:rPr lang="en-US" sz="1300" i="1" dirty="0">
                <a:solidFill>
                  <a:srgbClr val="3A322C"/>
                </a:solidFill>
                <a:latin typeface="Carlito" pitchFamily="34" charset="0"/>
                <a:ea typeface="Carlito" pitchFamily="34" charset="-122"/>
                <a:cs typeface="Carlito" pitchFamily="34" charset="-120"/>
              </a:rPr>
              <a:t>Shigella</a:t>
            </a:r>
            <a:r>
              <a:rPr lang="en-US" sz="1300" dirty="0">
                <a:solidFill>
                  <a:srgbClr val="3A322C"/>
                </a:solidFill>
                <a:latin typeface="Carlito" pitchFamily="34" charset="0"/>
                <a:ea typeface="Carlito" pitchFamily="34" charset="-122"/>
                <a:cs typeface="Carlito" pitchFamily="34" charset="-120"/>
              </a:rPr>
              <a:t> and others: MLST, cgMLST and hierarchical clustering.</a:t>
            </a:r>
            <a:endParaRPr lang="en-US" sz="1300" dirty="0"/>
          </a:p>
        </p:txBody>
      </p:sp>
      <p:pic>
        <p:nvPicPr>
          <p:cNvPr id="16" name="Image 3" descr="ILRI and CGIAR logos"/>
          <p:cNvPicPr>
            <a:picLocks noChangeAspect="1"/>
          </p:cNvPicPr>
          <p:nvPr/>
        </p:nvPicPr>
        <p:blipFill>
          <a:blip r:embed="rId6"/>
          <a:srcRect l="-56" r="-56"/>
          <a:stretch/>
        </p:blipFill>
        <p:spPr>
          <a:xfrm>
            <a:off x="10033000" y="254000"/>
            <a:ext cx="1346200" cy="381000"/>
          </a:xfrm>
          <a:prstGeom prst="rect">
            <a:avLst/>
          </a:prstGeom>
        </p:spPr>
      </p:pic>
      <p:sp>
        <p:nvSpPr>
          <p:cNvPr id="17"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8" name="Text 12"/>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Hands-on: lineages in the training set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709390"/>
            <a:ext cx="10566400" cy="1363861"/>
          </a:xfrm>
          <a:prstGeom prst="roundRect">
            <a:avLst>
              <a:gd name="adj" fmla="val 5587"/>
            </a:avLst>
          </a:prstGeom>
          <a:solidFill>
            <a:srgbClr val="273003"/>
          </a:solidFill>
          <a:ln/>
        </p:spPr>
        <p:txBody>
          <a:bodyPr wrap="square" lIns="257082" tIns="180882" rIns="0" bIns="155482" rtlCol="0" anchor="t">
            <a:normAutofit/>
          </a:bodyPr>
          <a:lstStyle/>
          <a:p>
            <a:pPr marL="0" indent="0" algn="l">
              <a:lnSpc>
                <a:spcPts val="1885"/>
              </a:lnSpc>
              <a:buNone/>
            </a:pPr>
            <a:r>
              <a:rPr lang="en-US" sz="1300" dirty="0">
                <a:solidFill>
                  <a:srgbClr val="C2CA6E"/>
                </a:solidFill>
                <a:latin typeface="JetBrains Mono" pitchFamily="49" charset="0"/>
                <a:ea typeface="JetBrains Mono" pitchFamily="49" charset="-122"/>
                <a:cs typeface="JetBrains Mono" pitchFamily="49" charset="-120"/>
              </a:rPr>
              <a:t># How many isolates per ST?</a:t>
            </a:r>
            <a:endParaRPr lang="en-US" sz="1300" dirty="0"/>
          </a:p>
          <a:p>
            <a:pPr marL="0" indent="0" algn="l">
              <a:lnSpc>
                <a:spcPts val="1885"/>
              </a:lnSpc>
              <a:buNone/>
            </a:pPr>
            <a:r>
              <a:rPr lang="en-US" sz="1300" dirty="0">
                <a:solidFill>
                  <a:srgbClr val="F3EEDF"/>
                </a:solidFill>
                <a:latin typeface="Consolas" panose="020B0609020204030204" pitchFamily="49" charset="0"/>
                <a:ea typeface="JetBrains Mono" pitchFamily="49" charset="-122"/>
                <a:cs typeface="Consolas" panose="020B0609020204030204" pitchFamily="49" charset="0"/>
              </a:rPr>
              <a:t>pick '__ST$' $K | tail -n +2 | cut -f2 | sort | uniq -c | sort -rn</a:t>
            </a:r>
            <a:endParaRPr lang="en-US" sz="1300" dirty="0">
              <a:latin typeface="Consolas" panose="020B0609020204030204" pitchFamily="49" charset="0"/>
              <a:cs typeface="Consolas" panose="020B0609020204030204" pitchFamily="49" charset="0"/>
            </a:endParaRPr>
          </a:p>
          <a:p>
            <a:pPr marL="0" indent="0" algn="l">
              <a:lnSpc>
                <a:spcPts val="1885"/>
              </a:lnSpc>
              <a:buNone/>
            </a:pPr>
            <a:r>
              <a:rPr lang="en-US" sz="1300" dirty="0">
                <a:solidFill>
                  <a:srgbClr val="C2CA6E"/>
                </a:solidFill>
                <a:latin typeface="JetBrains Mono" pitchFamily="49" charset="0"/>
                <a:ea typeface="JetBrains Mono" pitchFamily="49" charset="-122"/>
                <a:cs typeface="JetBrains Mono" pitchFamily="49" charset="-120"/>
              </a:rPr>
              <a:t># Compare with the published STs</a:t>
            </a:r>
            <a:endParaRPr lang="en-US" sz="1300" dirty="0"/>
          </a:p>
          <a:p>
            <a:pPr marL="0" indent="0" algn="l">
              <a:lnSpc>
                <a:spcPts val="1885"/>
              </a:lnSpc>
              <a:buNone/>
            </a:pPr>
            <a:r>
              <a:rPr lang="en-US" sz="1300" dirty="0">
                <a:solidFill>
                  <a:srgbClr val="F3EEDF"/>
                </a:solidFill>
                <a:latin typeface="Consolas" panose="020B0609020204030204" pitchFamily="49" charset="0"/>
                <a:ea typeface="JetBrains Mono" pitchFamily="49" charset="-122"/>
                <a:cs typeface="Consolas" panose="020B0609020204030204" pitchFamily="49" charset="0"/>
              </a:rPr>
              <a:t>cut -f1,7 $COURSE/training_data/metadata_compact.tsv</a:t>
            </a:r>
            <a:endParaRPr lang="en-US" sz="1300" dirty="0">
              <a:latin typeface="Consolas" panose="020B0609020204030204" pitchFamily="49" charset="0"/>
              <a:cs typeface="Consolas" panose="020B0609020204030204" pitchFamily="49" charset="0"/>
            </a:endParaRPr>
          </a:p>
        </p:txBody>
      </p:sp>
      <p:sp>
        <p:nvSpPr>
          <p:cNvPr id="5" name="Shape 3"/>
          <p:cNvSpPr/>
          <p:nvPr/>
        </p:nvSpPr>
        <p:spPr>
          <a:xfrm>
            <a:off x="812800" y="3327251"/>
            <a:ext cx="5194300" cy="1208980"/>
          </a:xfrm>
          <a:prstGeom prst="roundRect">
            <a:avLst>
              <a:gd name="adj" fmla="val 4202"/>
            </a:avLst>
          </a:prstGeom>
          <a:solidFill>
            <a:srgbClr val="FFFFFF"/>
          </a:solidFill>
          <a:ln/>
        </p:spPr>
        <p:txBody>
          <a:bodyPr/>
          <a:lstStyle/>
          <a:p>
            <a:endParaRPr lang="en-KE"/>
          </a:p>
        </p:txBody>
      </p:sp>
      <p:sp>
        <p:nvSpPr>
          <p:cNvPr id="6" name="Shape 4"/>
          <p:cNvSpPr/>
          <p:nvPr/>
        </p:nvSpPr>
        <p:spPr>
          <a:xfrm>
            <a:off x="812800" y="3327251"/>
            <a:ext cx="5194300" cy="1208980"/>
          </a:xfrm>
          <a:custGeom>
            <a:avLst/>
            <a:gdLst/>
            <a:ahLst/>
            <a:cxnLst/>
            <a:rect l="l" t="t" r="r" b="b"/>
            <a:pathLst>
              <a:path w="5194300" h="1208980">
                <a:moveTo>
                  <a:pt x="0" y="50800"/>
                </a:moveTo>
                <a:lnTo>
                  <a:pt x="0" y="50800"/>
                </a:lnTo>
                <a:arcTo wR="50800" hR="50800" stAng="10800000" swAng="5400000"/>
                <a:lnTo>
                  <a:pt x="5143500" y="0"/>
                </a:lnTo>
                <a:arcTo wR="50800" hR="50800" stAng="16200000" swAng="5400000"/>
                <a:lnTo>
                  <a:pt x="5194300" y="50800"/>
                </a:lnTo>
                <a:lnTo>
                  <a:pt x="0" y="50800"/>
                </a:lnTo>
                <a:close/>
              </a:path>
            </a:pathLst>
          </a:custGeom>
          <a:solidFill>
            <a:srgbClr val="891F15"/>
          </a:solidFill>
          <a:ln/>
        </p:spPr>
        <p:txBody>
          <a:bodyPr/>
          <a:lstStyle/>
          <a:p>
            <a:endParaRPr lang="en-KE"/>
          </a:p>
        </p:txBody>
      </p:sp>
      <p:sp>
        <p:nvSpPr>
          <p:cNvPr id="7" name="Text 5"/>
          <p:cNvSpPr/>
          <p:nvPr/>
        </p:nvSpPr>
        <p:spPr>
          <a:xfrm>
            <a:off x="1016000" y="3555851"/>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91F15"/>
                </a:solidFill>
                <a:latin typeface="Carlito" pitchFamily="34" charset="0"/>
                <a:ea typeface="Carlito" pitchFamily="34" charset="-122"/>
                <a:cs typeface="Carlito" pitchFamily="34" charset="-120"/>
              </a:rPr>
              <a:t>High-risk clones to recognise</a:t>
            </a:r>
            <a:endParaRPr lang="en-US" sz="1500" dirty="0"/>
          </a:p>
        </p:txBody>
      </p:sp>
      <p:sp>
        <p:nvSpPr>
          <p:cNvPr id="8" name="Text 6"/>
          <p:cNvSpPr/>
          <p:nvPr/>
        </p:nvSpPr>
        <p:spPr>
          <a:xfrm>
            <a:off x="1016000" y="3860651"/>
            <a:ext cx="4931537" cy="523180"/>
          </a:xfrm>
          <a:prstGeom prst="rect">
            <a:avLst/>
          </a:prstGeom>
          <a:noFill/>
          <a:ln/>
        </p:spPr>
        <p:txBody>
          <a:bodyPr wrap="square" lIns="0" tIns="0" rIns="0" bIns="0" rtlCol="0" anchor="t">
            <a:normAutofit/>
          </a:bodyPr>
          <a:lstStyle/>
          <a:p>
            <a:pPr marL="0" indent="0" algn="l">
              <a:lnSpc>
                <a:spcPts val="1960"/>
              </a:lnSpc>
              <a:buNone/>
            </a:pPr>
            <a:r>
              <a:rPr lang="en-US" sz="1400" i="1" dirty="0">
                <a:solidFill>
                  <a:srgbClr val="3A322C"/>
                </a:solidFill>
                <a:latin typeface="Carlito" pitchFamily="34" charset="0"/>
                <a:ea typeface="Carlito" pitchFamily="34" charset="-122"/>
                <a:cs typeface="Carlito" pitchFamily="34" charset="-120"/>
              </a:rPr>
              <a:t>K. pneumoniae</a:t>
            </a:r>
            <a:r>
              <a:rPr lang="en-US" sz="1400" dirty="0">
                <a:solidFill>
                  <a:srgbClr val="3A322C"/>
                </a:solidFill>
                <a:latin typeface="Carlito" pitchFamily="34" charset="0"/>
                <a:ea typeface="Carlito" pitchFamily="34" charset="-122"/>
                <a:cs typeface="Carlito" pitchFamily="34" charset="-120"/>
              </a:rPr>
              <a:t>: ST307, ST147, ST15, ST17, ST39, ST14</a:t>
            </a:r>
            <a:endParaRPr lang="en-US" sz="1400" dirty="0"/>
          </a:p>
          <a:p>
            <a:pPr marL="0" indent="0" algn="l">
              <a:lnSpc>
                <a:spcPts val="1960"/>
              </a:lnSpc>
              <a:buNone/>
            </a:pPr>
            <a:r>
              <a:rPr lang="en-US" sz="1400" i="1" dirty="0">
                <a:solidFill>
                  <a:srgbClr val="3A322C"/>
                </a:solidFill>
                <a:latin typeface="Carlito" pitchFamily="34" charset="0"/>
                <a:ea typeface="Carlito" pitchFamily="34" charset="-122"/>
                <a:cs typeface="Carlito" pitchFamily="34" charset="-120"/>
              </a:rPr>
              <a:t>E. coli</a:t>
            </a:r>
            <a:r>
              <a:rPr lang="en-US" sz="1400" dirty="0">
                <a:solidFill>
                  <a:srgbClr val="3A322C"/>
                </a:solidFill>
                <a:latin typeface="Carlito" pitchFamily="34" charset="0"/>
                <a:ea typeface="Carlito" pitchFamily="34" charset="-122"/>
                <a:cs typeface="Carlito" pitchFamily="34" charset="-120"/>
              </a:rPr>
              <a:t>: ST131, ST410, ST167, ST648</a:t>
            </a:r>
            <a:endParaRPr lang="en-US" sz="1400" dirty="0"/>
          </a:p>
        </p:txBody>
      </p:sp>
      <p:sp>
        <p:nvSpPr>
          <p:cNvPr id="9" name="Shape 7"/>
          <p:cNvSpPr/>
          <p:nvPr/>
        </p:nvSpPr>
        <p:spPr>
          <a:xfrm>
            <a:off x="6184900" y="3327251"/>
            <a:ext cx="5194300" cy="1208980"/>
          </a:xfrm>
          <a:prstGeom prst="roundRect">
            <a:avLst>
              <a:gd name="adj" fmla="val 4202"/>
            </a:avLst>
          </a:prstGeom>
          <a:solidFill>
            <a:srgbClr val="273003"/>
          </a:solidFill>
          <a:ln/>
        </p:spPr>
        <p:txBody>
          <a:bodyPr/>
          <a:lstStyle/>
          <a:p>
            <a:endParaRPr lang="en-KE"/>
          </a:p>
        </p:txBody>
      </p:sp>
      <p:sp>
        <p:nvSpPr>
          <p:cNvPr id="10" name="Text 8"/>
          <p:cNvSpPr/>
          <p:nvPr/>
        </p:nvSpPr>
        <p:spPr>
          <a:xfrm>
            <a:off x="6388100" y="3505051"/>
            <a:ext cx="4931537"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FFCE00"/>
                </a:solidFill>
                <a:latin typeface="Carlito" pitchFamily="34" charset="0"/>
                <a:ea typeface="Carlito" pitchFamily="34" charset="-122"/>
                <a:cs typeface="Carlito" pitchFamily="34" charset="-120"/>
              </a:rPr>
              <a:t>Question</a:t>
            </a:r>
            <a:endParaRPr lang="en-US" sz="1500" dirty="0"/>
          </a:p>
        </p:txBody>
      </p:sp>
      <p:sp>
        <p:nvSpPr>
          <p:cNvPr id="11" name="Text 9"/>
          <p:cNvSpPr/>
          <p:nvPr/>
        </p:nvSpPr>
        <p:spPr>
          <a:xfrm>
            <a:off x="6388100" y="3809851"/>
            <a:ext cx="4931537"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9F2EA"/>
                </a:solidFill>
                <a:latin typeface="Carlito" pitchFamily="34" charset="0"/>
                <a:ea typeface="Carlito" pitchFamily="34" charset="-122"/>
                <a:cs typeface="Carlito" pitchFamily="34" charset="-120"/>
              </a:rPr>
              <a:t>Which ST is most common? Is that a fair estimate of what causes neonatal infection in Blantyre?</a:t>
            </a:r>
            <a:endParaRPr lang="en-US" sz="1400" dirty="0"/>
          </a:p>
        </p:txBody>
      </p:sp>
      <p:pic>
        <p:nvPicPr>
          <p:cNvPr id="12"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3" name="Text 10"/>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4" name="Text 1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Global context in Pathogenwatch</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79029" y="1709390"/>
            <a:ext cx="5995735" cy="1625600"/>
          </a:xfrm>
          <a:prstGeom prst="rect">
            <a:avLst/>
          </a:prstGeom>
          <a:noFill/>
          <a:ln/>
        </p:spPr>
        <p:txBody>
          <a:bodyPr wrap="square" lIns="0" tIns="0" rIns="0" bIns="0" rtlCol="0" anchor="t">
            <a:normAutofit/>
          </a:bodyPr>
          <a:lstStyle/>
          <a:p>
            <a:pPr marL="187771" indent="-187771" algn="l">
              <a:lnSpc>
                <a:spcPts val="2100"/>
              </a:lnSpc>
              <a:buSzPct val="100000"/>
              <a:buFontTx/>
              <a:buAutoNum type="arabicPeriod"/>
            </a:pPr>
            <a:r>
              <a:rPr lang="en-US" sz="1500" dirty="0">
                <a:solidFill>
                  <a:srgbClr val="3A322C"/>
                </a:solidFill>
                <a:latin typeface="Carlito" pitchFamily="34" charset="0"/>
                <a:ea typeface="Carlito" pitchFamily="34" charset="-122"/>
                <a:cs typeface="Carlito" pitchFamily="34" charset="-120"/>
              </a:rPr>
              <a:t>Go to </a:t>
            </a:r>
            <a:r>
              <a:rPr lang="en-US" sz="1500" u="sng" dirty="0">
                <a:solidFill>
                  <a:srgbClr val="3A322C"/>
                </a:solidFill>
                <a:latin typeface="Carlito" pitchFamily="34" charset="0"/>
                <a:ea typeface="Carlito" pitchFamily="34" charset="-122"/>
                <a:cs typeface="Carlito" pitchFamily="34" charset="-120"/>
                <a:hlinkClick r:id="rId3">
                  <a:extLst>
                    <a:ext uri="{A12FA001-AC4F-418D-AE19-62706E023703}">
                      <ahyp:hlinkClr xmlns:ahyp="http://schemas.microsoft.com/office/drawing/2018/hyperlinkcolor" val="tx"/>
                    </a:ext>
                  </a:extLst>
                </a:hlinkClick>
              </a:rPr>
              <a:t>pathogen.watch</a:t>
            </a:r>
            <a:r>
              <a:rPr lang="en-US" sz="1500" dirty="0">
                <a:solidFill>
                  <a:srgbClr val="3A322C"/>
                </a:solidFill>
                <a:latin typeface="Carlito" pitchFamily="34" charset="0"/>
                <a:ea typeface="Carlito" pitchFamily="34" charset="-122"/>
                <a:cs typeface="Carlito" pitchFamily="34" charset="-120"/>
              </a:rPr>
              <a:t> and create a free account.</a:t>
            </a:r>
            <a:endParaRPr lang="en-US" sz="1500" dirty="0"/>
          </a:p>
          <a:p>
            <a:pPr marL="187771" indent="-187771" algn="l">
              <a:lnSpc>
                <a:spcPts val="2100"/>
              </a:lnSpc>
              <a:buSzPct val="100000"/>
              <a:buFontTx/>
              <a:buAutoNum type="arabicPeriod"/>
            </a:pPr>
            <a:r>
              <a:rPr lang="en-US" sz="1500" dirty="0">
                <a:solidFill>
                  <a:srgbClr val="3A322C"/>
                </a:solidFill>
                <a:latin typeface="Carlito" pitchFamily="34" charset="0"/>
                <a:ea typeface="Carlito" pitchFamily="34" charset="-122"/>
                <a:cs typeface="Carlito" pitchFamily="34" charset="-120"/>
              </a:rPr>
              <a:t>Upload 5 assemblies from </a:t>
            </a:r>
            <a:r>
              <a:rPr lang="en-US" sz="1500" b="1" dirty="0">
                <a:solidFill>
                  <a:srgbClr val="3A322C"/>
                </a:solidFill>
                <a:latin typeface="Carlito" pitchFamily="34" charset="0"/>
                <a:ea typeface="Carlito" pitchFamily="34" charset="-122"/>
                <a:cs typeface="Carlito" pitchFamily="34" charset="-120"/>
              </a:rPr>
              <a:t>$COURSE/best/</a:t>
            </a:r>
            <a:r>
              <a:rPr lang="en-US" sz="1500" dirty="0">
                <a:solidFill>
                  <a:srgbClr val="3A322C"/>
                </a:solidFill>
                <a:latin typeface="Carlito" pitchFamily="34" charset="0"/>
                <a:ea typeface="Carlito" pitchFamily="34" charset="-122"/>
                <a:cs typeface="Carlito" pitchFamily="34" charset="-120"/>
              </a:rPr>
              <a:t> (drag and drop the FASTA files).</a:t>
            </a:r>
            <a:endParaRPr lang="en-US" sz="1500" dirty="0"/>
          </a:p>
          <a:p>
            <a:pPr marL="187771" indent="-187771" algn="l">
              <a:lnSpc>
                <a:spcPts val="2100"/>
              </a:lnSpc>
              <a:buSzPct val="100000"/>
              <a:buFontTx/>
              <a:buAutoNum type="arabicPeriod"/>
            </a:pPr>
            <a:r>
              <a:rPr lang="en-US" sz="1500" dirty="0">
                <a:solidFill>
                  <a:srgbClr val="3A322C"/>
                </a:solidFill>
                <a:latin typeface="Carlito" pitchFamily="34" charset="0"/>
                <a:ea typeface="Carlito" pitchFamily="34" charset="-122"/>
                <a:cs typeface="Carlito" pitchFamily="34" charset="-120"/>
              </a:rPr>
              <a:t>Compare Pathogenwatch's species and ST with yours.</a:t>
            </a:r>
            <a:endParaRPr lang="en-US" sz="1500" dirty="0"/>
          </a:p>
          <a:p>
            <a:pPr marL="187771" indent="-187771" algn="l">
              <a:lnSpc>
                <a:spcPts val="2100"/>
              </a:lnSpc>
              <a:buSzPct val="100000"/>
              <a:buFontTx/>
              <a:buAutoNum type="arabicPeriod"/>
            </a:pPr>
            <a:r>
              <a:rPr lang="en-US" sz="1500" dirty="0">
                <a:solidFill>
                  <a:srgbClr val="3A322C"/>
                </a:solidFill>
                <a:latin typeface="Carlito" pitchFamily="34" charset="0"/>
                <a:ea typeface="Carlito" pitchFamily="34" charset="-122"/>
                <a:cs typeface="Carlito" pitchFamily="34" charset="-120"/>
              </a:rPr>
              <a:t>Open the </a:t>
            </a:r>
            <a:r>
              <a:rPr lang="en-US" sz="1500" b="1" dirty="0">
                <a:solidFill>
                  <a:srgbClr val="3A322C"/>
                </a:solidFill>
                <a:latin typeface="Carlito" pitchFamily="34" charset="0"/>
                <a:ea typeface="Carlito" pitchFamily="34" charset="-122"/>
                <a:cs typeface="Carlito" pitchFamily="34" charset="-120"/>
              </a:rPr>
              <a:t>LIN code</a:t>
            </a:r>
            <a:r>
              <a:rPr lang="en-US" sz="1500" dirty="0">
                <a:solidFill>
                  <a:srgbClr val="3A322C"/>
                </a:solidFill>
                <a:latin typeface="Carlito" pitchFamily="34" charset="0"/>
                <a:ea typeface="Carlito" pitchFamily="34" charset="-122"/>
                <a:cs typeface="Carlito" pitchFamily="34" charset="-120"/>
              </a:rPr>
              <a:t> and </a:t>
            </a:r>
            <a:r>
              <a:rPr lang="en-US" sz="1500" b="1" dirty="0">
                <a:solidFill>
                  <a:srgbClr val="3A322C"/>
                </a:solidFill>
                <a:latin typeface="Carlito" pitchFamily="34" charset="0"/>
                <a:ea typeface="Carlito" pitchFamily="34" charset="-122"/>
                <a:cs typeface="Carlito" pitchFamily="34" charset="-120"/>
              </a:rPr>
              <a:t>cgMLST</a:t>
            </a:r>
            <a:r>
              <a:rPr lang="en-US" sz="1500" dirty="0">
                <a:solidFill>
                  <a:srgbClr val="3A322C"/>
                </a:solidFill>
                <a:latin typeface="Carlito" pitchFamily="34" charset="0"/>
                <a:ea typeface="Carlito" pitchFamily="34" charset="-122"/>
                <a:cs typeface="Carlito" pitchFamily="34" charset="-120"/>
              </a:rPr>
              <a:t> results: which of your isolates fall closest to genomes from other countries?</a:t>
            </a:r>
            <a:endParaRPr lang="en-US" sz="1500" dirty="0"/>
          </a:p>
        </p:txBody>
      </p:sp>
      <p:sp>
        <p:nvSpPr>
          <p:cNvPr id="5" name="Shape 3"/>
          <p:cNvSpPr/>
          <p:nvPr/>
        </p:nvSpPr>
        <p:spPr>
          <a:xfrm>
            <a:off x="812800" y="3461990"/>
            <a:ext cx="5892800" cy="750491"/>
          </a:xfrm>
          <a:prstGeom prst="roundRect">
            <a:avLst>
              <a:gd name="adj" fmla="val 6769"/>
            </a:avLst>
          </a:prstGeom>
          <a:solidFill>
            <a:srgbClr val="891F15"/>
          </a:solidFill>
          <a:ln/>
        </p:spPr>
        <p:txBody>
          <a:bodyPr/>
          <a:lstStyle/>
          <a:p>
            <a:endParaRPr lang="en-KE"/>
          </a:p>
        </p:txBody>
      </p:sp>
      <p:pic>
        <p:nvPicPr>
          <p:cNvPr id="6" name="Image 0" descr="Warning"/>
          <p:cNvPicPr>
            <a:picLocks noChangeAspect="1"/>
          </p:cNvPicPr>
          <p:nvPr/>
        </p:nvPicPr>
        <p:blipFill>
          <a:blip r:embed="rId4"/>
          <a:srcRect t="-88" b="-88"/>
          <a:stretch/>
        </p:blipFill>
        <p:spPr>
          <a:xfrm>
            <a:off x="1016000" y="3697536"/>
            <a:ext cx="196503" cy="279400"/>
          </a:xfrm>
          <a:prstGeom prst="rect">
            <a:avLst/>
          </a:prstGeom>
        </p:spPr>
      </p:pic>
      <p:sp>
        <p:nvSpPr>
          <p:cNvPr id="7" name="Text 4"/>
          <p:cNvSpPr/>
          <p:nvPr/>
        </p:nvSpPr>
        <p:spPr>
          <a:xfrm>
            <a:off x="1339503" y="3614390"/>
            <a:ext cx="5317784"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F9F2EA"/>
                </a:solidFill>
                <a:latin typeface="Carlito" pitchFamily="34" charset="0"/>
                <a:ea typeface="Carlito" pitchFamily="34" charset="-122"/>
                <a:cs typeface="Carlito" pitchFamily="34" charset="-120"/>
              </a:rPr>
              <a:t>Upload only data you are allowed to share. The training data is public; your own surveillance data may not be.</a:t>
            </a:r>
            <a:endParaRPr lang="en-US" sz="1300" dirty="0"/>
          </a:p>
        </p:txBody>
      </p:sp>
      <p:sp>
        <p:nvSpPr>
          <p:cNvPr id="8" name="Shape 5"/>
          <p:cNvSpPr/>
          <p:nvPr/>
        </p:nvSpPr>
        <p:spPr>
          <a:xfrm>
            <a:off x="7067550" y="1715740"/>
            <a:ext cx="4305300" cy="2673152"/>
          </a:xfrm>
          <a:prstGeom prst="roundRect">
            <a:avLst>
              <a:gd name="adj" fmla="val 2613"/>
            </a:avLst>
          </a:prstGeom>
          <a:solidFill>
            <a:srgbClr val="FFFFFF"/>
          </a:solidFill>
          <a:ln w="12700">
            <a:solidFill>
              <a:srgbClr val="D9CDBF"/>
            </a:solidFill>
            <a:prstDash val="solid"/>
          </a:ln>
        </p:spPr>
        <p:txBody>
          <a:bodyPr/>
          <a:lstStyle/>
          <a:p>
            <a:endParaRPr lang="en-KE"/>
          </a:p>
        </p:txBody>
      </p:sp>
      <p:sp>
        <p:nvSpPr>
          <p:cNvPr id="9" name="Text 6"/>
          <p:cNvSpPr/>
          <p:nvPr/>
        </p:nvSpPr>
        <p:spPr>
          <a:xfrm>
            <a:off x="7277100" y="1899890"/>
            <a:ext cx="400278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73003"/>
                </a:solidFill>
                <a:latin typeface="Carlito" pitchFamily="34" charset="0"/>
                <a:ea typeface="Carlito" pitchFamily="34" charset="-122"/>
                <a:cs typeface="Carlito" pitchFamily="34" charset="-120"/>
              </a:rPr>
              <a:t>Optional: </a:t>
            </a:r>
            <a:r>
              <a:rPr lang="en-US" sz="1500" b="1" i="1" dirty="0">
                <a:solidFill>
                  <a:srgbClr val="273003"/>
                </a:solidFill>
                <a:latin typeface="Carlito" pitchFamily="34" charset="0"/>
                <a:ea typeface="Carlito" pitchFamily="34" charset="-122"/>
                <a:cs typeface="Carlito" pitchFamily="34" charset="-120"/>
              </a:rPr>
              <a:t>E. coli</a:t>
            </a:r>
            <a:r>
              <a:rPr lang="en-US" sz="1500" b="1" dirty="0">
                <a:solidFill>
                  <a:srgbClr val="273003"/>
                </a:solidFill>
                <a:latin typeface="Carlito" pitchFamily="34" charset="0"/>
                <a:ea typeface="Carlito" pitchFamily="34" charset="-122"/>
                <a:cs typeface="Carlito" pitchFamily="34" charset="-120"/>
              </a:rPr>
              <a:t> typing</a:t>
            </a:r>
            <a:endParaRPr lang="en-US" sz="1500" dirty="0"/>
          </a:p>
        </p:txBody>
      </p:sp>
      <p:sp>
        <p:nvSpPr>
          <p:cNvPr id="10" name="Text 7"/>
          <p:cNvSpPr/>
          <p:nvPr/>
        </p:nvSpPr>
        <p:spPr>
          <a:xfrm>
            <a:off x="7277100" y="2230090"/>
            <a:ext cx="4002786"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If your trainers have added </a:t>
            </a:r>
            <a:r>
              <a:rPr lang="en-US" sz="1300" i="1" dirty="0">
                <a:solidFill>
                  <a:srgbClr val="3A322C"/>
                </a:solidFill>
                <a:latin typeface="Carlito" pitchFamily="34" charset="0"/>
                <a:ea typeface="Carlito" pitchFamily="34" charset="-122"/>
                <a:cs typeface="Carlito" pitchFamily="34" charset="-120"/>
              </a:rPr>
              <a:t>E. coli</a:t>
            </a:r>
            <a:r>
              <a:rPr lang="en-US" sz="1300" dirty="0">
                <a:solidFill>
                  <a:srgbClr val="3A322C"/>
                </a:solidFill>
                <a:latin typeface="Carlito" pitchFamily="34" charset="0"/>
                <a:ea typeface="Carlito" pitchFamily="34" charset="-122"/>
                <a:cs typeface="Carlito" pitchFamily="34" charset="-120"/>
              </a:rPr>
              <a:t> genomes:</a:t>
            </a:r>
            <a:endParaRPr lang="en-US" sz="1300" dirty="0"/>
          </a:p>
        </p:txBody>
      </p:sp>
      <p:sp>
        <p:nvSpPr>
          <p:cNvPr id="11" name="Text 8"/>
          <p:cNvSpPr/>
          <p:nvPr/>
        </p:nvSpPr>
        <p:spPr>
          <a:xfrm>
            <a:off x="7277100" y="2554536"/>
            <a:ext cx="4002786" cy="1351161"/>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273003"/>
                </a:solidFill>
                <a:latin typeface="JetBrains Mono" pitchFamily="49" charset="0"/>
                <a:ea typeface="JetBrains Mono" pitchFamily="49" charset="-122"/>
                <a:cs typeface="JetBrains Mono" pitchFamily="49" charset="-120"/>
              </a:rPr>
              <a:t>kleborate -a $COURSE/best/EC_*.fasta \</a:t>
            </a:r>
            <a:endParaRPr lang="en-US" sz="1200" dirty="0"/>
          </a:p>
          <a:p>
            <a:pPr marL="0" indent="0" algn="l">
              <a:lnSpc>
                <a:spcPts val="1740"/>
              </a:lnSpc>
              <a:buNone/>
            </a:pPr>
            <a:r>
              <a:rPr lang="en-US" sz="1200" dirty="0">
                <a:solidFill>
                  <a:srgbClr val="273003"/>
                </a:solidFill>
                <a:latin typeface="JetBrains Mono" pitchFamily="49" charset="0"/>
                <a:ea typeface="JetBrains Mono" pitchFamily="49" charset="-122"/>
                <a:cs typeface="JetBrains Mono" pitchFamily="49" charset="-120"/>
              </a:rPr>
              <a:t>  -o $RESULTS/03_typing/kleborate_ecoli \</a:t>
            </a:r>
            <a:endParaRPr lang="en-US" sz="1200" dirty="0"/>
          </a:p>
          <a:p>
            <a:pPr marL="0" indent="0" algn="l">
              <a:lnSpc>
                <a:spcPts val="1740"/>
              </a:lnSpc>
              <a:buNone/>
            </a:pPr>
            <a:r>
              <a:rPr lang="en-US" sz="1200" dirty="0">
                <a:solidFill>
                  <a:srgbClr val="273003"/>
                </a:solidFill>
                <a:latin typeface="JetBrains Mono" pitchFamily="49" charset="0"/>
                <a:ea typeface="JetBrains Mono" pitchFamily="49" charset="-122"/>
                <a:cs typeface="JetBrains Mono" pitchFamily="49" charset="-120"/>
              </a:rPr>
              <a:t>  -p escherichia</a:t>
            </a:r>
            <a:endParaRPr lang="en-US" sz="1200" dirty="0"/>
          </a:p>
          <a:p>
            <a:pPr marL="0" indent="0" algn="l">
              <a:lnSpc>
                <a:spcPts val="1740"/>
              </a:lnSpc>
              <a:buNone/>
            </a:pPr>
            <a:r>
              <a:rPr lang="en-US" sz="1200" dirty="0">
                <a:solidFill>
                  <a:srgbClr val="273003"/>
                </a:solidFill>
                <a:latin typeface="JetBrains Mono" pitchFamily="49" charset="0"/>
                <a:ea typeface="JetBrains Mono" pitchFamily="49" charset="-122"/>
                <a:cs typeface="JetBrains Mono" pitchFamily="49" charset="-120"/>
              </a:rPr>
              <a:t>ectyper -i $COURSE/best/EC_01.fasta \</a:t>
            </a:r>
            <a:endParaRPr lang="en-US" sz="1200" dirty="0"/>
          </a:p>
          <a:p>
            <a:pPr marL="0" indent="0" algn="l">
              <a:lnSpc>
                <a:spcPts val="1740"/>
              </a:lnSpc>
              <a:buNone/>
            </a:pPr>
            <a:r>
              <a:rPr lang="en-US" sz="1200" dirty="0">
                <a:solidFill>
                  <a:srgbClr val="273003"/>
                </a:solidFill>
                <a:latin typeface="JetBrains Mono" pitchFamily="49" charset="0"/>
                <a:ea typeface="JetBrains Mono" pitchFamily="49" charset="-122"/>
                <a:cs typeface="JetBrains Mono" pitchFamily="49" charset="-120"/>
              </a:rPr>
              <a:t>  -o $RESULTS/03_typing/ectyper_EC_01</a:t>
            </a:r>
            <a:endParaRPr lang="en-US" sz="1200" dirty="0"/>
          </a:p>
          <a:p>
            <a:pPr marL="0" indent="0" algn="l">
              <a:lnSpc>
                <a:spcPts val="1740"/>
              </a:lnSpc>
              <a:buNone/>
            </a:pPr>
            <a:r>
              <a:rPr lang="en-US" sz="1200" dirty="0">
                <a:solidFill>
                  <a:srgbClr val="273003"/>
                </a:solidFill>
                <a:latin typeface="JetBrains Mono" pitchFamily="49" charset="0"/>
                <a:ea typeface="JetBrains Mono" pitchFamily="49" charset="-122"/>
                <a:cs typeface="JetBrains Mono" pitchFamily="49" charset="-120"/>
              </a:rPr>
              <a:t>ezclermont $COURSE/best/EC_01.fasta</a:t>
            </a:r>
            <a:endParaRPr lang="en-US" sz="1200" dirty="0"/>
          </a:p>
        </p:txBody>
      </p:sp>
      <p:sp>
        <p:nvSpPr>
          <p:cNvPr id="12" name="Text 9"/>
          <p:cNvSpPr/>
          <p:nvPr/>
        </p:nvSpPr>
        <p:spPr>
          <a:xfrm>
            <a:off x="7277100" y="3981896"/>
            <a:ext cx="4002786"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MLST, O:H serotype and phylogroup</a:t>
            </a:r>
            <a:endParaRPr lang="en-US" sz="1300" dirty="0"/>
          </a:p>
        </p:txBody>
      </p:sp>
      <p:pic>
        <p:nvPicPr>
          <p:cNvPr id="13" name="Image 1" descr="ILRI and CGIAR logos"/>
          <p:cNvPicPr>
            <a:picLocks noChangeAspect="1"/>
          </p:cNvPicPr>
          <p:nvPr/>
        </p:nvPicPr>
        <p:blipFill>
          <a:blip r:embed="rId5"/>
          <a:srcRect l="-56" r="-56"/>
          <a:stretch/>
        </p:blipFill>
        <p:spPr>
          <a:xfrm>
            <a:off x="10033000" y="254000"/>
            <a:ext cx="1346200" cy="381000"/>
          </a:xfrm>
          <a:prstGeom prst="rect">
            <a:avLst/>
          </a:prstGeom>
        </p:spPr>
      </p:pic>
      <p:sp>
        <p:nvSpPr>
          <p:cNvPr id="14" name="Text 10"/>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5" name="Text 1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CE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372600" y="914400"/>
            <a:ext cx="2819400" cy="5219700"/>
          </a:xfrm>
          <a:prstGeom prst="rect">
            <a:avLst/>
          </a:prstGeom>
        </p:spPr>
      </p:pic>
      <p:sp>
        <p:nvSpPr>
          <p:cNvPr id="3" name="Text 0"/>
          <p:cNvSpPr/>
          <p:nvPr/>
        </p:nvSpPr>
        <p:spPr>
          <a:xfrm>
            <a:off x="223520" y="262384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891F15"/>
                </a:solidFill>
                <a:latin typeface="Carlito" pitchFamily="34" charset="0"/>
                <a:ea typeface="Carlito" pitchFamily="34" charset="-122"/>
                <a:cs typeface="Carlito" pitchFamily="34" charset="-120"/>
              </a:rPr>
              <a:t>SESSION 3 · 13:30–15:00 · MODULE 4</a:t>
            </a:r>
            <a:endParaRPr lang="en-US" sz="1600" dirty="0"/>
          </a:p>
        </p:txBody>
      </p:sp>
      <p:sp>
        <p:nvSpPr>
          <p:cNvPr id="4" name="Text 1"/>
          <p:cNvSpPr>
            <a:spLocks noGrp="1"/>
          </p:cNvSpPr>
          <p:nvPr>
            <p:ph type="title"/>
          </p:nvPr>
        </p:nvSpPr>
        <p:spPr>
          <a:xfrm>
            <a:off x="223520" y="3134320"/>
            <a:ext cx="12557760"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6D2637"/>
                </a:solidFill>
                <a:latin typeface="Carlito" pitchFamily="34" charset="0"/>
                <a:ea typeface="Carlito" pitchFamily="34" charset="-122"/>
                <a:cs typeface="Carlito" pitchFamily="34" charset="-120"/>
              </a:rPr>
              <a:t>Which resistance genes?</a:t>
            </a:r>
            <a:endParaRPr lang="en-US" sz="4800" dirty="0"/>
          </a:p>
        </p:txBody>
      </p:sp>
      <p:sp>
        <p:nvSpPr>
          <p:cNvPr id="5" name="Text 2"/>
          <p:cNvSpPr/>
          <p:nvPr/>
        </p:nvSpPr>
        <p:spPr>
          <a:xfrm>
            <a:off x="223520" y="3923060"/>
            <a:ext cx="125577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5A1F2E"/>
                </a:solidFill>
                <a:latin typeface="Carlito" pitchFamily="34" charset="0"/>
                <a:ea typeface="Carlito" pitchFamily="34" charset="-122"/>
                <a:cs typeface="Carlito" pitchFamily="34" charset="-120"/>
              </a:rPr>
              <a:t>Finding AMR genes and mutations with AMRFinderPlus and Kleborate</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D2637"/>
                </a:solidFill>
                <a:latin typeface="Carlito" pitchFamily="34" charset="0"/>
                <a:ea typeface="Carlito" pitchFamily="34" charset="-122"/>
                <a:cs typeface="Carlito" pitchFamily="34" charset="-120"/>
              </a:rPr>
              <a:t>Module 3 · Typing and AMR genes | Day 3</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D2637"/>
                </a:solidFill>
                <a:latin typeface="Carlito" pitchFamily="34" charset="0"/>
                <a:ea typeface="Carlito" pitchFamily="34" charset="-122"/>
                <a:cs typeface="Carlito"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Contig-based AMR gene prediction</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2335510"/>
            <a:ext cx="5969000" cy="2590800"/>
          </a:xfrm>
          <a:prstGeom prst="roundRect">
            <a:avLst>
              <a:gd name="adj" fmla="val 2941"/>
            </a:avLst>
          </a:prstGeom>
          <a:solidFill>
            <a:srgbClr val="FFFFFF"/>
          </a:solidFill>
          <a:ln/>
        </p:spPr>
        <p:txBody>
          <a:bodyPr/>
          <a:lstStyle/>
          <a:p>
            <a:endParaRPr lang="en-KE"/>
          </a:p>
        </p:txBody>
      </p:sp>
      <p:pic>
        <p:nvPicPr>
          <p:cNvPr id="5" name="Image 0" descr="Clean reads are assembled de novo into contigs; genes are found and annotated by searching the contigs against a reference database such as CARD, ResFinder or Resfams with BLAST or hmmscan"/>
          <p:cNvPicPr>
            <a:picLocks noChangeAspect="1"/>
          </p:cNvPicPr>
          <p:nvPr/>
        </p:nvPicPr>
        <p:blipFill>
          <a:blip r:embed="rId3"/>
          <a:srcRect t="-2" b="-2"/>
          <a:stretch/>
        </p:blipFill>
        <p:spPr>
          <a:xfrm>
            <a:off x="812800" y="2335510"/>
            <a:ext cx="5969000" cy="2590800"/>
          </a:xfrm>
          <a:prstGeom prst="roundRect">
            <a:avLst>
              <a:gd name="adj" fmla="val 2941"/>
            </a:avLst>
          </a:prstGeom>
        </p:spPr>
      </p:pic>
      <p:sp>
        <p:nvSpPr>
          <p:cNvPr id="6" name="Text 3"/>
          <p:cNvSpPr/>
          <p:nvPr/>
        </p:nvSpPr>
        <p:spPr>
          <a:xfrm>
            <a:off x="812800" y="5002510"/>
            <a:ext cx="614807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Boolchandani M, et al. </a:t>
            </a:r>
            <a:r>
              <a:rPr lang="en-US" sz="1200" i="1" dirty="0">
                <a:solidFill>
                  <a:srgbClr val="6B6460"/>
                </a:solidFill>
                <a:latin typeface="Carlito" pitchFamily="34" charset="0"/>
                <a:ea typeface="Carlito" pitchFamily="34" charset="-122"/>
                <a:cs typeface="Carlito" pitchFamily="34" charset="-120"/>
              </a:rPr>
              <a:t>Nat Rev Genet</a:t>
            </a:r>
            <a:r>
              <a:rPr lang="en-US" sz="1200" dirty="0">
                <a:solidFill>
                  <a:srgbClr val="6B6460"/>
                </a:solidFill>
                <a:latin typeface="Carlito" pitchFamily="34" charset="0"/>
                <a:ea typeface="Carlito" pitchFamily="34" charset="-122"/>
                <a:cs typeface="Carlito" pitchFamily="34" charset="-120"/>
              </a:rPr>
              <a:t> 2019. </a:t>
            </a:r>
            <a:r>
              <a:rPr lang="en-US" sz="1200" u="sng" dirty="0">
                <a:solidFill>
                  <a:srgbClr val="6B6460"/>
                </a:solidFill>
                <a:latin typeface="Carlito" pitchFamily="34" charset="0"/>
                <a:ea typeface="Carlito" pitchFamily="34" charset="-122"/>
                <a:cs typeface="Carlito" pitchFamily="34" charset="-120"/>
                <a:hlinkClick r:id="rId4">
                  <a:extLst>
                    <a:ext uri="{A12FA001-AC4F-418D-AE19-62706E023703}">
                      <ahyp:hlinkClr xmlns:ahyp="http://schemas.microsoft.com/office/drawing/2018/hyperlinkcolor" val="tx"/>
                    </a:ext>
                  </a:extLst>
                </a:hlinkClick>
              </a:rPr>
              <a:t>doi:10.1038/s41576-019-0108-4</a:t>
            </a:r>
            <a:endParaRPr lang="en-US" sz="1200" dirty="0"/>
          </a:p>
        </p:txBody>
      </p:sp>
      <p:sp>
        <p:nvSpPr>
          <p:cNvPr id="7" name="Shape 4"/>
          <p:cNvSpPr/>
          <p:nvPr/>
        </p:nvSpPr>
        <p:spPr>
          <a:xfrm>
            <a:off x="7162800" y="2915245"/>
            <a:ext cx="0" cy="771525"/>
          </a:xfrm>
          <a:prstGeom prst="line">
            <a:avLst/>
          </a:prstGeom>
          <a:noFill/>
          <a:ln w="50800">
            <a:solidFill>
              <a:srgbClr val="891F15"/>
            </a:solidFill>
            <a:prstDash val="solid"/>
          </a:ln>
        </p:spPr>
        <p:txBody>
          <a:bodyPr/>
          <a:lstStyle/>
          <a:p>
            <a:endParaRPr lang="en-KE"/>
          </a:p>
        </p:txBody>
      </p:sp>
      <p:sp>
        <p:nvSpPr>
          <p:cNvPr id="8" name="Text 5"/>
          <p:cNvSpPr/>
          <p:nvPr/>
        </p:nvSpPr>
        <p:spPr>
          <a:xfrm>
            <a:off x="7340600" y="2915245"/>
            <a:ext cx="4159758" cy="796925"/>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3A322C"/>
                </a:solidFill>
                <a:latin typeface="Carlito" pitchFamily="34" charset="0"/>
                <a:ea typeface="Carlito" pitchFamily="34" charset="-122"/>
                <a:cs typeface="Carlito" pitchFamily="34" charset="-120"/>
              </a:rPr>
              <a:t>Curated databases</a:t>
            </a:r>
            <a:r>
              <a:rPr lang="en-US" sz="1500" dirty="0">
                <a:solidFill>
                  <a:srgbClr val="3A322C"/>
                </a:solidFill>
                <a:latin typeface="Carlito" pitchFamily="34" charset="0"/>
                <a:ea typeface="Carlito" pitchFamily="34" charset="-122"/>
                <a:cs typeface="Carlito" pitchFamily="34" charset="-120"/>
              </a:rPr>
              <a:t> link known </a:t>
            </a:r>
            <a:r>
              <a:rPr lang="en-US" sz="1500" b="1" dirty="0">
                <a:solidFill>
                  <a:srgbClr val="3A322C"/>
                </a:solidFill>
                <a:latin typeface="Carlito" pitchFamily="34" charset="0"/>
                <a:ea typeface="Carlito" pitchFamily="34" charset="-122"/>
                <a:cs typeface="Carlito" pitchFamily="34" charset="-120"/>
              </a:rPr>
              <a:t>genetic determinants of resistance</a:t>
            </a:r>
            <a:r>
              <a:rPr lang="en-US" sz="1500" dirty="0">
                <a:solidFill>
                  <a:srgbClr val="3A322C"/>
                </a:solidFill>
                <a:latin typeface="Carlito" pitchFamily="34" charset="0"/>
                <a:ea typeface="Carlito" pitchFamily="34" charset="-122"/>
                <a:cs typeface="Carlito" pitchFamily="34" charset="-120"/>
              </a:rPr>
              <a:t> to the antimicrobials they confer </a:t>
            </a:r>
            <a:r>
              <a:rPr lang="en-US" sz="1500" b="1" dirty="0">
                <a:solidFill>
                  <a:srgbClr val="3A322C"/>
                </a:solidFill>
                <a:latin typeface="Carlito" pitchFamily="34" charset="0"/>
                <a:ea typeface="Carlito" pitchFamily="34" charset="-122"/>
                <a:cs typeface="Carlito" pitchFamily="34" charset="-120"/>
              </a:rPr>
              <a:t>phenotypic resistance</a:t>
            </a:r>
            <a:r>
              <a:rPr lang="en-US" sz="1500" dirty="0">
                <a:solidFill>
                  <a:srgbClr val="3A322C"/>
                </a:solidFill>
                <a:latin typeface="Carlito" pitchFamily="34" charset="0"/>
                <a:ea typeface="Carlito" pitchFamily="34" charset="-122"/>
                <a:cs typeface="Carlito" pitchFamily="34" charset="-120"/>
              </a:rPr>
              <a:t> against.</a:t>
            </a:r>
            <a:endParaRPr lang="en-US" sz="1500" dirty="0"/>
          </a:p>
        </p:txBody>
      </p:sp>
      <p:sp>
        <p:nvSpPr>
          <p:cNvPr id="9" name="Shape 6"/>
          <p:cNvSpPr/>
          <p:nvPr/>
        </p:nvSpPr>
        <p:spPr>
          <a:xfrm>
            <a:off x="7162800" y="3864570"/>
            <a:ext cx="0" cy="771525"/>
          </a:xfrm>
          <a:prstGeom prst="line">
            <a:avLst/>
          </a:prstGeom>
          <a:noFill/>
          <a:ln w="50800">
            <a:solidFill>
              <a:srgbClr val="273003"/>
            </a:solidFill>
            <a:prstDash val="solid"/>
          </a:ln>
        </p:spPr>
        <p:txBody>
          <a:bodyPr/>
          <a:lstStyle/>
          <a:p>
            <a:endParaRPr lang="en-KE"/>
          </a:p>
        </p:txBody>
      </p:sp>
      <p:sp>
        <p:nvSpPr>
          <p:cNvPr id="10" name="Text 7"/>
          <p:cNvSpPr/>
          <p:nvPr/>
        </p:nvSpPr>
        <p:spPr>
          <a:xfrm>
            <a:off x="7340600" y="3864570"/>
            <a:ext cx="4159758"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3A322C"/>
                </a:solidFill>
                <a:latin typeface="Carlito" pitchFamily="34" charset="0"/>
                <a:ea typeface="Carlito" pitchFamily="34" charset="-122"/>
                <a:cs typeface="Carlito" pitchFamily="34" charset="-120"/>
              </a:rPr>
              <a:t>They accumulate evidence from many studies that tested bacteria carrying specific resistance genes (AST).</a:t>
            </a:r>
            <a:endParaRPr lang="en-US" sz="1500" dirty="0"/>
          </a:p>
        </p:txBody>
      </p:sp>
      <p:pic>
        <p:nvPicPr>
          <p:cNvPr id="11" name="Image 1" descr="ILRI and CGIAR logos"/>
          <p:cNvPicPr>
            <a:picLocks noChangeAspect="1"/>
          </p:cNvPicPr>
          <p:nvPr/>
        </p:nvPicPr>
        <p:blipFill>
          <a:blip r:embed="rId5"/>
          <a:srcRect l="-56" r="-56"/>
          <a:stretch/>
        </p:blipFill>
        <p:spPr>
          <a:xfrm>
            <a:off x="10033000" y="254000"/>
            <a:ext cx="1346200" cy="381000"/>
          </a:xfrm>
          <a:prstGeom prst="rect">
            <a:avLst/>
          </a:prstGeom>
        </p:spPr>
      </p:pic>
      <p:sp>
        <p:nvSpPr>
          <p:cNvPr id="12" name="Text 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3" name="Text 9"/>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Assembly-based versus read-based detection</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709390"/>
            <a:ext cx="5181600" cy="2311202"/>
          </a:xfrm>
          <a:prstGeom prst="roundRect">
            <a:avLst>
              <a:gd name="adj" fmla="val 2198"/>
            </a:avLst>
          </a:prstGeom>
          <a:solidFill>
            <a:srgbClr val="FFFFFF"/>
          </a:solidFill>
          <a:ln/>
        </p:spPr>
        <p:txBody>
          <a:bodyPr/>
          <a:lstStyle/>
          <a:p>
            <a:endParaRPr lang="en-KE"/>
          </a:p>
        </p:txBody>
      </p:sp>
      <p:sp>
        <p:nvSpPr>
          <p:cNvPr id="5" name="Shape 3"/>
          <p:cNvSpPr/>
          <p:nvPr/>
        </p:nvSpPr>
        <p:spPr>
          <a:xfrm>
            <a:off x="812800" y="1709390"/>
            <a:ext cx="5181600" cy="2311202"/>
          </a:xfrm>
          <a:custGeom>
            <a:avLst/>
            <a:gdLst/>
            <a:ahLst/>
            <a:cxnLst/>
            <a:rect l="l" t="t" r="r" b="b"/>
            <a:pathLst>
              <a:path w="5181600" h="2311202">
                <a:moveTo>
                  <a:pt x="0" y="50800"/>
                </a:moveTo>
                <a:lnTo>
                  <a:pt x="0" y="50800"/>
                </a:lnTo>
                <a:arcTo wR="50800" hR="50800" stAng="10800000" swAng="5400000"/>
                <a:lnTo>
                  <a:pt x="5130800" y="0"/>
                </a:lnTo>
                <a:arcTo wR="50800" hR="50800" stAng="16200000" swAng="5400000"/>
                <a:lnTo>
                  <a:pt x="5181600" y="50800"/>
                </a:lnTo>
                <a:lnTo>
                  <a:pt x="0" y="50800"/>
                </a:lnTo>
                <a:close/>
              </a:path>
            </a:pathLst>
          </a:custGeom>
          <a:solidFill>
            <a:srgbClr val="273003"/>
          </a:solidFill>
          <a:ln/>
        </p:spPr>
        <p:txBody>
          <a:bodyPr/>
          <a:lstStyle/>
          <a:p>
            <a:endParaRPr lang="en-KE"/>
          </a:p>
        </p:txBody>
      </p:sp>
      <p:sp>
        <p:nvSpPr>
          <p:cNvPr id="6" name="Text 4"/>
          <p:cNvSpPr/>
          <p:nvPr/>
        </p:nvSpPr>
        <p:spPr>
          <a:xfrm>
            <a:off x="1041400" y="1963390"/>
            <a:ext cx="486613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273003"/>
                </a:solidFill>
                <a:latin typeface="Carlito" pitchFamily="34" charset="0"/>
                <a:ea typeface="Carlito" pitchFamily="34" charset="-122"/>
                <a:cs typeface="Carlito" pitchFamily="34" charset="-120"/>
              </a:rPr>
              <a:t>Assembly-based</a:t>
            </a:r>
            <a:endParaRPr lang="en-US" sz="1700" dirty="0"/>
          </a:p>
        </p:txBody>
      </p:sp>
      <p:sp>
        <p:nvSpPr>
          <p:cNvPr id="7" name="Text 5"/>
          <p:cNvSpPr/>
          <p:nvPr/>
        </p:nvSpPr>
        <p:spPr>
          <a:xfrm>
            <a:off x="1125982" y="2324050"/>
            <a:ext cx="4773930" cy="1518741"/>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3A322C"/>
                </a:solidFill>
                <a:latin typeface="Carlito" pitchFamily="34" charset="0"/>
                <a:ea typeface="Carlito" pitchFamily="34" charset="-122"/>
                <a:cs typeface="Carlito" pitchFamily="34" charset="-120"/>
              </a:rPr>
              <a:t>Computationally expensive and slow, especially for large, complex communities</a:t>
            </a:r>
            <a:endParaRPr lang="en-US" sz="1400" dirty="0"/>
          </a:p>
          <a:p>
            <a:pPr marL="169418" indent="-169418" algn="l">
              <a:lnSpc>
                <a:spcPts val="1960"/>
              </a:lnSpc>
              <a:buSzPct val="100000"/>
              <a:buChar char="•"/>
            </a:pPr>
            <a:r>
              <a:rPr lang="en-US" sz="1400" dirty="0">
                <a:solidFill>
                  <a:srgbClr val="3A322C"/>
                </a:solidFill>
                <a:latin typeface="Carlito" pitchFamily="34" charset="0"/>
                <a:ea typeface="Carlito" pitchFamily="34" charset="-122"/>
                <a:cs typeface="Carlito" pitchFamily="34" charset="-120"/>
              </a:rPr>
              <a:t>Finds known and novel genes with low similarity to the database, but needs high genome coverage</a:t>
            </a:r>
            <a:endParaRPr lang="en-US" sz="1400" dirty="0"/>
          </a:p>
          <a:p>
            <a:pPr marL="169418" indent="-169418" algn="l">
              <a:lnSpc>
                <a:spcPts val="1960"/>
              </a:lnSpc>
              <a:buSzPct val="100000"/>
              <a:buChar char="•"/>
            </a:pPr>
            <a:r>
              <a:rPr lang="en-US" sz="1400" dirty="0">
                <a:solidFill>
                  <a:srgbClr val="3A322C"/>
                </a:solidFill>
                <a:latin typeface="Carlito" pitchFamily="34" charset="0"/>
                <a:ea typeface="Carlito" pitchFamily="34" charset="-122"/>
                <a:cs typeface="Carlito" pitchFamily="34" charset="-120"/>
              </a:rPr>
              <a:t>Captures genomic context: regulatory and mobile-element sequences</a:t>
            </a:r>
            <a:endParaRPr lang="en-US" sz="1400" dirty="0"/>
          </a:p>
        </p:txBody>
      </p:sp>
      <p:sp>
        <p:nvSpPr>
          <p:cNvPr id="8" name="Shape 6"/>
          <p:cNvSpPr/>
          <p:nvPr/>
        </p:nvSpPr>
        <p:spPr>
          <a:xfrm>
            <a:off x="6197600" y="1709390"/>
            <a:ext cx="5181600" cy="2311202"/>
          </a:xfrm>
          <a:prstGeom prst="roundRect">
            <a:avLst>
              <a:gd name="adj" fmla="val 2198"/>
            </a:avLst>
          </a:prstGeom>
          <a:solidFill>
            <a:srgbClr val="FFFFFF"/>
          </a:solidFill>
          <a:ln/>
        </p:spPr>
        <p:txBody>
          <a:bodyPr/>
          <a:lstStyle/>
          <a:p>
            <a:endParaRPr lang="en-KE"/>
          </a:p>
        </p:txBody>
      </p:sp>
      <p:sp>
        <p:nvSpPr>
          <p:cNvPr id="9" name="Shape 7"/>
          <p:cNvSpPr/>
          <p:nvPr/>
        </p:nvSpPr>
        <p:spPr>
          <a:xfrm>
            <a:off x="6197600" y="1709390"/>
            <a:ext cx="5181600" cy="2311202"/>
          </a:xfrm>
          <a:custGeom>
            <a:avLst/>
            <a:gdLst/>
            <a:ahLst/>
            <a:cxnLst/>
            <a:rect l="l" t="t" r="r" b="b"/>
            <a:pathLst>
              <a:path w="5181600" h="2311202">
                <a:moveTo>
                  <a:pt x="0" y="50800"/>
                </a:moveTo>
                <a:lnTo>
                  <a:pt x="0" y="50800"/>
                </a:lnTo>
                <a:arcTo wR="50800" hR="50800" stAng="10800000" swAng="5400000"/>
                <a:lnTo>
                  <a:pt x="5130800" y="0"/>
                </a:lnTo>
                <a:arcTo wR="50800" hR="50800" stAng="16200000" swAng="5400000"/>
                <a:lnTo>
                  <a:pt x="5181600" y="50800"/>
                </a:lnTo>
                <a:lnTo>
                  <a:pt x="0" y="50800"/>
                </a:lnTo>
                <a:close/>
              </a:path>
            </a:pathLst>
          </a:custGeom>
          <a:solidFill>
            <a:srgbClr val="891F15"/>
          </a:solidFill>
          <a:ln/>
        </p:spPr>
        <p:txBody>
          <a:bodyPr/>
          <a:lstStyle/>
          <a:p>
            <a:endParaRPr lang="en-KE"/>
          </a:p>
        </p:txBody>
      </p:sp>
      <p:sp>
        <p:nvSpPr>
          <p:cNvPr id="10" name="Text 8"/>
          <p:cNvSpPr/>
          <p:nvPr/>
        </p:nvSpPr>
        <p:spPr>
          <a:xfrm>
            <a:off x="6426200" y="1963390"/>
            <a:ext cx="4866132" cy="2844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891F15"/>
                </a:solidFill>
                <a:latin typeface="Carlito" pitchFamily="34" charset="0"/>
                <a:ea typeface="Carlito" pitchFamily="34" charset="-122"/>
                <a:cs typeface="Carlito" pitchFamily="34" charset="-120"/>
              </a:rPr>
              <a:t>Read-based</a:t>
            </a:r>
            <a:endParaRPr lang="en-US" sz="1700" dirty="0"/>
          </a:p>
        </p:txBody>
      </p:sp>
      <p:sp>
        <p:nvSpPr>
          <p:cNvPr id="11" name="Text 9"/>
          <p:cNvSpPr/>
          <p:nvPr/>
        </p:nvSpPr>
        <p:spPr>
          <a:xfrm>
            <a:off x="6510782" y="2324050"/>
            <a:ext cx="4773930" cy="1269851"/>
          </a:xfrm>
          <a:prstGeom prst="rect">
            <a:avLst/>
          </a:prstGeom>
          <a:noFill/>
          <a:ln/>
        </p:spPr>
        <p:txBody>
          <a:bodyPr wrap="square" lIns="0" tIns="0" rIns="0" bIns="0" rtlCol="0" anchor="t">
            <a:normAutofit/>
          </a:bodyPr>
          <a:lstStyle/>
          <a:p>
            <a:pPr marL="169418" indent="-169418" algn="l">
              <a:lnSpc>
                <a:spcPts val="1960"/>
              </a:lnSpc>
              <a:buSzPct val="100000"/>
              <a:buChar char="•"/>
            </a:pPr>
            <a:r>
              <a:rPr lang="en-US" sz="1400" dirty="0">
                <a:solidFill>
                  <a:srgbClr val="3A322C"/>
                </a:solidFill>
                <a:latin typeface="Carlito" pitchFamily="34" charset="0"/>
                <a:ea typeface="Carlito" pitchFamily="34" charset="-122"/>
                <a:cs typeface="Carlito" pitchFamily="34" charset="-120"/>
              </a:rPr>
              <a:t>Fast and less demanding: suits very large data sets</a:t>
            </a:r>
            <a:endParaRPr lang="en-US" sz="1400" dirty="0"/>
          </a:p>
          <a:p>
            <a:pPr marL="169418" indent="-169418" algn="l">
              <a:lnSpc>
                <a:spcPts val="1960"/>
              </a:lnSpc>
              <a:buSzPct val="100000"/>
              <a:buChar char="•"/>
            </a:pPr>
            <a:r>
              <a:rPr lang="en-US" sz="1400" dirty="0">
                <a:solidFill>
                  <a:srgbClr val="3A322C"/>
                </a:solidFill>
                <a:latin typeface="Carlito" pitchFamily="34" charset="0"/>
                <a:ea typeface="Carlito" pitchFamily="34" charset="-122"/>
                <a:cs typeface="Carlito" pitchFamily="34" charset="-120"/>
              </a:rPr>
              <a:t>Only as complete as the reference database for the organisms analysed</a:t>
            </a:r>
            <a:endParaRPr lang="en-US" sz="1400" dirty="0"/>
          </a:p>
          <a:p>
            <a:pPr marL="169418" indent="-169418" algn="l">
              <a:lnSpc>
                <a:spcPts val="1960"/>
              </a:lnSpc>
              <a:buSzPct val="100000"/>
              <a:buChar char="•"/>
            </a:pPr>
            <a:r>
              <a:rPr lang="en-US" sz="1400" dirty="0">
                <a:solidFill>
                  <a:srgbClr val="3A322C"/>
                </a:solidFill>
                <a:latin typeface="Carlito" pitchFamily="34" charset="0"/>
                <a:ea typeface="Carlito" pitchFamily="34" charset="-122"/>
                <a:cs typeface="Carlito" pitchFamily="34" charset="-120"/>
              </a:rPr>
              <a:t>Loses nearby genes and genomic context; spurious mapping can give false positives</a:t>
            </a:r>
            <a:endParaRPr lang="en-US" sz="1400" dirty="0"/>
          </a:p>
        </p:txBody>
      </p:sp>
      <p:sp>
        <p:nvSpPr>
          <p:cNvPr id="12" name="Text 10"/>
          <p:cNvSpPr/>
          <p:nvPr/>
        </p:nvSpPr>
        <p:spPr>
          <a:xfrm>
            <a:off x="812800" y="4274592"/>
            <a:ext cx="1088339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4A4038"/>
                </a:solidFill>
                <a:latin typeface="Carlito" pitchFamily="34" charset="0"/>
                <a:ea typeface="Carlito" pitchFamily="34" charset="-122"/>
                <a:cs typeface="Carlito" pitchFamily="34" charset="-120"/>
              </a:rPr>
              <a:t>Source: Boolchandani M, et al. </a:t>
            </a:r>
            <a:r>
              <a:rPr lang="en-US" sz="1400" i="1" dirty="0">
                <a:solidFill>
                  <a:srgbClr val="4A4038"/>
                </a:solidFill>
                <a:latin typeface="Carlito" pitchFamily="34" charset="0"/>
                <a:ea typeface="Carlito" pitchFamily="34" charset="-122"/>
                <a:cs typeface="Carlito" pitchFamily="34" charset="-120"/>
              </a:rPr>
              <a:t>Nat Rev Genet</a:t>
            </a:r>
            <a:r>
              <a:rPr lang="en-US" sz="1400" dirty="0">
                <a:solidFill>
                  <a:srgbClr val="4A4038"/>
                </a:solidFill>
                <a:latin typeface="Carlito" pitchFamily="34" charset="0"/>
                <a:ea typeface="Carlito" pitchFamily="34" charset="-122"/>
                <a:cs typeface="Carlito" pitchFamily="34" charset="-120"/>
              </a:rPr>
              <a:t> 2019. This course uses the assembly-based approach on isolate genomes.</a:t>
            </a:r>
            <a:endParaRPr lang="en-US" sz="1400" dirty="0"/>
          </a:p>
        </p:txBody>
      </p:sp>
      <p:pic>
        <p:nvPicPr>
          <p:cNvPr id="13"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4"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5" name="Text 12"/>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Common AMR detection tools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22090"/>
          <a:ext cx="10553700" cy="2636043"/>
        </p:xfrm>
        <a:graphic>
          <a:graphicData uri="http://schemas.openxmlformats.org/drawingml/2006/table">
            <a:tbl>
              <a:tblPr/>
              <a:tblGrid>
                <a:gridCol w="1688592">
                  <a:extLst>
                    <a:ext uri="{9D8B030D-6E8A-4147-A177-3AD203B41FA5}">
                      <a16:colId xmlns:a16="http://schemas.microsoft.com/office/drawing/2014/main" val="20000"/>
                    </a:ext>
                  </a:extLst>
                </a:gridCol>
                <a:gridCol w="2955036">
                  <a:extLst>
                    <a:ext uri="{9D8B030D-6E8A-4147-A177-3AD203B41FA5}">
                      <a16:colId xmlns:a16="http://schemas.microsoft.com/office/drawing/2014/main" val="20001"/>
                    </a:ext>
                  </a:extLst>
                </a:gridCol>
                <a:gridCol w="2955036">
                  <a:extLst>
                    <a:ext uri="{9D8B030D-6E8A-4147-A177-3AD203B41FA5}">
                      <a16:colId xmlns:a16="http://schemas.microsoft.com/office/drawing/2014/main" val="20002"/>
                    </a:ext>
                  </a:extLst>
                </a:gridCol>
                <a:gridCol w="2955036">
                  <a:extLst>
                    <a:ext uri="{9D8B030D-6E8A-4147-A177-3AD203B41FA5}">
                      <a16:colId xmlns:a16="http://schemas.microsoft.com/office/drawing/2014/main" val="20003"/>
                    </a:ext>
                  </a:extLst>
                </a:gridCol>
              </a:tblGrid>
              <a:tr h="332680">
                <a:tc>
                  <a:txBody>
                    <a:bodyPr/>
                    <a:lstStyle/>
                    <a:p>
                      <a:pPr marL="0" indent="0">
                        <a:lnSpc>
                          <a:spcPts val="1680"/>
                        </a:lnSpc>
                        <a:buNone/>
                      </a:pP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680"/>
                        </a:lnSpc>
                        <a:buNone/>
                      </a:pPr>
                      <a:r>
                        <a:rPr lang="en-US" sz="1200" b="1" dirty="0">
                          <a:solidFill>
                            <a:srgbClr val="F9F2EA"/>
                          </a:solidFill>
                          <a:latin typeface="Carlito" pitchFamily="34" charset="0"/>
                          <a:ea typeface="Carlito" pitchFamily="34" charset="-122"/>
                          <a:cs typeface="Carlito" pitchFamily="34" charset="-120"/>
                        </a:rPr>
                        <a:t>ResFinder 4 (CGE)</a:t>
                      </a:r>
                      <a:endParaRPr lang="en-US" sz="1200" dirty="0">
                        <a:latin typeface="Carlito" charset="0"/>
                        <a:ea typeface="Carlito" charset="0"/>
                        <a:cs typeface="Carlito" charset="0"/>
                      </a:endParaRPr>
                    </a:p>
                  </a:txBody>
                  <a:tcPr marL="53340" marR="53340" marT="53340" marB="53340">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680"/>
                        </a:lnSpc>
                        <a:buNone/>
                      </a:pPr>
                      <a:r>
                        <a:rPr lang="en-US" sz="1200" b="1" dirty="0">
                          <a:solidFill>
                            <a:srgbClr val="F9F2EA"/>
                          </a:solidFill>
                          <a:latin typeface="Carlito" pitchFamily="34" charset="0"/>
                          <a:ea typeface="Carlito" pitchFamily="34" charset="-122"/>
                          <a:cs typeface="Carlito" pitchFamily="34" charset="-120"/>
                        </a:rPr>
                        <a:t>RGI (CARD)</a:t>
                      </a:r>
                      <a:endParaRPr lang="en-US" sz="1200" dirty="0">
                        <a:latin typeface="Carlito" charset="0"/>
                        <a:ea typeface="Carlito" charset="0"/>
                        <a:cs typeface="Carlito" charset="0"/>
                      </a:endParaRPr>
                    </a:p>
                  </a:txBody>
                  <a:tcPr marL="53340" marR="53340" marT="53340" marB="53340">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680"/>
                        </a:lnSpc>
                        <a:buNone/>
                      </a:pPr>
                      <a:r>
                        <a:rPr lang="en-US" sz="1200" b="1" dirty="0">
                          <a:solidFill>
                            <a:srgbClr val="FFCE00"/>
                          </a:solidFill>
                          <a:latin typeface="Carlito" pitchFamily="34" charset="0"/>
                          <a:ea typeface="Carlito" pitchFamily="34" charset="-122"/>
                          <a:cs typeface="Carlito" pitchFamily="34" charset="-120"/>
                        </a:rPr>
                        <a:t>AMRFinderPlus (NCBI)</a:t>
                      </a:r>
                      <a:endParaRPr lang="en-US" sz="1200" dirty="0">
                        <a:latin typeface="Carlito" charset="0"/>
                        <a:ea typeface="Carlito" charset="0"/>
                        <a:cs typeface="Carlito" charset="0"/>
                      </a:endParaRPr>
                    </a:p>
                  </a:txBody>
                  <a:tcPr marL="53340" marR="53340" marT="53340" marB="53340">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extLst>
                  <a:ext uri="{0D108BD9-81ED-4DB2-BD59-A6C34878D82A}">
                    <a16:rowId xmlns:a16="http://schemas.microsoft.com/office/drawing/2014/main" val="10000"/>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Database</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Nucleotide</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Protein</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Protein</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332680">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Input</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Assemblies or reads</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Nucleotide or protein sequence</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Nucleotide and protein sequence</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546001">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Method</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Nucleotide BLAST; one identity and one length threshold</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BLAST with manual cut-offs</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BLAST and HMMs with manually curated cut-offs</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r h="546001">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Strengths</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Fast</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Can broaden the search to novel mechanisms, especially efflux pumps</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Explicitly reports partial genes and internal stop codons</a:t>
                      </a:r>
                      <a:endParaRPr lang="en-US" sz="1200" dirty="0">
                        <a:latin typeface="Carlito" charset="0"/>
                        <a:ea typeface="Carlito" charset="0"/>
                        <a:cs typeface="Carlito" charset="0"/>
                      </a:endParaRPr>
                    </a:p>
                  </a:txBody>
                  <a:tcPr marL="53340" marR="53340" marT="53340" marB="53340">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4"/>
                  </a:ext>
                </a:extLst>
              </a:tr>
              <a:tr h="546001">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Web access</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Online interface</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Online interface and ontology (ARO)</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680"/>
                        </a:lnSpc>
                        <a:buNone/>
                      </a:pPr>
                      <a:r>
                        <a:rPr lang="en-US" sz="1200" dirty="0">
                          <a:solidFill>
                            <a:srgbClr val="3A322C"/>
                          </a:solidFill>
                          <a:latin typeface="Carlito" pitchFamily="34" charset="0"/>
                          <a:ea typeface="Carlito" pitchFamily="34" charset="-122"/>
                          <a:cs typeface="Carlito" pitchFamily="34" charset="-120"/>
                        </a:rPr>
                        <a:t>No online interface (&gt;800,000 isolates in MicroBIGG-E)</a:t>
                      </a:r>
                      <a:endParaRPr lang="en-US" sz="1200" dirty="0">
                        <a:latin typeface="Carlito" charset="0"/>
                        <a:ea typeface="Carlito" charset="0"/>
                        <a:cs typeface="Carlito" charset="0"/>
                      </a:endParaRPr>
                    </a:p>
                  </a:txBody>
                  <a:tcPr marL="53340" marR="53340" marT="53340" marB="53340">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612134"/>
            <a:ext cx="10883392"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038"/>
                </a:solidFill>
                <a:latin typeface="Carlito" pitchFamily="34" charset="0"/>
                <a:ea typeface="Carlito" pitchFamily="34" charset="-122"/>
                <a:cs typeface="Carlito" pitchFamily="34" charset="-120"/>
              </a:rPr>
              <a:t>ResFinder can misassign alleles: the closest amino-acid hit is not always the closest nucleotide hit. Today we use </a:t>
            </a:r>
            <a:r>
              <a:rPr lang="en-US" sz="1300" b="1" dirty="0">
                <a:solidFill>
                  <a:srgbClr val="4A4038"/>
                </a:solidFill>
                <a:latin typeface="Carlito" pitchFamily="34" charset="0"/>
                <a:ea typeface="Carlito" pitchFamily="34" charset="-122"/>
                <a:cs typeface="Carlito" pitchFamily="34" charset="-120"/>
              </a:rPr>
              <a:t>AMRFinderPlus</a:t>
            </a:r>
            <a:r>
              <a:rPr lang="en-US" sz="1300" dirty="0">
                <a:solidFill>
                  <a:srgbClr val="4A4038"/>
                </a:solidFill>
                <a:latin typeface="Carlito" pitchFamily="34" charset="0"/>
                <a:ea typeface="Carlito" pitchFamily="34" charset="-122"/>
                <a:cs typeface="Carlito" pitchFamily="34" charset="-120"/>
              </a:rPr>
              <a:t>, and Kleborate's AMR screen for comparison.</a:t>
            </a:r>
            <a:endParaRPr lang="en-US" sz="1300" dirty="0"/>
          </a:p>
        </p:txBody>
      </p:sp>
      <p:pic>
        <p:nvPicPr>
          <p:cNvPr id="6"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7"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8"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0402"/>
          </a:xfrm>
          <a:prstGeom prst="rect">
            <a:avLst/>
          </a:prstGeom>
          <a:noFill/>
          <a:ln/>
        </p:spPr>
        <p:txBody>
          <a:bodyPr wrap="square" lIns="0" tIns="0" rIns="0" bIns="0" rtlCol="0" anchor="t">
            <a:normAutofit/>
          </a:bodyPr>
          <a:lstStyle/>
          <a:p>
            <a:pPr marL="0" indent="0" algn="l">
              <a:lnSpc>
                <a:spcPts val="3923"/>
              </a:lnSpc>
              <a:buNone/>
            </a:pPr>
            <a:r>
              <a:rPr lang="en-US" sz="3566" b="1" i="0" dirty="0">
                <a:solidFill>
                  <a:srgbClr val="6D2637"/>
                </a:solidFill>
                <a:latin typeface="Carlito" pitchFamily="34" charset="0"/>
                <a:ea typeface="Carlito" pitchFamily="34" charset="-122"/>
                <a:cs typeface="Carlito" pitchFamily="34" charset="-120"/>
              </a:rPr>
              <a:t>Hands-on: AMRFinderPlus</a:t>
            </a:r>
            <a:endParaRPr lang="en-US" sz="3566" dirty="0"/>
          </a:p>
        </p:txBody>
      </p:sp>
      <p:sp>
        <p:nvSpPr>
          <p:cNvPr id="3" name="Shape 1"/>
          <p:cNvSpPr/>
          <p:nvPr/>
        </p:nvSpPr>
        <p:spPr>
          <a:xfrm>
            <a:off x="812800" y="1409402"/>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676102"/>
            <a:ext cx="10566400" cy="2935039"/>
          </a:xfrm>
          <a:prstGeom prst="roundRect">
            <a:avLst>
              <a:gd name="adj" fmla="val 2596"/>
            </a:avLst>
          </a:prstGeom>
          <a:solidFill>
            <a:srgbClr val="273003"/>
          </a:solidFill>
          <a:ln/>
        </p:spPr>
        <p:txBody>
          <a:bodyPr wrap="square" lIns="231682" tIns="180882" rIns="0" bIns="155482" rtlCol="0" anchor="t">
            <a:noAutofit/>
          </a:bodyPr>
          <a:lstStyle/>
          <a:p>
            <a:pPr marL="0" indent="0" algn="l">
              <a:lnSpc>
                <a:spcPts val="1659"/>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use_tools amr</a:t>
            </a:r>
            <a:endParaRPr lang="en-US" sz="1200" dirty="0">
              <a:latin typeface="Consolas" panose="020B0609020204030204" pitchFamily="49" charset="0"/>
              <a:cs typeface="Consolas" panose="020B0609020204030204" pitchFamily="49" charset="0"/>
            </a:endParaRPr>
          </a:p>
          <a:p>
            <a:pPr marL="0" indent="0" algn="l">
              <a:lnSpc>
                <a:spcPts val="1659"/>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AMRDB=$SHARED/databases/amrfinderplus/latest</a:t>
            </a:r>
            <a:endParaRPr lang="en-US" sz="1200" dirty="0">
              <a:latin typeface="Consolas" panose="020B0609020204030204" pitchFamily="49" charset="0"/>
              <a:cs typeface="Consolas" panose="020B0609020204030204" pitchFamily="49" charset="0"/>
            </a:endParaRPr>
          </a:p>
          <a:p>
            <a:pPr marL="0" indent="0" algn="l">
              <a:lnSpc>
                <a:spcPts val="1659"/>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amrfinder -d $AMRDB --database_version</a:t>
            </a:r>
            <a:endParaRPr lang="en-US" sz="1200" dirty="0">
              <a:latin typeface="Consolas" panose="020B0609020204030204" pitchFamily="49" charset="0"/>
              <a:cs typeface="Consolas" panose="020B0609020204030204" pitchFamily="49" charset="0"/>
            </a:endParaRPr>
          </a:p>
          <a:p>
            <a:pPr marL="0" indent="0" algn="l">
              <a:lnSpc>
                <a:spcPts val="1659"/>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mkdir -p $RESULTS/04_amr/amrfinderplus</a:t>
            </a:r>
            <a:endParaRPr lang="en-US" sz="1200" dirty="0">
              <a:latin typeface="Consolas" panose="020B0609020204030204" pitchFamily="49" charset="0"/>
              <a:cs typeface="Consolas" panose="020B0609020204030204" pitchFamily="49" charset="0"/>
            </a:endParaRPr>
          </a:p>
          <a:p>
            <a:pPr marL="0" indent="0" algn="l">
              <a:lnSpc>
                <a:spcPts val="1659"/>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for f in $COURSE/best/*.fasta; do</a:t>
            </a:r>
            <a:endParaRPr lang="en-US" sz="1200" dirty="0">
              <a:latin typeface="Consolas" panose="020B0609020204030204" pitchFamily="49" charset="0"/>
              <a:cs typeface="Consolas" panose="020B0609020204030204" pitchFamily="49" charset="0"/>
            </a:endParaRPr>
          </a:p>
          <a:p>
            <a:pPr marL="0" indent="0" algn="l">
              <a:lnSpc>
                <a:spcPts val="1659"/>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s=$(basename $f .fasta)</a:t>
            </a:r>
            <a:endParaRPr lang="en-US" sz="1200" dirty="0">
              <a:latin typeface="Consolas" panose="020B0609020204030204" pitchFamily="49" charset="0"/>
              <a:cs typeface="Consolas" panose="020B0609020204030204" pitchFamily="49" charset="0"/>
            </a:endParaRPr>
          </a:p>
          <a:p>
            <a:pPr marL="0" indent="0" algn="l">
              <a:lnSpc>
                <a:spcPts val="1659"/>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amrfinder -n $f --organism Klebsiella_pneumoniae --plus --name $s \</a:t>
            </a:r>
            <a:endParaRPr lang="en-US" sz="1200" dirty="0">
              <a:latin typeface="Consolas" panose="020B0609020204030204" pitchFamily="49" charset="0"/>
              <a:cs typeface="Consolas" panose="020B0609020204030204" pitchFamily="49" charset="0"/>
            </a:endParaRPr>
          </a:p>
          <a:p>
            <a:pPr marL="0" indent="0" algn="l">
              <a:lnSpc>
                <a:spcPts val="1659"/>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-d $AMRDB --threads $THREADS -o $RESULTS/04_amr/amrfinderplus/${s}.tsv</a:t>
            </a:r>
            <a:endParaRPr lang="en-US" sz="1200" dirty="0">
              <a:latin typeface="Consolas" panose="020B0609020204030204" pitchFamily="49" charset="0"/>
              <a:cs typeface="Consolas" panose="020B0609020204030204" pitchFamily="49" charset="0"/>
            </a:endParaRPr>
          </a:p>
          <a:p>
            <a:pPr marL="0" indent="0" algn="l">
              <a:lnSpc>
                <a:spcPts val="1659"/>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done</a:t>
            </a:r>
            <a:endParaRPr lang="en-US" sz="1200" dirty="0">
              <a:latin typeface="Consolas" panose="020B0609020204030204" pitchFamily="49" charset="0"/>
              <a:cs typeface="Consolas" panose="020B0609020204030204" pitchFamily="49" charset="0"/>
            </a:endParaRPr>
          </a:p>
          <a:p>
            <a:pPr marL="0" indent="0" algn="l">
              <a:lnSpc>
                <a:spcPts val="1659"/>
              </a:lnSpc>
              <a:buNone/>
            </a:pPr>
            <a:r>
              <a:rPr lang="en-US" sz="1200" dirty="0">
                <a:solidFill>
                  <a:srgbClr val="C2CA6E"/>
                </a:solidFill>
                <a:latin typeface="Consolas" panose="020B0609020204030204" pitchFamily="49" charset="0"/>
                <a:ea typeface="JetBrains Mono" pitchFamily="49" charset="-122"/>
                <a:cs typeface="Consolas" panose="020B0609020204030204" pitchFamily="49" charset="0"/>
              </a:rPr>
              <a:t># All results in one table (one header line)</a:t>
            </a:r>
            <a:endParaRPr lang="en-US" sz="1200" dirty="0">
              <a:latin typeface="Consolas" panose="020B0609020204030204" pitchFamily="49" charset="0"/>
              <a:cs typeface="Consolas" panose="020B0609020204030204" pitchFamily="49" charset="0"/>
            </a:endParaRPr>
          </a:p>
          <a:p>
            <a:pPr marL="0" indent="0" algn="l">
              <a:lnSpc>
                <a:spcPts val="1659"/>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awk 'FNR==1 &amp;&amp; NR!=1 {next} {print}' $RESULTS/04_amr/amrfinderplus/*.tsv \</a:t>
            </a:r>
            <a:endParaRPr lang="en-US" sz="1200" dirty="0">
              <a:latin typeface="Consolas" panose="020B0609020204030204" pitchFamily="49" charset="0"/>
              <a:cs typeface="Consolas" panose="020B0609020204030204" pitchFamily="49" charset="0"/>
            </a:endParaRPr>
          </a:p>
          <a:p>
            <a:pPr marL="0" indent="0" algn="l">
              <a:lnSpc>
                <a:spcPts val="1659"/>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    &gt; $RESULTS/04_amr/amrfinderplus_all.tsv</a:t>
            </a:r>
            <a:endParaRPr lang="en-US" sz="1200" dirty="0">
              <a:latin typeface="Consolas" panose="020B0609020204030204" pitchFamily="49" charset="0"/>
              <a:cs typeface="Consolas" panose="020B0609020204030204" pitchFamily="49" charset="0"/>
            </a:endParaRPr>
          </a:p>
        </p:txBody>
      </p:sp>
      <p:sp>
        <p:nvSpPr>
          <p:cNvPr id="5" name="Shape 3"/>
          <p:cNvSpPr/>
          <p:nvPr/>
        </p:nvSpPr>
        <p:spPr>
          <a:xfrm>
            <a:off x="812800" y="4839742"/>
            <a:ext cx="5194300" cy="1002258"/>
          </a:xfrm>
          <a:prstGeom prst="roundRect">
            <a:avLst>
              <a:gd name="adj" fmla="val 5069"/>
            </a:avLst>
          </a:prstGeom>
          <a:solidFill>
            <a:srgbClr val="FFFFFF"/>
          </a:solidFill>
          <a:ln/>
        </p:spPr>
        <p:txBody>
          <a:bodyPr/>
          <a:lstStyle/>
          <a:p>
            <a:endParaRPr lang="en-KE"/>
          </a:p>
        </p:txBody>
      </p:sp>
      <p:sp>
        <p:nvSpPr>
          <p:cNvPr id="6" name="Shape 4"/>
          <p:cNvSpPr/>
          <p:nvPr/>
        </p:nvSpPr>
        <p:spPr>
          <a:xfrm>
            <a:off x="812800" y="4839742"/>
            <a:ext cx="5194300" cy="1002258"/>
          </a:xfrm>
          <a:custGeom>
            <a:avLst/>
            <a:gdLst/>
            <a:ahLst/>
            <a:cxnLst/>
            <a:rect l="l" t="t" r="r" b="b"/>
            <a:pathLst>
              <a:path w="5194300" h="1002258">
                <a:moveTo>
                  <a:pt x="50800" y="1002258"/>
                </a:moveTo>
                <a:lnTo>
                  <a:pt x="50800" y="1002258"/>
                </a:lnTo>
                <a:arcTo wR="50800" hR="50800" stAng="5400000" swAng="5400000"/>
                <a:lnTo>
                  <a:pt x="0" y="50800"/>
                </a:lnTo>
                <a:arcTo wR="50800" hR="50800" stAng="10800000" swAng="5400000"/>
                <a:lnTo>
                  <a:pt x="50800" y="0"/>
                </a:lnTo>
                <a:lnTo>
                  <a:pt x="50800" y="1002258"/>
                </a:lnTo>
                <a:close/>
              </a:path>
            </a:pathLst>
          </a:custGeom>
          <a:solidFill>
            <a:srgbClr val="891F15"/>
          </a:solidFill>
          <a:ln/>
        </p:spPr>
        <p:txBody>
          <a:bodyPr/>
          <a:lstStyle/>
          <a:p>
            <a:endParaRPr lang="en-KE"/>
          </a:p>
        </p:txBody>
      </p:sp>
      <p:sp>
        <p:nvSpPr>
          <p:cNvPr id="7" name="Text 5"/>
          <p:cNvSpPr/>
          <p:nvPr/>
        </p:nvSpPr>
        <p:spPr>
          <a:xfrm>
            <a:off x="1041400" y="4992142"/>
            <a:ext cx="4931537" cy="234702"/>
          </a:xfrm>
          <a:prstGeom prst="rect">
            <a:avLst/>
          </a:prstGeom>
          <a:noFill/>
          <a:ln/>
        </p:spPr>
        <p:txBody>
          <a:bodyPr wrap="square" lIns="0" tIns="0" rIns="0" bIns="0" rtlCol="0" anchor="t">
            <a:normAutofit/>
          </a:bodyPr>
          <a:lstStyle/>
          <a:p>
            <a:pPr marL="0" indent="0" algn="l">
              <a:lnSpc>
                <a:spcPts val="1675"/>
              </a:lnSpc>
              <a:buNone/>
            </a:pPr>
            <a:r>
              <a:rPr lang="en-US" sz="1396" b="1" dirty="0">
                <a:solidFill>
                  <a:srgbClr val="891F15"/>
                </a:solidFill>
                <a:latin typeface="Carlito" pitchFamily="34" charset="0"/>
                <a:ea typeface="Carlito" pitchFamily="34" charset="-122"/>
                <a:cs typeface="Carlito" pitchFamily="34" charset="-120"/>
              </a:rPr>
              <a:t>--organism Klebsiella_pneumoniae</a:t>
            </a:r>
            <a:endParaRPr lang="en-US" sz="1396" dirty="0"/>
          </a:p>
        </p:txBody>
      </p:sp>
      <p:sp>
        <p:nvSpPr>
          <p:cNvPr id="8" name="Text 6"/>
          <p:cNvSpPr/>
          <p:nvPr/>
        </p:nvSpPr>
        <p:spPr>
          <a:xfrm>
            <a:off x="1041400" y="5252244"/>
            <a:ext cx="4931537" cy="462756"/>
          </a:xfrm>
          <a:prstGeom prst="rect">
            <a:avLst/>
          </a:prstGeom>
          <a:noFill/>
          <a:ln/>
        </p:spPr>
        <p:txBody>
          <a:bodyPr wrap="square" lIns="0" tIns="0" rIns="0" bIns="0" rtlCol="0" anchor="t">
            <a:normAutofit/>
          </a:bodyPr>
          <a:lstStyle/>
          <a:p>
            <a:pPr marL="0" indent="0" algn="l">
              <a:lnSpc>
                <a:spcPts val="1733"/>
              </a:lnSpc>
              <a:buNone/>
            </a:pPr>
            <a:r>
              <a:rPr lang="en-US" sz="1284" dirty="0">
                <a:solidFill>
                  <a:srgbClr val="3A322C"/>
                </a:solidFill>
                <a:latin typeface="Carlito" pitchFamily="34" charset="0"/>
                <a:ea typeface="Carlito" pitchFamily="34" charset="-122"/>
                <a:cs typeface="Carlito" pitchFamily="34" charset="-120"/>
              </a:rPr>
              <a:t>Also checks species-specific point mutations, e.g. in </a:t>
            </a:r>
            <a:r>
              <a:rPr lang="en-US" sz="1284" i="1" dirty="0">
                <a:solidFill>
                  <a:srgbClr val="3A322C"/>
                </a:solidFill>
                <a:latin typeface="Carlito" pitchFamily="34" charset="0"/>
                <a:ea typeface="Carlito" pitchFamily="34" charset="-122"/>
                <a:cs typeface="Carlito" pitchFamily="34" charset="-120"/>
              </a:rPr>
              <a:t>gyrA</a:t>
            </a:r>
            <a:r>
              <a:rPr lang="en-US" sz="1284" dirty="0">
                <a:solidFill>
                  <a:srgbClr val="3A322C"/>
                </a:solidFill>
                <a:latin typeface="Carlito" pitchFamily="34" charset="0"/>
                <a:ea typeface="Carlito" pitchFamily="34" charset="-122"/>
                <a:cs typeface="Carlito" pitchFamily="34" charset="-120"/>
              </a:rPr>
              <a:t>, </a:t>
            </a:r>
            <a:r>
              <a:rPr lang="en-US" sz="1284" i="1" dirty="0">
                <a:solidFill>
                  <a:srgbClr val="3A322C"/>
                </a:solidFill>
                <a:latin typeface="Carlito" pitchFamily="34" charset="0"/>
                <a:ea typeface="Carlito" pitchFamily="34" charset="-122"/>
                <a:cs typeface="Carlito" pitchFamily="34" charset="-120"/>
              </a:rPr>
              <a:t>parC</a:t>
            </a:r>
            <a:r>
              <a:rPr lang="en-US" sz="1284" dirty="0">
                <a:solidFill>
                  <a:srgbClr val="3A322C"/>
                </a:solidFill>
                <a:latin typeface="Carlito" pitchFamily="34" charset="0"/>
                <a:ea typeface="Carlito" pitchFamily="34" charset="-122"/>
                <a:cs typeface="Carlito" pitchFamily="34" charset="-120"/>
              </a:rPr>
              <a:t>, </a:t>
            </a:r>
            <a:r>
              <a:rPr lang="en-US" sz="1284" i="1" dirty="0">
                <a:solidFill>
                  <a:srgbClr val="3A322C"/>
                </a:solidFill>
                <a:latin typeface="Carlito" pitchFamily="34" charset="0"/>
                <a:ea typeface="Carlito" pitchFamily="34" charset="-122"/>
                <a:cs typeface="Carlito" pitchFamily="34" charset="-120"/>
              </a:rPr>
              <a:t>ompK35/36</a:t>
            </a:r>
            <a:endParaRPr lang="en-US" sz="1284" dirty="0"/>
          </a:p>
        </p:txBody>
      </p:sp>
      <p:sp>
        <p:nvSpPr>
          <p:cNvPr id="9" name="Shape 7"/>
          <p:cNvSpPr/>
          <p:nvPr/>
        </p:nvSpPr>
        <p:spPr>
          <a:xfrm>
            <a:off x="6184900" y="4839742"/>
            <a:ext cx="5194300" cy="1002258"/>
          </a:xfrm>
          <a:prstGeom prst="roundRect">
            <a:avLst>
              <a:gd name="adj" fmla="val 5069"/>
            </a:avLst>
          </a:prstGeom>
          <a:solidFill>
            <a:srgbClr val="FFFFFF"/>
          </a:solidFill>
          <a:ln/>
        </p:spPr>
        <p:txBody>
          <a:bodyPr/>
          <a:lstStyle/>
          <a:p>
            <a:endParaRPr lang="en-KE"/>
          </a:p>
        </p:txBody>
      </p:sp>
      <p:sp>
        <p:nvSpPr>
          <p:cNvPr id="10" name="Shape 8"/>
          <p:cNvSpPr/>
          <p:nvPr/>
        </p:nvSpPr>
        <p:spPr>
          <a:xfrm>
            <a:off x="6184900" y="4839742"/>
            <a:ext cx="5194300" cy="1002258"/>
          </a:xfrm>
          <a:custGeom>
            <a:avLst/>
            <a:gdLst/>
            <a:ahLst/>
            <a:cxnLst/>
            <a:rect l="l" t="t" r="r" b="b"/>
            <a:pathLst>
              <a:path w="5194300" h="1002258">
                <a:moveTo>
                  <a:pt x="50800" y="1002258"/>
                </a:moveTo>
                <a:lnTo>
                  <a:pt x="50800" y="1002258"/>
                </a:lnTo>
                <a:arcTo wR="50800" hR="50800" stAng="5400000" swAng="5400000"/>
                <a:lnTo>
                  <a:pt x="0" y="50800"/>
                </a:lnTo>
                <a:arcTo wR="50800" hR="50800" stAng="10800000" swAng="5400000"/>
                <a:lnTo>
                  <a:pt x="50800" y="0"/>
                </a:lnTo>
                <a:lnTo>
                  <a:pt x="50800" y="1002258"/>
                </a:lnTo>
                <a:close/>
              </a:path>
            </a:pathLst>
          </a:custGeom>
          <a:solidFill>
            <a:srgbClr val="273003"/>
          </a:solidFill>
          <a:ln/>
        </p:spPr>
        <p:txBody>
          <a:bodyPr/>
          <a:lstStyle/>
          <a:p>
            <a:endParaRPr lang="en-KE"/>
          </a:p>
        </p:txBody>
      </p:sp>
      <p:sp>
        <p:nvSpPr>
          <p:cNvPr id="11" name="Text 9"/>
          <p:cNvSpPr/>
          <p:nvPr/>
        </p:nvSpPr>
        <p:spPr>
          <a:xfrm>
            <a:off x="6413500" y="4992142"/>
            <a:ext cx="4931537"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73003"/>
                </a:solidFill>
                <a:latin typeface="Carlito" pitchFamily="34" charset="0"/>
                <a:ea typeface="Carlito" pitchFamily="34" charset="-122"/>
                <a:cs typeface="Carlito" pitchFamily="34" charset="-120"/>
              </a:rPr>
              <a:t>--plus</a:t>
            </a:r>
            <a:endParaRPr lang="en-US" sz="1400" dirty="0"/>
          </a:p>
        </p:txBody>
      </p:sp>
      <p:sp>
        <p:nvSpPr>
          <p:cNvPr id="12" name="Text 10"/>
          <p:cNvSpPr/>
          <p:nvPr/>
        </p:nvSpPr>
        <p:spPr>
          <a:xfrm>
            <a:off x="6413500" y="5256262"/>
            <a:ext cx="4931537" cy="248245"/>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A322C"/>
                </a:solidFill>
                <a:latin typeface="Carlito" pitchFamily="34" charset="0"/>
                <a:ea typeface="Carlito" pitchFamily="34" charset="-122"/>
                <a:cs typeface="Carlito" pitchFamily="34" charset="-120"/>
              </a:rPr>
              <a:t>Adds virulence, stress and metal-resistance genes</a:t>
            </a:r>
            <a:endParaRPr lang="en-US" sz="1300" dirty="0"/>
          </a:p>
        </p:txBody>
      </p:sp>
      <p:pic>
        <p:nvPicPr>
          <p:cNvPr id="13"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14"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5" name="Text 12"/>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Exercise: the key genes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96690"/>
          <a:ext cx="6337300" cy="2746377"/>
        </p:xfrm>
        <a:graphic>
          <a:graphicData uri="http://schemas.openxmlformats.org/drawingml/2006/table">
            <a:tbl>
              <a:tblPr/>
              <a:tblGrid>
                <a:gridCol w="2154682">
                  <a:extLst>
                    <a:ext uri="{9D8B030D-6E8A-4147-A177-3AD203B41FA5}">
                      <a16:colId xmlns:a16="http://schemas.microsoft.com/office/drawing/2014/main" val="20000"/>
                    </a:ext>
                  </a:extLst>
                </a:gridCol>
                <a:gridCol w="2788412">
                  <a:extLst>
                    <a:ext uri="{9D8B030D-6E8A-4147-A177-3AD203B41FA5}">
                      <a16:colId xmlns:a16="http://schemas.microsoft.com/office/drawing/2014/main" val="20001"/>
                    </a:ext>
                  </a:extLst>
                </a:gridCol>
                <a:gridCol w="1394206">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F9F2EA"/>
                          </a:solidFill>
                          <a:latin typeface="Carlito" pitchFamily="34" charset="0"/>
                          <a:ea typeface="Carlito" pitchFamily="34" charset="-122"/>
                          <a:cs typeface="Carlito" pitchFamily="34" charset="-120"/>
                        </a:rPr>
                        <a:t>Group</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820"/>
                        </a:lnSpc>
                        <a:buNone/>
                      </a:pPr>
                      <a:r>
                        <a:rPr lang="en-US" sz="1300" b="1" dirty="0">
                          <a:solidFill>
                            <a:srgbClr val="F9F2EA"/>
                          </a:solidFill>
                          <a:latin typeface="Carlito" pitchFamily="34" charset="0"/>
                          <a:ea typeface="Carlito" pitchFamily="34" charset="-122"/>
                          <a:cs typeface="Carlito" pitchFamily="34" charset="-120"/>
                        </a:rPr>
                        <a:t>Examples</a:t>
                      </a:r>
                      <a:endParaRPr lang="en-US" sz="1300" dirty="0">
                        <a:latin typeface="Carlito" charset="0"/>
                        <a:ea typeface="Carlito" charset="0"/>
                        <a:cs typeface="Carlito" charset="0"/>
                      </a:endParaRPr>
                    </a:p>
                  </a:txBody>
                  <a:tcPr marL="57785" marR="57785" marT="57785" marB="57785">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820"/>
                        </a:lnSpc>
                        <a:buNone/>
                      </a:pPr>
                      <a:r>
                        <a:rPr lang="en-US" sz="1300" b="1" dirty="0">
                          <a:solidFill>
                            <a:srgbClr val="F9F2EA"/>
                          </a:solidFill>
                          <a:latin typeface="Carlito" pitchFamily="34" charset="0"/>
                          <a:ea typeface="Carlito" pitchFamily="34" charset="-122"/>
                          <a:cs typeface="Carlito" pitchFamily="34" charset="-120"/>
                        </a:rPr>
                        <a:t>Isolates with ≥ 1</a:t>
                      </a:r>
                      <a:endParaRPr lang="en-US" sz="1300" dirty="0">
                        <a:latin typeface="Carlito" charset="0"/>
                        <a:ea typeface="Carlito" charset="0"/>
                        <a:cs typeface="Carlito" charset="0"/>
                      </a:endParaRPr>
                    </a:p>
                  </a:txBody>
                  <a:tcPr marL="57785" marR="57785" marT="57785" marB="57785">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ESBL</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blaCTX-M-15, SHV ESBL variants</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Carbapenemase</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blaNDM, OXA-48-like, KPC, VIM</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59045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Aminoglycoside-modifying enzymes</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aac(3)-II, aac(6')-Ib, aph(3')-VI</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16S rRNA methylases</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armA, rmtB</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Colistin</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mcr, mgrB disruption</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5"/>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Fluoroquinolone</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qnr, gyrA/parC mutations</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6"/>
                  </a:ext>
                </a:extLst>
              </a:tr>
            </a:tbl>
          </a:graphicData>
        </a:graphic>
      </p:graphicFrame>
      <p:sp>
        <p:nvSpPr>
          <p:cNvPr id="5" name="Text 2"/>
          <p:cNvSpPr/>
          <p:nvPr/>
        </p:nvSpPr>
        <p:spPr>
          <a:xfrm>
            <a:off x="7467600" y="2532707"/>
            <a:ext cx="4028948" cy="539750"/>
          </a:xfrm>
          <a:prstGeom prst="rect">
            <a:avLst/>
          </a:prstGeom>
          <a:noFill/>
          <a:ln/>
        </p:spPr>
        <p:txBody>
          <a:bodyPr wrap="square" lIns="0" tIns="0" rIns="0" bIns="0" rtlCol="0" anchor="t">
            <a:normAutofit/>
          </a:bodyPr>
          <a:lstStyle/>
          <a:p>
            <a:pPr marL="0" indent="0" algn="l">
              <a:lnSpc>
                <a:spcPts val="2025"/>
              </a:lnSpc>
              <a:buNone/>
            </a:pPr>
            <a:r>
              <a:rPr lang="en-US" sz="1500" b="1" dirty="0">
                <a:solidFill>
                  <a:srgbClr val="273003"/>
                </a:solidFill>
                <a:latin typeface="Carlito" pitchFamily="34" charset="0"/>
                <a:ea typeface="Carlito" pitchFamily="34" charset="-122"/>
                <a:cs typeface="Carlito" pitchFamily="34" charset="-120"/>
              </a:rPr>
              <a:t>For each group, count how many of the 29 isolates carry at least one.</a:t>
            </a:r>
            <a:endParaRPr lang="en-US" sz="1500" dirty="0"/>
          </a:p>
        </p:txBody>
      </p:sp>
      <p:sp>
        <p:nvSpPr>
          <p:cNvPr id="6" name="Text 3"/>
          <p:cNvSpPr/>
          <p:nvPr/>
        </p:nvSpPr>
        <p:spPr>
          <a:xfrm>
            <a:off x="7467600" y="3148657"/>
            <a:ext cx="4028948"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4A4038"/>
                </a:solidFill>
                <a:latin typeface="Carlito" pitchFamily="34" charset="0"/>
                <a:ea typeface="Carlito" pitchFamily="34" charset="-122"/>
                <a:cs typeface="Carlito" pitchFamily="34" charset="-120"/>
              </a:rPr>
              <a:t>Then compare with the published Kleborate results (in the notes).</a:t>
            </a:r>
            <a:endParaRPr lang="en-US" sz="1300" dirty="0"/>
          </a:p>
        </p:txBody>
      </p:sp>
      <p:sp>
        <p:nvSpPr>
          <p:cNvPr id="7" name="Text 4"/>
          <p:cNvSpPr/>
          <p:nvPr/>
        </p:nvSpPr>
        <p:spPr>
          <a:xfrm>
            <a:off x="812800" y="4671665"/>
            <a:ext cx="10566400" cy="995561"/>
          </a:xfrm>
          <a:prstGeom prst="roundRect">
            <a:avLst>
              <a:gd name="adj" fmla="val 7654"/>
            </a:avLst>
          </a:prstGeom>
          <a:solidFill>
            <a:srgbClr val="273003"/>
          </a:solidFill>
          <a:ln/>
        </p:spPr>
        <p:txBody>
          <a:bodyPr wrap="square" lIns="231682" tIns="155482" rIns="0" bIns="130082" rtlCol="0" anchor="t">
            <a:normAutofit/>
          </a:bodyPr>
          <a:lstStyle/>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A=$RESULTS/04_amr/amrfinderplus_all.tsv</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pick 'Element symbol|^Class$|^Subclass$' $A | head    </a:t>
            </a:r>
            <a:r>
              <a:rPr lang="en-US" sz="1200" dirty="0">
                <a:solidFill>
                  <a:srgbClr val="C2CA6E"/>
                </a:solidFill>
                <a:latin typeface="Consolas" panose="020B0609020204030204" pitchFamily="49" charset="0"/>
                <a:ea typeface="JetBrains Mono" pitchFamily="49" charset="-122"/>
                <a:cs typeface="Consolas" panose="020B0609020204030204" pitchFamily="49" charset="0"/>
              </a:rPr>
              <a:t># sample, gene and drug class</a:t>
            </a:r>
            <a:endParaRPr lang="en-US" sz="1200" dirty="0">
              <a:latin typeface="Consolas" panose="020B0609020204030204" pitchFamily="49" charset="0"/>
              <a:cs typeface="Consolas" panose="020B0609020204030204" pitchFamily="49" charset="0"/>
            </a:endParaRPr>
          </a:p>
          <a:p>
            <a:pPr marL="0" indent="0" algn="l">
              <a:lnSpc>
                <a:spcPts val="1680"/>
              </a:lnSpc>
              <a:buNone/>
            </a:pPr>
            <a:r>
              <a:rPr lang="en-US" sz="1200" dirty="0">
                <a:solidFill>
                  <a:srgbClr val="F3EEDF"/>
                </a:solidFill>
                <a:latin typeface="Consolas" panose="020B0609020204030204" pitchFamily="49" charset="0"/>
                <a:ea typeface="JetBrains Mono" pitchFamily="49" charset="-122"/>
                <a:cs typeface="Consolas" panose="020B0609020204030204" pitchFamily="49" charset="0"/>
              </a:rPr>
              <a:t>pick 'Element symbol|^Subclass$' $A | grep -i carbapenem | sort -u    </a:t>
            </a:r>
            <a:r>
              <a:rPr lang="en-US" sz="1200" dirty="0">
                <a:solidFill>
                  <a:srgbClr val="C2CA6E"/>
                </a:solidFill>
                <a:latin typeface="Consolas" panose="020B0609020204030204" pitchFamily="49" charset="0"/>
                <a:ea typeface="JetBrains Mono" pitchFamily="49" charset="-122"/>
                <a:cs typeface="Consolas" panose="020B0609020204030204" pitchFamily="49" charset="0"/>
              </a:rPr>
              <a:t># carbapenemases</a:t>
            </a:r>
            <a:endParaRPr lang="en-US" sz="1200" dirty="0">
              <a:latin typeface="Consolas" panose="020B0609020204030204" pitchFamily="49" charset="0"/>
              <a:cs typeface="Consolas" panose="020B0609020204030204" pitchFamily="49" charset="0"/>
            </a:endParaRPr>
          </a:p>
        </p:txBody>
      </p:sp>
      <p:pic>
        <p:nvPicPr>
          <p:cNvPr id="8"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9" name="Text 5"/>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0" name="Text 6"/>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Exercise: AMRFinderPlus versus Kleborate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709390"/>
            <a:ext cx="10566400" cy="645765"/>
          </a:xfrm>
          <a:prstGeom prst="roundRect">
            <a:avLst>
              <a:gd name="adj" fmla="val 11800"/>
            </a:avLst>
          </a:prstGeom>
          <a:solidFill>
            <a:srgbClr val="273003"/>
          </a:solidFill>
          <a:ln/>
        </p:spPr>
        <p:txBody>
          <a:bodyPr wrap="square" lIns="257082" tIns="180882" rIns="0" bIns="155482" rtlCol="0" anchor="t">
            <a:normAutofit/>
          </a:bodyPr>
          <a:lstStyle/>
          <a:p>
            <a:pPr marL="0" indent="0" algn="l">
              <a:lnSpc>
                <a:spcPts val="1885"/>
              </a:lnSpc>
              <a:buNone/>
            </a:pPr>
            <a:r>
              <a:rPr lang="en-US" sz="1300" dirty="0">
                <a:solidFill>
                  <a:srgbClr val="F3EEDF"/>
                </a:solidFill>
                <a:latin typeface="Consolas" panose="020B0609020204030204" pitchFamily="49" charset="0"/>
                <a:ea typeface="JetBrains Mono" pitchFamily="49" charset="-122"/>
                <a:cs typeface="Consolas" panose="020B0609020204030204" pitchFamily="49" charset="0"/>
              </a:rPr>
              <a:t>pick 'Bla_ESBL_acquired$|Bla_Carb_acquired$|AGly_acquired$|resistance_score$' $K</a:t>
            </a:r>
            <a:endParaRPr lang="en-US" sz="1300" dirty="0">
              <a:latin typeface="Consolas" panose="020B0609020204030204" pitchFamily="49" charset="0"/>
              <a:cs typeface="Consolas" panose="020B0609020204030204" pitchFamily="49" charset="0"/>
            </a:endParaRPr>
          </a:p>
        </p:txBody>
      </p:sp>
      <p:sp>
        <p:nvSpPr>
          <p:cNvPr id="5" name="Text 3"/>
          <p:cNvSpPr/>
          <p:nvPr/>
        </p:nvSpPr>
        <p:spPr>
          <a:xfrm>
            <a:off x="812800" y="2609155"/>
            <a:ext cx="10883392"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3A322C"/>
                </a:solidFill>
                <a:latin typeface="Carlito" pitchFamily="34" charset="0"/>
                <a:ea typeface="Carlito" pitchFamily="34" charset="-122"/>
                <a:cs typeface="Carlito" pitchFamily="34" charset="-120"/>
              </a:rPr>
              <a:t>Choose 5 isolates and compare the two tools gene by gene. Write down every difference and a likely reason:</a:t>
            </a:r>
            <a:endParaRPr lang="en-US" sz="1600" dirty="0"/>
          </a:p>
        </p:txBody>
      </p:sp>
      <p:sp>
        <p:nvSpPr>
          <p:cNvPr id="6" name="Shape 4"/>
          <p:cNvSpPr/>
          <p:nvPr/>
        </p:nvSpPr>
        <p:spPr>
          <a:xfrm>
            <a:off x="812800" y="3137446"/>
            <a:ext cx="2527300" cy="1064220"/>
          </a:xfrm>
          <a:prstGeom prst="roundRect">
            <a:avLst>
              <a:gd name="adj" fmla="val 4773"/>
            </a:avLst>
          </a:prstGeom>
          <a:solidFill>
            <a:srgbClr val="FFFFFF"/>
          </a:solidFill>
          <a:ln/>
        </p:spPr>
        <p:txBody>
          <a:bodyPr/>
          <a:lstStyle/>
          <a:p>
            <a:endParaRPr lang="en-KE"/>
          </a:p>
        </p:txBody>
      </p:sp>
      <p:sp>
        <p:nvSpPr>
          <p:cNvPr id="7" name="Shape 5"/>
          <p:cNvSpPr/>
          <p:nvPr/>
        </p:nvSpPr>
        <p:spPr>
          <a:xfrm>
            <a:off x="812800" y="3137446"/>
            <a:ext cx="2527300" cy="1064220"/>
          </a:xfrm>
          <a:custGeom>
            <a:avLst/>
            <a:gdLst/>
            <a:ahLst/>
            <a:cxnLst/>
            <a:rect l="l" t="t" r="r" b="b"/>
            <a:pathLst>
              <a:path w="2527300" h="1064220">
                <a:moveTo>
                  <a:pt x="0" y="50800"/>
                </a:moveTo>
                <a:lnTo>
                  <a:pt x="0" y="50800"/>
                </a:lnTo>
                <a:arcTo wR="50800" hR="50800" stAng="10800000" swAng="5400000"/>
                <a:lnTo>
                  <a:pt x="2476500" y="0"/>
                </a:lnTo>
                <a:arcTo wR="50800" hR="50800" stAng="16200000" swAng="5400000"/>
                <a:lnTo>
                  <a:pt x="2527300" y="50800"/>
                </a:lnTo>
                <a:lnTo>
                  <a:pt x="0" y="50800"/>
                </a:lnTo>
                <a:close/>
              </a:path>
            </a:pathLst>
          </a:custGeom>
          <a:solidFill>
            <a:srgbClr val="891F15"/>
          </a:solidFill>
          <a:ln/>
        </p:spPr>
        <p:txBody>
          <a:bodyPr/>
          <a:lstStyle/>
          <a:p>
            <a:endParaRPr lang="en-KE"/>
          </a:p>
        </p:txBody>
      </p:sp>
      <p:sp>
        <p:nvSpPr>
          <p:cNvPr id="8" name="Text 6"/>
          <p:cNvSpPr/>
          <p:nvPr/>
        </p:nvSpPr>
        <p:spPr>
          <a:xfrm>
            <a:off x="990600" y="3340646"/>
            <a:ext cx="22368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91F15"/>
                </a:solidFill>
                <a:latin typeface="Carlito" pitchFamily="34" charset="0"/>
                <a:ea typeface="Carlito" pitchFamily="34" charset="-122"/>
                <a:cs typeface="Carlito" pitchFamily="34" charset="-120"/>
              </a:rPr>
              <a:t>Database</a:t>
            </a:r>
            <a:endParaRPr lang="en-US" sz="1500" dirty="0"/>
          </a:p>
        </p:txBody>
      </p:sp>
      <p:sp>
        <p:nvSpPr>
          <p:cNvPr id="9" name="Text 7"/>
          <p:cNvSpPr/>
          <p:nvPr/>
        </p:nvSpPr>
        <p:spPr>
          <a:xfrm>
            <a:off x="990600" y="3620046"/>
            <a:ext cx="2236851" cy="24001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Different sources and versions</a:t>
            </a:r>
            <a:endParaRPr lang="en-US" sz="1300" dirty="0"/>
          </a:p>
        </p:txBody>
      </p:sp>
      <p:sp>
        <p:nvSpPr>
          <p:cNvPr id="10" name="Shape 8"/>
          <p:cNvSpPr/>
          <p:nvPr/>
        </p:nvSpPr>
        <p:spPr>
          <a:xfrm>
            <a:off x="3492500" y="3137446"/>
            <a:ext cx="2527300" cy="1064220"/>
          </a:xfrm>
          <a:prstGeom prst="roundRect">
            <a:avLst>
              <a:gd name="adj" fmla="val 4773"/>
            </a:avLst>
          </a:prstGeom>
          <a:solidFill>
            <a:srgbClr val="FFFFFF"/>
          </a:solidFill>
          <a:ln/>
        </p:spPr>
        <p:txBody>
          <a:bodyPr/>
          <a:lstStyle/>
          <a:p>
            <a:endParaRPr lang="en-KE"/>
          </a:p>
        </p:txBody>
      </p:sp>
      <p:sp>
        <p:nvSpPr>
          <p:cNvPr id="11" name="Shape 9"/>
          <p:cNvSpPr/>
          <p:nvPr/>
        </p:nvSpPr>
        <p:spPr>
          <a:xfrm>
            <a:off x="3492500" y="3137446"/>
            <a:ext cx="2527300" cy="1064220"/>
          </a:xfrm>
          <a:custGeom>
            <a:avLst/>
            <a:gdLst/>
            <a:ahLst/>
            <a:cxnLst/>
            <a:rect l="l" t="t" r="r" b="b"/>
            <a:pathLst>
              <a:path w="2527300" h="1064220">
                <a:moveTo>
                  <a:pt x="0" y="50800"/>
                </a:moveTo>
                <a:lnTo>
                  <a:pt x="0" y="50800"/>
                </a:lnTo>
                <a:arcTo wR="50800" hR="50800" stAng="10800000" swAng="5400000"/>
                <a:lnTo>
                  <a:pt x="2476500" y="0"/>
                </a:lnTo>
                <a:arcTo wR="50800" hR="50800" stAng="16200000" swAng="5400000"/>
                <a:lnTo>
                  <a:pt x="2527300" y="50800"/>
                </a:lnTo>
                <a:lnTo>
                  <a:pt x="0" y="50800"/>
                </a:lnTo>
                <a:close/>
              </a:path>
            </a:pathLst>
          </a:custGeom>
          <a:solidFill>
            <a:srgbClr val="891F15"/>
          </a:solidFill>
          <a:ln/>
        </p:spPr>
        <p:txBody>
          <a:bodyPr/>
          <a:lstStyle/>
          <a:p>
            <a:endParaRPr lang="en-KE"/>
          </a:p>
        </p:txBody>
      </p:sp>
      <p:sp>
        <p:nvSpPr>
          <p:cNvPr id="12" name="Text 10"/>
          <p:cNvSpPr/>
          <p:nvPr/>
        </p:nvSpPr>
        <p:spPr>
          <a:xfrm>
            <a:off x="3670300" y="3340646"/>
            <a:ext cx="22368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91F15"/>
                </a:solidFill>
                <a:latin typeface="Carlito" pitchFamily="34" charset="0"/>
                <a:ea typeface="Carlito" pitchFamily="34" charset="-122"/>
                <a:cs typeface="Carlito" pitchFamily="34" charset="-120"/>
              </a:rPr>
              <a:t>Gene name</a:t>
            </a:r>
            <a:endParaRPr lang="en-US" sz="1500" dirty="0"/>
          </a:p>
        </p:txBody>
      </p:sp>
      <p:sp>
        <p:nvSpPr>
          <p:cNvPr id="13" name="Text 11"/>
          <p:cNvSpPr/>
          <p:nvPr/>
        </p:nvSpPr>
        <p:spPr>
          <a:xfrm>
            <a:off x="3670300" y="3620046"/>
            <a:ext cx="2236851"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The same gene under another name</a:t>
            </a:r>
            <a:endParaRPr lang="en-US" sz="1300" dirty="0"/>
          </a:p>
        </p:txBody>
      </p:sp>
      <p:sp>
        <p:nvSpPr>
          <p:cNvPr id="14" name="Shape 12"/>
          <p:cNvSpPr/>
          <p:nvPr/>
        </p:nvSpPr>
        <p:spPr>
          <a:xfrm>
            <a:off x="6172200" y="3137446"/>
            <a:ext cx="2527300" cy="1064220"/>
          </a:xfrm>
          <a:prstGeom prst="roundRect">
            <a:avLst>
              <a:gd name="adj" fmla="val 4773"/>
            </a:avLst>
          </a:prstGeom>
          <a:solidFill>
            <a:srgbClr val="FFFFFF"/>
          </a:solidFill>
          <a:ln/>
        </p:spPr>
        <p:txBody>
          <a:bodyPr/>
          <a:lstStyle/>
          <a:p>
            <a:endParaRPr lang="en-KE"/>
          </a:p>
        </p:txBody>
      </p:sp>
      <p:sp>
        <p:nvSpPr>
          <p:cNvPr id="15" name="Shape 13"/>
          <p:cNvSpPr/>
          <p:nvPr/>
        </p:nvSpPr>
        <p:spPr>
          <a:xfrm>
            <a:off x="6172200" y="3137446"/>
            <a:ext cx="2527300" cy="1064220"/>
          </a:xfrm>
          <a:custGeom>
            <a:avLst/>
            <a:gdLst/>
            <a:ahLst/>
            <a:cxnLst/>
            <a:rect l="l" t="t" r="r" b="b"/>
            <a:pathLst>
              <a:path w="2527300" h="1064220">
                <a:moveTo>
                  <a:pt x="0" y="50800"/>
                </a:moveTo>
                <a:lnTo>
                  <a:pt x="0" y="50800"/>
                </a:lnTo>
                <a:arcTo wR="50800" hR="50800" stAng="10800000" swAng="5400000"/>
                <a:lnTo>
                  <a:pt x="2476500" y="0"/>
                </a:lnTo>
                <a:arcTo wR="50800" hR="50800" stAng="16200000" swAng="5400000"/>
                <a:lnTo>
                  <a:pt x="2527300" y="50800"/>
                </a:lnTo>
                <a:lnTo>
                  <a:pt x="0" y="50800"/>
                </a:lnTo>
                <a:close/>
              </a:path>
            </a:pathLst>
          </a:custGeom>
          <a:solidFill>
            <a:srgbClr val="891F15"/>
          </a:solidFill>
          <a:ln/>
        </p:spPr>
        <p:txBody>
          <a:bodyPr/>
          <a:lstStyle/>
          <a:p>
            <a:endParaRPr lang="en-KE"/>
          </a:p>
        </p:txBody>
      </p:sp>
      <p:sp>
        <p:nvSpPr>
          <p:cNvPr id="16" name="Text 14"/>
          <p:cNvSpPr/>
          <p:nvPr/>
        </p:nvSpPr>
        <p:spPr>
          <a:xfrm>
            <a:off x="6350000" y="3340646"/>
            <a:ext cx="22368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91F15"/>
                </a:solidFill>
                <a:latin typeface="Carlito" pitchFamily="34" charset="0"/>
                <a:ea typeface="Carlito" pitchFamily="34" charset="-122"/>
                <a:cs typeface="Carlito" pitchFamily="34" charset="-120"/>
              </a:rPr>
              <a:t>Truncated gene</a:t>
            </a:r>
            <a:endParaRPr lang="en-US" sz="1500" dirty="0"/>
          </a:p>
        </p:txBody>
      </p:sp>
      <p:sp>
        <p:nvSpPr>
          <p:cNvPr id="17" name="Text 15"/>
          <p:cNvSpPr/>
          <p:nvPr/>
        </p:nvSpPr>
        <p:spPr>
          <a:xfrm>
            <a:off x="6350000" y="3620046"/>
            <a:ext cx="2236851"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Partial or interrupted: called by one tool only</a:t>
            </a:r>
            <a:endParaRPr lang="en-US" sz="1300" dirty="0"/>
          </a:p>
        </p:txBody>
      </p:sp>
      <p:sp>
        <p:nvSpPr>
          <p:cNvPr id="18" name="Shape 16"/>
          <p:cNvSpPr/>
          <p:nvPr/>
        </p:nvSpPr>
        <p:spPr>
          <a:xfrm>
            <a:off x="8851900" y="3137446"/>
            <a:ext cx="2527300" cy="1064220"/>
          </a:xfrm>
          <a:prstGeom prst="roundRect">
            <a:avLst>
              <a:gd name="adj" fmla="val 4773"/>
            </a:avLst>
          </a:prstGeom>
          <a:solidFill>
            <a:srgbClr val="FFFFFF"/>
          </a:solidFill>
          <a:ln/>
        </p:spPr>
        <p:txBody>
          <a:bodyPr/>
          <a:lstStyle/>
          <a:p>
            <a:endParaRPr lang="en-KE"/>
          </a:p>
        </p:txBody>
      </p:sp>
      <p:sp>
        <p:nvSpPr>
          <p:cNvPr id="19" name="Shape 17"/>
          <p:cNvSpPr/>
          <p:nvPr/>
        </p:nvSpPr>
        <p:spPr>
          <a:xfrm>
            <a:off x="8851900" y="3137446"/>
            <a:ext cx="2527300" cy="1064220"/>
          </a:xfrm>
          <a:custGeom>
            <a:avLst/>
            <a:gdLst/>
            <a:ahLst/>
            <a:cxnLst/>
            <a:rect l="l" t="t" r="r" b="b"/>
            <a:pathLst>
              <a:path w="2527300" h="1064220">
                <a:moveTo>
                  <a:pt x="0" y="50800"/>
                </a:moveTo>
                <a:lnTo>
                  <a:pt x="0" y="50800"/>
                </a:lnTo>
                <a:arcTo wR="50800" hR="50800" stAng="10800000" swAng="5400000"/>
                <a:lnTo>
                  <a:pt x="2476500" y="0"/>
                </a:lnTo>
                <a:arcTo wR="50800" hR="50800" stAng="16200000" swAng="5400000"/>
                <a:lnTo>
                  <a:pt x="2527300" y="50800"/>
                </a:lnTo>
                <a:lnTo>
                  <a:pt x="0" y="50800"/>
                </a:lnTo>
                <a:close/>
              </a:path>
            </a:pathLst>
          </a:custGeom>
          <a:solidFill>
            <a:srgbClr val="891F15"/>
          </a:solidFill>
          <a:ln/>
        </p:spPr>
        <p:txBody>
          <a:bodyPr/>
          <a:lstStyle/>
          <a:p>
            <a:endParaRPr lang="en-KE"/>
          </a:p>
        </p:txBody>
      </p:sp>
      <p:sp>
        <p:nvSpPr>
          <p:cNvPr id="20" name="Text 18"/>
          <p:cNvSpPr/>
          <p:nvPr/>
        </p:nvSpPr>
        <p:spPr>
          <a:xfrm>
            <a:off x="9029700" y="3340646"/>
            <a:ext cx="2236851"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891F15"/>
                </a:solidFill>
                <a:latin typeface="Carlito" pitchFamily="34" charset="0"/>
                <a:ea typeface="Carlito" pitchFamily="34" charset="-122"/>
                <a:cs typeface="Carlito" pitchFamily="34" charset="-120"/>
              </a:rPr>
              <a:t>Contig break</a:t>
            </a:r>
            <a:endParaRPr lang="en-US" sz="1500" dirty="0"/>
          </a:p>
        </p:txBody>
      </p:sp>
      <p:sp>
        <p:nvSpPr>
          <p:cNvPr id="21" name="Text 19"/>
          <p:cNvSpPr/>
          <p:nvPr/>
        </p:nvSpPr>
        <p:spPr>
          <a:xfrm>
            <a:off x="9029700" y="3620046"/>
            <a:ext cx="2236851" cy="454620"/>
          </a:xfrm>
          <a:prstGeom prst="rect">
            <a:avLst/>
          </a:prstGeom>
          <a:noFill/>
          <a:ln/>
        </p:spPr>
        <p:txBody>
          <a:bodyPr wrap="square" lIns="0" tIns="0" rIns="0" bIns="0" rtlCol="0" anchor="t">
            <a:normAutofit/>
          </a:bodyPr>
          <a:lstStyle/>
          <a:p>
            <a:pPr marL="0" indent="0" algn="l">
              <a:lnSpc>
                <a:spcPts val="1690"/>
              </a:lnSpc>
              <a:buNone/>
            </a:pPr>
            <a:r>
              <a:rPr lang="en-US" sz="1300" dirty="0">
                <a:solidFill>
                  <a:srgbClr val="3A322C"/>
                </a:solidFill>
                <a:latin typeface="Carlito" pitchFamily="34" charset="0"/>
                <a:ea typeface="Carlito" pitchFamily="34" charset="-122"/>
                <a:cs typeface="Carlito" pitchFamily="34" charset="-120"/>
              </a:rPr>
              <a:t>The gene is split across two contigs</a:t>
            </a:r>
            <a:endParaRPr lang="en-US" sz="1300" dirty="0"/>
          </a:p>
        </p:txBody>
      </p:sp>
      <p:pic>
        <p:nvPicPr>
          <p:cNvPr id="22"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23" name="Text 20"/>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24" name="Text 2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7300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9F2EA"/>
                </a:solidFill>
                <a:latin typeface="Carlito" pitchFamily="34" charset="0"/>
                <a:ea typeface="Carlito" pitchFamily="34" charset="-122"/>
                <a:cs typeface="Carlito" pitchFamily="34" charset="-120"/>
              </a:rPr>
              <a:t>Intrinsic versus acquired</a:t>
            </a:r>
            <a:endParaRPr lang="en-US" sz="3600" dirty="0"/>
          </a:p>
        </p:txBody>
      </p:sp>
      <p:sp>
        <p:nvSpPr>
          <p:cNvPr id="3" name="Shape 1"/>
          <p:cNvSpPr/>
          <p:nvPr/>
        </p:nvSpPr>
        <p:spPr>
          <a:xfrm>
            <a:off x="812800" y="1417290"/>
            <a:ext cx="1524000" cy="38100"/>
          </a:xfrm>
          <a:prstGeom prst="roundRect">
            <a:avLst>
              <a:gd name="adj" fmla="val 50000"/>
            </a:avLst>
          </a:prstGeom>
          <a:solidFill>
            <a:srgbClr val="FFCE00"/>
          </a:solidFill>
          <a:ln/>
        </p:spPr>
        <p:txBody>
          <a:bodyPr/>
          <a:lstStyle/>
          <a:p>
            <a:endParaRPr lang="en-KE"/>
          </a:p>
        </p:txBody>
      </p:sp>
      <p:sp>
        <p:nvSpPr>
          <p:cNvPr id="4" name="Text 2"/>
          <p:cNvSpPr/>
          <p:nvPr/>
        </p:nvSpPr>
        <p:spPr>
          <a:xfrm>
            <a:off x="812800" y="1760190"/>
            <a:ext cx="5807964" cy="608310"/>
          </a:xfrm>
          <a:prstGeom prst="rect">
            <a:avLst/>
          </a:prstGeom>
          <a:noFill/>
          <a:ln/>
        </p:spPr>
        <p:txBody>
          <a:bodyPr wrap="square" lIns="0" tIns="0" rIns="0" bIns="0" rtlCol="0" anchor="t">
            <a:normAutofit/>
          </a:bodyPr>
          <a:lstStyle/>
          <a:p>
            <a:pPr marL="0" indent="0" algn="l">
              <a:lnSpc>
                <a:spcPts val="2295"/>
              </a:lnSpc>
              <a:buNone/>
            </a:pPr>
            <a:r>
              <a:rPr lang="en-US" sz="1700" i="1" dirty="0">
                <a:solidFill>
                  <a:srgbClr val="F9F2EA"/>
                </a:solidFill>
                <a:latin typeface="Carlito" pitchFamily="34" charset="0"/>
                <a:ea typeface="Carlito" pitchFamily="34" charset="-122"/>
                <a:cs typeface="Carlito" pitchFamily="34" charset="-120"/>
              </a:rPr>
              <a:t>K. pneumoniae</a:t>
            </a:r>
            <a:r>
              <a:rPr lang="en-US" sz="1700" dirty="0">
                <a:solidFill>
                  <a:srgbClr val="F9F2EA"/>
                </a:solidFill>
                <a:latin typeface="Carlito" pitchFamily="34" charset="0"/>
                <a:ea typeface="Carlito" pitchFamily="34" charset="-122"/>
                <a:cs typeface="Carlito" pitchFamily="34" charset="-120"/>
              </a:rPr>
              <a:t> always carries a chromosomal </a:t>
            </a:r>
            <a:r>
              <a:rPr lang="en-US" sz="1700" i="1" dirty="0">
                <a:solidFill>
                  <a:srgbClr val="F9F2EA"/>
                </a:solidFill>
                <a:latin typeface="Carlito" pitchFamily="34" charset="0"/>
                <a:ea typeface="Carlito" pitchFamily="34" charset="-122"/>
                <a:cs typeface="Carlito" pitchFamily="34" charset="-120"/>
              </a:rPr>
              <a:t>bla</a:t>
            </a:r>
            <a:r>
              <a:rPr lang="en-US" sz="1700" dirty="0">
                <a:solidFill>
                  <a:srgbClr val="F9F2EA"/>
                </a:solidFill>
                <a:latin typeface="Carlito" pitchFamily="34" charset="0"/>
                <a:ea typeface="Carlito" pitchFamily="34" charset="-122"/>
                <a:cs typeface="Carlito" pitchFamily="34" charset="-120"/>
              </a:rPr>
              <a:t>SHV (usually SHV-1 or SHV-11); </a:t>
            </a:r>
            <a:r>
              <a:rPr lang="en-US" sz="1700" i="1" dirty="0">
                <a:solidFill>
                  <a:srgbClr val="F9F2EA"/>
                </a:solidFill>
                <a:latin typeface="Carlito" pitchFamily="34" charset="0"/>
                <a:ea typeface="Carlito" pitchFamily="34" charset="-122"/>
                <a:cs typeface="Carlito" pitchFamily="34" charset="-120"/>
              </a:rPr>
              <a:t>K. variicola</a:t>
            </a:r>
            <a:r>
              <a:rPr lang="en-US" sz="1700" dirty="0">
                <a:solidFill>
                  <a:srgbClr val="F9F2EA"/>
                </a:solidFill>
                <a:latin typeface="Carlito" pitchFamily="34" charset="0"/>
                <a:ea typeface="Carlito" pitchFamily="34" charset="-122"/>
                <a:cs typeface="Carlito" pitchFamily="34" charset="-120"/>
              </a:rPr>
              <a:t> carries </a:t>
            </a:r>
            <a:r>
              <a:rPr lang="en-US" sz="1700" i="1" dirty="0">
                <a:solidFill>
                  <a:srgbClr val="F9F2EA"/>
                </a:solidFill>
                <a:latin typeface="Carlito" pitchFamily="34" charset="0"/>
                <a:ea typeface="Carlito" pitchFamily="34" charset="-122"/>
                <a:cs typeface="Carlito" pitchFamily="34" charset="-120"/>
              </a:rPr>
              <a:t>bla</a:t>
            </a:r>
            <a:r>
              <a:rPr lang="en-US" sz="1700" dirty="0">
                <a:solidFill>
                  <a:srgbClr val="F9F2EA"/>
                </a:solidFill>
                <a:latin typeface="Carlito" pitchFamily="34" charset="0"/>
                <a:ea typeface="Carlito" pitchFamily="34" charset="-122"/>
                <a:cs typeface="Carlito" pitchFamily="34" charset="-120"/>
              </a:rPr>
              <a:t>LEN.</a:t>
            </a:r>
            <a:endParaRPr lang="en-US" sz="1700" dirty="0"/>
          </a:p>
        </p:txBody>
      </p:sp>
      <p:sp>
        <p:nvSpPr>
          <p:cNvPr id="5" name="Text 3"/>
          <p:cNvSpPr/>
          <p:nvPr/>
        </p:nvSpPr>
        <p:spPr>
          <a:xfrm>
            <a:off x="812800" y="2470100"/>
            <a:ext cx="5807964" cy="796925"/>
          </a:xfrm>
          <a:prstGeom prst="rect">
            <a:avLst/>
          </a:prstGeom>
          <a:noFill/>
          <a:ln/>
        </p:spPr>
        <p:txBody>
          <a:bodyPr wrap="square" lIns="0" tIns="0" rIns="0" bIns="0" rtlCol="0" anchor="t">
            <a:normAutofit/>
          </a:bodyPr>
          <a:lstStyle/>
          <a:p>
            <a:pPr marL="0" indent="0" algn="l">
              <a:lnSpc>
                <a:spcPts val="2025"/>
              </a:lnSpc>
              <a:buNone/>
            </a:pPr>
            <a:r>
              <a:rPr lang="en-US" sz="1500" dirty="0">
                <a:solidFill>
                  <a:srgbClr val="DDE2B0"/>
                </a:solidFill>
                <a:latin typeface="Carlito" pitchFamily="34" charset="0"/>
                <a:ea typeface="Carlito" pitchFamily="34" charset="-122"/>
                <a:cs typeface="Carlito" pitchFamily="34" charset="-120"/>
              </a:rPr>
              <a:t>Both make the species naturally resistant to ampicillin. Kleborate lists them in their own column (</a:t>
            </a:r>
            <a:r>
              <a:rPr lang="en-US" sz="1500" b="1" dirty="0">
                <a:solidFill>
                  <a:srgbClr val="DDE2B0"/>
                </a:solidFill>
                <a:latin typeface="Carlito" pitchFamily="34" charset="0"/>
                <a:ea typeface="Carlito" pitchFamily="34" charset="-122"/>
                <a:cs typeface="Carlito" pitchFamily="34" charset="-120"/>
              </a:rPr>
              <a:t>Bla_chr</a:t>
            </a:r>
            <a:r>
              <a:rPr lang="en-US" sz="1500" dirty="0">
                <a:solidFill>
                  <a:srgbClr val="DDE2B0"/>
                </a:solidFill>
                <a:latin typeface="Carlito" pitchFamily="34" charset="0"/>
                <a:ea typeface="Carlito" pitchFamily="34" charset="-122"/>
                <a:cs typeface="Carlito" pitchFamily="34" charset="-120"/>
              </a:rPr>
              <a:t>), so they are not mistaken for acquired resistance.</a:t>
            </a:r>
            <a:endParaRPr lang="en-US" sz="1500" dirty="0"/>
          </a:p>
        </p:txBody>
      </p:sp>
      <p:sp>
        <p:nvSpPr>
          <p:cNvPr id="6" name="Shape 4"/>
          <p:cNvSpPr/>
          <p:nvPr/>
        </p:nvSpPr>
        <p:spPr>
          <a:xfrm>
            <a:off x="6807200" y="1760190"/>
            <a:ext cx="4572000" cy="2450902"/>
          </a:xfrm>
          <a:prstGeom prst="roundRect">
            <a:avLst>
              <a:gd name="adj" fmla="val 3109"/>
            </a:avLst>
          </a:prstGeom>
          <a:solidFill>
            <a:srgbClr val="FFCE00"/>
          </a:solidFill>
          <a:ln/>
        </p:spPr>
        <p:txBody>
          <a:bodyPr/>
          <a:lstStyle/>
          <a:p>
            <a:endParaRPr lang="en-KE"/>
          </a:p>
        </p:txBody>
      </p:sp>
      <p:sp>
        <p:nvSpPr>
          <p:cNvPr id="7" name="Text 5"/>
          <p:cNvSpPr/>
          <p:nvPr/>
        </p:nvSpPr>
        <p:spPr>
          <a:xfrm>
            <a:off x="7061200" y="1988790"/>
            <a:ext cx="4185920"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6D2637"/>
                </a:solidFill>
                <a:latin typeface="Carlito" pitchFamily="34" charset="0"/>
                <a:ea typeface="Carlito" pitchFamily="34" charset="-122"/>
                <a:cs typeface="Carlito" pitchFamily="34" charset="-120"/>
              </a:rPr>
              <a:t>WHY IT MATTERS FOR NEONATES</a:t>
            </a:r>
            <a:endParaRPr lang="en-US" sz="1200" dirty="0"/>
          </a:p>
        </p:txBody>
      </p:sp>
      <p:sp>
        <p:nvSpPr>
          <p:cNvPr id="8" name="Text 6"/>
          <p:cNvSpPr/>
          <p:nvPr/>
        </p:nvSpPr>
        <p:spPr>
          <a:xfrm>
            <a:off x="7061200" y="2303711"/>
            <a:ext cx="4185920" cy="1122561"/>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3A322C"/>
                </a:solidFill>
                <a:latin typeface="Carlito" pitchFamily="34" charset="0"/>
                <a:ea typeface="Carlito" pitchFamily="34" charset="-122"/>
                <a:cs typeface="Carlito" pitchFamily="34" charset="-120"/>
              </a:rPr>
              <a:t>The WHO first-line empiric regimen for neonatal sepsis is </a:t>
            </a:r>
            <a:r>
              <a:rPr lang="en-US" sz="1600" b="1" dirty="0">
                <a:solidFill>
                  <a:srgbClr val="3A322C"/>
                </a:solidFill>
                <a:latin typeface="Carlito" pitchFamily="34" charset="0"/>
                <a:ea typeface="Carlito" pitchFamily="34" charset="-122"/>
                <a:cs typeface="Carlito" pitchFamily="34" charset="-120"/>
              </a:rPr>
              <a:t>ampicillin plus gentamicin</a:t>
            </a:r>
            <a:r>
              <a:rPr lang="en-US" sz="1600" dirty="0">
                <a:solidFill>
                  <a:srgbClr val="3A322C"/>
                </a:solidFill>
                <a:latin typeface="Carlito" pitchFamily="34" charset="0"/>
                <a:ea typeface="Carlito" pitchFamily="34" charset="-122"/>
                <a:cs typeface="Carlito" pitchFamily="34" charset="-120"/>
              </a:rPr>
              <a:t>. Against </a:t>
            </a:r>
            <a:r>
              <a:rPr lang="en-US" sz="1600" i="1" dirty="0">
                <a:solidFill>
                  <a:srgbClr val="3A322C"/>
                </a:solidFill>
                <a:latin typeface="Carlito" pitchFamily="34" charset="0"/>
                <a:ea typeface="Carlito" pitchFamily="34" charset="-122"/>
                <a:cs typeface="Carlito" pitchFamily="34" charset="-120"/>
              </a:rPr>
              <a:t>K. pneumoniae</a:t>
            </a:r>
            <a:r>
              <a:rPr lang="en-US" sz="1600" dirty="0">
                <a:solidFill>
                  <a:srgbClr val="3A322C"/>
                </a:solidFill>
                <a:latin typeface="Carlito" pitchFamily="34" charset="0"/>
                <a:ea typeface="Carlito" pitchFamily="34" charset="-122"/>
                <a:cs typeface="Carlito" pitchFamily="34" charset="-120"/>
              </a:rPr>
              <a:t>, ampicillin adds nothing: the regimen relies on </a:t>
            </a:r>
            <a:r>
              <a:rPr lang="en-US" sz="1600" b="1" dirty="0">
                <a:solidFill>
                  <a:srgbClr val="3A322C"/>
                </a:solidFill>
                <a:latin typeface="Carlito" pitchFamily="34" charset="0"/>
                <a:ea typeface="Carlito" pitchFamily="34" charset="-122"/>
                <a:cs typeface="Carlito" pitchFamily="34" charset="-120"/>
              </a:rPr>
              <a:t>gentamicin alone</a:t>
            </a:r>
            <a:r>
              <a:rPr lang="en-US" sz="1600" dirty="0">
                <a:solidFill>
                  <a:srgbClr val="3A322C"/>
                </a:solidFill>
                <a:latin typeface="Carlito" pitchFamily="34" charset="0"/>
                <a:ea typeface="Carlito" pitchFamily="34" charset="-122"/>
                <a:cs typeface="Carlito" pitchFamily="34" charset="-120"/>
              </a:rPr>
              <a:t>.</a:t>
            </a:r>
            <a:endParaRPr lang="en-US" sz="1600" dirty="0"/>
          </a:p>
        </p:txBody>
      </p:sp>
      <p:sp>
        <p:nvSpPr>
          <p:cNvPr id="9" name="Text 7"/>
          <p:cNvSpPr/>
          <p:nvPr/>
        </p:nvSpPr>
        <p:spPr>
          <a:xfrm>
            <a:off x="7061200" y="3502471"/>
            <a:ext cx="418592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So gentamicin resistance genes, such as </a:t>
            </a:r>
            <a:r>
              <a:rPr lang="en-US" sz="1400" i="1" dirty="0">
                <a:solidFill>
                  <a:srgbClr val="3A322C"/>
                </a:solidFill>
                <a:latin typeface="Carlito" pitchFamily="34" charset="0"/>
                <a:ea typeface="Carlito" pitchFamily="34" charset="-122"/>
                <a:cs typeface="Carlito" pitchFamily="34" charset="-120"/>
              </a:rPr>
              <a:t>aac(3)-II</a:t>
            </a:r>
            <a:r>
              <a:rPr lang="en-US" sz="1400" dirty="0">
                <a:solidFill>
                  <a:srgbClr val="3A322C"/>
                </a:solidFill>
                <a:latin typeface="Carlito" pitchFamily="34" charset="0"/>
                <a:ea typeface="Carlito" pitchFamily="34" charset="-122"/>
                <a:cs typeface="Carlito" pitchFamily="34" charset="-120"/>
              </a:rPr>
              <a:t>, decide whether first-line treatment can work.</a:t>
            </a:r>
            <a:endParaRPr lang="en-US" sz="1400" dirty="0"/>
          </a:p>
        </p:txBody>
      </p:sp>
      <p:sp>
        <p:nvSpPr>
          <p:cNvPr id="10" name="Text 8"/>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8A"/>
                </a:solidFill>
                <a:latin typeface="Carlito" pitchFamily="34" charset="0"/>
                <a:ea typeface="Carlito" pitchFamily="34" charset="-122"/>
                <a:cs typeface="Carlito" pitchFamily="34" charset="-120"/>
              </a:rPr>
              <a:t>Module 3 · Typing and AMR genes | Day 3</a:t>
            </a:r>
            <a:endParaRPr lang="en-US" sz="1200" dirty="0"/>
          </a:p>
        </p:txBody>
      </p:sp>
      <p:sp>
        <p:nvSpPr>
          <p:cNvPr id="11" name="Text 9"/>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08A"/>
                </a:solidFill>
                <a:latin typeface="Carlito" pitchFamily="34" charset="0"/>
                <a:ea typeface="Carlito" pitchFamily="34" charset="-122"/>
                <a:cs typeface="Carlito"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891F15"/>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rcRect/>
          <a:stretch/>
        </p:blipFill>
        <p:spPr>
          <a:xfrm>
            <a:off x="9410700" y="704850"/>
            <a:ext cx="2781300" cy="5448300"/>
          </a:xfrm>
          <a:prstGeom prst="rect">
            <a:avLst/>
          </a:prstGeom>
        </p:spPr>
      </p:pic>
      <p:sp>
        <p:nvSpPr>
          <p:cNvPr id="3" name="Text 0"/>
          <p:cNvSpPr/>
          <p:nvPr/>
        </p:nvSpPr>
        <p:spPr>
          <a:xfrm>
            <a:off x="314960" y="2623840"/>
            <a:ext cx="12557760" cy="309860"/>
          </a:xfrm>
          <a:prstGeom prst="rect">
            <a:avLst/>
          </a:prstGeom>
          <a:noFill/>
          <a:ln/>
        </p:spPr>
        <p:txBody>
          <a:bodyPr wrap="square" lIns="0" tIns="0" rIns="0" bIns="0" rtlCol="0" anchor="t">
            <a:normAutofit/>
          </a:bodyPr>
          <a:lstStyle/>
          <a:p>
            <a:pPr marL="0" indent="0" algn="l">
              <a:lnSpc>
                <a:spcPts val="2240"/>
              </a:lnSpc>
              <a:buNone/>
            </a:pPr>
            <a:r>
              <a:rPr lang="en-US" sz="1600" b="1" kern="0" spc="150" dirty="0">
                <a:solidFill>
                  <a:srgbClr val="FFCE00"/>
                </a:solidFill>
                <a:latin typeface="Carlito" pitchFamily="34" charset="0"/>
                <a:ea typeface="Carlito" pitchFamily="34" charset="-122"/>
                <a:cs typeface="Carlito" pitchFamily="34" charset="-120"/>
              </a:rPr>
              <a:t>SESSION 4 · 15:30–17:00 · MODULE 4</a:t>
            </a:r>
            <a:endParaRPr lang="en-US" sz="1600" dirty="0"/>
          </a:p>
        </p:txBody>
      </p:sp>
      <p:sp>
        <p:nvSpPr>
          <p:cNvPr id="4" name="Text 1"/>
          <p:cNvSpPr>
            <a:spLocks noGrp="1"/>
          </p:cNvSpPr>
          <p:nvPr>
            <p:ph type="title"/>
          </p:nvPr>
        </p:nvSpPr>
        <p:spPr>
          <a:xfrm>
            <a:off x="314960" y="3096270"/>
            <a:ext cx="12557760" cy="6654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9F2EA"/>
                </a:solidFill>
                <a:latin typeface="Carlito" pitchFamily="34" charset="0"/>
                <a:ea typeface="Carlito" pitchFamily="34" charset="-122"/>
                <a:cs typeface="Carlito" pitchFamily="34" charset="-120"/>
              </a:rPr>
              <a:t>Virulence and convergence</a:t>
            </a:r>
            <a:endParaRPr lang="en-US" sz="4800" dirty="0"/>
          </a:p>
        </p:txBody>
      </p:sp>
      <p:sp>
        <p:nvSpPr>
          <p:cNvPr id="5" name="Text 2"/>
          <p:cNvSpPr/>
          <p:nvPr/>
        </p:nvSpPr>
        <p:spPr>
          <a:xfrm>
            <a:off x="314960" y="3924300"/>
            <a:ext cx="12557760"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1D3C9"/>
                </a:solidFill>
                <a:latin typeface="Carlito" pitchFamily="34" charset="0"/>
                <a:ea typeface="Carlito" pitchFamily="34" charset="-122"/>
                <a:cs typeface="Carlito" pitchFamily="34" charset="-120"/>
              </a:rPr>
              <a:t>Virulence loci, Kleborate scores, and strains that are both resistant and hypervirulent</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E3B5A8"/>
                </a:solidFill>
                <a:latin typeface="Carlito" pitchFamily="34" charset="0"/>
                <a:ea typeface="Carlito" pitchFamily="34" charset="-122"/>
                <a:cs typeface="Carlito" pitchFamily="34" charset="-120"/>
              </a:rPr>
              <a:t>Module 3 · Typing and AMR genes | Day 3</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E3B5A8"/>
                </a:solidFill>
                <a:latin typeface="Carlito" pitchFamily="34" charset="0"/>
                <a:ea typeface="Carlito" pitchFamily="34" charset="-122"/>
                <a:cs typeface="Carlito"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Virulence loci in Kleborate</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22090"/>
          <a:ext cx="10553700" cy="2476500"/>
        </p:xfrm>
        <a:graphic>
          <a:graphicData uri="http://schemas.openxmlformats.org/drawingml/2006/table">
            <a:tbl>
              <a:tblPr/>
              <a:tblGrid>
                <a:gridCol w="3799332">
                  <a:extLst>
                    <a:ext uri="{9D8B030D-6E8A-4147-A177-3AD203B41FA5}">
                      <a16:colId xmlns:a16="http://schemas.microsoft.com/office/drawing/2014/main" val="20000"/>
                    </a:ext>
                  </a:extLst>
                </a:gridCol>
                <a:gridCol w="6754368">
                  <a:extLst>
                    <a:ext uri="{9D8B030D-6E8A-4147-A177-3AD203B41FA5}">
                      <a16:colId xmlns:a16="http://schemas.microsoft.com/office/drawing/2014/main" val="20001"/>
                    </a:ext>
                  </a:extLst>
                </a:gridCol>
              </a:tblGrid>
              <a:tr h="412750">
                <a:tc>
                  <a:txBody>
                    <a:bodyPr/>
                    <a:lstStyle/>
                    <a:p>
                      <a:pPr marL="0" indent="0">
                        <a:lnSpc>
                          <a:spcPts val="2100"/>
                        </a:lnSpc>
                        <a:buNone/>
                      </a:pPr>
                      <a:r>
                        <a:rPr lang="en-US" sz="1500" b="1" dirty="0">
                          <a:solidFill>
                            <a:srgbClr val="F9F2EA"/>
                          </a:solidFill>
                          <a:latin typeface="Carlito" pitchFamily="34" charset="0"/>
                          <a:ea typeface="Carlito" pitchFamily="34" charset="-122"/>
                          <a:cs typeface="Carlito" pitchFamily="34" charset="-120"/>
                        </a:rPr>
                        <a:t>Locus</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2100"/>
                        </a:lnSpc>
                        <a:buNone/>
                      </a:pPr>
                      <a:r>
                        <a:rPr lang="en-US" sz="1500" b="1" dirty="0">
                          <a:solidFill>
                            <a:srgbClr val="F9F2EA"/>
                          </a:solidFill>
                          <a:latin typeface="Carlito" pitchFamily="34" charset="0"/>
                          <a:ea typeface="Carlito" pitchFamily="34" charset="-122"/>
                          <a:cs typeface="Carlito" pitchFamily="34" charset="-120"/>
                        </a:rPr>
                        <a:t>What it does</a:t>
                      </a:r>
                      <a:endParaRPr lang="en-US" sz="1500" dirty="0">
                        <a:latin typeface="Carlito" charset="0"/>
                        <a:ea typeface="Carlito" charset="0"/>
                        <a:cs typeface="Carlito" charset="0"/>
                      </a:endParaRPr>
                    </a:p>
                  </a:txBody>
                  <a:tcPr marL="66675" marR="66675" marT="66675" marB="66675">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extLst>
                  <a:ext uri="{0D108BD9-81ED-4DB2-BD59-A6C34878D82A}">
                    <a16:rowId xmlns:a16="http://schemas.microsoft.com/office/drawing/2014/main" val="10000"/>
                  </a:ext>
                </a:extLst>
              </a:tr>
              <a:tr h="412750">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Yersiniabactin (ybt)</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Siderophore; common in hospital lineages</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412750">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Aerobactin (iuc)</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Siderophore strongly linked to hypervirulence</a:t>
                      </a:r>
                      <a:endParaRPr lang="en-US" sz="1500" dirty="0">
                        <a:latin typeface="Carlito" charset="0"/>
                        <a:ea typeface="Carlito" charset="0"/>
                        <a:cs typeface="Carlito" charset="0"/>
                      </a:endParaRPr>
                    </a:p>
                  </a:txBody>
                  <a:tcPr marL="66675" marR="66675" marT="66675" marB="6667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r h="412750">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Salmochelin (iro)</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Siderophore, often with iuc on the virulence plasmid</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3"/>
                  </a:ext>
                </a:extLst>
              </a:tr>
              <a:tr h="412750">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Colibactin (clb)</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Genotoxin</a:t>
                      </a:r>
                      <a:endParaRPr lang="en-US" sz="1500" dirty="0">
                        <a:latin typeface="Carlito" charset="0"/>
                        <a:ea typeface="Carlito" charset="0"/>
                        <a:cs typeface="Carlito" charset="0"/>
                      </a:endParaRPr>
                    </a:p>
                  </a:txBody>
                  <a:tcPr marL="66675" marR="66675" marT="66675" marB="6667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4"/>
                  </a:ext>
                </a:extLst>
              </a:tr>
              <a:tr h="412750">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rmpADC / rmpA2</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2100"/>
                        </a:lnSpc>
                        <a:buNone/>
                      </a:pPr>
                      <a:r>
                        <a:rPr lang="en-US" sz="1500" dirty="0">
                          <a:solidFill>
                            <a:srgbClr val="3A322C"/>
                          </a:solidFill>
                          <a:latin typeface="Carlito" pitchFamily="34" charset="0"/>
                          <a:ea typeface="Carlito" pitchFamily="34" charset="-122"/>
                          <a:cs typeface="Carlito" pitchFamily="34" charset="-120"/>
                        </a:rPr>
                        <a:t>Hypermucoidy</a:t>
                      </a:r>
                      <a:endParaRPr lang="en-US" sz="1500" dirty="0">
                        <a:latin typeface="Carlito" charset="0"/>
                        <a:ea typeface="Carlito" charset="0"/>
                        <a:cs typeface="Carlito" charset="0"/>
                      </a:endParaRPr>
                    </a:p>
                  </a:txBody>
                  <a:tcPr marL="66675" marR="66675" marT="66675" marB="6667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C0B8AE"/>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p:nvPr/>
        </p:nvSpPr>
        <p:spPr>
          <a:xfrm>
            <a:off x="812800" y="4452590"/>
            <a:ext cx="10566400" cy="594965"/>
          </a:xfrm>
          <a:prstGeom prst="roundRect">
            <a:avLst>
              <a:gd name="adj" fmla="val 12807"/>
            </a:avLst>
          </a:prstGeom>
          <a:solidFill>
            <a:srgbClr val="273003"/>
          </a:solidFill>
          <a:ln/>
        </p:spPr>
        <p:txBody>
          <a:bodyPr wrap="square" lIns="257082" tIns="155482" rIns="0" bIns="130082" rtlCol="0" anchor="t">
            <a:normAutofit/>
          </a:bodyPr>
          <a:lstStyle/>
          <a:p>
            <a:pPr marL="0" indent="0" algn="l">
              <a:lnSpc>
                <a:spcPts val="1885"/>
              </a:lnSpc>
              <a:buNone/>
            </a:pPr>
            <a:r>
              <a:rPr lang="en-US" sz="1300" dirty="0">
                <a:solidFill>
                  <a:srgbClr val="F3EEDF"/>
                </a:solidFill>
                <a:latin typeface="JetBrains Mono" pitchFamily="49" charset="0"/>
                <a:ea typeface="JetBrains Mono" pitchFamily="49" charset="-122"/>
                <a:cs typeface="JetBrains Mono" pitchFamily="49" charset="-120"/>
              </a:rPr>
              <a:t>pick 'virulence_score$|Yersiniabactin$|Aerobactin$|Salmochelin$|Colibactin$|RmpADC$|rmpA2$' $K</a:t>
            </a:r>
            <a:endParaRPr lang="en-US" sz="1300" dirty="0"/>
          </a:p>
        </p:txBody>
      </p:sp>
      <p:pic>
        <p:nvPicPr>
          <p:cNvPr id="6" name="Image 0" descr="ILRI and CGIAR logos"/>
          <p:cNvPicPr>
            <a:picLocks noChangeAspect="1"/>
          </p:cNvPicPr>
          <p:nvPr/>
        </p:nvPicPr>
        <p:blipFill>
          <a:blip r:embed="rId3"/>
          <a:srcRect l="-56" r="-56"/>
          <a:stretch/>
        </p:blipFill>
        <p:spPr>
          <a:xfrm>
            <a:off x="10033000" y="254000"/>
            <a:ext cx="1346200" cy="381000"/>
          </a:xfrm>
          <a:prstGeom prst="rect">
            <a:avLst/>
          </a:prstGeom>
        </p:spPr>
      </p:pic>
      <p:sp>
        <p:nvSpPr>
          <p:cNvPr id="7"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8"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Convergent strains</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1683990"/>
            <a:ext cx="10566400" cy="904180"/>
          </a:xfrm>
          <a:prstGeom prst="roundRect">
            <a:avLst>
              <a:gd name="adj" fmla="val 8428"/>
            </a:avLst>
          </a:prstGeom>
          <a:solidFill>
            <a:srgbClr val="891F15"/>
          </a:solidFill>
          <a:ln/>
        </p:spPr>
        <p:txBody>
          <a:bodyPr/>
          <a:lstStyle/>
          <a:p>
            <a:endParaRPr lang="en-KE"/>
          </a:p>
        </p:txBody>
      </p:sp>
      <p:pic>
        <p:nvPicPr>
          <p:cNvPr id="5" name="Image 0" descr="Warning"/>
          <p:cNvPicPr>
            <a:picLocks noChangeAspect="1"/>
          </p:cNvPicPr>
          <p:nvPr/>
        </p:nvPicPr>
        <p:blipFill>
          <a:blip r:embed="rId3"/>
          <a:srcRect t="-434" b="-434"/>
          <a:stretch/>
        </p:blipFill>
        <p:spPr>
          <a:xfrm>
            <a:off x="1041400" y="1932880"/>
            <a:ext cx="308471" cy="406400"/>
          </a:xfrm>
          <a:prstGeom prst="rect">
            <a:avLst/>
          </a:prstGeom>
        </p:spPr>
      </p:pic>
      <p:sp>
        <p:nvSpPr>
          <p:cNvPr id="6" name="Text 3"/>
          <p:cNvSpPr/>
          <p:nvPr/>
        </p:nvSpPr>
        <p:spPr>
          <a:xfrm>
            <a:off x="1502271" y="1861790"/>
            <a:ext cx="9937779"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A </a:t>
            </a:r>
            <a:r>
              <a:rPr lang="en-US" sz="1600" b="1" dirty="0">
                <a:solidFill>
                  <a:srgbClr val="F9F2EA"/>
                </a:solidFill>
                <a:latin typeface="Carlito" pitchFamily="34" charset="0"/>
                <a:ea typeface="Carlito" pitchFamily="34" charset="-122"/>
                <a:cs typeface="Carlito" pitchFamily="34" charset="-120"/>
              </a:rPr>
              <a:t>convergent</a:t>
            </a:r>
            <a:r>
              <a:rPr lang="en-US" sz="1600" dirty="0">
                <a:solidFill>
                  <a:srgbClr val="F9F2EA"/>
                </a:solidFill>
                <a:latin typeface="Carlito" pitchFamily="34" charset="0"/>
                <a:ea typeface="Carlito" pitchFamily="34" charset="-122"/>
                <a:cs typeface="Carlito" pitchFamily="34" charset="-120"/>
              </a:rPr>
              <a:t> strain carries a </a:t>
            </a:r>
            <a:r>
              <a:rPr lang="en-US" sz="1600" b="1" dirty="0">
                <a:solidFill>
                  <a:srgbClr val="F9F2EA"/>
                </a:solidFill>
                <a:latin typeface="Carlito" pitchFamily="34" charset="0"/>
                <a:ea typeface="Carlito" pitchFamily="34" charset="-122"/>
                <a:cs typeface="Carlito" pitchFamily="34" charset="-120"/>
              </a:rPr>
              <a:t>carbapenemase</a:t>
            </a:r>
            <a:r>
              <a:rPr lang="en-US" sz="1600" dirty="0">
                <a:solidFill>
                  <a:srgbClr val="F9F2EA"/>
                </a:solidFill>
                <a:latin typeface="Carlito" pitchFamily="34" charset="0"/>
                <a:ea typeface="Carlito" pitchFamily="34" charset="-122"/>
                <a:cs typeface="Carlito" pitchFamily="34" charset="-120"/>
              </a:rPr>
              <a:t> and </a:t>
            </a:r>
            <a:r>
              <a:rPr lang="en-US" sz="1600" b="1" dirty="0">
                <a:solidFill>
                  <a:srgbClr val="F9F2EA"/>
                </a:solidFill>
                <a:latin typeface="Carlito" pitchFamily="34" charset="0"/>
                <a:ea typeface="Carlito" pitchFamily="34" charset="-122"/>
                <a:cs typeface="Carlito" pitchFamily="34" charset="-120"/>
              </a:rPr>
              <a:t>aerobactin or </a:t>
            </a:r>
            <a:r>
              <a:rPr lang="en-US" sz="1600" b="1" i="1" dirty="0">
                <a:solidFill>
                  <a:srgbClr val="F9F2EA"/>
                </a:solidFill>
                <a:latin typeface="Carlito" pitchFamily="34" charset="0"/>
                <a:ea typeface="Carlito" pitchFamily="34" charset="-122"/>
                <a:cs typeface="Carlito" pitchFamily="34" charset="-120"/>
              </a:rPr>
              <a:t>rmp</a:t>
            </a:r>
            <a:r>
              <a:rPr lang="en-US" sz="1600" dirty="0">
                <a:solidFill>
                  <a:srgbClr val="F9F2EA"/>
                </a:solidFill>
                <a:latin typeface="Carlito" pitchFamily="34" charset="0"/>
                <a:ea typeface="Carlito" pitchFamily="34" charset="-122"/>
                <a:cs typeface="Carlito" pitchFamily="34" charset="-120"/>
              </a:rPr>
              <a:t>. Report it immediately: very limited treatment options combined with high virulence.</a:t>
            </a:r>
            <a:endParaRPr lang="en-US" sz="1600" dirty="0"/>
          </a:p>
        </p:txBody>
      </p:sp>
      <p:sp>
        <p:nvSpPr>
          <p:cNvPr id="7" name="Text 4"/>
          <p:cNvSpPr/>
          <p:nvPr/>
        </p:nvSpPr>
        <p:spPr>
          <a:xfrm>
            <a:off x="812800" y="2816771"/>
            <a:ext cx="1088339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273003"/>
                </a:solidFill>
                <a:latin typeface="Carlito" pitchFamily="34" charset="0"/>
                <a:ea typeface="Carlito" pitchFamily="34" charset="-122"/>
                <a:cs typeface="Carlito" pitchFamily="34" charset="-120"/>
              </a:rPr>
              <a:t>Highest virulence scores in the training set (published Kleborate v2 results)</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3286671"/>
          <a:ext cx="10553700" cy="1309093"/>
        </p:xfrm>
        <a:graphic>
          <a:graphicData uri="http://schemas.openxmlformats.org/drawingml/2006/table">
            <a:tbl>
              <a:tblPr/>
              <a:tblGrid>
                <a:gridCol w="2743962">
                  <a:extLst>
                    <a:ext uri="{9D8B030D-6E8A-4147-A177-3AD203B41FA5}">
                      <a16:colId xmlns:a16="http://schemas.microsoft.com/office/drawing/2014/main" val="20000"/>
                    </a:ext>
                  </a:extLst>
                </a:gridCol>
                <a:gridCol w="1055370">
                  <a:extLst>
                    <a:ext uri="{9D8B030D-6E8A-4147-A177-3AD203B41FA5}">
                      <a16:colId xmlns:a16="http://schemas.microsoft.com/office/drawing/2014/main" val="20001"/>
                    </a:ext>
                  </a:extLst>
                </a:gridCol>
                <a:gridCol w="6754368">
                  <a:extLst>
                    <a:ext uri="{9D8B030D-6E8A-4147-A177-3AD203B41FA5}">
                      <a16:colId xmlns:a16="http://schemas.microsoft.com/office/drawing/2014/main" val="20002"/>
                    </a:ext>
                  </a:extLst>
                </a:gridCol>
              </a:tblGrid>
              <a:tr h="359321">
                <a:tc>
                  <a:txBody>
                    <a:bodyPr/>
                    <a:lstStyle/>
                    <a:p>
                      <a:pPr marL="0" indent="0">
                        <a:lnSpc>
                          <a:spcPts val="1820"/>
                        </a:lnSpc>
                        <a:buNone/>
                      </a:pPr>
                      <a:r>
                        <a:rPr lang="en-US" sz="1300" b="1" dirty="0">
                          <a:solidFill>
                            <a:srgbClr val="F9F2EA"/>
                          </a:solidFill>
                          <a:latin typeface="Carlito" pitchFamily="34" charset="0"/>
                          <a:ea typeface="Carlito" pitchFamily="34" charset="-122"/>
                          <a:cs typeface="Carlito" pitchFamily="34" charset="-120"/>
                        </a:rPr>
                        <a:t>Isolate</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820"/>
                        </a:lnSpc>
                        <a:buNone/>
                      </a:pPr>
                      <a:r>
                        <a:rPr lang="en-US" sz="1300" b="1" dirty="0">
                          <a:solidFill>
                            <a:srgbClr val="F9F2EA"/>
                          </a:solidFill>
                          <a:latin typeface="Carlito" pitchFamily="34" charset="0"/>
                          <a:ea typeface="Carlito" pitchFamily="34" charset="-122"/>
                          <a:cs typeface="Carlito" pitchFamily="34" charset="-120"/>
                        </a:rPr>
                        <a:t>Score</a:t>
                      </a:r>
                      <a:endParaRPr lang="en-US" sz="1300" dirty="0">
                        <a:latin typeface="Carlito" charset="0"/>
                        <a:ea typeface="Carlito" charset="0"/>
                        <a:cs typeface="Carlito" charset="0"/>
                      </a:endParaRPr>
                    </a:p>
                  </a:txBody>
                  <a:tcPr marL="57785" marR="57785" marT="57785" marB="57785">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tc>
                  <a:txBody>
                    <a:bodyPr/>
                    <a:lstStyle/>
                    <a:p>
                      <a:pPr marL="0" indent="0">
                        <a:lnSpc>
                          <a:spcPts val="1820"/>
                        </a:lnSpc>
                        <a:buNone/>
                      </a:pPr>
                      <a:r>
                        <a:rPr lang="en-US" sz="1300" b="1" dirty="0">
                          <a:solidFill>
                            <a:srgbClr val="F9F2EA"/>
                          </a:solidFill>
                          <a:latin typeface="Carlito" pitchFamily="34" charset="0"/>
                          <a:ea typeface="Carlito" pitchFamily="34" charset="-122"/>
                          <a:cs typeface="Carlito" pitchFamily="34" charset="-120"/>
                        </a:rPr>
                        <a:t>Loci</a:t>
                      </a:r>
                      <a:endParaRPr lang="en-US" sz="1300" dirty="0">
                        <a:latin typeface="Carlito" charset="0"/>
                        <a:ea typeface="Carlito" charset="0"/>
                        <a:cs typeface="Carlito" charset="0"/>
                      </a:endParaRPr>
                    </a:p>
                  </a:txBody>
                  <a:tcPr marL="57785" marR="57785" marT="57785" marB="57785">
                    <a:lnL w="12700" cap="flat" cmpd="sng" algn="ctr">
                      <a:solidFill>
                        <a:srgbClr val="232A07"/>
                      </a:solidFill>
                      <a:prstDash val="solid"/>
                      <a:round/>
                      <a:headEnd type="none" w="med" len="med"/>
                      <a:tailEnd type="none" w="med" len="med"/>
                    </a:lnL>
                    <a:lnR w="12700" cap="flat" cmpd="sng" algn="ctr">
                      <a:solidFill>
                        <a:srgbClr val="232A07"/>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232A07"/>
                      </a:solidFill>
                      <a:prstDash val="solid"/>
                      <a:round/>
                      <a:headEnd type="none" w="med" len="med"/>
                      <a:tailEnd type="none" w="med" len="med"/>
                    </a:lnB>
                    <a:solidFill>
                      <a:srgbClr val="273003"/>
                    </a:solidFill>
                  </a:tcPr>
                </a:tc>
                <a:extLst>
                  <a:ext uri="{0D108BD9-81ED-4DB2-BD59-A6C34878D82A}">
                    <a16:rowId xmlns:a16="http://schemas.microsoft.com/office/drawing/2014/main" val="10000"/>
                  </a:ext>
                </a:extLst>
              </a:tr>
              <a:tr h="59045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CAAUM3 (ST1049, KL5)</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4</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yersiniabactin (ybt 2, ICEKp1); aerobactin iuc 3 truncated; salmochelin iro 3 truncated; rmp 3 (ICEKp1)</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7C1BB"/>
                      </a:solidFill>
                      <a:prstDash val="solid"/>
                      <a:round/>
                      <a:headEnd type="none" w="med" len="med"/>
                      <a:tailEnd type="none" w="med" len="med"/>
                    </a:lnR>
                    <a:lnT w="12700" cap="flat" cmpd="sng" algn="ctr">
                      <a:solidFill>
                        <a:srgbClr val="232A07"/>
                      </a:solidFill>
                      <a:prstDash val="solid"/>
                      <a:round/>
                      <a:headEnd type="none" w="med" len="med"/>
                      <a:tailEnd type="none" w="med" len="med"/>
                    </a:lnT>
                    <a:lnB w="12700" cap="flat" cmpd="sng" algn="ctr">
                      <a:solidFill>
                        <a:srgbClr val="C7C1BB"/>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1013757 (K. variicola)</a:t>
                      </a:r>
                      <a:endParaRPr lang="en-US" sz="1300" dirty="0">
                        <a:latin typeface="Carlito" charset="0"/>
                        <a:ea typeface="Carlito" charset="0"/>
                        <a:cs typeface="Carlito" charset="0"/>
                      </a:endParaRPr>
                    </a:p>
                  </a:txBody>
                  <a:tcPr marL="57785" marR="57785" marT="57785" marB="57785">
                    <a:lnL w="12700" cap="flat" cmpd="sng" algn="ctr">
                      <a:solidFill>
                        <a:srgbClr val="C7C1BB"/>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3</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tc>
                  <a:txBody>
                    <a:bodyPr/>
                    <a:lstStyle/>
                    <a:p>
                      <a:pPr marL="0" indent="0">
                        <a:lnSpc>
                          <a:spcPts val="1820"/>
                        </a:lnSpc>
                        <a:buNone/>
                      </a:pPr>
                      <a:r>
                        <a:rPr lang="en-US" sz="1300" dirty="0">
                          <a:solidFill>
                            <a:srgbClr val="3A322C"/>
                          </a:solidFill>
                          <a:latin typeface="Carlito" pitchFamily="34" charset="0"/>
                          <a:ea typeface="Carlito" pitchFamily="34" charset="-122"/>
                          <a:cs typeface="Carlito" pitchFamily="34" charset="-120"/>
                        </a:rPr>
                        <a:t>aerobactin iuc 5; salmochelin iro 5</a:t>
                      </a:r>
                      <a:endParaRPr lang="en-US" sz="1300" dirty="0">
                        <a:latin typeface="Carlito" charset="0"/>
                        <a:ea typeface="Carlito" charset="0"/>
                        <a:cs typeface="Carlito" charset="0"/>
                      </a:endParaRPr>
                    </a:p>
                  </a:txBody>
                  <a:tcPr marL="57785" marR="57785" marT="57785" marB="57785">
                    <a:lnL w="12700" cap="flat" cmpd="sng" algn="ctr">
                      <a:solidFill>
                        <a:srgbClr val="C0B8AE"/>
                      </a:solidFill>
                      <a:prstDash val="solid"/>
                      <a:round/>
                      <a:headEnd type="none" w="med" len="med"/>
                      <a:tailEnd type="none" w="med" len="med"/>
                    </a:lnL>
                    <a:lnR w="12700" cap="flat" cmpd="sng" algn="ctr">
                      <a:solidFill>
                        <a:srgbClr val="C0B8AE"/>
                      </a:solidFill>
                      <a:prstDash val="solid"/>
                      <a:round/>
                      <a:headEnd type="none" w="med" len="med"/>
                      <a:tailEnd type="none" w="med" len="med"/>
                    </a:lnR>
                    <a:lnT w="12700" cap="flat" cmpd="sng" algn="ctr">
                      <a:solidFill>
                        <a:srgbClr val="C7C1BB"/>
                      </a:solidFill>
                      <a:prstDash val="solid"/>
                      <a:round/>
                      <a:headEnd type="none" w="med" len="med"/>
                      <a:tailEnd type="none" w="med" len="med"/>
                    </a:lnT>
                    <a:lnB w="12700" cap="flat" cmpd="sng" algn="ctr">
                      <a:solidFill>
                        <a:srgbClr val="C0B8AE"/>
                      </a:solidFill>
                      <a:prstDash val="solid"/>
                      <a:round/>
                      <a:headEnd type="none" w="med" len="med"/>
                      <a:tailEnd type="none" w="med" len="med"/>
                    </a:lnB>
                    <a:solidFill>
                      <a:srgbClr val="F1E6DA"/>
                    </a:solidFill>
                  </a:tcPr>
                </a:tc>
                <a:extLst>
                  <a:ext uri="{0D108BD9-81ED-4DB2-BD59-A6C34878D82A}">
                    <a16:rowId xmlns:a16="http://schemas.microsoft.com/office/drawing/2014/main" val="10002"/>
                  </a:ext>
                </a:extLst>
              </a:tr>
            </a:tbl>
          </a:graphicData>
        </a:graphic>
      </p:graphicFrame>
      <p:sp>
        <p:nvSpPr>
          <p:cNvPr id="9" name="Text 5"/>
          <p:cNvSpPr/>
          <p:nvPr/>
        </p:nvSpPr>
        <p:spPr>
          <a:xfrm>
            <a:off x="812800" y="4824363"/>
            <a:ext cx="10883392" cy="26541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3A322C"/>
                </a:solidFill>
                <a:latin typeface="Carlito" pitchFamily="34" charset="0"/>
                <a:ea typeface="Carlito" pitchFamily="34" charset="-122"/>
                <a:cs typeface="Carlito" pitchFamily="34" charset="-120"/>
              </a:rPr>
              <a:t>Is either convergent? Does a truncated aerobactin locus still count towards hypervirulence?</a:t>
            </a:r>
            <a:endParaRPr lang="en-US" sz="1400" dirty="0"/>
          </a:p>
        </p:txBody>
      </p:sp>
      <p:pic>
        <p:nvPicPr>
          <p:cNvPr id="10" name="Image 1" descr="ILRI and CGIAR logos"/>
          <p:cNvPicPr>
            <a:picLocks noChangeAspect="1"/>
          </p:cNvPicPr>
          <p:nvPr/>
        </p:nvPicPr>
        <p:blipFill>
          <a:blip r:embed="rId4"/>
          <a:srcRect l="-56" r="-56"/>
          <a:stretch/>
        </p:blipFill>
        <p:spPr>
          <a:xfrm>
            <a:off x="10033000" y="254000"/>
            <a:ext cx="1346200" cy="381000"/>
          </a:xfrm>
          <a:prstGeom prst="rect">
            <a:avLst/>
          </a:prstGeom>
        </p:spPr>
      </p:pic>
      <p:sp>
        <p:nvSpPr>
          <p:cNvPr id="11" name="Text 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2" name="Text 7"/>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73003"/>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9F2EA"/>
                </a:solidFill>
                <a:latin typeface="Carlito" pitchFamily="34" charset="0"/>
                <a:ea typeface="Carlito" pitchFamily="34" charset="-122"/>
                <a:cs typeface="Carlito" pitchFamily="34" charset="-120"/>
              </a:rPr>
              <a:t>Check your understanding</a:t>
            </a:r>
            <a:endParaRPr lang="en-US" sz="3600" dirty="0"/>
          </a:p>
        </p:txBody>
      </p:sp>
      <p:sp>
        <p:nvSpPr>
          <p:cNvPr id="3" name="Shape 1"/>
          <p:cNvSpPr/>
          <p:nvPr/>
        </p:nvSpPr>
        <p:spPr>
          <a:xfrm>
            <a:off x="812800" y="1417290"/>
            <a:ext cx="1524000" cy="38100"/>
          </a:xfrm>
          <a:prstGeom prst="roundRect">
            <a:avLst>
              <a:gd name="adj" fmla="val 50000"/>
            </a:avLst>
          </a:prstGeom>
          <a:solidFill>
            <a:srgbClr val="FFCE00"/>
          </a:solidFill>
          <a:ln/>
        </p:spPr>
        <p:txBody>
          <a:bodyPr/>
          <a:lstStyle/>
          <a:p>
            <a:endParaRPr lang="en-KE"/>
          </a:p>
        </p:txBody>
      </p:sp>
      <p:sp>
        <p:nvSpPr>
          <p:cNvPr id="4" name="Text 2"/>
          <p:cNvSpPr/>
          <p:nvPr/>
        </p:nvSpPr>
        <p:spPr>
          <a:xfrm>
            <a:off x="812800" y="1709390"/>
            <a:ext cx="205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1</a:t>
            </a:r>
            <a:endParaRPr lang="en-US" sz="2400" dirty="0"/>
          </a:p>
        </p:txBody>
      </p:sp>
      <p:sp>
        <p:nvSpPr>
          <p:cNvPr id="5" name="Text 3"/>
          <p:cNvSpPr/>
          <p:nvPr/>
        </p:nvSpPr>
        <p:spPr>
          <a:xfrm>
            <a:off x="1119684" y="1709390"/>
            <a:ext cx="4976316" cy="29969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Kleborate reports </a:t>
            </a:r>
            <a:r>
              <a:rPr lang="en-US" sz="1600" b="1" dirty="0">
                <a:solidFill>
                  <a:srgbClr val="F9F2EA"/>
                </a:solidFill>
                <a:latin typeface="Carlito" pitchFamily="34" charset="0"/>
                <a:ea typeface="Carlito" pitchFamily="34" charset="-122"/>
                <a:cs typeface="Carlito" pitchFamily="34" charset="-120"/>
              </a:rPr>
              <a:t>ST14-1LV</a:t>
            </a:r>
            <a:r>
              <a:rPr lang="en-US" sz="1600" dirty="0">
                <a:solidFill>
                  <a:srgbClr val="F9F2EA"/>
                </a:solidFill>
                <a:latin typeface="Carlito" pitchFamily="34" charset="0"/>
                <a:ea typeface="Carlito" pitchFamily="34" charset="-122"/>
                <a:cs typeface="Carlito" pitchFamily="34" charset="-120"/>
              </a:rPr>
              <a:t>. What does the suffix mean?</a:t>
            </a:r>
            <a:endParaRPr lang="en-US" sz="1600" dirty="0"/>
          </a:p>
        </p:txBody>
      </p:sp>
      <p:sp>
        <p:nvSpPr>
          <p:cNvPr id="6" name="Text 4"/>
          <p:cNvSpPr/>
          <p:nvPr/>
        </p:nvSpPr>
        <p:spPr>
          <a:xfrm>
            <a:off x="812800" y="2678466"/>
            <a:ext cx="205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2</a:t>
            </a:r>
            <a:endParaRPr lang="en-US" sz="2400" dirty="0"/>
          </a:p>
        </p:txBody>
      </p:sp>
      <p:sp>
        <p:nvSpPr>
          <p:cNvPr id="7" name="Text 5"/>
          <p:cNvSpPr/>
          <p:nvPr/>
        </p:nvSpPr>
        <p:spPr>
          <a:xfrm>
            <a:off x="1119684" y="2678466"/>
            <a:ext cx="5125606"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Why might two isolates with the same ST still be unrelated in a hospital outbreak?</a:t>
            </a:r>
            <a:endParaRPr lang="en-US" sz="1600" dirty="0"/>
          </a:p>
        </p:txBody>
      </p:sp>
      <p:sp>
        <p:nvSpPr>
          <p:cNvPr id="8" name="Text 6"/>
          <p:cNvSpPr/>
          <p:nvPr/>
        </p:nvSpPr>
        <p:spPr>
          <a:xfrm>
            <a:off x="812800" y="3666437"/>
            <a:ext cx="205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3</a:t>
            </a:r>
            <a:endParaRPr lang="en-US" sz="2400" dirty="0"/>
          </a:p>
        </p:txBody>
      </p:sp>
      <p:sp>
        <p:nvSpPr>
          <p:cNvPr id="9" name="Text 7"/>
          <p:cNvSpPr/>
          <p:nvPr/>
        </p:nvSpPr>
        <p:spPr>
          <a:xfrm>
            <a:off x="1119684" y="3666437"/>
            <a:ext cx="5125606"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ST39 is 12 of our 29 isolates. Why is that not its prevalence in Blantyre?</a:t>
            </a:r>
            <a:endParaRPr lang="en-US" sz="1600" dirty="0"/>
          </a:p>
        </p:txBody>
      </p:sp>
      <p:sp>
        <p:nvSpPr>
          <p:cNvPr id="10" name="Text 8"/>
          <p:cNvSpPr/>
          <p:nvPr/>
        </p:nvSpPr>
        <p:spPr>
          <a:xfrm>
            <a:off x="812800" y="4996310"/>
            <a:ext cx="205284" cy="452090"/>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FFCE00"/>
                </a:solidFill>
                <a:latin typeface="Carlito" pitchFamily="34" charset="0"/>
                <a:ea typeface="Carlito" pitchFamily="34" charset="-122"/>
                <a:cs typeface="Carlito" pitchFamily="34" charset="-120"/>
              </a:rPr>
              <a:t>4</a:t>
            </a:r>
            <a:endParaRPr lang="en-US" sz="2400" dirty="0"/>
          </a:p>
        </p:txBody>
      </p:sp>
      <p:sp>
        <p:nvSpPr>
          <p:cNvPr id="11" name="Text 9"/>
          <p:cNvSpPr/>
          <p:nvPr/>
        </p:nvSpPr>
        <p:spPr>
          <a:xfrm>
            <a:off x="1119684" y="4996310"/>
            <a:ext cx="5125606" cy="57398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F9F2EA"/>
                </a:solidFill>
                <a:latin typeface="Carlito" pitchFamily="34" charset="0"/>
                <a:ea typeface="Carlito" pitchFamily="34" charset="-122"/>
                <a:cs typeface="Carlito" pitchFamily="34" charset="-120"/>
              </a:rPr>
              <a:t>Why does gentamicin resistance decide whether first-line treatment of </a:t>
            </a:r>
            <a:r>
              <a:rPr lang="en-US" sz="1600" i="1" dirty="0">
                <a:solidFill>
                  <a:srgbClr val="F9F2EA"/>
                </a:solidFill>
                <a:latin typeface="Carlito" pitchFamily="34" charset="0"/>
                <a:ea typeface="Carlito" pitchFamily="34" charset="-122"/>
                <a:cs typeface="Carlito" pitchFamily="34" charset="-120"/>
              </a:rPr>
              <a:t>K. pneumoniae</a:t>
            </a:r>
            <a:r>
              <a:rPr lang="en-US" sz="1600" dirty="0">
                <a:solidFill>
                  <a:srgbClr val="F9F2EA"/>
                </a:solidFill>
                <a:latin typeface="Carlito" pitchFamily="34" charset="0"/>
                <a:ea typeface="Carlito" pitchFamily="34" charset="-122"/>
                <a:cs typeface="Carlito" pitchFamily="34" charset="-120"/>
              </a:rPr>
              <a:t> sepsis can work?</a:t>
            </a:r>
            <a:endParaRPr lang="en-US" sz="1600" dirty="0"/>
          </a:p>
        </p:txBody>
      </p:sp>
      <p:sp>
        <p:nvSpPr>
          <p:cNvPr id="12" name="Text 10"/>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08A"/>
                </a:solidFill>
                <a:latin typeface="Carlito" pitchFamily="34" charset="0"/>
                <a:ea typeface="Carlito" pitchFamily="34" charset="-122"/>
                <a:cs typeface="Carlito" pitchFamily="34" charset="-120"/>
              </a:rPr>
              <a:t>Module 3 · Typing and AMR genes | Day 3</a:t>
            </a:r>
            <a:endParaRPr lang="en-US" sz="1200" dirty="0"/>
          </a:p>
        </p:txBody>
      </p:sp>
      <p:sp>
        <p:nvSpPr>
          <p:cNvPr id="13" name="Text 11"/>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B9C08A"/>
                </a:solidFill>
                <a:latin typeface="Carlito" pitchFamily="34" charset="0"/>
                <a:ea typeface="Carlito" pitchFamily="34" charset="-122"/>
                <a:cs typeface="Carlito"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End-of-day checklist</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Shape 2"/>
          <p:cNvSpPr/>
          <p:nvPr/>
        </p:nvSpPr>
        <p:spPr>
          <a:xfrm>
            <a:off x="812800" y="2147540"/>
            <a:ext cx="10566400" cy="0"/>
          </a:xfrm>
          <a:prstGeom prst="line">
            <a:avLst/>
          </a:prstGeom>
          <a:noFill/>
          <a:ln w="12700">
            <a:solidFill>
              <a:srgbClr val="D9CDBF"/>
            </a:solidFill>
            <a:prstDash val="solid"/>
          </a:ln>
        </p:spPr>
        <p:txBody>
          <a:bodyPr/>
          <a:lstStyle/>
          <a:p>
            <a:endParaRPr lang="en-KE"/>
          </a:p>
        </p:txBody>
      </p:sp>
      <p:pic>
        <p:nvPicPr>
          <p:cNvPr id="5" name="Image 0" descr="CheckCircle"/>
          <p:cNvPicPr>
            <a:picLocks noChangeAspect="1"/>
          </p:cNvPicPr>
          <p:nvPr/>
        </p:nvPicPr>
        <p:blipFill>
          <a:blip r:embed="rId3"/>
          <a:srcRect/>
          <a:stretch/>
        </p:blipFill>
        <p:spPr>
          <a:xfrm>
            <a:off x="812800" y="1709390"/>
            <a:ext cx="304800" cy="304800"/>
          </a:xfrm>
          <a:prstGeom prst="rect">
            <a:avLst/>
          </a:prstGeom>
        </p:spPr>
      </p:pic>
      <p:sp>
        <p:nvSpPr>
          <p:cNvPr id="6" name="Text 3"/>
          <p:cNvSpPr/>
          <p:nvPr/>
        </p:nvSpPr>
        <p:spPr>
          <a:xfrm>
            <a:off x="1295400" y="1729730"/>
            <a:ext cx="6954679"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3A322C"/>
                </a:solidFill>
                <a:latin typeface="Carlito" pitchFamily="34" charset="0"/>
                <a:ea typeface="Carlito" pitchFamily="34" charset="-122"/>
                <a:cs typeface="Carlito" pitchFamily="34" charset="-120"/>
              </a:rPr>
              <a:t>Kleborate results for all 29 isolates in </a:t>
            </a:r>
            <a:r>
              <a:rPr lang="en-US" sz="1600" b="1" dirty="0">
                <a:solidFill>
                  <a:srgbClr val="3A322C"/>
                </a:solidFill>
                <a:latin typeface="Carlito" pitchFamily="34" charset="0"/>
                <a:ea typeface="Carlito" pitchFamily="34" charset="-122"/>
                <a:cs typeface="Carlito" pitchFamily="34" charset="-120"/>
              </a:rPr>
              <a:t>$RESULTS/03_typing/kleborate/</a:t>
            </a:r>
            <a:endParaRPr lang="en-US" sz="1600" dirty="0"/>
          </a:p>
        </p:txBody>
      </p:sp>
      <p:sp>
        <p:nvSpPr>
          <p:cNvPr id="7" name="Shape 4"/>
          <p:cNvSpPr/>
          <p:nvPr/>
        </p:nvSpPr>
        <p:spPr>
          <a:xfrm>
            <a:off x="812800" y="2731740"/>
            <a:ext cx="10566400" cy="0"/>
          </a:xfrm>
          <a:prstGeom prst="line">
            <a:avLst/>
          </a:prstGeom>
          <a:noFill/>
          <a:ln w="12700">
            <a:solidFill>
              <a:srgbClr val="D9CDBF"/>
            </a:solidFill>
            <a:prstDash val="solid"/>
          </a:ln>
        </p:spPr>
        <p:txBody>
          <a:bodyPr/>
          <a:lstStyle/>
          <a:p>
            <a:endParaRPr lang="en-KE"/>
          </a:p>
        </p:txBody>
      </p:sp>
      <p:pic>
        <p:nvPicPr>
          <p:cNvPr id="8" name="Image 1" descr="CheckCircle"/>
          <p:cNvPicPr>
            <a:picLocks noChangeAspect="1"/>
          </p:cNvPicPr>
          <p:nvPr/>
        </p:nvPicPr>
        <p:blipFill>
          <a:blip r:embed="rId3"/>
          <a:srcRect/>
          <a:stretch/>
        </p:blipFill>
        <p:spPr>
          <a:xfrm>
            <a:off x="812800" y="2293590"/>
            <a:ext cx="304800" cy="304800"/>
          </a:xfrm>
          <a:prstGeom prst="rect">
            <a:avLst/>
          </a:prstGeom>
        </p:spPr>
      </p:pic>
      <p:sp>
        <p:nvSpPr>
          <p:cNvPr id="9" name="Text 5"/>
          <p:cNvSpPr/>
          <p:nvPr/>
        </p:nvSpPr>
        <p:spPr>
          <a:xfrm>
            <a:off x="1295400" y="2313930"/>
            <a:ext cx="4763214"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3A322C"/>
                </a:solidFill>
                <a:latin typeface="Carlito" pitchFamily="34" charset="0"/>
                <a:ea typeface="Carlito" pitchFamily="34" charset="-122"/>
                <a:cs typeface="Carlito" pitchFamily="34" charset="-120"/>
              </a:rPr>
              <a:t>You found the three non-</a:t>
            </a:r>
            <a:r>
              <a:rPr lang="en-US" sz="1600" i="1" dirty="0">
                <a:solidFill>
                  <a:srgbClr val="3A322C"/>
                </a:solidFill>
                <a:latin typeface="Carlito" pitchFamily="34" charset="0"/>
                <a:ea typeface="Carlito" pitchFamily="34" charset="-122"/>
                <a:cs typeface="Carlito" pitchFamily="34" charset="-120"/>
              </a:rPr>
              <a:t>K. pneumoniae</a:t>
            </a:r>
            <a:r>
              <a:rPr lang="en-US" sz="1600" dirty="0">
                <a:solidFill>
                  <a:srgbClr val="3A322C"/>
                </a:solidFill>
                <a:latin typeface="Carlito" pitchFamily="34" charset="0"/>
                <a:ea typeface="Carlito" pitchFamily="34" charset="-122"/>
                <a:cs typeface="Carlito" pitchFamily="34" charset="-120"/>
              </a:rPr>
              <a:t> isolates</a:t>
            </a:r>
            <a:endParaRPr lang="en-US" sz="1600" dirty="0"/>
          </a:p>
        </p:txBody>
      </p:sp>
      <p:sp>
        <p:nvSpPr>
          <p:cNvPr id="10" name="Shape 6"/>
          <p:cNvSpPr/>
          <p:nvPr/>
        </p:nvSpPr>
        <p:spPr>
          <a:xfrm>
            <a:off x="812800" y="3539381"/>
            <a:ext cx="10566400" cy="0"/>
          </a:xfrm>
          <a:prstGeom prst="line">
            <a:avLst/>
          </a:prstGeom>
          <a:noFill/>
          <a:ln w="12700">
            <a:solidFill>
              <a:srgbClr val="D9CDBF"/>
            </a:solidFill>
            <a:prstDash val="solid"/>
          </a:ln>
        </p:spPr>
        <p:txBody>
          <a:bodyPr/>
          <a:lstStyle/>
          <a:p>
            <a:endParaRPr lang="en-KE"/>
          </a:p>
        </p:txBody>
      </p:sp>
      <p:pic>
        <p:nvPicPr>
          <p:cNvPr id="11" name="Image 2" descr="CheckCircle"/>
          <p:cNvPicPr>
            <a:picLocks noChangeAspect="1"/>
          </p:cNvPicPr>
          <p:nvPr/>
        </p:nvPicPr>
        <p:blipFill>
          <a:blip r:embed="rId4"/>
          <a:srcRect t="-201" b="-201"/>
          <a:stretch/>
        </p:blipFill>
        <p:spPr>
          <a:xfrm>
            <a:off x="812800" y="2989511"/>
            <a:ext cx="259308" cy="304800"/>
          </a:xfrm>
          <a:prstGeom prst="rect">
            <a:avLst/>
          </a:prstGeom>
        </p:spPr>
      </p:pic>
      <p:sp>
        <p:nvSpPr>
          <p:cNvPr id="12" name="Text 7"/>
          <p:cNvSpPr/>
          <p:nvPr/>
        </p:nvSpPr>
        <p:spPr>
          <a:xfrm>
            <a:off x="1249908" y="2877790"/>
            <a:ext cx="10433171" cy="553641"/>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3A322C"/>
                </a:solidFill>
                <a:latin typeface="Carlito" pitchFamily="34" charset="0"/>
                <a:ea typeface="Carlito" pitchFamily="34" charset="-122"/>
                <a:cs typeface="Carlito" pitchFamily="34" charset="-120"/>
              </a:rPr>
              <a:t>One-page lineage summary: an ST count table or bar chart, and three sentences of interpretation, including why these counts are not prevalence</a:t>
            </a:r>
            <a:endParaRPr lang="en-US" sz="1600" dirty="0"/>
          </a:p>
        </p:txBody>
      </p:sp>
      <p:sp>
        <p:nvSpPr>
          <p:cNvPr id="13" name="Shape 8"/>
          <p:cNvSpPr/>
          <p:nvPr/>
        </p:nvSpPr>
        <p:spPr>
          <a:xfrm>
            <a:off x="812800" y="4123581"/>
            <a:ext cx="10566400" cy="0"/>
          </a:xfrm>
          <a:prstGeom prst="line">
            <a:avLst/>
          </a:prstGeom>
          <a:noFill/>
          <a:ln w="12700">
            <a:solidFill>
              <a:srgbClr val="D9CDBF"/>
            </a:solidFill>
            <a:prstDash val="solid"/>
          </a:ln>
        </p:spPr>
        <p:txBody>
          <a:bodyPr/>
          <a:lstStyle/>
          <a:p>
            <a:endParaRPr lang="en-KE"/>
          </a:p>
        </p:txBody>
      </p:sp>
      <p:pic>
        <p:nvPicPr>
          <p:cNvPr id="14" name="Image 3" descr="CheckCircle"/>
          <p:cNvPicPr>
            <a:picLocks noChangeAspect="1"/>
          </p:cNvPicPr>
          <p:nvPr/>
        </p:nvPicPr>
        <p:blipFill>
          <a:blip r:embed="rId3"/>
          <a:srcRect/>
          <a:stretch/>
        </p:blipFill>
        <p:spPr>
          <a:xfrm>
            <a:off x="812800" y="3685431"/>
            <a:ext cx="304800" cy="304800"/>
          </a:xfrm>
          <a:prstGeom prst="rect">
            <a:avLst/>
          </a:prstGeom>
        </p:spPr>
      </p:pic>
      <p:sp>
        <p:nvSpPr>
          <p:cNvPr id="15" name="Text 9"/>
          <p:cNvSpPr/>
          <p:nvPr/>
        </p:nvSpPr>
        <p:spPr>
          <a:xfrm>
            <a:off x="1295400" y="3705771"/>
            <a:ext cx="7662863"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3A322C"/>
                </a:solidFill>
                <a:latin typeface="Carlito" pitchFamily="34" charset="0"/>
                <a:ea typeface="Carlito" pitchFamily="34" charset="-122"/>
                <a:cs typeface="Carlito" pitchFamily="34" charset="-120"/>
              </a:rPr>
              <a:t>AMRFinderPlus results combined in </a:t>
            </a:r>
            <a:r>
              <a:rPr lang="en-US" sz="1600" b="1" dirty="0">
                <a:solidFill>
                  <a:srgbClr val="3A322C"/>
                </a:solidFill>
                <a:latin typeface="Carlito" pitchFamily="34" charset="0"/>
                <a:ea typeface="Carlito" pitchFamily="34" charset="-122"/>
                <a:cs typeface="Carlito" pitchFamily="34" charset="-120"/>
              </a:rPr>
              <a:t>$RESULTS/04_amr/amrfinderplus_all.tsv</a:t>
            </a:r>
            <a:endParaRPr lang="en-US" sz="1600" dirty="0"/>
          </a:p>
        </p:txBody>
      </p:sp>
      <p:pic>
        <p:nvPicPr>
          <p:cNvPr id="16" name="Image 4" descr="CheckCircle"/>
          <p:cNvPicPr>
            <a:picLocks noChangeAspect="1"/>
          </p:cNvPicPr>
          <p:nvPr/>
        </p:nvPicPr>
        <p:blipFill>
          <a:blip r:embed="rId3"/>
          <a:srcRect/>
          <a:stretch/>
        </p:blipFill>
        <p:spPr>
          <a:xfrm>
            <a:off x="812800" y="4269631"/>
            <a:ext cx="304800" cy="304800"/>
          </a:xfrm>
          <a:prstGeom prst="rect">
            <a:avLst/>
          </a:prstGeom>
        </p:spPr>
      </p:pic>
      <p:sp>
        <p:nvSpPr>
          <p:cNvPr id="17" name="Text 10"/>
          <p:cNvSpPr/>
          <p:nvPr/>
        </p:nvSpPr>
        <p:spPr>
          <a:xfrm>
            <a:off x="1295400" y="4289971"/>
            <a:ext cx="2951917" cy="289520"/>
          </a:xfrm>
          <a:prstGeom prst="rect">
            <a:avLst/>
          </a:prstGeom>
          <a:noFill/>
          <a:ln/>
        </p:spPr>
        <p:txBody>
          <a:bodyPr wrap="square" lIns="0" tIns="0" rIns="0" bIns="0" rtlCol="0" anchor="t">
            <a:normAutofit/>
          </a:bodyPr>
          <a:lstStyle/>
          <a:p>
            <a:pPr marL="0" indent="0" algn="l">
              <a:lnSpc>
                <a:spcPts val="2080"/>
              </a:lnSpc>
              <a:buNone/>
            </a:pPr>
            <a:r>
              <a:rPr lang="en-US" sz="1600" dirty="0">
                <a:solidFill>
                  <a:srgbClr val="3A322C"/>
                </a:solidFill>
                <a:latin typeface="Carlito" pitchFamily="34" charset="0"/>
                <a:ea typeface="Carlito" pitchFamily="34" charset="-122"/>
                <a:cs typeface="Carlito" pitchFamily="34" charset="-120"/>
              </a:rPr>
              <a:t>The key-genes table is filled in</a:t>
            </a:r>
            <a:endParaRPr lang="en-US" sz="1600" dirty="0"/>
          </a:p>
        </p:txBody>
      </p:sp>
      <p:pic>
        <p:nvPicPr>
          <p:cNvPr id="18" name="Image 5" descr="ILRI and CGIAR logos"/>
          <p:cNvPicPr>
            <a:picLocks noChangeAspect="1"/>
          </p:cNvPicPr>
          <p:nvPr/>
        </p:nvPicPr>
        <p:blipFill>
          <a:blip r:embed="rId5"/>
          <a:srcRect l="-56" r="-56"/>
          <a:stretch/>
        </p:blipFill>
        <p:spPr>
          <a:xfrm>
            <a:off x="10033000" y="254000"/>
            <a:ext cx="1346200" cy="381000"/>
          </a:xfrm>
          <a:prstGeom prst="rect">
            <a:avLst/>
          </a:prstGeom>
        </p:spPr>
      </p:pic>
      <p:sp>
        <p:nvSpPr>
          <p:cNvPr id="19" name="Text 11"/>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20" name="Text 12"/>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9F2EA"/>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6D2637"/>
                </a:solidFill>
                <a:latin typeface="Carlito" pitchFamily="34" charset="0"/>
                <a:ea typeface="Carlito" pitchFamily="34" charset="-122"/>
                <a:cs typeface="Carlito" pitchFamily="34" charset="-120"/>
              </a:rPr>
              <a:t>Further reading</a:t>
            </a:r>
            <a:endParaRPr lang="en-US" sz="3600" dirty="0"/>
          </a:p>
        </p:txBody>
      </p:sp>
      <p:sp>
        <p:nvSpPr>
          <p:cNvPr id="3" name="Shape 1"/>
          <p:cNvSpPr/>
          <p:nvPr/>
        </p:nvSpPr>
        <p:spPr>
          <a:xfrm>
            <a:off x="812800" y="1417290"/>
            <a:ext cx="1524000" cy="38100"/>
          </a:xfrm>
          <a:prstGeom prst="roundRect">
            <a:avLst>
              <a:gd name="adj" fmla="val 50000"/>
            </a:avLst>
          </a:prstGeom>
          <a:solidFill>
            <a:srgbClr val="6D2637"/>
          </a:solidFill>
          <a:ln/>
        </p:spPr>
        <p:txBody>
          <a:bodyPr/>
          <a:lstStyle/>
          <a:p>
            <a:endParaRPr lang="en-KE"/>
          </a:p>
        </p:txBody>
      </p:sp>
      <p:sp>
        <p:nvSpPr>
          <p:cNvPr id="4" name="Text 2"/>
          <p:cNvSpPr/>
          <p:nvPr/>
        </p:nvSpPr>
        <p:spPr>
          <a:xfrm>
            <a:off x="812800" y="1709390"/>
            <a:ext cx="654050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73003"/>
                </a:solidFill>
                <a:latin typeface="Carlito" pitchFamily="34" charset="0"/>
                <a:ea typeface="Carlito" pitchFamily="34" charset="-122"/>
                <a:cs typeface="Carlito" pitchFamily="34" charset="-120"/>
              </a:rPr>
              <a:t>Papers and reports</a:t>
            </a:r>
            <a:endParaRPr lang="en-US" sz="1600" dirty="0"/>
          </a:p>
        </p:txBody>
      </p:sp>
      <p:sp>
        <p:nvSpPr>
          <p:cNvPr id="5" name="Text 3"/>
          <p:cNvSpPr/>
          <p:nvPr/>
        </p:nvSpPr>
        <p:spPr>
          <a:xfrm>
            <a:off x="910844" y="2054820"/>
            <a:ext cx="6434836"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dirty="0">
                <a:solidFill>
                  <a:srgbClr val="3A322C"/>
                </a:solidFill>
                <a:latin typeface="Carlito" pitchFamily="34" charset="0"/>
                <a:ea typeface="Carlito" pitchFamily="34" charset="-122"/>
                <a:cs typeface="Carlito" pitchFamily="34" charset="-120"/>
              </a:rPr>
              <a:t>Lam MMC, et al. A genomic surveillance framework and genotyping tool for </a:t>
            </a:r>
            <a:r>
              <a:rPr lang="en-US" sz="1300" i="1" dirty="0">
                <a:solidFill>
                  <a:srgbClr val="3A322C"/>
                </a:solidFill>
                <a:latin typeface="Carlito" pitchFamily="34" charset="0"/>
                <a:ea typeface="Carlito" pitchFamily="34" charset="-122"/>
                <a:cs typeface="Carlito" pitchFamily="34" charset="-120"/>
              </a:rPr>
              <a:t>Klebsiella pneumoniae</a:t>
            </a:r>
            <a:r>
              <a:rPr lang="en-US" sz="1300" dirty="0">
                <a:solidFill>
                  <a:srgbClr val="3A322C"/>
                </a:solidFill>
                <a:latin typeface="Carlito" pitchFamily="34" charset="0"/>
                <a:ea typeface="Carlito" pitchFamily="34" charset="-122"/>
                <a:cs typeface="Carlito" pitchFamily="34" charset="-120"/>
              </a:rPr>
              <a:t> and its related species complex. </a:t>
            </a:r>
            <a:r>
              <a:rPr lang="en-US" sz="1300" i="1" dirty="0">
                <a:solidFill>
                  <a:srgbClr val="3A322C"/>
                </a:solidFill>
                <a:latin typeface="Carlito" pitchFamily="34" charset="0"/>
                <a:ea typeface="Carlito" pitchFamily="34" charset="-122"/>
                <a:cs typeface="Carlito" pitchFamily="34" charset="-120"/>
              </a:rPr>
              <a:t>Nat Commun</a:t>
            </a:r>
            <a:r>
              <a:rPr lang="en-US" sz="1300" dirty="0">
                <a:solidFill>
                  <a:srgbClr val="3A322C"/>
                </a:solidFill>
                <a:latin typeface="Carlito" pitchFamily="34" charset="0"/>
                <a:ea typeface="Carlito" pitchFamily="34" charset="-122"/>
                <a:cs typeface="Carlito" pitchFamily="34" charset="-120"/>
              </a:rPr>
              <a:t> 2021.</a:t>
            </a:r>
            <a:endParaRPr lang="en-US" sz="1300" dirty="0"/>
          </a:p>
          <a:p>
            <a:pPr marL="155956" indent="-155956" algn="l">
              <a:lnSpc>
                <a:spcPts val="1820"/>
              </a:lnSpc>
              <a:buSzPct val="100000"/>
              <a:buChar char="•"/>
            </a:pPr>
            <a:r>
              <a:rPr lang="en-US" sz="1300" dirty="0">
                <a:solidFill>
                  <a:srgbClr val="3A322C"/>
                </a:solidFill>
                <a:latin typeface="Carlito" pitchFamily="34" charset="0"/>
                <a:ea typeface="Carlito" pitchFamily="34" charset="-122"/>
                <a:cs typeface="Carlito" pitchFamily="34" charset="-120"/>
              </a:rPr>
              <a:t>Boolchandani M, et al. </a:t>
            </a:r>
            <a:r>
              <a:rPr lang="en-US" sz="1300" i="1" dirty="0">
                <a:solidFill>
                  <a:srgbClr val="3A322C"/>
                </a:solidFill>
                <a:latin typeface="Carlito" pitchFamily="34" charset="0"/>
                <a:ea typeface="Carlito" pitchFamily="34" charset="-122"/>
                <a:cs typeface="Carlito" pitchFamily="34" charset="-120"/>
              </a:rPr>
              <a:t>Nat Rev Genet</a:t>
            </a:r>
            <a:r>
              <a:rPr lang="en-US" sz="1300" dirty="0">
                <a:solidFill>
                  <a:srgbClr val="3A322C"/>
                </a:solidFill>
                <a:latin typeface="Carlito" pitchFamily="34" charset="0"/>
                <a:ea typeface="Carlito" pitchFamily="34" charset="-122"/>
                <a:cs typeface="Carlito" pitchFamily="34" charset="-120"/>
              </a:rPr>
              <a:t> 2019. doi:10.1038/s41576-019-0108-4</a:t>
            </a:r>
            <a:endParaRPr lang="en-US" sz="1300" dirty="0"/>
          </a:p>
          <a:p>
            <a:pPr marL="155956" indent="-155956" algn="l">
              <a:lnSpc>
                <a:spcPts val="1820"/>
              </a:lnSpc>
              <a:buSzPct val="100000"/>
              <a:buChar char="•"/>
            </a:pPr>
            <a:r>
              <a:rPr lang="en-US" sz="1300" dirty="0">
                <a:solidFill>
                  <a:srgbClr val="3A322C"/>
                </a:solidFill>
                <a:latin typeface="Carlito" pitchFamily="34" charset="0"/>
                <a:ea typeface="Carlito" pitchFamily="34" charset="-122"/>
                <a:cs typeface="Carlito" pitchFamily="34" charset="-120"/>
              </a:rPr>
              <a:t>World Health Organization: </a:t>
            </a:r>
            <a:r>
              <a:rPr lang="en-US" sz="1300" u="sng" dirty="0">
                <a:solidFill>
                  <a:srgbClr val="3A322C"/>
                </a:solidFill>
                <a:latin typeface="Carlito" pitchFamily="34" charset="0"/>
                <a:ea typeface="Carlito" pitchFamily="34" charset="-122"/>
                <a:cs typeface="Carlito" pitchFamily="34" charset="-120"/>
                <a:hlinkClick r:id="rId3">
                  <a:extLst>
                    <a:ext uri="{A12FA001-AC4F-418D-AE19-62706E023703}">
                      <ahyp:hlinkClr xmlns:ahyp="http://schemas.microsoft.com/office/drawing/2018/hyperlinkcolor" val="tx"/>
                    </a:ext>
                  </a:extLst>
                </a:hlinkClick>
              </a:rPr>
              <a:t>WGS for AMR surveillance</a:t>
            </a:r>
            <a:endParaRPr lang="en-US" sz="1300" dirty="0"/>
          </a:p>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4">
                  <a:extLst>
                    <a:ext uri="{A12FA001-AC4F-418D-AE19-62706E023703}">
                      <ahyp:hlinkClr xmlns:ahyp="http://schemas.microsoft.com/office/drawing/2018/hyperlinkcolor" val="tx"/>
                    </a:ext>
                  </a:extLst>
                </a:hlinkClick>
              </a:rPr>
              <a:t>MLST explained (kiepczi.github.io)</a:t>
            </a:r>
            <a:endParaRPr lang="en-US" sz="1300" dirty="0"/>
          </a:p>
        </p:txBody>
      </p:sp>
      <p:sp>
        <p:nvSpPr>
          <p:cNvPr id="6" name="Text 4"/>
          <p:cNvSpPr/>
          <p:nvPr/>
        </p:nvSpPr>
        <p:spPr>
          <a:xfrm>
            <a:off x="7569200" y="1709390"/>
            <a:ext cx="392430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273003"/>
                </a:solidFill>
                <a:latin typeface="Carlito" pitchFamily="34" charset="0"/>
                <a:ea typeface="Carlito" pitchFamily="34" charset="-122"/>
                <a:cs typeface="Carlito" pitchFamily="34" charset="-120"/>
              </a:rPr>
              <a:t>Tools and databases</a:t>
            </a:r>
            <a:endParaRPr lang="en-US" sz="1600" dirty="0"/>
          </a:p>
        </p:txBody>
      </p:sp>
      <p:sp>
        <p:nvSpPr>
          <p:cNvPr id="7" name="Text 5"/>
          <p:cNvSpPr/>
          <p:nvPr/>
        </p:nvSpPr>
        <p:spPr>
          <a:xfrm>
            <a:off x="7667244" y="2054820"/>
            <a:ext cx="3818636" cy="1181050"/>
          </a:xfrm>
          <a:prstGeom prst="rect">
            <a:avLst/>
          </a:prstGeom>
          <a:noFill/>
          <a:ln/>
        </p:spPr>
        <p:txBody>
          <a:bodyPr wrap="square" lIns="0" tIns="0" rIns="0" bIns="0" rtlCol="0" anchor="t">
            <a:normAutofit/>
          </a:bodyPr>
          <a:lstStyle/>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5">
                  <a:extLst>
                    <a:ext uri="{A12FA001-AC4F-418D-AE19-62706E023703}">
                      <ahyp:hlinkClr xmlns:ahyp="http://schemas.microsoft.com/office/drawing/2018/hyperlinkcolor" val="tx"/>
                    </a:ext>
                  </a:extLst>
                </a:hlinkClick>
              </a:rPr>
              <a:t>Kleborate</a:t>
            </a:r>
            <a:r>
              <a:rPr lang="en-US" sz="1300" dirty="0">
                <a:solidFill>
                  <a:srgbClr val="3A322C"/>
                </a:solidFill>
                <a:latin typeface="Carlito" pitchFamily="34" charset="0"/>
                <a:ea typeface="Carlito" pitchFamily="34" charset="-122"/>
                <a:cs typeface="Carlito" pitchFamily="34" charset="-120"/>
              </a:rPr>
              <a:t> and </a:t>
            </a:r>
            <a:r>
              <a:rPr lang="en-US" sz="1300" u="sng" dirty="0">
                <a:solidFill>
                  <a:srgbClr val="3A322C"/>
                </a:solidFill>
                <a:latin typeface="Carlito" pitchFamily="34" charset="0"/>
                <a:ea typeface="Carlito" pitchFamily="34" charset="-122"/>
                <a:cs typeface="Carlito" pitchFamily="34" charset="-120"/>
                <a:hlinkClick r:id="rId6">
                  <a:extLst>
                    <a:ext uri="{A12FA001-AC4F-418D-AE19-62706E023703}">
                      <ahyp:hlinkClr xmlns:ahyp="http://schemas.microsoft.com/office/drawing/2018/hyperlinkcolor" val="tx"/>
                    </a:ext>
                  </a:extLst>
                </a:hlinkClick>
              </a:rPr>
              <a:t>AMRFinderPlus</a:t>
            </a:r>
            <a:endParaRPr lang="en-US" sz="1300" dirty="0"/>
          </a:p>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7">
                  <a:extLst>
                    <a:ext uri="{A12FA001-AC4F-418D-AE19-62706E023703}">
                      <ahyp:hlinkClr xmlns:ahyp="http://schemas.microsoft.com/office/drawing/2018/hyperlinkcolor" val="tx"/>
                    </a:ext>
                  </a:extLst>
                </a:hlinkClick>
              </a:rPr>
              <a:t>Pathogenwatch</a:t>
            </a:r>
            <a:endParaRPr lang="en-US" sz="1300" dirty="0"/>
          </a:p>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8">
                  <a:extLst>
                    <a:ext uri="{A12FA001-AC4F-418D-AE19-62706E023703}">
                      <ahyp:hlinkClr xmlns:ahyp="http://schemas.microsoft.com/office/drawing/2018/hyperlinkcolor" val="tx"/>
                    </a:ext>
                  </a:extLst>
                </a:hlinkClick>
              </a:rPr>
              <a:t>PubMLST</a:t>
            </a:r>
            <a:endParaRPr lang="en-US" sz="1300" dirty="0"/>
          </a:p>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9">
                  <a:extLst>
                    <a:ext uri="{A12FA001-AC4F-418D-AE19-62706E023703}">
                      <ahyp:hlinkClr xmlns:ahyp="http://schemas.microsoft.com/office/drawing/2018/hyperlinkcolor" val="tx"/>
                    </a:ext>
                  </a:extLst>
                </a:hlinkClick>
              </a:rPr>
              <a:t>BIGSdb-Pasteur</a:t>
            </a:r>
            <a:endParaRPr lang="en-US" sz="1300" dirty="0"/>
          </a:p>
          <a:p>
            <a:pPr marL="155956" indent="-155956" algn="l">
              <a:lnSpc>
                <a:spcPts val="1820"/>
              </a:lnSpc>
              <a:buSzPct val="100000"/>
              <a:buChar char="•"/>
            </a:pPr>
            <a:r>
              <a:rPr lang="en-US" sz="1300" u="sng" dirty="0">
                <a:solidFill>
                  <a:srgbClr val="3A322C"/>
                </a:solidFill>
                <a:latin typeface="Carlito" pitchFamily="34" charset="0"/>
                <a:ea typeface="Carlito" pitchFamily="34" charset="-122"/>
                <a:cs typeface="Carlito" pitchFamily="34" charset="-120"/>
                <a:hlinkClick r:id="rId10">
                  <a:extLst>
                    <a:ext uri="{A12FA001-AC4F-418D-AE19-62706E023703}">
                      <ahyp:hlinkClr xmlns:ahyp="http://schemas.microsoft.com/office/drawing/2018/hyperlinkcolor" val="tx"/>
                    </a:ext>
                  </a:extLst>
                </a:hlinkClick>
              </a:rPr>
              <a:t>EnteroBase</a:t>
            </a:r>
            <a:endParaRPr lang="en-US" sz="1300" dirty="0"/>
          </a:p>
        </p:txBody>
      </p:sp>
      <p:pic>
        <p:nvPicPr>
          <p:cNvPr id="8" name="Image 0" descr="ILRI and CGIAR logos"/>
          <p:cNvPicPr>
            <a:picLocks noChangeAspect="1"/>
          </p:cNvPicPr>
          <p:nvPr/>
        </p:nvPicPr>
        <p:blipFill>
          <a:blip r:embed="rId11"/>
          <a:srcRect l="-56" r="-56"/>
          <a:stretch/>
        </p:blipFill>
        <p:spPr>
          <a:xfrm>
            <a:off x="10033000" y="254000"/>
            <a:ext cx="1346200" cy="381000"/>
          </a:xfrm>
          <a:prstGeom prst="rect">
            <a:avLst/>
          </a:prstGeom>
        </p:spPr>
      </p:pic>
      <p:sp>
        <p:nvSpPr>
          <p:cNvPr id="9" name="Text 6"/>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10" name="Text 7"/>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9F2EA"/>
        </a:solidFill>
        <a:effectLst/>
      </p:bgPr>
    </p:bg>
    <p:spTree>
      <p:nvGrpSpPr>
        <p:cNvPr id="1" name=""/>
        <p:cNvGrpSpPr/>
        <p:nvPr/>
      </p:nvGrpSpPr>
      <p:grpSpPr>
        <a:xfrm>
          <a:off x="0" y="0"/>
          <a:ext cx="0" cy="0"/>
          <a:chOff x="0" y="0"/>
          <a:chExt cx="0" cy="0"/>
        </a:xfrm>
      </p:grpSpPr>
      <p:pic>
        <p:nvPicPr>
          <p:cNvPr id="2" name="Image 0" descr="ILRI and CGIAR logos"/>
          <p:cNvPicPr>
            <a:picLocks noChangeAspect="1"/>
          </p:cNvPicPr>
          <p:nvPr/>
        </p:nvPicPr>
        <p:blipFill>
          <a:blip r:embed="rId3"/>
          <a:srcRect t="-63" b="-63"/>
          <a:stretch/>
        </p:blipFill>
        <p:spPr>
          <a:xfrm>
            <a:off x="425450" y="393700"/>
            <a:ext cx="1790700" cy="508000"/>
          </a:xfrm>
          <a:prstGeom prst="rect">
            <a:avLst/>
          </a:prstGeom>
        </p:spPr>
      </p:pic>
      <p:sp>
        <p:nvSpPr>
          <p:cNvPr id="3" name="Text 0"/>
          <p:cNvSpPr>
            <a:spLocks noGrp="1"/>
          </p:cNvSpPr>
          <p:nvPr>
            <p:ph type="title"/>
          </p:nvPr>
        </p:nvSpPr>
        <p:spPr>
          <a:xfrm>
            <a:off x="812800" y="2540000"/>
            <a:ext cx="10883392"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6D2637"/>
                </a:solidFill>
                <a:latin typeface="Carlito" pitchFamily="34" charset="0"/>
                <a:ea typeface="Carlito" pitchFamily="34" charset="-122"/>
                <a:cs typeface="Carlito" pitchFamily="34" charset="-120"/>
              </a:rPr>
              <a:t>Questions?</a:t>
            </a:r>
            <a:endParaRPr lang="en-US" sz="6000" dirty="0"/>
          </a:p>
        </p:txBody>
      </p:sp>
      <p:sp>
        <p:nvSpPr>
          <p:cNvPr id="4" name="Shape 1"/>
          <p:cNvSpPr/>
          <p:nvPr/>
        </p:nvSpPr>
        <p:spPr>
          <a:xfrm>
            <a:off x="812800" y="3543300"/>
            <a:ext cx="1524000" cy="38100"/>
          </a:xfrm>
          <a:prstGeom prst="roundRect">
            <a:avLst>
              <a:gd name="adj" fmla="val 50000"/>
            </a:avLst>
          </a:prstGeom>
          <a:solidFill>
            <a:srgbClr val="6D2637"/>
          </a:solidFill>
          <a:ln/>
        </p:spPr>
        <p:txBody>
          <a:bodyPr/>
          <a:lstStyle/>
          <a:p>
            <a:endParaRPr lang="en-KE"/>
          </a:p>
        </p:txBody>
      </p:sp>
      <p:sp>
        <p:nvSpPr>
          <p:cNvPr id="5" name="Text 2"/>
          <p:cNvSpPr/>
          <p:nvPr/>
        </p:nvSpPr>
        <p:spPr>
          <a:xfrm>
            <a:off x="812800" y="3784600"/>
            <a:ext cx="10883392" cy="3556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3A322C"/>
                </a:solidFill>
                <a:latin typeface="Carlito" pitchFamily="34" charset="0"/>
                <a:ea typeface="Carlito" pitchFamily="34" charset="-122"/>
                <a:cs typeface="Carlito" pitchFamily="34" charset="-120"/>
              </a:rPr>
              <a:t>Next: </a:t>
            </a:r>
            <a:r>
              <a:rPr lang="en-US" sz="2000" b="1" dirty="0">
                <a:solidFill>
                  <a:srgbClr val="3A322C"/>
                </a:solidFill>
                <a:latin typeface="Carlito" pitchFamily="34" charset="0"/>
                <a:ea typeface="Carlito" pitchFamily="34" charset="-122"/>
                <a:cs typeface="Carlito" pitchFamily="34" charset="-120"/>
              </a:rPr>
              <a:t>Day 4</a:t>
            </a:r>
            <a:r>
              <a:rPr lang="en-US" sz="2000" dirty="0">
                <a:solidFill>
                  <a:srgbClr val="3A322C"/>
                </a:solidFill>
                <a:latin typeface="Carlito" pitchFamily="34" charset="0"/>
                <a:ea typeface="Carlito" pitchFamily="34" charset="-122"/>
                <a:cs typeface="Carlito" pitchFamily="34" charset="-120"/>
              </a:rPr>
              <a:t> · Genotype versus phenotype, empiric therapy, and plasmid reconstruction</a:t>
            </a:r>
            <a:endParaRPr lang="en-US" sz="2000" dirty="0"/>
          </a:p>
        </p:txBody>
      </p:sp>
      <p:sp>
        <p:nvSpPr>
          <p:cNvPr id="6" name="Text 3"/>
          <p:cNvSpPr/>
          <p:nvPr/>
        </p:nvSpPr>
        <p:spPr>
          <a:xfrm>
            <a:off x="812800" y="6238280"/>
            <a:ext cx="58864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6460"/>
                </a:solidFill>
                <a:latin typeface="Carlito" pitchFamily="34" charset="0"/>
                <a:ea typeface="Carlito" pitchFamily="34" charset="-122"/>
                <a:cs typeface="Carlito" pitchFamily="34" charset="-120"/>
              </a:rPr>
              <a:t>Module 3 · Typing and AMR genes | Day 3</a:t>
            </a:r>
            <a:endParaRPr lang="en-US" sz="1200" dirty="0"/>
          </a:p>
        </p:txBody>
      </p:sp>
      <p:sp>
        <p:nvSpPr>
          <p:cNvPr id="7" name="Text 4"/>
          <p:cNvSpPr/>
          <p:nvPr/>
        </p:nvSpPr>
        <p:spPr>
          <a:xfrm>
            <a:off x="10566400" y="6238280"/>
            <a:ext cx="812800"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6460"/>
                </a:solidFill>
                <a:latin typeface="Carlito" pitchFamily="34" charset="0"/>
                <a:ea typeface="Carlito" pitchFamily="34" charset="-122"/>
                <a:cs typeface="Carlito" pitchFamily="34" charset="-120"/>
              </a:rPr>
              <a:t>30</a:t>
            </a:r>
            <a:endParaRPr lang="en-US" sz="1200" dirty="0"/>
          </a:p>
        </p:txBody>
      </p:sp>
    </p:spTree>
  </p:cSld>
  <p:clrMapOvr>
    <a:masterClrMapping/>
  </p:clrMapOvr>
</p:sld>
</file>

<file path=ppt/theme/theme1.xml><?xml version="1.0" encoding="utf-8"?>
<a:theme xmlns:a="http://schemas.openxmlformats.org/drawingml/2006/main" name="Module 3: Typing and AMR genes">
  <a:themeElements>
    <a:clrScheme name="Module 3: Typing and AMR genes">
      <a:dk1>
        <a:srgbClr val="6D2637"/>
      </a:dk1>
      <a:lt1>
        <a:srgbClr val="F9F2EA"/>
      </a:lt1>
      <a:dk2>
        <a:srgbClr val="905964"/>
      </a:dk2>
      <a:lt2>
        <a:srgbClr val="EBDED8"/>
      </a:lt2>
      <a:accent1>
        <a:srgbClr val="273003"/>
      </a:accent1>
      <a:accent2>
        <a:srgbClr val="891F15"/>
      </a:accent2>
      <a:accent3>
        <a:srgbClr val="FFCE00"/>
      </a:accent3>
      <a:accent4>
        <a:srgbClr val="B9C08A"/>
      </a:accent4>
      <a:accent5>
        <a:srgbClr val="E3B5A8"/>
      </a:accent5>
      <a:accent6>
        <a:srgbClr val="F1D3C9"/>
      </a:accent6>
      <a:hlink>
        <a:srgbClr val="0563C1"/>
      </a:hlink>
      <a:folHlink>
        <a:srgbClr val="954F72"/>
      </a:folHlink>
    </a:clrScheme>
    <a:fontScheme name="Module 3: Typing and AMR genes">
      <a:majorFont>
        <a:latin typeface="Carli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rli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4512</Words>
  <Application>Microsoft Macintosh PowerPoint</Application>
  <PresentationFormat>Widescreen</PresentationFormat>
  <Paragraphs>410</Paragraphs>
  <Slides>30</Slides>
  <Notes>30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Arial</vt:lpstr>
      <vt:lpstr>Carlito</vt:lpstr>
      <vt:lpstr>Consolas</vt:lpstr>
      <vt:lpstr>JetBrains Mono</vt:lpstr>
      <vt:lpstr>Module 3: Typing and AMR genes</vt:lpstr>
      <vt:lpstr>Typing and resistance genes</vt:lpstr>
      <vt:lpstr>Day 3 at a glance</vt:lpstr>
      <vt:lpstr>By the end of today you can</vt:lpstr>
      <vt:lpstr>Applications of WGS in AMR surveillance</vt:lpstr>
      <vt:lpstr>Which species is it?</vt:lpstr>
      <vt:lpstr>The K. pneumoniae species complex</vt:lpstr>
      <vt:lpstr>Pathogen-specific tools: KlebNET-GSP</vt:lpstr>
      <vt:lpstr>Hands-on: Kleborate on all 29 isolates</vt:lpstr>
      <vt:lpstr>Which lineage is it?</vt:lpstr>
      <vt:lpstr>Bacterial sequence typing</vt:lpstr>
      <vt:lpstr>Multilocus sequence typing (MLST)</vt:lpstr>
      <vt:lpstr>Beyond seven genes: cgMLST and wgMLST</vt:lpstr>
      <vt:lpstr>Typing databases</vt:lpstr>
      <vt:lpstr>Hands-on: lineages in the training set</vt:lpstr>
      <vt:lpstr>Global context in Pathogenwatch</vt:lpstr>
      <vt:lpstr>Which resistance genes?</vt:lpstr>
      <vt:lpstr>Contig-based AMR gene prediction</vt:lpstr>
      <vt:lpstr>Assembly-based versus read-based detection</vt:lpstr>
      <vt:lpstr>Common AMR detection tools</vt:lpstr>
      <vt:lpstr>Hands-on: AMRFinderPlus</vt:lpstr>
      <vt:lpstr>Exercise: the key genes</vt:lpstr>
      <vt:lpstr>Exercise: AMRFinderPlus versus Kleborate</vt:lpstr>
      <vt:lpstr>Intrinsic versus acquired</vt:lpstr>
      <vt:lpstr>Virulence and convergence</vt:lpstr>
      <vt:lpstr>Virulence loci in Kleborate</vt:lpstr>
      <vt:lpstr>Convergent strains</vt:lpstr>
      <vt:lpstr>Check your understanding</vt:lpstr>
      <vt:lpstr>End-of-day checklist</vt:lpstr>
      <vt:lpstr>Further reading</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3: Typing and AMR genes</dc:title>
  <dc:subject/>
  <dc:creator/>
  <cp:lastModifiedBy>Juma, John (ILRI)</cp:lastModifiedBy>
  <cp:revision>2</cp:revision>
  <dcterms:created xsi:type="dcterms:W3CDTF">2026-10-14T14:32:49Z</dcterms:created>
  <dcterms:modified xsi:type="dcterms:W3CDTF">2026-10-14T14:42:12Z</dcterms:modified>
</cp:coreProperties>
</file>